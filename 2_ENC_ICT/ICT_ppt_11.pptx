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" r:id="rId3"/>
    <p:sldId id="309" r:id="rId4"/>
    <p:sldId id="314" r:id="rId5"/>
    <p:sldId id="317" r:id="rId6"/>
    <p:sldId id="313" r:id="rId7"/>
    <p:sldId id="315" r:id="rId8"/>
    <p:sldId id="316" r:id="rId9"/>
    <p:sldId id="311" r:id="rId10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babilitycourse.com/chapter7/7_1_2_central_limit_theorem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84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Lecture-11 (</a:t>
            </a:r>
            <a:r>
              <a:rPr lang="en-US" sz="4000" i="1" u="sng" dirty="0" smtClean="0"/>
              <a:t>Module-1</a:t>
            </a:r>
            <a:r>
              <a:rPr lang="en-US" sz="4000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Central Limit </a:t>
            </a:r>
            <a:r>
              <a:rPr lang="en-US" b="1" dirty="0" smtClean="0"/>
              <a:t>Theorem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i.i.d. RV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/>
              <a:t>A collection of random variables is </a:t>
            </a:r>
            <a:r>
              <a:rPr lang="en-US" sz="2000" b="1" i="1" u="sng" dirty="0" smtClean="0">
                <a:solidFill>
                  <a:srgbClr val="C00000"/>
                </a:solidFill>
              </a:rPr>
              <a:t>independent and identically distributed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if </a:t>
            </a:r>
            <a:r>
              <a:rPr lang="en-US" sz="2000" i="1" dirty="0" smtClean="0">
                <a:solidFill>
                  <a:srgbClr val="0070C0"/>
                </a:solidFill>
              </a:rPr>
              <a:t>each random variable </a:t>
            </a:r>
            <a:r>
              <a:rPr lang="en-US" sz="2000" i="1" dirty="0" smtClean="0"/>
              <a:t>has the </a:t>
            </a:r>
            <a:r>
              <a:rPr lang="en-US" sz="2000" i="1" dirty="0" smtClean="0">
                <a:solidFill>
                  <a:srgbClr val="C00000"/>
                </a:solidFill>
              </a:rPr>
              <a:t>same probability distribution</a:t>
            </a:r>
            <a:r>
              <a:rPr lang="en-US" sz="2000" i="1" dirty="0" smtClean="0">
                <a:solidFill>
                  <a:srgbClr val="0070C0"/>
                </a:solidFill>
              </a:rPr>
              <a:t> as the others and </a:t>
            </a:r>
            <a:r>
              <a:rPr lang="en-US" sz="2000" i="1" dirty="0" smtClean="0">
                <a:solidFill>
                  <a:srgbClr val="FF0000"/>
                </a:solidFill>
              </a:rPr>
              <a:t>all are mutually independent</a:t>
            </a:r>
            <a:r>
              <a:rPr lang="en-US" sz="2000" dirty="0" smtClean="0"/>
              <a:t>. This property is usually abbreviated as </a:t>
            </a:r>
            <a:r>
              <a:rPr lang="en-US" sz="2000" dirty="0"/>
              <a:t>i.i.d. </a:t>
            </a:r>
            <a:r>
              <a:rPr lang="en-US" sz="2000" dirty="0" smtClean="0"/>
              <a:t>random variables.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/>
              <a:t>The</a:t>
            </a:r>
            <a:r>
              <a:rPr lang="en-US" sz="2000" dirty="0"/>
              <a:t> </a:t>
            </a:r>
            <a:r>
              <a:rPr lang="en-US" sz="2000" b="1" dirty="0"/>
              <a:t>central limit theorem (CLT)</a:t>
            </a:r>
            <a:r>
              <a:rPr lang="en-US" sz="2000" dirty="0"/>
              <a:t> is one of the most important results in probability theory. It states that, under certain conditions</a:t>
            </a:r>
            <a:r>
              <a:rPr lang="en-US" sz="2000" i="1" dirty="0">
                <a:solidFill>
                  <a:srgbClr val="FF0000"/>
                </a:solidFill>
              </a:rPr>
              <a:t>, the sum of a large number of random variables is approximately normal</a:t>
            </a:r>
            <a:r>
              <a:rPr lang="en-US" sz="2000" dirty="0" smtClean="0"/>
              <a:t>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8861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Importance of Central </a:t>
            </a:r>
            <a:r>
              <a:rPr lang="en-US" sz="3200" b="1" dirty="0"/>
              <a:t>Limit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/>
              <a:t>In </a:t>
            </a:r>
            <a:r>
              <a:rPr lang="en-US" sz="2000" dirty="0"/>
              <a:t>many real applications, a certain random variable of interest is a sum of a large number of independent random </a:t>
            </a:r>
            <a:r>
              <a:rPr lang="en-US" sz="2000" dirty="0" smtClean="0"/>
              <a:t>variables like</a:t>
            </a:r>
          </a:p>
          <a:p>
            <a:pPr algn="just"/>
            <a:r>
              <a:rPr lang="en-US" sz="2000" dirty="0">
                <a:solidFill>
                  <a:srgbClr val="C00000"/>
                </a:solidFill>
              </a:rPr>
              <a:t>Laboratory measurement errors </a:t>
            </a:r>
            <a:r>
              <a:rPr lang="en-US" sz="2000" dirty="0"/>
              <a:t>are usually modeled by normal random variables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>
                <a:solidFill>
                  <a:srgbClr val="0070C0"/>
                </a:solidFill>
              </a:rPr>
              <a:t>Random sampling from a population </a:t>
            </a:r>
            <a:r>
              <a:rPr lang="en-US" sz="2000"/>
              <a:t>to obtain </a:t>
            </a:r>
            <a:r>
              <a:rPr lang="en-US" sz="2000">
                <a:solidFill>
                  <a:srgbClr val="C00000"/>
                </a:solidFill>
              </a:rPr>
              <a:t>statistical knowledge about the population</a:t>
            </a:r>
            <a:r>
              <a:rPr lang="en-US" sz="2000"/>
              <a:t>, the resulting quantity is often modelled as a normal random variable.</a:t>
            </a:r>
          </a:p>
          <a:p>
            <a:pPr algn="just"/>
            <a:r>
              <a:rPr lang="en-US" sz="2000" smtClean="0"/>
              <a:t>In </a:t>
            </a:r>
            <a:r>
              <a:rPr lang="en-US" sz="2000" dirty="0"/>
              <a:t>communication and signal processing, </a:t>
            </a:r>
            <a:r>
              <a:rPr lang="en-US" sz="2000" dirty="0">
                <a:solidFill>
                  <a:srgbClr val="C00000"/>
                </a:solidFill>
              </a:rPr>
              <a:t>Gaussian noise </a:t>
            </a:r>
            <a:r>
              <a:rPr lang="en-US" sz="2000" dirty="0"/>
              <a:t>is the most frequently used model for noise.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/>
          </a:p>
          <a:p>
            <a:pPr marL="0" indent="0" algn="just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1796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/>
              <a:t>Central Limit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3340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Suppose </a:t>
                </a:r>
                <a:r>
                  <a:rPr lang="en-US" sz="2000" dirty="0"/>
                  <a:t>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,……,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are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</a:rPr>
                  <a:t>i.i.d. random variables </a:t>
                </a:r>
                <a:r>
                  <a:rPr lang="en-US" sz="2000" dirty="0"/>
                  <a:t>with expected values 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r>
                  <a:rPr lang="el-GR" sz="2000" dirty="0"/>
                  <a:t> </a:t>
                </a:r>
                <a:r>
                  <a:rPr lang="en-US" sz="2000" dirty="0"/>
                  <a:t>and variance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l-GR" sz="2000" i="1" dirty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sz="2000" dirty="0" smtClean="0"/>
                  <a:t>.</a:t>
                </a:r>
                <a:r>
                  <a:rPr lang="en-US" sz="2000" dirty="0" smtClean="0"/>
                  <a:t> Then, </a:t>
                </a:r>
                <a:r>
                  <a:rPr lang="en-US" sz="2000" dirty="0">
                    <a:solidFill>
                      <a:srgbClr val="FF0000"/>
                    </a:solidFill>
                  </a:rPr>
                  <a:t>the sample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i="1">
                            <a:latin typeface="Cambria Math"/>
                          </a:rPr>
                          <m:t>……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000" dirty="0" smtClean="0"/>
                  <a:t>  has mean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and variance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𝑉𝑎𝑟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)=</m:t>
                    </m:r>
                    <m:f>
                      <m:fPr>
                        <m:type m:val="lin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l-GR" sz="2000" i="1" dirty="0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b="0" i="1" dirty="0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000" dirty="0"/>
                  <a:t>.</a:t>
                </a:r>
                <a:r>
                  <a:rPr lang="en-US" sz="2000" dirty="0" smtClean="0"/>
                  <a:t> Then the normalized RV, defined as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𝑉𝑎𝑟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000" i="1" dirty="0">
                                  <a:latin typeface="Cambria Math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+……+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has </a:t>
                </a:r>
                <a:r>
                  <a:rPr lang="en-US" sz="2000" i="1" dirty="0" smtClean="0">
                    <a:solidFill>
                      <a:srgbClr val="FF0000"/>
                    </a:solidFill>
                  </a:rPr>
                  <a:t>mean zero and variance unity</a:t>
                </a:r>
                <a:r>
                  <a:rPr lang="en-US" sz="2000" dirty="0" smtClean="0"/>
                  <a:t>. </a:t>
                </a:r>
                <a:r>
                  <a:rPr lang="en-US" sz="2000" dirty="0"/>
                  <a:t>The central limit theorem states that the </a:t>
                </a:r>
                <a:r>
                  <a:rPr lang="en-US" sz="2000" i="1" dirty="0" smtClean="0">
                    <a:solidFill>
                      <a:srgbClr val="00B050"/>
                    </a:solidFill>
                  </a:rPr>
                  <a:t>CDF of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𝑍</m:t>
                    </m:r>
                    <m:r>
                      <a:rPr lang="en-US" sz="2000" i="1" baseline="-25000" dirty="0" smtClean="0">
                        <a:solidFill>
                          <a:srgbClr val="00B05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i="1" dirty="0">
                    <a:solidFill>
                      <a:srgbClr val="00B050"/>
                    </a:solidFill>
                  </a:rPr>
                  <a:t> converges to the standard normal </a:t>
                </a:r>
                <a:r>
                  <a:rPr lang="en-US" sz="2000" i="1" dirty="0" smtClean="0">
                    <a:solidFill>
                      <a:srgbClr val="00B050"/>
                    </a:solidFill>
                  </a:rPr>
                  <a:t>CDF </a:t>
                </a:r>
                <a:r>
                  <a:rPr lang="en-US" sz="2000" i="1" dirty="0">
                    <a:solidFill>
                      <a:srgbClr val="00B05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→∞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An interesting thing about the CLT is that it does not matter what the distribution of the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334000"/>
              </a:xfrm>
              <a:blipFill rotWithShape="1">
                <a:blip r:embed="rId2"/>
                <a:stretch>
                  <a:fillRect l="-741" r="-741" b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26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46038"/>
                <a:ext cx="8229600" cy="792162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 smtClean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32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𝐵𝑒𝑟𝑛𝑜𝑢𝑙𝑙𝑖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𝑝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46038"/>
                <a:ext cx="8229600" cy="792162"/>
              </a:xfrm>
              <a:blipFill rotWithShape="1">
                <a:blip r:embed="rId2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1054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r>
                  <a:rPr lang="el-GR" sz="2000" dirty="0"/>
                  <a:t> </a:t>
                </a:r>
                <a:r>
                  <a:rPr lang="en-US" sz="2000" dirty="0"/>
                  <a:t>and variance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𝑉𝑎𝑟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)=</m:t>
                    </m:r>
                    <m:r>
                      <a:rPr lang="en-US" sz="2000" b="0" i="1" dirty="0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1−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>
                    <a:latin typeface="Cambria Math"/>
                  </a:rPr>
                  <a:t>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+……+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</a:rPr>
                  <a:t> has Bionomial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Cambria Math"/>
                  </a:rPr>
                  <a:t> distribution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𝑝</m:t>
                    </m:r>
                    <m:r>
                      <a:rPr lang="en-US" sz="2000" i="1" dirty="0" smtClean="0">
                        <a:latin typeface="Cambria Math"/>
                      </a:rPr>
                      <m:t>=1/</m:t>
                    </m:r>
                  </m:oMath>
                </a14:m>
                <a:r>
                  <a:rPr lang="en-US" sz="2000" dirty="0" smtClean="0"/>
                  <a:t>3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105400"/>
              </a:xfrm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35680"/>
            <a:ext cx="35580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390486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35" y="5163502"/>
            <a:ext cx="3954272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118" y="5163502"/>
            <a:ext cx="394684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74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76200"/>
                <a:ext cx="8229600" cy="792162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 smtClean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32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𝑈𝑛𝑖𝑓𝑜𝑟𝑚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(0,1)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76200"/>
                <a:ext cx="8229600" cy="792162"/>
              </a:xfrm>
              <a:blipFill rotWithShape="1">
                <a:blip r:embed="rId2"/>
                <a:stretch>
                  <a:fillRect b="-13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1054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l-GR" sz="2000" dirty="0"/>
                  <a:t> </a:t>
                </a:r>
                <a:r>
                  <a:rPr lang="en-US" sz="2000" dirty="0" smtClean="0"/>
                  <a:t>        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𝑉𝑎𝑟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)=</m:t>
                    </m:r>
                    <m:f>
                      <m:fPr>
                        <m:type m:val="lin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000" i="1" dirty="0" smtClean="0">
                    <a:latin typeface="Cambria Math"/>
                  </a:rPr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𝑍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+……+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sz="200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12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1054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46948"/>
            <a:ext cx="3525171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500" y="2275522"/>
            <a:ext cx="4021108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14800"/>
            <a:ext cx="4062844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47160"/>
            <a:ext cx="4160528" cy="146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060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Procedure of applying CLT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105400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 smtClean="0">
                    <a:latin typeface="Cambria Math"/>
                  </a:rPr>
                  <a:t>Find the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+……+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 smtClean="0">
                  <a:latin typeface="Cambria Math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 smtClean="0">
                    <a:latin typeface="Cambria Math"/>
                  </a:rPr>
                  <a:t>Find mean and 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r>
                  <a:rPr lang="el-GR" sz="2000" dirty="0"/>
                  <a:t> </a:t>
                </a:r>
                <a:r>
                  <a:rPr lang="en-US" sz="2000" dirty="0" smtClean="0"/>
                  <a:t>, 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𝑉𝑎𝑟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)=</m:t>
                    </m:r>
                    <m:r>
                      <a:rPr lang="en-US" sz="2000" b="0" i="1" dirty="0" smtClean="0">
                        <a:latin typeface="Cambria Math"/>
                      </a:rPr>
                      <m:t>𝑛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Cambria Math"/>
                  </a:rPr>
                  <a:t> respectively  where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l-GR" sz="2000" dirty="0"/>
                  <a:t> 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and  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𝑉𝑎𝑟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endParaRPr lang="en-US" sz="2000" dirty="0" smtClean="0">
                  <a:latin typeface="Cambria Math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 smtClean="0">
                    <a:latin typeface="Cambria Math"/>
                  </a:rPr>
                  <a:t>According to CLT, the RV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𝑉𝑎𝑟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 smtClean="0">
                    <a:latin typeface="Cambria Math"/>
                  </a:rPr>
                  <a:t>  is approximately standard normal.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𝒀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                                          ≈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/>
                        <a:ea typeface="Cambria Math"/>
                      </a:rPr>
                      <m:t>Φ</m:t>
                    </m:r>
                    <m:d>
                      <m:dPr>
                        <m:ctrlPr>
                          <a:rPr lang="el-GR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/>
                        <a:ea typeface="Cambria Math"/>
                      </a:rPr>
                      <m:t>Φ</m:t>
                    </m:r>
                    <m:d>
                      <m:dPr>
                        <m:ctrlPr>
                          <a:rPr lang="el-GR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000" dirty="0" smtClean="0">
                    <a:latin typeface="Cambria Math"/>
                  </a:rPr>
                  <a:t>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1900" dirty="0" smtClean="0">
                    <a:latin typeface="Cambria Math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900" i="1">
                        <a:latin typeface="Cambria Math"/>
                        <a:ea typeface="Cambria Math"/>
                      </a:rPr>
                      <m:t>Φ</m:t>
                    </m:r>
                    <m:d>
                      <m:dPr>
                        <m:ctrlPr>
                          <a:rPr lang="el-GR" sz="19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900" dirty="0" smtClean="0">
                    <a:latin typeface="Cambria Math"/>
                  </a:rPr>
                  <a:t> is the standard normal CDF.</a:t>
                </a: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endParaRPr lang="en-US" sz="2000" dirty="0" smtClean="0">
                  <a:latin typeface="Cambria Math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105400"/>
              </a:xfrm>
              <a:blipFill rotWithShape="1">
                <a:blip r:embed="rId2"/>
                <a:stretch>
                  <a:fillRect l="-667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55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554480"/>
          </a:xfrm>
        </p:spPr>
        <p:txBody>
          <a:bodyPr>
            <a:noAutofit/>
          </a:bodyPr>
          <a:lstStyle/>
          <a:p>
            <a:pPr algn="just"/>
            <a:r>
              <a:rPr lang="en-US" sz="2000" b="1" i="1" u="sng" dirty="0" smtClean="0">
                <a:solidFill>
                  <a:srgbClr val="FF0000"/>
                </a:solidFill>
              </a:rPr>
              <a:t>Example: </a:t>
            </a:r>
            <a:r>
              <a:rPr lang="en-US" sz="2000" i="1" dirty="0" smtClean="0">
                <a:solidFill>
                  <a:srgbClr val="FF0000"/>
                </a:solidFill>
              </a:rPr>
              <a:t>In </a:t>
            </a:r>
            <a:r>
              <a:rPr lang="en-US" sz="2000" i="1" dirty="0">
                <a:solidFill>
                  <a:srgbClr val="FF0000"/>
                </a:solidFill>
              </a:rPr>
              <a:t>a communication system each data packet consists of </a:t>
            </a:r>
            <a:r>
              <a:rPr lang="en-US" sz="2000" i="1" dirty="0" smtClean="0">
                <a:solidFill>
                  <a:srgbClr val="FF0000"/>
                </a:solidFill>
              </a:rPr>
              <a:t>1000</a:t>
            </a:r>
            <a:r>
              <a:rPr lang="en-US" sz="2000" i="1" dirty="0">
                <a:solidFill>
                  <a:srgbClr val="FF0000"/>
                </a:solidFill>
              </a:rPr>
              <a:t> bits. Due to the noise, </a:t>
            </a:r>
            <a:r>
              <a:rPr lang="en-US" sz="2000" i="1" dirty="0" smtClean="0">
                <a:solidFill>
                  <a:srgbClr val="FF0000"/>
                </a:solidFill>
              </a:rPr>
              <a:t>a </a:t>
            </a:r>
            <a:r>
              <a:rPr lang="en-US" sz="2000" i="1" dirty="0">
                <a:solidFill>
                  <a:srgbClr val="FF0000"/>
                </a:solidFill>
              </a:rPr>
              <a:t>bit may be received in error </a:t>
            </a:r>
            <a:r>
              <a:rPr lang="en-US" sz="2000" i="1" dirty="0" smtClean="0">
                <a:solidFill>
                  <a:srgbClr val="FF0000"/>
                </a:solidFill>
              </a:rPr>
              <a:t>having </a:t>
            </a:r>
            <a:r>
              <a:rPr lang="en-US" sz="2000" i="1" dirty="0">
                <a:solidFill>
                  <a:srgbClr val="FF0000"/>
                </a:solidFill>
              </a:rPr>
              <a:t>probability </a:t>
            </a:r>
            <a:r>
              <a:rPr lang="en-US" sz="2000" i="1" dirty="0" smtClean="0">
                <a:solidFill>
                  <a:srgbClr val="FF0000"/>
                </a:solidFill>
              </a:rPr>
              <a:t>0.1. </a:t>
            </a:r>
            <a:r>
              <a:rPr lang="en-US" sz="2000" i="1" dirty="0">
                <a:solidFill>
                  <a:srgbClr val="FF0000"/>
                </a:solidFill>
              </a:rPr>
              <a:t>It is assumed </a:t>
            </a:r>
            <a:r>
              <a:rPr lang="en-US" sz="2000" i="1" dirty="0" smtClean="0">
                <a:solidFill>
                  <a:srgbClr val="FF0000"/>
                </a:solidFill>
              </a:rPr>
              <a:t>that bit </a:t>
            </a:r>
            <a:r>
              <a:rPr lang="en-US" sz="2000" i="1" dirty="0">
                <a:solidFill>
                  <a:srgbClr val="FF0000"/>
                </a:solidFill>
              </a:rPr>
              <a:t>errors occur independently. Find the probability that there are more than </a:t>
            </a:r>
            <a:r>
              <a:rPr lang="en-US" sz="2000" i="1" dirty="0" smtClean="0">
                <a:solidFill>
                  <a:srgbClr val="FF0000"/>
                </a:solidFill>
              </a:rPr>
              <a:t>120</a:t>
            </a:r>
            <a:r>
              <a:rPr lang="en-US" sz="2000" i="1" dirty="0">
                <a:solidFill>
                  <a:srgbClr val="FF0000"/>
                </a:solidFill>
              </a:rPr>
              <a:t> errors in a certain data packet.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52600"/>
                <a:ext cx="8229600" cy="44958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Indicator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RV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𝑡h</m:t>
                        </m:r>
                      </m:sup>
                    </m:sSup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bit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in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packet</m:t>
                    </m:r>
                  </m:oMath>
                </a14:m>
                <a:r>
                  <a:rPr lang="en-US" sz="2000" dirty="0" smtClean="0">
                    <a:latin typeface="Cambria Math"/>
                  </a:rPr>
                  <a:t>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1800" b="0" i="0" smtClean="0"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/>
                                </a:rPr>
                                <m:t>f</m:t>
                              </m:r>
                              <m:r>
                                <a:rPr lang="en-US" sz="1800" b="0" i="0" smtClean="0">
                                  <a:latin typeface="Cambria Math"/>
                                </a:rPr>
                                <m:t>  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𝑡h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bit</m:t>
                              </m:r>
                              <m: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received</m:t>
                              </m:r>
                              <m: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is</m:t>
                              </m:r>
                              <m: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in</m:t>
                              </m:r>
                              <m: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/>
                                  <a:ea typeface="Cambria Math"/>
                                </a:rPr>
                                <m:t>error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                                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latin typeface="Cambria Math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 smtClean="0">
                    <a:latin typeface="Cambria Math"/>
                  </a:rPr>
                  <a:t> are i.i.d. RV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𝐵𝑒𝑟𝑛𝑜𝑢𝑙𝑙𝑖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=0.1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Cambria Math"/>
                  </a:rPr>
                  <a:t>. 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</a:rPr>
                  <a:t>is the total number of bit errors in the packet,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+……+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=0.1</m:t>
                    </m:r>
                  </m:oMath>
                </a14:m>
                <a:r>
                  <a:rPr lang="en-US" sz="2000" dirty="0" smtClean="0">
                    <a:latin typeface="Cambria Math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1−</m:t>
                        </m:r>
                        <m:r>
                          <a:rPr lang="en-US" sz="2000" i="1" dirty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=0.09</m:t>
                    </m:r>
                  </m:oMath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latin typeface="Cambria Math"/>
                  </a:rPr>
                  <a:t>Then </a:t>
                </a:r>
                <a:r>
                  <a:rPr lang="en-US" sz="2000" dirty="0"/>
                  <a:t>probability that there are more than 120 errors in a certain data </a:t>
                </a:r>
                <a:r>
                  <a:rPr lang="en-US" sz="2000" dirty="0" smtClean="0"/>
                  <a:t>packet</a:t>
                </a:r>
                <a:endParaRPr lang="en-US" sz="2000" dirty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/>
                              <a:ea typeface="Cambria Math"/>
                            </a:rPr>
                            <m:t>&gt;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120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&gt;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120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&gt;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120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100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90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&gt;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120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l-GR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20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l-GR" sz="20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90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=0.0175</m:t>
                      </m:r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dirty="0" smtClean="0">
                  <a:latin typeface="Cambria Math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52600"/>
                <a:ext cx="8229600" cy="4495800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46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  <a:p>
            <a:pPr algn="just"/>
            <a:r>
              <a:rPr lang="en-US" sz="2000" dirty="0">
                <a:hlinkClick r:id="rId2"/>
              </a:rPr>
              <a:t>https://www.probabilitycourse.com/chapter7/7_1_2_central_limit_theorem.php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74022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Lecture-11 (Module-1)  Central Limit Theorem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i.i.d. RV&amp;quot;&quot;/&gt;&lt;property id=&quot;20307&quot; value=&quot;302&quot;/&gt;&lt;/object&gt;&lt;object type=&quot;3&quot; unique_id=&quot;10005&quot;&gt;&lt;property id=&quot;20148&quot; value=&quot;5&quot;/&gt;&lt;property id=&quot;20300&quot; value=&quot;Slide 3 - &amp;quot;Importance of Central Limit Theorem&amp;quot;&quot;/&gt;&lt;property id=&quot;20307&quot; value=&quot;309&quot;/&gt;&lt;/object&gt;&lt;object type=&quot;3&quot; unique_id=&quot;10006&quot;&gt;&lt;property id=&quot;20148&quot; value=&quot;5&quot;/&gt;&lt;property id=&quot;20300&quot; value=&quot;Slide 4 - &amp;quot;Central Limit Theorem&amp;quot;&quot;/&gt;&lt;property id=&quot;20307&quot; value=&quot;314&quot;/&gt;&lt;/object&gt;&lt;object type=&quot;3&quot; unique_id=&quot;10009&quot;&gt;&lt;property id=&quot;20148&quot; value=&quot;5&quot;/&gt;&lt;property id=&quot;20300&quot; value=&quot;Slide 6 - &amp;quot;Example:  𝑋 𝑖 →𝑈𝑛𝑖𝑓𝑜𝑟𝑚(0,1)&amp;quot;&quot;/&gt;&lt;property id=&quot;20307&quot; value=&quot;313&quot;/&gt;&lt;/object&gt;&lt;object type=&quot;3&quot; unique_id=&quot;10010&quot;&gt;&lt;property id=&quot;20148&quot; value=&quot;5&quot;/&gt;&lt;property id=&quot;20300&quot; value=&quot;Slide 7 - &amp;quot;Procedure of applying CLT&amp;quot;&quot;/&gt;&lt;property id=&quot;20307&quot; value=&quot;315&quot;/&gt;&lt;/object&gt;&lt;object type=&quot;3&quot; unique_id=&quot;10011&quot;&gt;&lt;property id=&quot;20148&quot; value=&quot;5&quot;/&gt;&lt;property id=&quot;20300&quot; value=&quot;Slide 8 - &amp;quot;Example: In a communication system each data packet consists of 1000 bits. Due to the noise, a bit may be received &quot;/&gt;&lt;property id=&quot;20307&quot; value=&quot;316&quot;/&gt;&lt;/object&gt;&lt;object type=&quot;3&quot; unique_id=&quot;10012&quot;&gt;&lt;property id=&quot;20148&quot; value=&quot;5&quot;/&gt;&lt;property id=&quot;20300&quot; value=&quot;Slide 9 - &amp;quot;Reference&amp;quot;&quot;/&gt;&lt;property id=&quot;20307&quot; value=&quot;311&quot;/&gt;&lt;/object&gt;&lt;object type=&quot;3&quot; unique_id=&quot;10121&quot;&gt;&lt;property id=&quot;20148&quot; value=&quot;5&quot;/&gt;&lt;property id=&quot;20300&quot; value=&quot;Slide 5 - &amp;quot;Example:  𝑋 𝑖 →𝐵𝑒𝑟𝑛𝑜𝑢𝑙𝑙𝑖(𝑝)&amp;quot;&quot;/&gt;&lt;property id=&quot;20307&quot; value=&quot;317&quot;/&gt;&lt;/object&gt;&lt;/object&gt;&lt;object type=&quot;8&quot; unique_id=&quot;1002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3932</TotalTime>
  <Words>385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Lecture-11 (Module-1)  Central Limit Theorem</vt:lpstr>
      <vt:lpstr>i.i.d. RV</vt:lpstr>
      <vt:lpstr>Importance of Central Limit Theorem</vt:lpstr>
      <vt:lpstr>Central Limit Theorem</vt:lpstr>
      <vt:lpstr>Example: X_i→Bernoulli(p)</vt:lpstr>
      <vt:lpstr>Example: X_i→Uniform(0,1)</vt:lpstr>
      <vt:lpstr>Procedure of applying CLT</vt:lpstr>
      <vt:lpstr>Example: In a communication system each data packet consists of 1000 bits. Due to the noise, a bit may be received in error having probability 0.1. It is assumed that bit errors occur independently. Find the probability that there are more than 120 errors in a certain data packet.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164</cp:revision>
  <dcterms:created xsi:type="dcterms:W3CDTF">2020-06-13T16:57:58Z</dcterms:created>
  <dcterms:modified xsi:type="dcterms:W3CDTF">2020-07-12T07:01:14Z</dcterms:modified>
</cp:coreProperties>
</file>