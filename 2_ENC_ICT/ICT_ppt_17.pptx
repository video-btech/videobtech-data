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57" r:id="rId4"/>
    <p:sldId id="266" r:id="rId5"/>
    <p:sldId id="270" r:id="rId6"/>
    <p:sldId id="269" r:id="rId7"/>
    <p:sldId id="258" r:id="rId8"/>
    <p:sldId id="259" r:id="rId9"/>
    <p:sldId id="268" r:id="rId10"/>
    <p:sldId id="260" r:id="rId11"/>
    <p:sldId id="261" r:id="rId12"/>
    <p:sldId id="262" r:id="rId13"/>
    <p:sldId id="263" r:id="rId14"/>
    <p:sldId id="265" r:id="rId15"/>
    <p:sldId id="264" r:id="rId16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42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3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8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5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27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3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6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8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5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3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9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2BD3F-C398-4571-8FDB-3AB512FB80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10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1295400"/>
            <a:ext cx="55626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i="1" dirty="0"/>
              <a:t>INFORMATION AND COMMUNICATION THEORY </a:t>
            </a:r>
            <a:r>
              <a:rPr lang="en-US" sz="2000" dirty="0"/>
              <a:t>	</a:t>
            </a:r>
          </a:p>
          <a:p>
            <a:pPr>
              <a:spcBef>
                <a:spcPct val="0"/>
              </a:spcBef>
            </a:pPr>
            <a:endParaRPr lang="en-US" altLang="en-US" sz="2000" dirty="0"/>
          </a:p>
          <a:p>
            <a:pPr marL="342900" indent="-342900">
              <a:spcBef>
                <a:spcPct val="0"/>
              </a:spcBef>
            </a:pPr>
            <a:r>
              <a:rPr lang="en-US" sz="2000" i="1" dirty="0" smtClean="0"/>
              <a:t>Unit-1: Probability </a:t>
            </a:r>
            <a:r>
              <a:rPr lang="en-US" sz="2000" i="1" dirty="0"/>
              <a:t>Theory</a:t>
            </a:r>
          </a:p>
          <a:p>
            <a:pPr marL="342900" indent="-342900">
              <a:spcBef>
                <a:spcPct val="0"/>
              </a:spcBef>
            </a:pPr>
            <a:r>
              <a:rPr lang="en-US" sz="2000" i="1" dirty="0" smtClean="0"/>
              <a:t>Unit-2: Stochastic </a:t>
            </a:r>
            <a:r>
              <a:rPr lang="en-US" sz="2000" i="1" dirty="0"/>
              <a:t>Processes</a:t>
            </a:r>
          </a:p>
          <a:p>
            <a:pPr marL="342900" indent="-342900">
              <a:spcBef>
                <a:spcPct val="0"/>
              </a:spcBef>
            </a:pPr>
            <a:r>
              <a:rPr lang="en-US" sz="2000" i="1" dirty="0" smtClean="0"/>
              <a:t>Unit-3: Estimation </a:t>
            </a:r>
            <a:r>
              <a:rPr lang="en-US" sz="2000" i="1" dirty="0"/>
              <a:t>&amp; Hypothesis Testing</a:t>
            </a:r>
          </a:p>
          <a:p>
            <a:pPr marL="342900" indent="-342900">
              <a:spcBef>
                <a:spcPct val="0"/>
              </a:spcBef>
            </a:pPr>
            <a:r>
              <a:rPr lang="en-US" sz="2000" i="1" dirty="0" smtClean="0"/>
              <a:t>Unit-4: Information </a:t>
            </a:r>
            <a:r>
              <a:rPr lang="en-US" sz="2000" i="1" dirty="0"/>
              <a:t>Theory</a:t>
            </a:r>
          </a:p>
          <a:p>
            <a:pPr marL="342900" indent="-342900">
              <a:spcBef>
                <a:spcPct val="0"/>
              </a:spcBef>
            </a:pPr>
            <a:r>
              <a:rPr lang="en-US" sz="2000" i="1" dirty="0" smtClean="0"/>
              <a:t>Unit-5: Statistical </a:t>
            </a:r>
            <a:r>
              <a:rPr lang="en-US" sz="2000" i="1" dirty="0"/>
              <a:t>Modeling of </a:t>
            </a:r>
            <a:r>
              <a:rPr lang="en-US" sz="2000" i="1" dirty="0" smtClean="0"/>
              <a:t>Noise</a:t>
            </a:r>
          </a:p>
          <a:p>
            <a:pPr marL="342900" indent="-342900">
              <a:spcBef>
                <a:spcPct val="0"/>
              </a:spcBef>
            </a:pPr>
            <a:endParaRPr lang="en-US" altLang="en-US" sz="2000" i="1" dirty="0"/>
          </a:p>
          <a:p>
            <a:pPr marL="342900" indent="-342900">
              <a:spcBef>
                <a:spcPct val="0"/>
              </a:spcBef>
            </a:pPr>
            <a:r>
              <a:rPr lang="en-US" altLang="en-US" sz="2000" i="1" dirty="0" smtClean="0">
                <a:solidFill>
                  <a:srgbClr val="FF0000"/>
                </a:solidFill>
              </a:rPr>
              <a:t>Module-3</a:t>
            </a:r>
          </a:p>
          <a:p>
            <a:pPr marL="800100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FF0000"/>
                </a:solidFill>
              </a:rPr>
              <a:t>Stochastic </a:t>
            </a:r>
            <a:r>
              <a:rPr lang="en-US" sz="2000" i="1" dirty="0" smtClean="0">
                <a:solidFill>
                  <a:srgbClr val="FF0000"/>
                </a:solidFill>
              </a:rPr>
              <a:t>Processes</a:t>
            </a:r>
          </a:p>
          <a:p>
            <a:pPr marL="800100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FF0000"/>
                </a:solidFill>
              </a:rPr>
              <a:t>Statistical Modeling of Noise</a:t>
            </a:r>
          </a:p>
          <a:p>
            <a:pPr lvl="1">
              <a:spcBef>
                <a:spcPct val="0"/>
              </a:spcBef>
            </a:pPr>
            <a:endParaRPr lang="en-US" i="1" dirty="0"/>
          </a:p>
          <a:p>
            <a:pPr marL="800100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1436414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Lecture-1 (</a:t>
            </a:r>
            <a:r>
              <a:rPr lang="en-US" i="1" dirty="0" smtClean="0"/>
              <a:t>Module-3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Stochastic </a:t>
            </a:r>
            <a:r>
              <a:rPr lang="en-US" b="1" dirty="0"/>
              <a:t>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562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Stochastic (Random) Process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09600"/>
                <a:ext cx="8839200" cy="60960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Random variable is a rule to assign a number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d>
                      <m:d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tx1"/>
                            </a:solidFill>
                          </a:rPr>
                          <m:t>ξ</m:t>
                        </m:r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to every outcome </a:t>
                </a:r>
                <a:r>
                  <a:rPr lang="el-GR" sz="2000" dirty="0">
                    <a:solidFill>
                      <a:schemeClr val="tx1"/>
                    </a:solidFill>
                  </a:rPr>
                  <a:t>ξ</a:t>
                </a:r>
                <a:r>
                  <a:rPr lang="en-US" sz="2000" dirty="0">
                    <a:solidFill>
                      <a:schemeClr val="tx1"/>
                    </a:solidFill>
                  </a:rPr>
                  <a:t> of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an experiment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A stochastic process is </a:t>
                </a:r>
                <a:r>
                  <a:rPr lang="en-US" sz="2000" dirty="0"/>
                  <a:t>a rule to </a:t>
                </a:r>
                <a:r>
                  <a:rPr lang="en-US" sz="2000" dirty="0" smtClean="0"/>
                  <a:t>assign </a:t>
                </a:r>
                <a:r>
                  <a:rPr lang="en-US" sz="2000" dirty="0"/>
                  <a:t>a </a:t>
                </a:r>
                <a:r>
                  <a:rPr lang="en-US" sz="2000" dirty="0" smtClean="0"/>
                  <a:t>function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b="0" i="1" dirty="0" smtClean="0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l-GR" sz="2000" dirty="0"/>
                      <m:t>ξ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to every outcome </a:t>
                </a:r>
                <a:r>
                  <a:rPr lang="el-GR" sz="2000" dirty="0"/>
                  <a:t>ξ</a:t>
                </a:r>
                <a:r>
                  <a:rPr lang="en-US" sz="2000" dirty="0"/>
                  <a:t> of an experiment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Stochastic process is represented by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. It has following interpretations –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It is a </a:t>
                </a:r>
                <a:r>
                  <a:rPr lang="en-US" sz="2000" i="1" u="sng" dirty="0" smtClean="0"/>
                  <a:t>family (or ensemble)</a:t>
                </a:r>
                <a:r>
                  <a:rPr lang="en-US" sz="2000" dirty="0" smtClean="0"/>
                  <a:t> of functions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l-GR" sz="2000" dirty="0"/>
                      <m:t>ξ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. Here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l-GR" sz="2000" dirty="0"/>
                      <m:t>ξ</m:t>
                    </m:r>
                  </m:oMath>
                </a14:m>
                <a:r>
                  <a:rPr lang="en-US" sz="2000" dirty="0" smtClean="0"/>
                  <a:t> are variables.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It is a </a:t>
                </a:r>
                <a:r>
                  <a:rPr lang="en-US" sz="2000" i="1" u="sng" dirty="0" smtClean="0"/>
                  <a:t>single time-function</a:t>
                </a:r>
                <a:r>
                  <a:rPr lang="en-US" sz="2000" dirty="0" smtClean="0"/>
                  <a:t> (or a </a:t>
                </a:r>
                <a:r>
                  <a:rPr lang="en-US" sz="2000" b="1" i="1" dirty="0" smtClean="0"/>
                  <a:t>sample</a:t>
                </a:r>
                <a:r>
                  <a:rPr lang="en-US" sz="2000" dirty="0" smtClean="0"/>
                  <a:t> of the given process). In this case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 is a variable but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/>
                      <m:t>ξ</m:t>
                    </m:r>
                  </m:oMath>
                </a14:m>
                <a:r>
                  <a:rPr lang="en-US" sz="2000" dirty="0" smtClean="0"/>
                  <a:t> is fixed.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It is the </a:t>
                </a:r>
                <a:r>
                  <a:rPr lang="en-US" sz="2000" i="1" u="sng" dirty="0" smtClean="0"/>
                  <a:t>random variable </a:t>
                </a:r>
                <a:r>
                  <a:rPr lang="en-US" sz="2000" dirty="0" smtClean="0"/>
                  <a:t>equal to the </a:t>
                </a:r>
                <a:r>
                  <a:rPr lang="en-US" sz="2000" i="1" u="sng" dirty="0" smtClean="0"/>
                  <a:t>state of given process at time </a:t>
                </a:r>
                <a14:m>
                  <m:oMath xmlns:m="http://schemas.openxmlformats.org/officeDocument/2006/math">
                    <m:r>
                      <a:rPr lang="en-US" sz="2000" i="1" u="sng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. </a:t>
                </a:r>
                <a:r>
                  <a:rPr lang="en-US" sz="2000" dirty="0"/>
                  <a:t>In this case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l-GR" sz="2000" dirty="0"/>
                      <m:t>ξ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is a variable but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is fixed.</a:t>
                </a:r>
                <a:r>
                  <a:rPr lang="en-US" sz="2000" dirty="0" smtClean="0"/>
                  <a:t> 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It is a </a:t>
                </a:r>
                <a:r>
                  <a:rPr lang="en-US" sz="2000" i="1" u="sng" dirty="0" smtClean="0"/>
                  <a:t>number</a:t>
                </a:r>
                <a:r>
                  <a:rPr lang="en-US" sz="2000" dirty="0" smtClean="0"/>
                  <a:t> if both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m:rPr>
                        <m:nor/>
                      </m:rPr>
                      <a:rPr lang="en-US" sz="2000" dirty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latin typeface="Cambria Math"/>
                      </a:rPr>
                      <m:t>and</m:t>
                    </m:r>
                    <m:r>
                      <m:rPr>
                        <m:nor/>
                      </m:rPr>
                      <a:rPr lang="en-US" sz="2000" dirty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l-GR" sz="2000" dirty="0"/>
                      <m:t>ξ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are fixed.    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09600"/>
                <a:ext cx="8839200" cy="6096000"/>
              </a:xfrm>
              <a:blipFill rotWithShape="1">
                <a:blip r:embed="rId2"/>
                <a:stretch>
                  <a:fillRect l="-690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99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Random Process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09600"/>
                <a:ext cx="8839200" cy="6096000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2000" i="1" dirty="0" smtClean="0"/>
                  <a:t>In </a:t>
                </a:r>
                <a:r>
                  <a:rPr lang="en-US" sz="2000" i="1" dirty="0"/>
                  <a:t>real-life applications, we are often interested in multiple observations of random values over a period of time.</a:t>
                </a:r>
              </a:p>
              <a:p>
                <a:pPr marL="0" indent="0" algn="just">
                  <a:buNone/>
                </a:pPr>
                <a:r>
                  <a:rPr lang="en-US" sz="2000" dirty="0"/>
                  <a:t>Example: observing the stock price of a company over the next few months. In particular, let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be the stock price at time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∈[0,∞), 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 refers to current time. Figure </a:t>
                </a:r>
                <a:r>
                  <a:rPr lang="en-US" sz="2000" dirty="0" smtClean="0"/>
                  <a:t>shows </a:t>
                </a:r>
                <a:r>
                  <a:rPr lang="en-US" sz="2000" dirty="0"/>
                  <a:t>a possible outcome of this random experiment from time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 to time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A random process is a collection of random variables usually indexed by time. </a:t>
                </a:r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At</a:t>
                </a:r>
                <a:r>
                  <a:rPr lang="en-US" sz="2000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∈[0,∞),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is a </a:t>
                </a:r>
                <a:r>
                  <a:rPr lang="en-US" sz="2000" dirty="0" smtClean="0"/>
                  <a:t>random variable. At </a:t>
                </a:r>
              </a:p>
              <a:p>
                <a:pPr marL="0" indent="0" algn="just">
                  <a:buNone/>
                </a:pPr>
                <a:r>
                  <a:rPr lang="en-US" sz="2000" dirty="0" smtClean="0"/>
                  <a:t>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∈[0,∞),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latin typeface="Cambria Math"/>
                      </a:rPr>
                      <m:t>  </m:t>
                    </m:r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  is another </a:t>
                </a:r>
                <a:r>
                  <a:rPr lang="en-US" sz="2000" dirty="0"/>
                  <a:t>random </a:t>
                </a:r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variable</a:t>
                </a:r>
                <a:r>
                  <a:rPr lang="en-US" sz="2000" dirty="0"/>
                  <a:t> </a:t>
                </a:r>
                <a:r>
                  <a:rPr lang="en-US" sz="2000" dirty="0" smtClean="0"/>
                  <a:t>could have  </a:t>
                </a:r>
                <a:r>
                  <a:rPr lang="en-US" sz="2000" dirty="0"/>
                  <a:t>a different PDF</a:t>
                </a:r>
                <a:r>
                  <a:rPr lang="en-US" sz="2000" dirty="0" smtClean="0"/>
                  <a:t>. The </a:t>
                </a:r>
              </a:p>
              <a:p>
                <a:pPr marL="0" indent="0" algn="just">
                  <a:buNone/>
                </a:pPr>
                <a:r>
                  <a:rPr lang="en-US" sz="2000" dirty="0" smtClean="0"/>
                  <a:t>collective values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</a:t>
                </a:r>
                <a:r>
                  <a:rPr lang="en-US" sz="20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∈[0,∞)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is a </a:t>
                </a:r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b="1" dirty="0" smtClean="0"/>
                  <a:t>random process</a:t>
                </a:r>
                <a:r>
                  <a:rPr lang="en-US" sz="2000" dirty="0"/>
                  <a:t> or a </a:t>
                </a:r>
                <a:r>
                  <a:rPr lang="en-US" sz="2000" b="1" dirty="0" smtClean="0"/>
                  <a:t>stochastic </a:t>
                </a:r>
                <a:r>
                  <a:rPr lang="en-US" sz="2000" b="1" dirty="0"/>
                  <a:t>process</a:t>
                </a:r>
                <a:r>
                  <a:rPr lang="en-US" sz="2000" dirty="0"/>
                  <a:t>. </a:t>
                </a:r>
                <a:endParaRPr lang="en-US" sz="20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/>
                        </a:rPr>
                        <m:t>             </m:t>
                      </m:r>
                      <m:r>
                        <a:rPr lang="en-US" sz="2000" i="1" dirty="0" smtClean="0">
                          <a:latin typeface="Cambria Math"/>
                        </a:rPr>
                        <m:t>{</m:t>
                      </m:r>
                      <m:r>
                        <a:rPr lang="en-US" sz="2000" i="1" dirty="0" smtClean="0">
                          <a:latin typeface="Cambria Math"/>
                        </a:rPr>
                        <m:t>𝑆</m:t>
                      </m:r>
                      <m:r>
                        <a:rPr lang="en-US" sz="2000" i="1" dirty="0" smtClean="0">
                          <a:latin typeface="Cambria Math"/>
                        </a:rPr>
                        <m:t>(</m:t>
                      </m:r>
                      <m:r>
                        <a:rPr lang="en-US" sz="2000" i="1" dirty="0" smtClean="0">
                          <a:latin typeface="Cambria Math"/>
                        </a:rPr>
                        <m:t>𝑡</m:t>
                      </m:r>
                      <m:r>
                        <a:rPr lang="en-US" sz="2000" i="1" dirty="0" smtClean="0">
                          <a:latin typeface="Cambria Math"/>
                        </a:rPr>
                        <m:t>),</m:t>
                      </m:r>
                      <m:r>
                        <a:rPr lang="en-US" sz="2000" i="1" dirty="0" smtClean="0">
                          <a:latin typeface="Cambria Math"/>
                        </a:rPr>
                        <m:t>𝑡</m:t>
                      </m:r>
                      <m:r>
                        <a:rPr lang="en-US" sz="2000" i="1" dirty="0" smtClean="0">
                          <a:latin typeface="Cambria Math"/>
                        </a:rPr>
                        <m:t>∈[0,∞)}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The </a:t>
                </a:r>
                <a:r>
                  <a:rPr lang="en-US" sz="2000" dirty="0"/>
                  <a:t>function shown in this figure is just one of the many possible outcomes of this random experiment. We call each of these possible functions of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𝑆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a </a:t>
                </a:r>
                <a:r>
                  <a:rPr lang="en-US" sz="2000" b="1" dirty="0"/>
                  <a:t>sample function</a:t>
                </a:r>
                <a:r>
                  <a:rPr lang="en-US" sz="2000" dirty="0"/>
                  <a:t> or </a:t>
                </a:r>
                <a:r>
                  <a:rPr lang="en-US" sz="2000" b="1" dirty="0"/>
                  <a:t>sample path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09600"/>
                <a:ext cx="8839200" cy="6096000"/>
              </a:xfrm>
              <a:blipFill rotWithShape="1">
                <a:blip r:embed="rId2"/>
                <a:stretch>
                  <a:fillRect l="-690" t="-1000" r="-690" b="-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842435"/>
            <a:ext cx="3500437" cy="279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941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Continuous-time </a:t>
            </a:r>
            <a:r>
              <a:rPr lang="en-US" sz="3600" b="1" dirty="0"/>
              <a:t>random processes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09600"/>
                <a:ext cx="8839200" cy="60960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 smtClean="0"/>
                  <a:t>Let</a:t>
                </a:r>
                <a:r>
                  <a:rPr lang="en-US" sz="2000" dirty="0"/>
                  <a:t>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𝑁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be the number of customers who have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visited a bank</a:t>
                </a:r>
                <a:r>
                  <a:rPr lang="en-US" sz="2000" dirty="0"/>
                  <a:t> from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=9</m:t>
                    </m:r>
                  </m:oMath>
                </a14:m>
                <a:r>
                  <a:rPr lang="en-US" sz="2000" dirty="0"/>
                  <a:t> (when the bank opens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9:00 </m:t>
                    </m:r>
                    <m:r>
                      <a:rPr lang="en-US" sz="2000" b="0" i="1" dirty="0" smtClean="0">
                        <a:latin typeface="Cambria Math"/>
                      </a:rPr>
                      <m:t>𝐴𝑀</m:t>
                    </m:r>
                  </m:oMath>
                </a14:m>
                <a:r>
                  <a:rPr lang="en-US" sz="2000" dirty="0"/>
                  <a:t>) until time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dirty="0"/>
                  <a:t>on a given day, for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∈[9,16]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 smtClean="0"/>
                  <a:t>Here</a:t>
                </a:r>
                <a:r>
                  <a:rPr lang="en-US" sz="2000" dirty="0"/>
                  <a:t>, we measure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 in hours, but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 can take any real value between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9</m:t>
                    </m:r>
                  </m:oMath>
                </a14:m>
                <a:r>
                  <a:rPr lang="en-US" sz="2000" dirty="0"/>
                  <a:t> and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16</m:t>
                    </m:r>
                  </m:oMath>
                </a14:m>
                <a:r>
                  <a:rPr lang="en-US" sz="2000" dirty="0" smtClean="0"/>
                  <a:t>. We </a:t>
                </a:r>
                <a:r>
                  <a:rPr lang="en-US" sz="2000" dirty="0"/>
                  <a:t>assume that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𝑁</m:t>
                    </m:r>
                    <m:r>
                      <a:rPr lang="en-US" sz="2000" i="1" dirty="0" smtClean="0">
                        <a:latin typeface="Cambria Math"/>
                      </a:rPr>
                      <m:t>(9)=0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dirty="0"/>
                  <a:t>and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𝑁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)∈{0,1,2,…}</m:t>
                    </m:r>
                  </m:oMath>
                </a14:m>
                <a:r>
                  <a:rPr lang="en-US" sz="2000" dirty="0"/>
                  <a:t> for all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∈[9,16]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 smtClean="0"/>
                  <a:t>Note </a:t>
                </a:r>
                <a:r>
                  <a:rPr lang="en-US" sz="2000" dirty="0"/>
                  <a:t>that for any time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, </a:t>
                </a:r>
                <a:r>
                  <a:rPr lang="en-US" sz="2000" dirty="0"/>
                  <a:t>the random variable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𝑁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is a discrete random variable. Thus,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𝑁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is a </a:t>
                </a:r>
                <a:r>
                  <a:rPr lang="en-US" sz="2000" b="1" i="1" dirty="0">
                    <a:solidFill>
                      <a:srgbClr val="FF0000"/>
                    </a:solidFill>
                  </a:rPr>
                  <a:t>discrete-valued random process</a:t>
                </a:r>
                <a:r>
                  <a:rPr lang="en-US" sz="2000" dirty="0"/>
                  <a:t>. </a:t>
                </a:r>
                <a:endParaRPr lang="en-US" sz="2000" dirty="0" smtClean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 smtClean="0"/>
                  <a:t>However</a:t>
                </a:r>
                <a:r>
                  <a:rPr lang="en-US" sz="2000" dirty="0"/>
                  <a:t>, since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 can take any real value between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9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16</m:t>
                    </m:r>
                  </m:oMath>
                </a14:m>
                <a:r>
                  <a:rPr lang="en-US" sz="2000" dirty="0" smtClean="0"/>
                  <a:t>,</a:t>
                </a:r>
                <a:r>
                  <a:rPr lang="en-US" sz="2000" dirty="0"/>
                  <a:t>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𝑁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is a </a:t>
                </a:r>
                <a:r>
                  <a:rPr lang="en-US" sz="2000" b="1" i="1" dirty="0">
                    <a:solidFill>
                      <a:srgbClr val="FF0000"/>
                    </a:solidFill>
                  </a:rPr>
                  <a:t>continuous-time random process</a:t>
                </a:r>
                <a:r>
                  <a:rPr lang="en-US" sz="2000" dirty="0" smtClean="0"/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There are uncountable </a:t>
                </a:r>
                <a:r>
                  <a:rPr lang="en-US" sz="2000" dirty="0"/>
                  <a:t>number of random variables. For example, for any given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∈[9,16]</m:t>
                    </m:r>
                  </m:oMath>
                </a14:m>
                <a:r>
                  <a:rPr lang="en-US" sz="2000" dirty="0" smtClean="0"/>
                  <a:t>,</a:t>
                </a:r>
                <a:r>
                  <a:rPr lang="en-US" sz="2000" dirty="0"/>
                  <a:t> 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𝑁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en-US" sz="2000" dirty="0"/>
                  <a:t> is a random variable. Thus, the </a:t>
                </a:r>
                <a:r>
                  <a:rPr lang="en-US" sz="2000" b="1" i="1" dirty="0" smtClean="0">
                    <a:solidFill>
                      <a:srgbClr val="00B050"/>
                    </a:solidFill>
                  </a:rPr>
                  <a:t>random process </a:t>
                </a:r>
                <a:r>
                  <a:rPr lang="en-US" sz="2000" b="1" i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B050"/>
                        </a:solidFill>
                        <a:latin typeface="Cambria Math"/>
                      </a:rPr>
                      <m:t>𝑵</m:t>
                    </m:r>
                    <m:r>
                      <a:rPr lang="en-US" sz="2000" b="1" i="1" dirty="0">
                        <a:solidFill>
                          <a:srgbClr val="00B050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B050"/>
                        </a:solidFill>
                        <a:latin typeface="Cambria Math"/>
                      </a:rPr>
                      <m:t>𝒕</m:t>
                    </m:r>
                    <m:r>
                      <a:rPr lang="en-US" sz="2000" b="1" i="1" dirty="0">
                        <a:solidFill>
                          <a:srgbClr val="00B05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i="1" dirty="0">
                    <a:solidFill>
                      <a:srgbClr val="00B050"/>
                    </a:solidFill>
                  </a:rPr>
                  <a:t> consists of an uncountable number of random variables</a:t>
                </a:r>
                <a:r>
                  <a:rPr lang="en-US" sz="2000" dirty="0"/>
                  <a:t>. </a:t>
                </a: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09600"/>
                <a:ext cx="8839200" cy="6096000"/>
              </a:xfrm>
              <a:blipFill rotWithShape="1">
                <a:blip r:embed="rId2"/>
                <a:stretch>
                  <a:fillRect l="-690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77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Discrete-time </a:t>
            </a:r>
            <a:r>
              <a:rPr lang="en-US" sz="3600" b="1" dirty="0"/>
              <a:t>random processes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09600"/>
                <a:ext cx="8839200" cy="60960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 smtClean="0"/>
                  <a:t>A discrete-time random process is a process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{</m:t>
                    </m:r>
                    <m:r>
                      <a:rPr lang="en-US" sz="2000" i="1" dirty="0" smtClean="0">
                        <a:latin typeface="Cambria Math"/>
                      </a:rPr>
                      <m:t>𝑋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),</m:t>
                    </m:r>
                    <m:r>
                      <a:rPr lang="en-US" sz="2000" b="0" i="1" dirty="0" smtClean="0">
                        <a:latin typeface="Cambria Math"/>
                      </a:rPr>
                      <m:t>𝑡</m:t>
                    </m:r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 smtClean="0"/>
                  <a:t>,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 where</a:t>
                </a:r>
                <a:r>
                  <a:rPr lang="en-US" sz="2000" dirty="0"/>
                  <a:t>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𝐽</m:t>
                    </m:r>
                  </m:oMath>
                </a14:m>
                <a:r>
                  <a:rPr lang="en-US" sz="2000" dirty="0"/>
                  <a:t> is a countable </a:t>
                </a:r>
                <a:r>
                  <a:rPr lang="en-US" sz="2000" dirty="0" smtClean="0"/>
                  <a:t>set i.e.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𝐽</m:t>
                    </m:r>
                    <m:r>
                      <a:rPr lang="en-US" sz="2000" i="1" dirty="0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,⋯}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We </a:t>
                </a:r>
                <a:r>
                  <a:rPr lang="en-US" sz="2000" dirty="0"/>
                  <a:t>usually define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𝑋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)=</m:t>
                    </m:r>
                    <m:r>
                      <a:rPr lang="en-US" sz="2000" i="1" dirty="0" smtClean="0">
                        <a:latin typeface="Cambria Math"/>
                      </a:rPr>
                      <m:t>𝑋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or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)=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𝑛</m:t>
                    </m:r>
                    <m:r>
                      <a:rPr lang="en-US" sz="2000" i="1" dirty="0">
                        <a:latin typeface="Cambria Math"/>
                      </a:rPr>
                      <m:t>), </m:t>
                    </m:r>
                    <m:r>
                      <a:rPr lang="en-US" sz="2000" i="1" dirty="0">
                        <a:latin typeface="Cambria Math"/>
                      </a:rPr>
                      <m:t>𝑓𝑜𝑟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  <m:r>
                      <a:rPr lang="en-US" sz="2000" i="1" dirty="0">
                        <a:latin typeface="Cambria Math"/>
                      </a:rPr>
                      <m:t>𝑛</m:t>
                    </m:r>
                    <m:r>
                      <a:rPr lang="en-US" sz="2000" i="1" dirty="0">
                        <a:latin typeface="Cambria Math"/>
                      </a:rPr>
                      <m:t>=1,2,⋯</m:t>
                    </m:r>
                  </m:oMath>
                </a14:m>
                <a:r>
                  <a:rPr lang="en-US" sz="2000" dirty="0" smtClean="0"/>
                  <a:t>,</a:t>
                </a:r>
                <a:r>
                  <a:rPr lang="en-US" sz="2000" dirty="0"/>
                  <a:t> (the index values </a:t>
                </a:r>
                <a:r>
                  <a:rPr lang="en-US" sz="2000" dirty="0" smtClean="0"/>
                  <a:t>n</a:t>
                </a:r>
                <a:r>
                  <a:rPr lang="en-US" sz="2000" dirty="0"/>
                  <a:t> could be from any countable set such </a:t>
                </a:r>
                <a:r>
                  <a:rPr lang="en-US" sz="2000" dirty="0" smtClean="0"/>
                  <a:t>as natural number or integers i.e.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Cambria Math"/>
                      </a:rPr>
                      <m:t>ℕ</m:t>
                    </m:r>
                    <m:r>
                      <a:rPr lang="en-US" sz="2000" i="1" dirty="0">
                        <a:latin typeface="Cambria Math"/>
                      </a:rPr>
                      <m:t>𝑜𝑟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  <a:ea typeface="Cambria Math"/>
                      </a:rPr>
                      <m:t>ℤ</m:t>
                    </m:r>
                  </m:oMath>
                </a14:m>
                <a:r>
                  <a:rPr lang="en-US" sz="2000" dirty="0"/>
                  <a:t>). Therefore, </a:t>
                </a:r>
                <a:r>
                  <a:rPr lang="en-US" sz="2000" b="1" i="1" dirty="0">
                    <a:solidFill>
                      <a:srgbClr val="FF0000"/>
                    </a:solidFill>
                  </a:rPr>
                  <a:t>a discrete-time random process is just a sequence of random variables</a:t>
                </a:r>
                <a:r>
                  <a:rPr lang="en-US" sz="2000" dirty="0"/>
                  <a:t>. </a:t>
                </a:r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For </a:t>
                </a:r>
                <a:r>
                  <a:rPr lang="en-US" sz="2000" dirty="0"/>
                  <a:t>this reason, discrete-time random processes are sometimes referred to as </a:t>
                </a:r>
                <a:r>
                  <a:rPr lang="en-US" sz="2000" b="1" dirty="0"/>
                  <a:t>random sequences</a:t>
                </a:r>
                <a:r>
                  <a:rPr lang="en-US" sz="2000" dirty="0"/>
                  <a:t>. We can denote such a discrete-time process </a:t>
                </a:r>
                <a:r>
                  <a:rPr lang="en-US" sz="2000" dirty="0" smtClean="0"/>
                  <a:t>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{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𝑛</m:t>
                    </m:r>
                    <m:r>
                      <a:rPr lang="en-US" sz="2000" i="1" dirty="0">
                        <a:latin typeface="Cambria Math"/>
                      </a:rPr>
                      <m:t>),   </m:t>
                    </m:r>
                    <m:r>
                      <a:rPr lang="en-US" sz="2000" i="1" dirty="0">
                        <a:latin typeface="Cambria Math"/>
                      </a:rPr>
                      <m:t>𝑛</m:t>
                    </m:r>
                    <m:r>
                      <a:rPr lang="en-US" sz="2000" i="1" dirty="0">
                        <a:latin typeface="Cambria Math"/>
                      </a:rPr>
                      <m:t>=0,1,2,…} </m:t>
                    </m:r>
                    <m:r>
                      <a:rPr lang="en-US" sz="2000" i="1" dirty="0">
                        <a:latin typeface="Cambria Math"/>
                      </a:rPr>
                      <m:t>𝑜𝑟</m:t>
                    </m:r>
                    <m:r>
                      <a:rPr lang="en-US" sz="2000" i="1" dirty="0">
                        <a:latin typeface="Cambria Math"/>
                      </a:rPr>
                      <m:t> {</m:t>
                    </m:r>
                    <m:sSub>
                      <m:sSub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,  </m:t>
                    </m:r>
                    <m:r>
                      <a:rPr lang="en-US" sz="2000" b="0" i="1" dirty="0" smtClean="0">
                        <a:latin typeface="Cambria Math"/>
                      </a:rPr>
                      <m:t>𝑛</m:t>
                    </m:r>
                    <m:r>
                      <a:rPr lang="en-US" sz="2000" i="1" dirty="0">
                        <a:latin typeface="Cambria Math"/>
                      </a:rPr>
                      <m:t>=0,1,2</m:t>
                    </m:r>
                    <m:r>
                      <a:rPr lang="en-US" sz="2000" i="1" dirty="0" smtClean="0">
                        <a:latin typeface="Cambria Math"/>
                      </a:rPr>
                      <m:t>,…}</m:t>
                    </m:r>
                  </m:oMath>
                </a14:m>
                <a:r>
                  <a:rPr lang="en-US" sz="2000" dirty="0" smtClean="0"/>
                  <a:t>.</a:t>
                </a:r>
                <a:endParaRPr lang="en-US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/>
                  <a:t>Or, if the process is defined for all integers, then we may show the process </a:t>
                </a:r>
                <a:r>
                  <a:rPr lang="en-US" sz="2000" dirty="0" smtClean="0"/>
                  <a:t>by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{</m:t>
                      </m:r>
                      <m:r>
                        <a:rPr lang="en-US" sz="2000" i="1" dirty="0">
                          <a:latin typeface="Cambria Math"/>
                        </a:rPr>
                        <m:t>𝑋</m:t>
                      </m:r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r>
                        <a:rPr lang="en-US" sz="2000" i="1" dirty="0">
                          <a:latin typeface="Cambria Math"/>
                        </a:rPr>
                        <m:t>𝑛</m:t>
                      </m:r>
                      <m:r>
                        <a:rPr lang="en-US" sz="2000" i="1" dirty="0">
                          <a:latin typeface="Cambria Math"/>
                        </a:rPr>
                        <m:t>),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𝑛</m:t>
                      </m:r>
                      <m:r>
                        <a:rPr lang="en-US" sz="2000" b="0" i="1" dirty="0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000" i="1" dirty="0">
                          <a:latin typeface="Cambria Math"/>
                          <a:ea typeface="Cambria Math"/>
                        </a:rPr>
                        <m:t>ℤ</m:t>
                      </m:r>
                      <m:r>
                        <a:rPr lang="en-US" sz="2000" i="1" dirty="0">
                          <a:latin typeface="Cambria Math"/>
                        </a:rPr>
                        <m:t>} </m:t>
                      </m:r>
                      <m:r>
                        <a:rPr lang="en-US" sz="2000" i="1" dirty="0">
                          <a:latin typeface="Cambria Math"/>
                        </a:rPr>
                        <m:t>𝑜𝑟</m:t>
                      </m:r>
                      <m:r>
                        <a:rPr lang="en-US" sz="2000" i="1" dirty="0">
                          <a:latin typeface="Cambria Math"/>
                        </a:rPr>
                        <m:t> {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/>
                        </a:rPr>
                        <m:t>,</m:t>
                      </m:r>
                      <m:r>
                        <a:rPr lang="en-US" sz="2000" i="1" dirty="0">
                          <a:latin typeface="Cambria Math"/>
                        </a:rPr>
                        <m:t>𝑛</m:t>
                      </m:r>
                      <m:r>
                        <a:rPr lang="en-US" sz="2000" i="1" dirty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000" i="1" dirty="0">
                          <a:latin typeface="Cambria Math"/>
                          <a:ea typeface="Cambria Math"/>
                        </a:rPr>
                        <m:t>ℤ</m:t>
                      </m:r>
                      <m:r>
                        <a:rPr lang="en-US" sz="2000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0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en-US" sz="2000" i="1" dirty="0"/>
                  <a:t>Discrete-time processes are sometimes obtained from continuous-time processes by discretizing time (sampling at specific times).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09600"/>
                <a:ext cx="8839200" cy="6096000"/>
              </a:xfrm>
              <a:blipFill rotWithShape="1">
                <a:blip r:embed="rId2"/>
                <a:stretch>
                  <a:fillRect l="-621" r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3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52400" y="76200"/>
                <a:ext cx="8839200" cy="16764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000" b="1" i="1" u="sng" dirty="0" smtClean="0">
                    <a:solidFill>
                      <a:srgbClr val="FF0000"/>
                    </a:solidFill>
                  </a:rPr>
                  <a:t>Example: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You </a:t>
                </a:r>
                <a:r>
                  <a:rPr lang="en-US" sz="2000" dirty="0">
                    <a:solidFill>
                      <a:srgbClr val="FF0000"/>
                    </a:solidFill>
                  </a:rPr>
                  <a:t>have 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1000</a:t>
                </a:r>
                <a:r>
                  <a:rPr lang="en-US" sz="2000" dirty="0">
                    <a:solidFill>
                      <a:srgbClr val="FF0000"/>
                    </a:solidFill>
                  </a:rPr>
                  <a:t> dollars to put in an account with interest rate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compounded annually. That is, if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is the value of the account at year 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n,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=1000</m:t>
                    </m:r>
                    <m:sSup>
                      <m:sSup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(1+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,</a:t>
                </a:r>
                <a:r>
                  <a:rPr lang="en-US" sz="2000" dirty="0">
                    <a:solidFill>
                      <a:srgbClr val="FF0000"/>
                    </a:solidFill>
                  </a:rPr>
                  <a:t> for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=0,1,2,⋯</m:t>
                    </m:r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. If</a:t>
                </a:r>
                <a:r>
                  <a:rPr lang="en-US" sz="2000" dirty="0">
                    <a:solidFill>
                      <a:srgbClr val="FF0000"/>
                    </a:solidFill>
                  </a:rPr>
                  <a:t>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𝑅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∼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𝑈𝑛𝑖𝑓𝑜𝑟𝑚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0.04,</m:t>
                        </m:r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0.05</m:t>
                        </m:r>
                      </m:e>
                    </m:d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, determine sample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functions for the random process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=0,1,2,…}</m:t>
                    </m:r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 and </a:t>
                </a:r>
                <a:r>
                  <a:rPr lang="en-US" sz="2000" dirty="0">
                    <a:solidFill>
                      <a:srgbClr val="FF0000"/>
                    </a:solidFill>
                  </a:rPr>
                  <a:t>the expected value of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account </a:t>
                </a:r>
                <a:r>
                  <a:rPr lang="en-US" sz="2000" dirty="0">
                    <a:solidFill>
                      <a:srgbClr val="FF0000"/>
                    </a:solidFill>
                  </a:rPr>
                  <a:t>at year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three i.e.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.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2400" y="76200"/>
                <a:ext cx="8839200" cy="1676400"/>
              </a:xfrm>
              <a:blipFill rotWithShape="1">
                <a:blip r:embed="rId2"/>
                <a:stretch>
                  <a:fillRect l="-690" r="-690" b="-4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981200"/>
                <a:ext cx="8839200" cy="47244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dirty="0" smtClean="0"/>
                  <a:t>Here, the randomness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/>
                  <a:t> comes from the random variable R. Here,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=1000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(1+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 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0,1,2,⋯</m:t>
                        </m:r>
                      </m:e>
                    </m:d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 smtClean="0"/>
                  <a:t>So sample functions are of the form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=1000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(1+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 for 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=0,1,2,⋯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 </a:t>
                </a:r>
                <a:r>
                  <a:rPr lang="en-US" sz="2000" dirty="0" smtClean="0"/>
                  <a:t>where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𝑅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0.04, 0.05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For any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𝑅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ctrlPr>
                          <a:rPr lang="en-US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0.04, 0.05</m:t>
                        </m:r>
                      </m:e>
                    </m:d>
                  </m:oMath>
                </a14:m>
                <a:r>
                  <a:rPr lang="en-US" sz="2000" dirty="0" smtClean="0"/>
                  <a:t> a sample function of random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/>
                  <a:t> can be obtained.</a:t>
                </a:r>
              </a:p>
              <a:p>
                <a:pPr marL="0" indent="0" algn="just">
                  <a:buNone/>
                </a:pPr>
                <a:endParaRPr lang="en-US" sz="2000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=1000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(1+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1000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𝑌</m:t>
                        </m:r>
                      </m:e>
                      <m: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, thus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𝑌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∼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𝑈𝑛𝑖𝑓𝑜𝑟𝑚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.04, </m:t>
                        </m:r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.05</m:t>
                        </m:r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and 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100,  1.04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𝑦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≤1.05</m:t>
                            </m:r>
                          </m:e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&amp;0,             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𝑒𝑙𝑠𝑒𝑤h𝑒𝑟𝑒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b="0" dirty="0" smtClean="0">
                    <a:solidFill>
                      <a:schemeClr val="tx1"/>
                    </a:solidFill>
                  </a:rPr>
                  <a:t>        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</a:rPr>
                            <m:t>1000</m:t>
                          </m:r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=1000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1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.04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</a:rPr>
                            <m:t>1.05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100 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𝑑𝑦</m:t>
                          </m:r>
                        </m:e>
                      </m:nary>
                      <m:r>
                        <a:rPr lang="en-US" sz="2000" i="1" dirty="0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US" sz="2000" i="1" dirty="0">
                          <a:latin typeface="Cambria Math"/>
                        </a:rPr>
                        <m:t>114</m:t>
                      </m:r>
                      <m:r>
                        <a:rPr lang="en-US" sz="20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000" b="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981200"/>
                <a:ext cx="8839200" cy="4724400"/>
              </a:xfrm>
              <a:blipFill rotWithShape="1">
                <a:blip r:embed="rId3"/>
                <a:stretch>
                  <a:fillRect l="-690" t="-645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616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CDF of Random Process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A stochastic process is a non-countable collection of random variables, one for each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. </a:t>
                </a:r>
                <a:r>
                  <a:rPr lang="en-US" sz="2000" i="1" dirty="0" smtClean="0">
                    <a:solidFill>
                      <a:srgbClr val="FF0000"/>
                    </a:solidFill>
                  </a:rPr>
                  <a:t>For a specific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i="1" dirty="0" smtClean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i="1" dirty="0" smtClean="0">
                    <a:solidFill>
                      <a:srgbClr val="FF0000"/>
                    </a:solidFill>
                  </a:rPr>
                  <a:t> is random variable </a:t>
                </a:r>
                <a:r>
                  <a:rPr lang="en-US" sz="2000" dirty="0" smtClean="0"/>
                  <a:t>with distribution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 smtClean="0"/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This function depend 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 and it equals the probability of the event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  <m:d>
                          <m:d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 smtClean="0"/>
                  <a:t> consisting of all outcomes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𝜉</m:t>
                    </m:r>
                  </m:oMath>
                </a14:m>
                <a:r>
                  <a:rPr lang="en-US" sz="2000" dirty="0" smtClean="0"/>
                  <a:t>, such that, at specific time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, the samples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,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𝜉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of the given process does not exceed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  <m:r>
                          <a:rPr lang="en-US" sz="2000" i="1">
                            <a:latin typeface="Cambria Math"/>
                          </a:rPr>
                          <m:t>,</m:t>
                        </m:r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 smtClean="0"/>
                  <a:t> is called first-order distribution of the process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000" i="1">
                            <a:latin typeface="Cambria Math"/>
                          </a:rPr>
                          <m:t>𝐹</m:t>
                        </m:r>
                        <m:d>
                          <m:d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/>
                  <a:t> is </a:t>
                </a:r>
                <a:r>
                  <a:rPr lang="en-US" sz="2000" dirty="0" smtClean="0"/>
                  <a:t>the </a:t>
                </a:r>
                <a:r>
                  <a:rPr lang="en-US" sz="2000" dirty="0"/>
                  <a:t>first-order </a:t>
                </a:r>
                <a:r>
                  <a:rPr lang="en-US" sz="2000" dirty="0" smtClean="0"/>
                  <a:t>density </a:t>
                </a:r>
                <a:r>
                  <a:rPr lang="en-US" sz="2000" dirty="0"/>
                  <a:t>of the process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8800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CDF of Random Process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sz="2000" dirty="0" smtClean="0">
                    <a:solidFill>
                      <a:srgbClr val="FF0000"/>
                    </a:solidFill>
                  </a:rPr>
                  <a:t>Consider the random process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{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),  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. </a:t>
                </a:r>
                <a:r>
                  <a:rPr lang="en-US" sz="2000" dirty="0">
                    <a:solidFill>
                      <a:srgbClr val="FF0000"/>
                    </a:solidFill>
                  </a:rPr>
                  <a:t>For any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𝐽</m:t>
                    </m:r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,</a:t>
                </a:r>
                <a:r>
                  <a:rPr lang="en-US" sz="2000" dirty="0">
                    <a:solidFill>
                      <a:srgbClr val="FF0000"/>
                    </a:solidFill>
                  </a:rPr>
                  <a:t>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is a random variable, so we can write its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CDF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≤</m:t>
                        </m:r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.</a:t>
                </a:r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If </a:t>
                </a:r>
                <a:r>
                  <a:rPr lang="en-US" sz="2000" dirty="0">
                    <a:solidFill>
                      <a:srgbClr val="FF0000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𝐽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then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the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joint CDF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) </m:t>
                    </m:r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) </m:t>
                    </m:r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𝑋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 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𝑋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𝑋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b="1" i="1" u="sng" dirty="0" smtClean="0"/>
                  <a:t>Example: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Consider the random process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, </m:t>
                    </m:r>
                    <m:r>
                      <a:rPr lang="en-US" sz="2000" i="1" dirty="0" smtClean="0"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latin typeface="Cambria Math"/>
                      </a:rPr>
                      <m:t>=0,1,2,⋯}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in which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are i.i.d. standard </a:t>
                </a:r>
                <a:r>
                  <a:rPr lang="en-US" sz="2000" dirty="0" smtClean="0"/>
                  <a:t>normal </a:t>
                </a:r>
                <a:r>
                  <a:rPr lang="en-US" sz="2000" dirty="0"/>
                  <a:t>random variables</a:t>
                </a:r>
                <a:r>
                  <a:rPr lang="en-US" sz="2000" dirty="0" smtClean="0"/>
                  <a:t>.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000" b="0" i="1" dirty="0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  <a:ea typeface="Cambria Math"/>
                      </a:rPr>
                      <m:t>~</m:t>
                    </m:r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𝑁</m:t>
                    </m:r>
                    <m:d>
                      <m:dPr>
                        <m:ctrlPr>
                          <a:rPr lang="en-US" sz="2000" b="0" i="1" dirty="0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/>
                            <a:ea typeface="Cambria Math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000" dirty="0" smtClean="0"/>
                  <a:t>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≈</m:t>
                        </m:r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 smtClean="0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type m:val="skw"/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  <a:ea typeface="Cambria Math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2000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Since it is i.i.d.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𝑚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en-US" sz="2000" i="1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741" t="-1224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245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Mean </a:t>
            </a:r>
            <a:r>
              <a:rPr lang="en-US" b="1" dirty="0" smtClean="0"/>
              <a:t>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685800"/>
                <a:ext cx="8763000" cy="54403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i="1" dirty="0" smtClean="0">
                    <a:solidFill>
                      <a:srgbClr val="FF0000"/>
                    </a:solidFill>
                  </a:rPr>
                  <a:t>The mean function gives an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idea about how the random process behaves on average as time evolves</a:t>
                </a:r>
                <a:r>
                  <a:rPr lang="en-US" sz="2000" i="1" dirty="0" smtClean="0">
                    <a:solidFill>
                      <a:srgbClr val="FF0000"/>
                    </a:solidFill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l-GR" sz="2000" i="1" dirty="0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dirty="0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b="0" i="1" dirty="0" smtClean="0">
                          <a:latin typeface="Cambria Math"/>
                        </a:rPr>
                        <m:t>                     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l-GR" sz="2000" i="1" dirty="0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r>
                        <a:rPr lang="en-US" sz="2000" i="1" dirty="0">
                          <a:latin typeface="Cambria Math"/>
                        </a:rPr>
                        <m:t>𝑛</m:t>
                      </m:r>
                      <m:r>
                        <a:rPr lang="en-US" sz="2000" i="1" dirty="0">
                          <a:latin typeface="Cambria Math"/>
                        </a:rPr>
                        <m:t>)=</m:t>
                      </m:r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r>
                        <a:rPr lang="en-US" sz="2000" i="1" dirty="0"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i="1" dirty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/>
                  <a:t>For example, if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𝑋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is the </a:t>
                </a:r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temperature </a:t>
                </a:r>
                <a:r>
                  <a:rPr lang="en-US" sz="2000" dirty="0"/>
                  <a:t>in a certain city, the </a:t>
                </a:r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mean </a:t>
                </a:r>
                <a:r>
                  <a:rPr lang="en-US" sz="2000" dirty="0"/>
                  <a:t>function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l-GR" sz="2000" i="1" dirty="0" smtClean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/>
                  <a:t> might look </a:t>
                </a:r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like </a:t>
                </a:r>
                <a:r>
                  <a:rPr lang="en-US" sz="2000" dirty="0"/>
                  <a:t>the function shown in Figure </a:t>
                </a:r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below. </a:t>
                </a:r>
                <a:r>
                  <a:rPr lang="en-US" sz="1800" i="1" dirty="0" smtClean="0"/>
                  <a:t>(the </a:t>
                </a:r>
                <a:r>
                  <a:rPr lang="en-US" sz="1800" i="1" dirty="0"/>
                  <a:t>expected value of 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18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i="1" dirty="0"/>
                  <a:t> </a:t>
                </a:r>
                <a:endParaRPr lang="en-US" sz="1800" i="1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i="1" dirty="0" smtClean="0"/>
                  <a:t>is </a:t>
                </a:r>
                <a:r>
                  <a:rPr lang="en-US" sz="1800" i="1" dirty="0"/>
                  <a:t>lowest in </a:t>
                </a:r>
                <a:r>
                  <a:rPr lang="en-US" sz="1800" i="1" dirty="0" smtClean="0"/>
                  <a:t>the winter and highest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i="1" dirty="0" smtClean="0"/>
                  <a:t>In the summer)</a:t>
                </a:r>
                <a:endParaRPr lang="en-US" sz="18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685800"/>
                <a:ext cx="8763000" cy="5440363"/>
              </a:xfrm>
              <a:blipFill rotWithShape="1">
                <a:blip r:embed="rId2"/>
                <a:stretch>
                  <a:fillRect l="-765" r="-696" b="-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819400"/>
            <a:ext cx="4724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86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Correlation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685800"/>
                <a:ext cx="8763000" cy="5867400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 smtClean="0">
                    <a:solidFill>
                      <a:srgbClr val="FF0000"/>
                    </a:solidFill>
                  </a:rPr>
                  <a:t>The mean function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l-GR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gives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the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expected value of 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at time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, </a:t>
                </a:r>
                <a:r>
                  <a:rPr lang="en-US" sz="2000" dirty="0">
                    <a:solidFill>
                      <a:srgbClr val="FF0000"/>
                    </a:solidFill>
                  </a:rPr>
                  <a:t>but it does not give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any </a:t>
                </a:r>
                <a:r>
                  <a:rPr lang="en-US" sz="2000" dirty="0">
                    <a:solidFill>
                      <a:srgbClr val="FF0000"/>
                    </a:solidFill>
                  </a:rPr>
                  <a:t>information about how 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and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are related. </a:t>
                </a:r>
                <a:endParaRPr lang="en-US" sz="2000" dirty="0" smtClean="0">
                  <a:solidFill>
                    <a:srgbClr val="FF0000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The</a:t>
                </a:r>
                <a:r>
                  <a:rPr lang="en-US" sz="2000" dirty="0"/>
                  <a:t> </a:t>
                </a:r>
                <a:r>
                  <a:rPr lang="en-US" sz="2000" b="1" dirty="0"/>
                  <a:t>autocorrelation </a:t>
                </a:r>
                <a:r>
                  <a:rPr lang="en-US" sz="2000" b="1" dirty="0" smtClean="0"/>
                  <a:t>function</a:t>
                </a:r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 </a:t>
                </a:r>
                <a:r>
                  <a:rPr lang="en-US" sz="2000" dirty="0" smtClean="0"/>
                  <a:t>is </a:t>
                </a:r>
                <a:r>
                  <a:rPr lang="en-US" sz="2000" dirty="0"/>
                  <a:t>defined </a:t>
                </a:r>
                <a:r>
                  <a:rPr lang="en-US" sz="2000" dirty="0" smtClean="0"/>
                  <a:t>for a random process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{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),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sz="2000" i="1" dirty="0">
                        <a:latin typeface="Cambria Math"/>
                      </a:rPr>
                      <m:t>}</m:t>
                    </m:r>
                  </m:oMath>
                </a14:m>
                <a:endParaRPr lang="en-US" sz="2000" dirty="0" smtClean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US" sz="2000" dirty="0"/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𝑑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𝑑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for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        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 dirty="0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000" b="0" i="1" dirty="0" smtClean="0">
                          <a:latin typeface="Cambria Math"/>
                          <a:ea typeface="Cambria Math"/>
                        </a:rPr>
                        <m:t>𝐽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/>
                  <a:t>T</a:t>
                </a:r>
                <a:r>
                  <a:rPr lang="en-US" sz="2000" dirty="0" smtClean="0"/>
                  <a:t>he</a:t>
                </a:r>
                <a:r>
                  <a:rPr lang="en-US" sz="2000" dirty="0"/>
                  <a:t> </a:t>
                </a:r>
                <a:r>
                  <a:rPr lang="en-US" sz="2000" b="1" dirty="0" smtClean="0"/>
                  <a:t>autocovariance </a:t>
                </a:r>
                <a:r>
                  <a:rPr lang="en-US" sz="2000" b="1" dirty="0"/>
                  <a:t>function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 is defined for a random process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{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),</m:t>
                    </m:r>
                    <m:r>
                      <a:rPr lang="en-US" sz="2000" b="0" i="1" dirty="0" smtClean="0">
                        <a:latin typeface="Cambria Math"/>
                      </a:rPr>
                      <m:t>𝑡</m:t>
                    </m:r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sz="2000" i="1" dirty="0"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r>
                        <a:rPr lang="en-US" sz="2000" b="0" i="1" dirty="0" smtClean="0">
                          <a:latin typeface="Cambria Math"/>
                        </a:rPr>
                        <m:t>𝐶𝑜𝑣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US" sz="2000" dirty="0"/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 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0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dirty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l-GR" sz="2000" i="1" dirty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l-GR" sz="2000" i="1" dirty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0" dirty="0" smtClean="0">
                          <a:latin typeface="Cambria Math"/>
                        </a:rPr>
                        <m:t>        </m:t>
                      </m:r>
                      <m:r>
                        <m:rPr>
                          <m:sty m:val="p"/>
                        </m:rPr>
                        <a:rPr lang="en-US" sz="2000" dirty="0">
                          <a:latin typeface="Cambria Math"/>
                        </a:rPr>
                        <m:t>for</m:t>
                      </m:r>
                      <m:r>
                        <a:rPr lang="en-US" sz="2000" i="1" dirty="0">
                          <a:latin typeface="Cambria Math"/>
                        </a:rPr>
                        <m:t>         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000" i="1" dirty="0">
                          <a:latin typeface="Cambria Math"/>
                          <a:ea typeface="Cambria Math"/>
                        </a:rPr>
                        <m:t>𝐽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𝑡</m:t>
                    </m:r>
                  </m:oMath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𝑡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000" dirty="0"/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r>
                        <a:rPr lang="en-US" sz="2000" b="0" i="1" dirty="0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𝑡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dirty="0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 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dirty="0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685800"/>
                <a:ext cx="8763000" cy="5867400"/>
              </a:xfrm>
              <a:blipFill rotWithShape="1"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94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Correlation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143000"/>
                <a:ext cx="8763000" cy="5410200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Intuitively,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shows how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and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move relative to each other</a:t>
                </a:r>
                <a:r>
                  <a:rPr lang="en-US" sz="2000" dirty="0">
                    <a:solidFill>
                      <a:schemeClr val="tx1"/>
                    </a:solidFill>
                  </a:rPr>
                  <a:t>. 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If </a:t>
                </a:r>
                <a:r>
                  <a:rPr lang="en-US" sz="2000" dirty="0">
                    <a:solidFill>
                      <a:schemeClr val="tx1"/>
                    </a:solidFill>
                  </a:rPr>
                  <a:t>large values of 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 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tend </a:t>
                </a:r>
                <a:r>
                  <a:rPr lang="en-US" sz="2000" dirty="0">
                    <a:solidFill>
                      <a:schemeClr val="tx1"/>
                    </a:solidFill>
                  </a:rPr>
                  <a:t>to imply large values of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then 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 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 is positive on average. In this case,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 is positive, and we say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 and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 are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positively correlated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On </a:t>
                </a:r>
                <a:r>
                  <a:rPr lang="en-US" sz="2000" dirty="0">
                    <a:solidFill>
                      <a:schemeClr val="tx1"/>
                    </a:solidFill>
                  </a:rPr>
                  <a:t>the other hand, if large values of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 imply small values of 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then 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 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 is negative on average, and we say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 and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are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negatively correlated</a:t>
                </a:r>
                <a:r>
                  <a:rPr lang="en-US" sz="2000" dirty="0">
                    <a:solidFill>
                      <a:schemeClr val="tx1"/>
                    </a:solidFill>
                  </a:rPr>
                  <a:t>. 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If</a:t>
                </a:r>
                <a:r>
                  <a:rPr lang="en-US" sz="2000" dirty="0">
                    <a:solidFill>
                      <a:schemeClr val="tx1"/>
                    </a:solidFill>
                  </a:rPr>
                  <a:t>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then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 and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 are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uncorrelated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  <a:endParaRPr lang="en-US" sz="2000" i="1" dirty="0" smtClean="0">
                  <a:solidFill>
                    <a:schemeClr val="tx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143000"/>
                <a:ext cx="8763000" cy="5410200"/>
              </a:xfrm>
              <a:blipFill rotWithShape="1">
                <a:blip r:embed="rId2"/>
                <a:stretch>
                  <a:fillRect l="-626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88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79216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000" b="1" i="1" u="sng" dirty="0" smtClean="0">
                    <a:solidFill>
                      <a:srgbClr val="FF0000"/>
                    </a:solidFill>
                  </a:rPr>
                  <a:t>Example: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Find the mean, correlation and covariance function for random process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=1000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(1+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 for 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=0,1,2,⋯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  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𝑅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∼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𝑈𝑛𝑖𝑓𝑜𝑟𝑚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0.04, 0.05</m:t>
                        </m:r>
                      </m:e>
                    </m:d>
                    <m:r>
                      <a:rPr lang="en-US" sz="20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792162"/>
              </a:xfrm>
              <a:blipFill rotWithShape="1">
                <a:blip r:embed="rId2"/>
                <a:stretch>
                  <a:fillRect l="-741" r="-741" b="-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19200"/>
                <a:ext cx="8686800" cy="54102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l-GR" sz="1800" i="1" dirty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 dirty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i="1" dirty="0">
                          <a:latin typeface="Cambria Math"/>
                        </a:rPr>
                        <m:t>=</m:t>
                      </m:r>
                      <m:r>
                        <a:rPr lang="en-US" sz="18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i="1" dirty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latin typeface="Cambria Math"/>
                        </a:rPr>
                        <m:t>=</m:t>
                      </m:r>
                      <m:r>
                        <a:rPr lang="en-US" sz="1800" i="1" dirty="0">
                          <a:latin typeface="Cambria Math"/>
                        </a:rPr>
                        <m:t>1000</m:t>
                      </m:r>
                      <m:r>
                        <a:rPr lang="en-US" sz="1800" b="0" i="1" dirty="0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1800" b="0" i="1" dirty="0" smtClean="0">
                          <a:latin typeface="Cambria Math"/>
                        </a:rPr>
                        <m:t>=</m:t>
                      </m:r>
                      <m:r>
                        <a:rPr lang="en-US" sz="1800" i="1" dirty="0">
                          <a:latin typeface="Cambria Math"/>
                        </a:rPr>
                        <m:t>1000</m:t>
                      </m:r>
                      <m:nary>
                        <m:naryPr>
                          <m:limLoc m:val="undOvr"/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800" i="1" dirty="0">
                              <a:latin typeface="Cambria Math"/>
                            </a:rPr>
                            <m:t>1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.04</m:t>
                          </m:r>
                        </m:sub>
                        <m:sup>
                          <m:r>
                            <a:rPr lang="en-US" sz="1800" i="1" dirty="0">
                              <a:latin typeface="Cambria Math"/>
                            </a:rPr>
                            <m:t>1.05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100 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8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𝑑𝑦</m:t>
                          </m:r>
                        </m:e>
                      </m:nary>
                      <m:r>
                        <a:rPr lang="en-US" sz="1800" b="0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dirty="0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dirty="0" smtClean="0">
                              <a:latin typeface="Cambria Math"/>
                            </a:rPr>
                            <m:t>𝑛</m:t>
                          </m:r>
                          <m:r>
                            <a:rPr lang="en-US" sz="1800" b="0" i="1" dirty="0" smtClean="0">
                              <a:latin typeface="Cambria Math"/>
                            </a:rPr>
                            <m:t>+1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1.05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800" b="0" i="1" dirty="0" smtClean="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1.0</m:t>
                              </m:r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8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sup>
                      </m:sSup>
                      <m:r>
                        <a:rPr lang="en-US" sz="1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1800" i="1" dirty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dirty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en-US" sz="18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1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sup>
                      </m:sSup>
                      <m:nary>
                        <m:naryPr>
                          <m:limLoc m:val="undOvr"/>
                          <m:ctrlP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.04</m:t>
                          </m:r>
                        </m:sub>
                        <m:sup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1.05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100 </m:t>
                              </m:r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𝑑𝑦</m:t>
                          </m:r>
                        </m:e>
                      </m:nary>
                      <m:r>
                        <a:rPr lang="en-US" sz="1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1.05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1.04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800" dirty="0" smtClean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i="1" dirty="0" smtClean="0">
                  <a:latin typeface="Cambria Math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18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 dirty="0">
                              <a:latin typeface="Cambria Math"/>
                            </a:rPr>
                            <m:t>𝑚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,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i="1" dirty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18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 dirty="0">
                              <a:latin typeface="Cambria Math"/>
                            </a:rPr>
                            <m:t>𝑚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,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dirty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l-GR" sz="1800" i="1" dirty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/>
                            </a:rPr>
                            <m:t>𝑚</m:t>
                          </m:r>
                        </m:e>
                      </m:d>
                      <m:sSub>
                        <m:sSub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l-GR" sz="1800" i="1" dirty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dirty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dirty="0" smtClean="0">
                              <a:latin typeface="Cambria Math"/>
                            </a:rPr>
                            <m:t>𝑚</m:t>
                          </m:r>
                          <m:r>
                            <a:rPr lang="en-US" sz="1800" b="0" i="1" dirty="0" smtClean="0">
                              <a:latin typeface="Cambria Math"/>
                            </a:rPr>
                            <m:t>+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𝑛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+1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1.05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800" i="1" dirty="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1.04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800" i="1" dirty="0" smtClean="0">
                  <a:latin typeface="Cambria Math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0" dirty="0" smtClean="0">
                          <a:latin typeface="Cambria Math"/>
                        </a:rPr>
                        <m:t>                                                    −</m:t>
                      </m:r>
                      <m:f>
                        <m:f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dirty="0" smtClean="0">
                              <a:latin typeface="Cambria Math"/>
                            </a:rPr>
                            <m:t>𝑚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+1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1.05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800" i="1" dirty="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1.04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sz="1800" b="0" i="1" dirty="0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1800" i="1" dirty="0">
                              <a:latin typeface="Cambria Math"/>
                            </a:rPr>
                            <m:t>𝑛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+1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1.05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800" i="1" dirty="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1.04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i="1" dirty="0"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19200"/>
                <a:ext cx="8686800" cy="5410200"/>
              </a:xfrm>
              <a:blipFill rotWithShape="1">
                <a:blip r:embed="rId3"/>
                <a:stretch>
                  <a:fillRect b="-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94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Multiple Random Processes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371600"/>
                <a:ext cx="8763000" cy="51054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200000"/>
                  </a:lnSpc>
                  <a:buNone/>
                </a:pPr>
                <a:r>
                  <a:rPr lang="en-US" sz="2000" dirty="0" smtClean="0"/>
                  <a:t>For two random processes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{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),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sz="2000" i="1" dirty="0"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{</m:t>
                    </m:r>
                    <m:r>
                      <a:rPr lang="en-US" sz="2000" b="0" i="1" dirty="0" smtClean="0">
                        <a:latin typeface="Cambria Math"/>
                      </a:rPr>
                      <m:t>𝑌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),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sz="2000" i="1" dirty="0"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0" indent="0" algn="just">
                  <a:lnSpc>
                    <a:spcPct val="200000"/>
                  </a:lnSpc>
                  <a:buNone/>
                </a:pPr>
                <a:r>
                  <a:rPr lang="en-US" sz="2000" dirty="0" smtClean="0"/>
                  <a:t>The</a:t>
                </a:r>
                <a:r>
                  <a:rPr lang="en-US" sz="2000" dirty="0"/>
                  <a:t> </a:t>
                </a:r>
                <a:r>
                  <a:rPr lang="en-US" sz="2000" b="1" dirty="0" smtClean="0"/>
                  <a:t>cross-correlation function</a:t>
                </a:r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 </a:t>
                </a:r>
                <a:r>
                  <a:rPr lang="en-US" sz="2000" dirty="0" smtClean="0"/>
                  <a:t>is </a:t>
                </a:r>
                <a:r>
                  <a:rPr lang="en-US" sz="2000" dirty="0"/>
                  <a:t>defined </a:t>
                </a:r>
                <a:r>
                  <a:rPr lang="en-US" sz="2000" dirty="0" smtClean="0"/>
                  <a:t>as</a:t>
                </a:r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400" i="1" dirty="0">
                              <a:latin typeface="Cambria Math"/>
                            </a:rPr>
                            <m:t>𝑋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 dirty="0">
                          <a:latin typeface="Cambria Math"/>
                        </a:rPr>
                        <m:t>=</m:t>
                      </m:r>
                      <m:r>
                        <a:rPr lang="en-US" sz="24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dirty="0" smtClean="0">
                          <a:latin typeface="Cambria Math"/>
                        </a:rPr>
                        <m:t>        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/>
                        </a:rPr>
                        <m:t>for</m:t>
                      </m:r>
                      <m:r>
                        <a:rPr lang="en-US" sz="2400" b="0" i="1" dirty="0" smtClean="0">
                          <a:latin typeface="Cambria Math"/>
                        </a:rPr>
                        <m:t>       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400" b="0" i="1" dirty="0" smtClean="0">
                          <a:latin typeface="Cambria Math"/>
                          <a:ea typeface="Cambria Math"/>
                        </a:rPr>
                        <m:t>𝐽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 algn="just">
                  <a:lnSpc>
                    <a:spcPct val="200000"/>
                  </a:lnSpc>
                  <a:buNone/>
                </a:pPr>
                <a:r>
                  <a:rPr lang="en-US" sz="2400" dirty="0"/>
                  <a:t>T</a:t>
                </a:r>
                <a:r>
                  <a:rPr lang="en-US" sz="2000" dirty="0" smtClean="0"/>
                  <a:t>he</a:t>
                </a:r>
                <a:r>
                  <a:rPr lang="en-US" sz="2000" dirty="0"/>
                  <a:t> </a:t>
                </a:r>
                <a:r>
                  <a:rPr lang="en-US" sz="2000" b="1" dirty="0" smtClean="0"/>
                  <a:t>cross-covariance </a:t>
                </a:r>
                <a:r>
                  <a:rPr lang="en-US" sz="2000" b="1" dirty="0"/>
                  <a:t>function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 is </a:t>
                </a:r>
                <a:r>
                  <a:rPr lang="en-US" sz="2000" dirty="0" smtClean="0"/>
                  <a:t>defined as</a:t>
                </a:r>
                <a:endParaRPr lang="en-US" sz="2000" dirty="0"/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 dirty="0">
                              <a:latin typeface="Cambria Math"/>
                            </a:rPr>
                            <m:t>𝑋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 dirty="0">
                          <a:latin typeface="Cambria Math"/>
                        </a:rPr>
                        <m:t>=</m:t>
                      </m:r>
                      <m:r>
                        <a:rPr lang="en-US" sz="2400" b="0" i="1" dirty="0" smtClean="0">
                          <a:latin typeface="Cambria Math"/>
                        </a:rPr>
                        <m:t>𝐶𝑜𝑣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400" i="1" dirty="0">
                              <a:latin typeface="Cambria Math"/>
                            </a:rPr>
                            <m:t>𝑋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0" dirty="0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l-GR" sz="2400" i="1" dirty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4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l-GR" sz="2400" i="1" dirty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/>
                        </a:rPr>
                        <m:t>      </m:t>
                      </m:r>
                      <m:r>
                        <m:rPr>
                          <m:sty m:val="p"/>
                        </m:rPr>
                        <a:rPr lang="en-US" sz="2400" dirty="0">
                          <a:latin typeface="Cambria Math"/>
                        </a:rPr>
                        <m:t>for</m:t>
                      </m:r>
                      <m:r>
                        <a:rPr lang="en-US" sz="2400" i="1" dirty="0">
                          <a:latin typeface="Cambria Math"/>
                        </a:rPr>
                        <m:t>      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400" i="1" dirty="0">
                          <a:latin typeface="Cambria Math"/>
                          <a:ea typeface="Cambria Math"/>
                        </a:rPr>
                        <m:t>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371600"/>
                <a:ext cx="8763000" cy="5105400"/>
              </a:xfrm>
              <a:blipFill rotWithShape="1">
                <a:blip r:embed="rId2"/>
                <a:stretch>
                  <a:fillRect l="-1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8276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  <a:p>
            <a:pPr algn="just"/>
            <a:r>
              <a:rPr lang="en-US" sz="2000" dirty="0"/>
              <a:t>https://</a:t>
            </a:r>
            <a:r>
              <a:rPr lang="en-US" sz="2000" dirty="0" smtClean="0"/>
              <a:t>www.probabilitycourse.com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973894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0025&quot;&gt;&lt;/object&gt;&lt;object type=&quot;2&quot; unique_id=&quot;10026&quot;&gt;&lt;object type=&quot;3&quot; unique_id=&quot;10027&quot;&gt;&lt;property id=&quot;20148&quot; value=&quot;5&quot;/&gt;&lt;property id=&quot;20300&quot; value=&quot;Slide 2 - &amp;quot; Lecture-1 (Module-3) &amp;quot;&quot;/&gt;&lt;property id=&quot;20307&quot; value=&quot;256&quot;/&gt;&lt;/object&gt;&lt;object type=&quot;3&quot; unique_id=&quot;10028&quot;&gt;&lt;property id=&quot;20148&quot; value=&quot;5&quot;/&gt;&lt;property id=&quot;20300&quot; value=&quot;Slide 3 - &amp;quot;Stochastic (Random) Process&amp;quot;&quot;/&gt;&lt;property id=&quot;20307&quot; value=&quot;257&quot;/&gt;&lt;/object&gt;&lt;object type=&quot;3&quot; unique_id=&quot;10065&quot;&gt;&lt;property id=&quot;20148&quot; value=&quot;5&quot;/&gt;&lt;property id=&quot;20300&quot; value=&quot;Slide 7 - &amp;quot;Example: You have 1000 dollars to put in an account with interest rate 𝑅, compounded annually. That is, if  𝑋 𝑛 &quot;/&gt;&lt;property id=&quot;20307&quot; value=&quot;258&quot;/&gt;&lt;/object&gt;&lt;object type=&quot;3&quot; unique_id=&quot;10116&quot;&gt;&lt;property id=&quot;20148&quot; value=&quot;5&quot;/&gt;&lt;property id=&quot;20300&quot; value=&quot;Slide 8 - &amp;quot;CDF of Random Process&amp;quot;&quot;/&gt;&lt;property id=&quot;20307&quot; value=&quot;259&quot;/&gt;&lt;/object&gt;&lt;object type=&quot;3&quot; unique_id=&quot;10135&quot;&gt;&lt;property id=&quot;20148&quot; value=&quot;5&quot;/&gt;&lt;property id=&quot;20300&quot; value=&quot;Slide 10 - &amp;quot;Mean Functions&amp;quot;&quot;/&gt;&lt;property id=&quot;20307&quot; value=&quot;260&quot;/&gt;&lt;/object&gt;&lt;object type=&quot;3&quot; unique_id=&quot;10157&quot;&gt;&lt;property id=&quot;20148&quot; value=&quot;5&quot;/&gt;&lt;property id=&quot;20300&quot; value=&quot;Slide 11 - &amp;quot;Correlation Functions&amp;quot;&quot;/&gt;&lt;property id=&quot;20307&quot; value=&quot;261&quot;/&gt;&lt;/object&gt;&lt;object type=&quot;3&quot; unique_id=&quot;10230&quot;&gt;&lt;property id=&quot;20148&quot; value=&quot;5&quot;/&gt;&lt;property id=&quot;20300&quot; value=&quot;Slide 12 - &amp;quot;Correlation Functions&amp;quot;&quot;/&gt;&lt;property id=&quot;20307&quot; value=&quot;262&quot;/&gt;&lt;/object&gt;&lt;object type=&quot;3&quot; unique_id=&quot;10258&quot;&gt;&lt;property id=&quot;20148&quot; value=&quot;5&quot;/&gt;&lt;property id=&quot;20300&quot; value=&quot;Slide 13 - &amp;quot;Example: Find the mean, correlation and covariance function for random process   𝑋 𝑛 =1000 (1+𝑅) 𝑛 , for 𝑛=0,&quot;/&gt;&lt;property id=&quot;20307&quot; value=&quot;263&quot;/&gt;&lt;/object&gt;&lt;object type=&quot;3&quot; unique_id=&quot;10342&quot;&gt;&lt;property id=&quot;20148&quot; value=&quot;5&quot;/&gt;&lt;property id=&quot;20300&quot; value=&quot;Slide 15 - &amp;quot;Reference&amp;quot;&quot;/&gt;&lt;property id=&quot;20307&quot; value=&quot;264&quot;/&gt;&lt;/object&gt;&lt;object type=&quot;3&quot; unique_id=&quot;10409&quot;&gt;&lt;property id=&quot;20148&quot; value=&quot;5&quot;/&gt;&lt;property id=&quot;20300&quot; value=&quot;Slide 14 - &amp;quot;Multiple Random Processes&amp;quot;&quot;/&gt;&lt;property id=&quot;20307&quot; value=&quot;265&quot;/&gt;&lt;/object&gt;&lt;object type=&quot;3&quot; unique_id=&quot;11969&quot;&gt;&lt;property id=&quot;20148&quot; value=&quot;5&quot;/&gt;&lt;property id=&quot;20300&quot; value=&quot;Slide 4 - &amp;quot;Random Process&amp;quot;&quot;/&gt;&lt;property id=&quot;20307&quot; value=&quot;266&quot;/&gt;&lt;/object&gt;&lt;object type=&quot;3&quot; unique_id=&quot;12091&quot;&gt;&lt;property id=&quot;20148&quot; value=&quot;5&quot;/&gt;&lt;property id=&quot;20300&quot; value=&quot;Slide 9 - &amp;quot;CDF of Random Process&amp;quot;&quot;/&gt;&lt;property id=&quot;20307&quot; value=&quot;268&quot;/&gt;&lt;/object&gt;&lt;object type=&quot;3&quot; unique_id=&quot;12380&quot;&gt;&lt;property id=&quot;20148&quot; value=&quot;5&quot;/&gt;&lt;property id=&quot;20300&quot; value=&quot;Slide 6 - &amp;quot;Discrete-time random processes&amp;quot;&quot;/&gt;&lt;property id=&quot;20307&quot; value=&quot;269&quot;/&gt;&lt;/object&gt;&lt;object type=&quot;3&quot; unique_id=&quot;12546&quot;&gt;&lt;property id=&quot;20148&quot; value=&quot;5&quot;/&gt;&lt;property id=&quot;20300&quot; value=&quot;Slide 5 - &amp;quot;Continuous-time random processes&amp;quot;&quot;/&gt;&lt;property id=&quot;20307&quot; value=&quot;270&quot;/&gt;&lt;/object&gt;&lt;object type=&quot;3&quot; unique_id=&quot;12969&quot;&gt;&lt;property id=&quot;20148&quot; value=&quot;5&quot;/&gt;&lt;property id=&quot;20300&quot; value=&quot;Slide 1&quot;/&gt;&lt;property id=&quot;20307&quot; value=&quot;271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804</Words>
  <Application>Microsoft Office PowerPoint</Application>
  <PresentationFormat>On-screen Show (4:3)</PresentationFormat>
  <Paragraphs>114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 Lecture-1 (Module-3) </vt:lpstr>
      <vt:lpstr>Stochastic (Random) Process</vt:lpstr>
      <vt:lpstr>Random Process</vt:lpstr>
      <vt:lpstr>Continuous-time random processes</vt:lpstr>
      <vt:lpstr>Discrete-time random processes</vt:lpstr>
      <vt:lpstr>Example: You have 1000 dollars to put in an account with interest rate R, compounded annually. That is, if X_n is the value of the account at year n, then X_n=1000〖(1+R)〗^n, for n=0,1,2,⋯. If R∼Uniform(0.04, 0.05), determine sample functions for the random process {X_n, n=0,1,2,…} and the expected value of account at year three i.e. E[X_3].</vt:lpstr>
      <vt:lpstr>CDF of Random Process</vt:lpstr>
      <vt:lpstr>CDF of Random Process</vt:lpstr>
      <vt:lpstr>Mean Functions</vt:lpstr>
      <vt:lpstr>Correlation Functions</vt:lpstr>
      <vt:lpstr>Correlation Functions</vt:lpstr>
      <vt:lpstr>Example: Find the mean, correlation and covariance function for random process  X_n=1000〖(1+R)〗^n, for n=0,1,2,⋯.  R∼Uniform(0.04, 0.05).</vt:lpstr>
      <vt:lpstr>Multiple Random Processes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 Module-5</dc:title>
  <dc:creator>ashutosh</dc:creator>
  <cp:lastModifiedBy>ashutosh</cp:lastModifiedBy>
  <cp:revision>69</cp:revision>
  <dcterms:created xsi:type="dcterms:W3CDTF">2020-07-03T13:58:45Z</dcterms:created>
  <dcterms:modified xsi:type="dcterms:W3CDTF">2020-09-03T06:07:35Z</dcterms:modified>
</cp:coreProperties>
</file>