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96" r:id="rId4"/>
    <p:sldId id="298" r:id="rId5"/>
    <p:sldId id="303" r:id="rId6"/>
    <p:sldId id="295" r:id="rId7"/>
    <p:sldId id="299" r:id="rId8"/>
    <p:sldId id="300" r:id="rId9"/>
    <p:sldId id="301" r:id="rId10"/>
    <p:sldId id="302" r:id="rId11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3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6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2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3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3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984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Lecture-9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Joint Moments, Joint Characteristic </a:t>
            </a:r>
            <a:r>
              <a:rPr lang="en-US" b="1" dirty="0" smtClean="0"/>
              <a:t>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Mean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1" i="1" dirty="0" smtClean="0">
                          <a:latin typeface="Cambria Math"/>
                        </a:rPr>
                        <m:t>𝒛</m:t>
                      </m:r>
                      <m:r>
                        <a:rPr lang="en-US" altLang="en-US" sz="2000" b="1" i="1" dirty="0" smtClean="0">
                          <a:latin typeface="Cambria Math"/>
                        </a:rPr>
                        <m:t>=</m:t>
                      </m:r>
                      <m:r>
                        <a:rPr lang="en-US" altLang="en-US" sz="2000" i="1" dirty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alt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 dirty="0">
                              <a:latin typeface="Cambria Math"/>
                            </a:rPr>
                            <m:t>𝒙</m:t>
                          </m:r>
                          <m:r>
                            <a:rPr lang="en-US" alt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altLang="en-US" sz="2000" b="1" i="1" dirty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𝒛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𝑑𝑧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altLang="en-US" sz="2000" i="1" dirty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b="0" i="1" dirty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en-US" sz="2000" b="0" i="1" dirty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en-US" sz="2000" b="0" i="1" dirty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𝑑𝑥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dirty="0" smtClean="0"/>
                  <a:t>Mean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𝒛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en-US" sz="2000" i="1" dirty="0">
                                  <a:latin typeface="Cambria Math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 dirty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𝑑𝑥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altLang="en-US" sz="2000" i="1" dirty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i="1" dirty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10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Covariance and Correlation Coefficients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5626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sz="2000" dirty="0" smtClean="0">
                    <a:latin typeface="Cambria Math"/>
                  </a:rPr>
                  <a:t>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en-US" sz="2000" b="1" i="1" smtClean="0">
                            <a:latin typeface="Cambria Math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n-US" altLang="en-US" sz="2000" b="1" dirty="0" smtClean="0">
                    <a:latin typeface="Cambria Math"/>
                  </a:rPr>
                  <a:t> </a:t>
                </a:r>
                <a:r>
                  <a:rPr lang="en-US" altLang="en-US" sz="2000" dirty="0" smtClean="0">
                    <a:latin typeface="Cambria Math"/>
                  </a:rPr>
                  <a:t>of two RVs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latin typeface="Cambria Math"/>
                      </a:rPr>
                      <m:t>𝒙</m:t>
                    </m:r>
                    <m:r>
                      <a:rPr lang="en-US" altLang="en-US" sz="2000" b="1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b="0" i="0" smtClean="0">
                        <a:latin typeface="Cambria Math"/>
                      </a:rPr>
                      <m:t>and</m:t>
                    </m:r>
                    <m:r>
                      <a:rPr lang="en-US" altLang="en-US" sz="2000" b="1" i="1" smtClean="0">
                        <a:latin typeface="Cambria Math"/>
                      </a:rPr>
                      <m:t> </m:t>
                    </m:r>
                    <m:r>
                      <a:rPr lang="en-US" altLang="en-US" sz="2000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altLang="en-US" sz="2000" b="1" dirty="0" smtClean="0">
                    <a:latin typeface="Cambria Math"/>
                  </a:rPr>
                  <a:t> </a:t>
                </a:r>
                <a:r>
                  <a:rPr lang="en-US" altLang="en-US" sz="2000" dirty="0" smtClean="0">
                    <a:latin typeface="Cambria Math"/>
                  </a:rPr>
                  <a:t>is</a:t>
                </a:r>
                <a:endParaRPr lang="en-US" altLang="en-US" sz="2000" b="1" dirty="0" smtClean="0">
                  <a:latin typeface="Cambria Math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</a:rPr>
                            <m:t>𝒙𝒚</m:t>
                          </m:r>
                        </m:sub>
                      </m:sSub>
                      <m:r>
                        <a:rPr lang="en-US" alt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alt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en-US" sz="20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 smtClean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alt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en-US" sz="20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 smtClean="0"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altLang="en-US" sz="20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altLang="en-US" sz="2000" b="0" i="1" smtClean="0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altLang="en-US" sz="2000" i="1">
                            <a:latin typeface="Cambria Math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9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9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1900" b="1" i="1">
                              <a:latin typeface="Cambria Math"/>
                            </a:rPr>
                            <m:t>𝒙𝒚</m:t>
                          </m:r>
                        </m:sub>
                      </m:sSub>
                      <m:r>
                        <a:rPr lang="en-US" altLang="en-US" sz="1900" i="1">
                          <a:latin typeface="Cambria Math"/>
                        </a:rPr>
                        <m:t>=</m:t>
                      </m:r>
                      <m:r>
                        <a:rPr lang="en-US" altLang="en-US" sz="19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900" b="1" i="1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en-US" sz="19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1900" b="1" i="1">
                                  <a:latin typeface="Cambria Math"/>
                                </a:rPr>
                                <m:t>𝒙𝒚</m:t>
                              </m:r>
                              <m:r>
                                <a:rPr lang="en-US" altLang="en-US" sz="19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en-US" sz="1900" b="1" i="1">
                                  <a:latin typeface="Cambria Math"/>
                                </a:rPr>
                                <m:t>𝒙</m:t>
                              </m:r>
                              <m:sSub>
                                <m:sSubPr>
                                  <m:ctrlPr>
                                    <a:rPr lang="en-US" altLang="en-US" sz="19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9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altLang="en-US" sz="1900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en-US" sz="19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en-US" sz="1900" b="1" i="1">
                                  <a:latin typeface="Cambria Math"/>
                                </a:rPr>
                                <m:t>𝒚</m:t>
                              </m:r>
                              <m:sSub>
                                <m:sSubPr>
                                  <m:ctrlPr>
                                    <a:rPr lang="en-US" altLang="en-US" sz="19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9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altLang="en-US" sz="1900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en-US" sz="1900" b="1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en-US" sz="19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9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altLang="en-US" sz="1900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en-US" sz="19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9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altLang="en-US" sz="1900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en-US" sz="1900" b="1" i="1" smtClean="0">
                          <a:latin typeface="Cambria Math"/>
                        </a:rPr>
                        <m:t>=</m:t>
                      </m:r>
                      <m:r>
                        <a:rPr lang="en-US" altLang="en-US" sz="19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9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1900" b="1" i="1">
                              <a:latin typeface="Cambria Math"/>
                            </a:rPr>
                            <m:t>𝒙𝒚</m:t>
                          </m:r>
                        </m:e>
                      </m:d>
                      <m:r>
                        <a:rPr lang="en-US" altLang="en-US" sz="19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en-US" sz="19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900" i="1">
                              <a:latin typeface="Cambria Math"/>
                              <a:ea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altLang="en-US" sz="1900" i="1">
                              <a:latin typeface="Cambria Math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en-US" sz="19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900" i="1">
                              <a:latin typeface="Cambria Math"/>
                              <a:ea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altLang="en-US" sz="1900" i="1">
                              <a:latin typeface="Cambria Math"/>
                            </a:rPr>
                            <m:t>𝑦</m:t>
                          </m:r>
                        </m:sub>
                      </m:sSub>
                      <m:r>
                        <a:rPr lang="en-US" altLang="en-US" sz="1900" b="0" i="1" smtClean="0">
                          <a:latin typeface="Cambria Math"/>
                        </a:rPr>
                        <m:t>=</m:t>
                      </m:r>
                      <m:r>
                        <a:rPr lang="en-US" altLang="en-US" sz="19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9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1900" b="1" i="1">
                              <a:latin typeface="Cambria Math"/>
                            </a:rPr>
                            <m:t>𝒙𝒚</m:t>
                          </m:r>
                        </m:e>
                      </m:d>
                      <m:r>
                        <a:rPr lang="en-US" altLang="en-US" sz="1900" b="0" i="0" smtClean="0">
                          <a:latin typeface="Cambria Math"/>
                        </a:rPr>
                        <m:t>−</m:t>
                      </m:r>
                      <m:r>
                        <a:rPr lang="en-US" altLang="en-US" sz="19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9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1900" b="1" i="1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en-US" sz="1900" dirty="0"/>
                        <m:t> </m:t>
                      </m:r>
                      <m:r>
                        <a:rPr lang="en-US" altLang="en-US" sz="19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9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1900" b="1" i="1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19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b="1" u="sng" dirty="0" smtClean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b="1" u="sng" dirty="0" smtClean="0"/>
                  <a:t>Correlation Coefficient</a:t>
                </a:r>
              </a:p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𝜌</m:t>
                        </m:r>
                      </m:e>
                      <m:sub>
                        <m:r>
                          <a:rPr lang="en-US" altLang="en-US" sz="2000" b="1" i="1">
                            <a:latin typeface="Cambria Math"/>
                          </a:rPr>
                          <m:t>𝒙𝒚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en-US" sz="2000" b="1" i="1">
                                <a:latin typeface="Cambria Math"/>
                              </a:rPr>
                              <m:t>𝒙𝒚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/>
                              </a:rPr>
                              <m:t>𝒙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/>
                              </a:rPr>
                              <m:t>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b="1" dirty="0" smtClean="0"/>
                  <a:t>                  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sz="2000" b="1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en-US" sz="2000" b="1" i="1">
                                <a:latin typeface="Cambria Math"/>
                              </a:rPr>
                              <m:t>𝒙𝒚</m:t>
                            </m:r>
                          </m:sub>
                        </m:sSub>
                      </m:e>
                    </m:d>
                    <m:r>
                      <a:rPr lang="en-US" altLang="en-US" sz="2000" b="1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en-US" sz="2000" i="1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sz="2000" dirty="0"/>
                  <a:t>      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sz="2000" b="1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en-US" sz="2000" b="1" i="1">
                                <a:latin typeface="Cambria Math"/>
                              </a:rPr>
                              <m:t>𝒙𝒚</m:t>
                            </m:r>
                          </m:sub>
                        </m:sSub>
                      </m:e>
                    </m:d>
                    <m:r>
                      <a:rPr lang="en-US" altLang="en-US" sz="2000" b="1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𝒚</m:t>
                        </m:r>
                      </m:sub>
                    </m:sSub>
                  </m:oMath>
                </a14:m>
                <a:endParaRPr lang="en-US" sz="2000" b="1" dirty="0" smtClean="0"/>
              </a:p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19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b="1" u="sng" dirty="0" smtClean="0"/>
                  <a:t>Uncorrelatedness </a:t>
                </a:r>
                <a:r>
                  <a:rPr lang="en-US" sz="1900" dirty="0" smtClean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9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9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en-US" sz="1900" b="1" i="1">
                            <a:latin typeface="Cambria Math"/>
                          </a:rPr>
                          <m:t>𝒙𝒚</m:t>
                        </m:r>
                      </m:sub>
                    </m:sSub>
                    <m:r>
                      <a:rPr lang="en-US" altLang="en-US" sz="1900" b="0" i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1900" dirty="0" smtClean="0"/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𝜌</m:t>
                        </m:r>
                      </m:e>
                      <m:sub>
                        <m:r>
                          <a:rPr lang="en-US" altLang="en-US" sz="1800" b="1" i="1">
                            <a:latin typeface="Cambria Math"/>
                          </a:rPr>
                          <m:t>𝒙𝒚</m:t>
                        </m:r>
                      </m:sub>
                    </m:sSub>
                    <m:r>
                      <a:rPr lang="en-US" altLang="en-US" sz="1800" b="1" i="1" smtClean="0">
                        <a:latin typeface="Cambria Math"/>
                      </a:rPr>
                      <m:t>=</m:t>
                    </m:r>
                    <m:r>
                      <a:rPr lang="en-US" altLang="en-US" sz="1800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sz="1900" dirty="0" smtClean="0"/>
                  <a:t>              </a:t>
                </a:r>
                <a14:m>
                  <m:oMath xmlns:m="http://schemas.openxmlformats.org/officeDocument/2006/math">
                    <m:r>
                      <a:rPr lang="en-US" altLang="en-US" sz="19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19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1900" b="1" i="1">
                            <a:latin typeface="Cambria Math"/>
                          </a:rPr>
                          <m:t>𝒙𝒚</m:t>
                        </m:r>
                      </m:e>
                    </m:d>
                    <m:r>
                      <a:rPr lang="en-US" altLang="en-US" sz="1900" b="0" i="0" smtClean="0">
                        <a:latin typeface="Cambria Math"/>
                      </a:rPr>
                      <m:t>=</m:t>
                    </m:r>
                    <m:r>
                      <a:rPr lang="en-US" altLang="en-US" sz="19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19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1900" b="1" i="1">
                            <a:latin typeface="Cambria Math"/>
                          </a:rPr>
                          <m:t>𝒙</m:t>
                        </m:r>
                      </m:e>
                    </m:d>
                    <m:r>
                      <m:rPr>
                        <m:nor/>
                      </m:rPr>
                      <a:rPr lang="en-US" altLang="en-US" sz="1900" dirty="0"/>
                      <m:t> </m:t>
                    </m:r>
                    <m:r>
                      <a:rPr lang="en-US" altLang="en-US" sz="19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19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1900" b="1" i="1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endParaRPr lang="en-US" sz="1900" dirty="0" smtClean="0"/>
              </a:p>
              <a:p>
                <a:pPr marL="0" indent="0">
                  <a:lnSpc>
                    <a:spcPct val="250000"/>
                  </a:lnSpc>
                  <a:spcBef>
                    <a:spcPts val="0"/>
                  </a:spcBef>
                  <a:buNone/>
                </a:pPr>
                <a:r>
                  <a:rPr lang="en-US" sz="2000" b="1" u="sng" dirty="0" smtClean="0"/>
                  <a:t>Orthogonality</a:t>
                </a:r>
                <a:r>
                  <a:rPr lang="en-US" sz="1900" dirty="0" smtClean="0"/>
                  <a:t>                    </a:t>
                </a:r>
                <a14:m>
                  <m:oMath xmlns:m="http://schemas.openxmlformats.org/officeDocument/2006/math">
                    <m:r>
                      <a:rPr lang="en-US" altLang="en-US" sz="19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19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1900" b="1" i="1">
                            <a:latin typeface="Cambria Math"/>
                          </a:rPr>
                          <m:t>𝒙𝒚</m:t>
                        </m:r>
                      </m:e>
                    </m:d>
                    <m:r>
                      <a:rPr lang="en-US" altLang="en-US" sz="1900">
                        <a:latin typeface="Cambria Math"/>
                      </a:rPr>
                      <m:t>=</m:t>
                    </m:r>
                    <m:r>
                      <a:rPr lang="en-US" altLang="en-US" sz="1900" b="0" i="0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sz="1900" dirty="0" smtClean="0"/>
                  <a:t>                    </a:t>
                </a:r>
                <a14:m>
                  <m:oMath xmlns:m="http://schemas.openxmlformats.org/officeDocument/2006/math">
                    <m:r>
                      <a:rPr lang="en-US" altLang="en-US" sz="1900" b="1" i="1">
                        <a:latin typeface="Cambria Math"/>
                      </a:rPr>
                      <m:t>𝒙</m:t>
                    </m:r>
                    <m:r>
                      <a:rPr lang="en-US" altLang="en-US" sz="1900" b="1" i="1" smtClean="0">
                        <a:latin typeface="Cambria Math"/>
                        <a:ea typeface="Cambria Math"/>
                      </a:rPr>
                      <m:t>⊥</m:t>
                    </m:r>
                    <m:r>
                      <a:rPr lang="en-US" altLang="en-US" sz="1900" b="1" i="1">
                        <a:latin typeface="Cambria Math"/>
                      </a:rPr>
                      <m:t>𝒚</m:t>
                    </m:r>
                  </m:oMath>
                </a14:m>
                <a:endParaRPr lang="en-US" sz="19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19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5626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2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76200"/>
                <a:ext cx="8229600" cy="792162"/>
              </a:xfrm>
            </p:spPr>
            <p:txBody>
              <a:bodyPr>
                <a:noAutofit/>
              </a:bodyPr>
              <a:lstStyle/>
              <a:p>
                <a:r>
                  <a:rPr lang="en-US" altLang="en-US" sz="2800" b="1" dirty="0" smtClean="0"/>
                  <a:t>Independent </a:t>
                </a:r>
                <a14:m>
                  <m:oMath xmlns:m="http://schemas.openxmlformats.org/officeDocument/2006/math">
                    <m:r>
                      <a:rPr lang="en-US" altLang="en-US" sz="2800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𝑮𝒂𝒖𝒓𝒂𝒏𝒕𝒆𝒆𝒔</m:t>
                    </m:r>
                    <m:r>
                      <a:rPr lang="en-US" altLang="en-US" sz="2800" b="1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altLang="en-US" sz="2800" b="1" dirty="0" smtClean="0"/>
                  <a:t>Uncorrelated</a:t>
                </a:r>
                <a:br>
                  <a:rPr lang="en-US" altLang="en-US" sz="2800" b="1" dirty="0" smtClean="0"/>
                </a:br>
                <a:r>
                  <a:rPr lang="en-US" altLang="en-US" sz="2800" b="1" dirty="0" smtClean="0"/>
                  <a:t>Uncorrelated </a:t>
                </a:r>
                <a14:m>
                  <m:oMath xmlns:m="http://schemas.openxmlformats.org/officeDocument/2006/math">
                    <m:r>
                      <a:rPr lang="en-US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𝒅𝒐𝒆𝒔</m:t>
                    </m:r>
                    <m:sSup>
                      <m:sSupPr>
                        <m:ctrlPr>
                          <a:rPr lang="en-US" altLang="en-US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  <m:sup>
                        <m:r>
                          <a:rPr lang="en-US" altLang="en-US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𝒕</m:t>
                    </m:r>
                    <m:r>
                      <a:rPr lang="en-US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𝒆𝒏𝒔𝒖𝒓𝒆</m:t>
                    </m:r>
                  </m:oMath>
                </a14:m>
                <a:r>
                  <a:rPr lang="en-US" alt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sz="2800" b="1" dirty="0"/>
                  <a:t>Independent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76200"/>
                <a:ext cx="8229600" cy="792162"/>
              </a:xfrm>
              <a:blipFill rotWithShape="1">
                <a:blip r:embed="rId2"/>
                <a:stretch>
                  <a:fillRect t="-1705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5626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sz="2000" dirty="0" smtClean="0">
                    <a:latin typeface="Cambria Math"/>
                  </a:rPr>
                  <a:t>If two RVs are independent i.e.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en-US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altLang="en-US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>
                            <a:latin typeface="Cambria Math"/>
                          </a:rPr>
                          <m:t>𝒙</m:t>
                        </m:r>
                      </m:sub>
                    </m:sSub>
                    <m:d>
                      <m:dPr>
                        <m:ctrlPr>
                          <a:rPr lang="en-US" alt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>
                            <a:latin typeface="Cambria Math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n-US" alt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en-US" sz="2000" dirty="0" smtClean="0">
                    <a:latin typeface="Cambria Math"/>
                  </a:rPr>
                  <a:t> then they are uncorrelated.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dirty="0" smtClean="0">
                    <a:latin typeface="Cambria Math"/>
                  </a:rPr>
                  <a:t>Proof: It is needed to show that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1" i="1">
                            <a:latin typeface="Cambria Math"/>
                          </a:rPr>
                          <m:t>𝒙𝒚</m:t>
                        </m:r>
                      </m:e>
                    </m:d>
                    <m:r>
                      <a:rPr lang="en-US" altLang="en-US" sz="2000">
                        <a:latin typeface="Cambria Math"/>
                      </a:rPr>
                      <m:t>=</m:t>
                    </m:r>
                    <m:r>
                      <a:rPr lang="en-US" alt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1" i="1">
                            <a:latin typeface="Cambria Math"/>
                          </a:rPr>
                          <m:t>𝒙</m:t>
                        </m:r>
                      </m:e>
                    </m:d>
                    <m:r>
                      <m:rPr>
                        <m:nor/>
                      </m:rPr>
                      <a:rPr lang="en-US" altLang="en-US" sz="2000" dirty="0"/>
                      <m:t> </m:t>
                    </m:r>
                    <m:r>
                      <a:rPr lang="en-US" alt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1" i="1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Cambria Math"/>
                  </a:rPr>
                  <a:t>. Consider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𝒙𝒚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en-US" sz="2000" b="1" i="1">
                                      <a:latin typeface="Cambria Math"/>
                                      <a:sym typeface="Symbol" pitchFamily="18" charset="2"/>
                                    </a:rPr>
                                    <m:t>𝒙𝒚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,</m:t>
                                  </m:r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𝑑𝑥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 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en-US" altLang="en-US" sz="2000" i="1" smtClean="0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en-US" sz="2000" b="1" i="1">
                                      <a:latin typeface="Cambria Math"/>
                                      <a:sym typeface="Symbol" pitchFamily="18" charset="2"/>
                                    </a:rPr>
                                    <m:t>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en-US" sz="2000" b="1" i="1" smtClean="0">
                                      <a:latin typeface="Cambria Math"/>
                                      <a:sym typeface="Symbol" pitchFamily="18" charset="2"/>
                                    </a:rPr>
                                    <m:t>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𝑑𝑥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 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𝑑𝑥</m:t>
                          </m:r>
                          <m:nary>
                            <m:naryPr>
                              <m:limLoc m:val="undOvr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en-US" sz="2000" b="1" i="1">
                                      <a:latin typeface="Cambria Math"/>
                                      <a:sym typeface="Symbol" pitchFamily="18" charset="2"/>
                                    </a:rPr>
                                    <m:t>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 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en-US" sz="2000" dirty="0"/>
                        <m:t> 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000" b="1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19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1900" dirty="0" smtClean="0"/>
                  <a:t>But opposite may not ne true</a:t>
                </a:r>
                <a:endParaRPr lang="en-US" sz="19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562600"/>
              </a:xfrm>
              <a:blipFill rotWithShape="1">
                <a:blip r:embed="rId3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06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76200"/>
                <a:ext cx="8229600" cy="792162"/>
              </a:xfrm>
            </p:spPr>
            <p:txBody>
              <a:bodyPr>
                <a:noAutofit/>
              </a:bodyPr>
              <a:lstStyle/>
              <a:p>
                <a:r>
                  <a:rPr lang="en-US" altLang="en-US" sz="2800" b="1" dirty="0" smtClean="0"/>
                  <a:t>Independent </a:t>
                </a:r>
                <a14:m>
                  <m:oMath xmlns:m="http://schemas.openxmlformats.org/officeDocument/2006/math">
                    <m:r>
                      <a:rPr lang="en-US" altLang="en-US" sz="2800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𝑮𝒂𝒖𝒓𝒂𝒏𝒕𝒆𝒆𝒔</m:t>
                    </m:r>
                    <m:r>
                      <a:rPr lang="en-US" altLang="en-US" sz="2800" b="1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altLang="en-US" sz="2800" b="1" dirty="0" smtClean="0"/>
                  <a:t>Uncorrelated</a:t>
                </a:r>
                <a:br>
                  <a:rPr lang="en-US" altLang="en-US" sz="2800" b="1" dirty="0" smtClean="0"/>
                </a:br>
                <a:r>
                  <a:rPr lang="en-US" altLang="en-US" sz="2800" b="1" dirty="0" smtClean="0"/>
                  <a:t>Uncorrelated </a:t>
                </a:r>
                <a14:m>
                  <m:oMath xmlns:m="http://schemas.openxmlformats.org/officeDocument/2006/math">
                    <m:r>
                      <a:rPr lang="en-US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𝒅𝒐𝒆𝒔</m:t>
                    </m:r>
                    <m:sSup>
                      <m:sSupPr>
                        <m:ctrlPr>
                          <a:rPr lang="en-US" altLang="en-US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  <m:sup>
                        <m:r>
                          <a:rPr lang="en-US" altLang="en-US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𝒕</m:t>
                    </m:r>
                    <m:r>
                      <a:rPr lang="en-US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𝒆𝒏𝒔𝒖𝒓𝒆</m:t>
                    </m:r>
                  </m:oMath>
                </a14:m>
                <a:r>
                  <a:rPr lang="en-US" alt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sz="2800" b="1" dirty="0"/>
                  <a:t>Independent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76200"/>
                <a:ext cx="8229600" cy="792162"/>
              </a:xfrm>
              <a:blipFill rotWithShape="1">
                <a:blip r:embed="rId2"/>
                <a:stretch>
                  <a:fillRect t="-1705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5626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dirty="0" smtClean="0">
                    <a:latin typeface="Cambria Math"/>
                  </a:rPr>
                  <a:t>Let RV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Cambria Math"/>
                  </a:rPr>
                  <a:t> takes the value  in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−1,0,1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Cambria Math"/>
                  </a:rPr>
                  <a:t> with equal probability. If another RV is defined as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Cambria Math"/>
                  </a:rPr>
                  <a:t>. Comment about independency and Uncorrelatedness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 smtClean="0">
                    <a:latin typeface="Cambria Math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</a:rPr>
                            <m:t>𝒙𝒚</m:t>
                          </m:r>
                        </m:sub>
                      </m:sSub>
                      <m:r>
                        <a:rPr lang="en-US" altLang="en-US" sz="2000" i="1">
                          <a:latin typeface="Cambria Math"/>
                        </a:rPr>
                        <m:t>=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>
                              <a:latin typeface="Cambria Math"/>
                            </a:rPr>
                            <m:t>𝒙𝒚</m:t>
                          </m:r>
                        </m:e>
                      </m:d>
                      <m:r>
                        <a:rPr lang="en-US" altLang="en-US" sz="2000">
                          <a:latin typeface="Cambria Math"/>
                        </a:rPr>
                        <m:t>−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en-US" sz="2000" dirty="0"/>
                        <m:t> 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/>
                        </a:rPr>
                        <m:t>        =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en-US" sz="20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en-US" sz="2000" b="1" i="1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altLang="en-US" sz="2000">
                          <a:latin typeface="Cambria Math"/>
                        </a:rPr>
                        <m:t>−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en-US" sz="2000" dirty="0"/>
                        <m:t> 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/>
                        </a:rPr>
                        <m:t>        </m:t>
                      </m:r>
                      <m:r>
                        <a:rPr lang="en-US" altLang="en-US" sz="2000" i="1">
                          <a:latin typeface="Cambria Math"/>
                        </a:rPr>
                        <m:t>=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altLang="en-US" sz="2000">
                          <a:latin typeface="Cambria Math"/>
                        </a:rPr>
                        <m:t>−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en-US" sz="2000" dirty="0"/>
                        <m:t> </m:t>
                      </m:r>
                      <m:r>
                        <a:rPr lang="en-US" alt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i="1" u="sng" dirty="0" smtClean="0">
                    <a:latin typeface="Cambria Math"/>
                  </a:rPr>
                  <a:t>It is Uncorrelated</a:t>
                </a:r>
                <a:endParaRPr lang="en-US" sz="2000" i="1" u="sng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𝒚</m:t>
                        </m:r>
                        <m:r>
                          <a:rPr lang="en-US" sz="2000" b="0" i="1" smtClean="0">
                            <a:latin typeface="Cambria Math"/>
                          </a:rPr>
                          <m:t>=0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 smtClean="0">
                    <a:latin typeface="Cambria Math"/>
                  </a:rPr>
                  <a:t>     and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i="1">
                            <a:latin typeface="Cambria Math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 smtClean="0">
                    <a:latin typeface="Cambria Math"/>
                  </a:rPr>
                  <a:t>       but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  <m:r>
                            <a:rPr lang="en-US" sz="2000" i="1">
                              <a:latin typeface="Cambria Math"/>
                            </a:rPr>
                            <m:t>=0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2000" i="1">
                              <a:latin typeface="Cambria Math"/>
                            </a:rPr>
                            <m:t>=</m:t>
                          </m:r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0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en-US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  <m:r>
                            <a:rPr lang="en-US" sz="2000" i="1">
                              <a:latin typeface="Cambria Math"/>
                            </a:rPr>
                            <m:t>=0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2000" i="1">
                              <a:latin typeface="Cambria Math"/>
                            </a:rPr>
                            <m:t>=</m:t>
                          </m:r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i="1" u="sng" dirty="0" smtClean="0">
                    <a:latin typeface="Cambria Math"/>
                  </a:rPr>
                  <a:t>Thus it is not independent i.e. they are dependent</a:t>
                </a:r>
                <a:endParaRPr lang="en-US" sz="2000" i="1" u="sng" dirty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562600"/>
              </a:xfrm>
              <a:blipFill rotWithShape="1">
                <a:blip r:embed="rId3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903070"/>
                  </p:ext>
                </p:extLst>
              </p:nvPr>
            </p:nvGraphicFramePr>
            <p:xfrm>
              <a:off x="4724400" y="2286000"/>
              <a:ext cx="3733800" cy="15405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/>
                    <a:gridCol w="609600"/>
                    <a:gridCol w="914400"/>
                    <a:gridCol w="167640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/>
                                  <m:t>𝒙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mtClean="0"/>
                                    </m:ctrlPr>
                                  </m:sSubPr>
                                  <m:e>
                                    <m:r>
                                      <a:rPr lang="en-US" smtClean="0"/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smtClean="0"/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smtClean="0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mtClean="0"/>
                                    </m:ctrlPr>
                                  </m:sSubPr>
                                  <m:e>
                                    <m:r>
                                      <a:rPr lang="en-US" smtClean="0"/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smtClean="0"/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-</a:t>
                          </a:r>
                          <a:r>
                            <a:rPr lang="en-US" dirty="0" smtClean="0"/>
                            <a:t>1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1/3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1/3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(1/3)+(1/3)=2/3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1/3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903070"/>
                  </p:ext>
                </p:extLst>
              </p:nvPr>
            </p:nvGraphicFramePr>
            <p:xfrm>
              <a:off x="4724400" y="2286000"/>
              <a:ext cx="3733800" cy="15405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/>
                    <a:gridCol w="609600"/>
                    <a:gridCol w="914400"/>
                    <a:gridCol w="1676400"/>
                  </a:tblGrid>
                  <a:tr h="428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r="-596591" b="-28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88000" r="-425000" b="-28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25333" r="-183333" b="-28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22909" b="-28285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-</a:t>
                          </a:r>
                          <a:r>
                            <a:rPr lang="en-US" dirty="0" smtClean="0"/>
                            <a:t>1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1/3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1/3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(1/3)+(1/3)=2/3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1/3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106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Mean and Variance of sum of two RVs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638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/>
                  <a:t>If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𝒛</m:t>
                    </m:r>
                    <m:r>
                      <a:rPr lang="en-US" altLang="en-US" sz="2000" b="1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𝒙</m:t>
                    </m:r>
                    <m:r>
                      <a:rPr lang="en-US" altLang="en-US" sz="2000" b="1" i="1" dirty="0">
                        <a:latin typeface="Cambria Math"/>
                      </a:rPr>
                      <m:t>+ </m:t>
                    </m:r>
                    <m:r>
                      <a:rPr lang="en-US" altLang="en-US" sz="2000" b="1" i="1" dirty="0">
                        <a:latin typeface="Cambria Math"/>
                      </a:rPr>
                      <m:t>𝒚</m:t>
                    </m:r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Then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 smtClean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𝒛</m:t>
                              </m:r>
                            </m:sub>
                          </m:sSub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𝒛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1" i="1" dirty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altLang="en-US" sz="2000" b="1" i="1" dirty="0">
                                      <a:latin typeface="Cambria Math"/>
                                    </a:rPr>
                                    <m:t>+ </m:t>
                                  </m:r>
                                  <m:r>
                                    <a:rPr lang="en-US" altLang="en-US" sz="2000" b="1" i="1" dirty="0">
                                      <a:latin typeface="Cambria Math"/>
                                    </a:rPr>
                                    <m:t>𝒚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 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𝒙</m:t>
                                      </m:r>
                                    </m:sub>
                                  </m:s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r>
                  <a:rPr lang="en-US" sz="2000" i="1" dirty="0" smtClean="0">
                    <a:latin typeface="Cambria Math"/>
                  </a:rPr>
                  <a:t>i.e.</a:t>
                </a:r>
              </a:p>
              <a:p>
                <a:pPr marL="0" indent="0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𝒛</m:t>
                              </m:r>
                            </m:sub>
                          </m:sSub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en-US" sz="2000" b="1" i="1" dirty="0">
                                          <a:latin typeface="Cambria Math"/>
                                        </a:rPr>
                                        <m:t>𝒙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000" dirty="0"/>
                                        <m:t> 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latin typeface="Cambria Math"/>
                                            </a:rPr>
                                            <m:t>𝒙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en-US" sz="2000" b="1" i="1" dirty="0">
                                          <a:latin typeface="Cambria Math"/>
                                        </a:rPr>
                                        <m:t>𝒚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000" dirty="0"/>
                                        <m:t> </m:t>
                                      </m:r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latin typeface="Cambria Math"/>
                                            </a:rPr>
                                            <m:t>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1" i="1" dirty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 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𝒙</m:t>
                              </m:r>
                              <m:r>
                                <m:rPr>
                                  <m:nor/>
                                </m:rPr>
                                <a:rPr lang="en-US" sz="2000" dirty="0"/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𝒙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𝒚</m:t>
                              </m:r>
                              <m:r>
                                <m:rPr>
                                  <m:nor/>
                                </m:rPr>
                                <a:rPr lang="en-US" sz="2000" dirty="0"/>
                                <m:t> 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𝒚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000" b="1" i="0" smtClean="0">
                          <a:latin typeface="Cambria Math"/>
                        </a:rPr>
                        <m:t>+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1" i="1" dirty="0">
                                      <a:latin typeface="Cambria Math"/>
                                    </a:rPr>
                                    <m:t>𝒚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 </m:t>
                                  </m:r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r>
                        <a:rPr lang="en-US" sz="2000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US" alt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</a:rPr>
                            <m:t>𝒙𝒚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𝒙𝒚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𝜌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𝒙𝒚</m:t>
                        </m:r>
                      </m:sub>
                    </m:sSub>
                    <m:r>
                      <a:rPr lang="en-US" sz="2000" b="0" i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𝒛</m:t>
                              </m:r>
                            </m:sub>
                          </m:sSub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638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508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Moments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Joint moment of RVs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𝑎𝑛𝑑</m:t>
                    </m:r>
                    <m:r>
                      <a:rPr lang="en-US" sz="2000" b="1" i="1" smtClean="0"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dirty="0" smtClean="0"/>
                  <a:t>of order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𝑘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𝑟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dirty="0" smtClean="0"/>
                  <a:t>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𝑘𝑟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𝑟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>
                                  <a:latin typeface="Cambria Math"/>
                                </a:rPr>
                                <m:t>𝑟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𝑑𝑥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𝑑𝑦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First order moments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10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dirty="0" smtClean="0"/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0</m:t>
                        </m:r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Second </a:t>
                </a:r>
                <a:r>
                  <a:rPr lang="en-US" sz="2000" dirty="0"/>
                  <a:t>order moments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𝒙𝒚</m:t>
                        </m:r>
                      </m:e>
                    </m:d>
                  </m:oMath>
                </a14:m>
                <a:r>
                  <a:rPr lang="en-US" sz="2000" dirty="0"/>
                  <a:t>     </a:t>
                </a:r>
                <a:r>
                  <a:rPr lang="en-US" sz="2000" dirty="0" smtClean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/>
                              </a:rPr>
                              <m:t>𝒚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 smtClean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smtClean="0"/>
                  <a:t>Joint central moments of </a:t>
                </a:r>
                <a:r>
                  <a:rPr lang="en-US" sz="2000" dirty="0"/>
                  <a:t>RVs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</a:rPr>
                      <m:t>𝑎𝑛𝑑</m:t>
                    </m:r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of order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𝑘</m:t>
                    </m:r>
                    <m:r>
                      <a:rPr lang="en-US" sz="2000" i="1">
                        <a:latin typeface="Cambria Math"/>
                      </a:rPr>
                      <m:t>+</m:t>
                    </m:r>
                    <m:r>
                      <a:rPr lang="en-US" sz="2000" i="1">
                        <a:latin typeface="Cambria Math"/>
                      </a:rPr>
                      <m:t>𝑟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is </a:t>
                </a:r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𝑘𝑟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1" i="1" dirty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 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1" i="1" dirty="0">
                                      <a:latin typeface="Cambria Math"/>
                                    </a:rPr>
                                    <m:t>𝒚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 </m:t>
                                  </m:r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𝑟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1" i="1" dirty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 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1" i="1" dirty="0">
                                      <a:latin typeface="Cambria Math"/>
                                    </a:rPr>
                                    <m:t>𝒚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 </m:t>
                                  </m:r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𝑑𝑥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01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sz="2400" dirty="0" smtClean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11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en-US" sz="2400" b="1" i="1">
                            <a:latin typeface="Cambria Math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n-US" sz="2400" dirty="0" smtClean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20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 smtClean="0"/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/>
                                <a:ea typeface="Cambria Math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16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Moments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For the </a:t>
                </a:r>
                <a:r>
                  <a:rPr lang="en-US" sz="2000" i="1" dirty="0" smtClean="0">
                    <a:solidFill>
                      <a:srgbClr val="0070C0"/>
                    </a:solidFill>
                  </a:rPr>
                  <a:t>determination of joint statistics of RVs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i="1" dirty="0" smtClean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i="1" dirty="0" smtClean="0">
                    <a:solidFill>
                      <a:srgbClr val="0070C0"/>
                    </a:solidFill>
                  </a:rPr>
                  <a:t>, their joint density is required</a:t>
                </a:r>
                <a:r>
                  <a:rPr lang="en-US" sz="2000" dirty="0" smtClean="0"/>
                  <a:t>. However,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 are jointly normal then the first and second order moment are sufficient to determine the joint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>
                            <a:latin typeface="Cambria Math"/>
                            <a:sym typeface="Symbol" pitchFamily="18" charset="2"/>
                          </a:rPr>
                          <m:t>𝒙𝒚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 smtClean="0"/>
                  <a:t>.</a:t>
                </a:r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smtClean="0"/>
                  <a:t>Example: </a:t>
                </a:r>
                <a:r>
                  <a:rPr lang="en-US" sz="2000" dirty="0"/>
                  <a:t>RVs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 smtClean="0"/>
                  <a:t> are jointly normal with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10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𝒚</m:t>
                        </m:r>
                      </m:sub>
                    </m:sSub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 smtClean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US" sz="2000" dirty="0" smtClean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2000" i="1" smtClean="0">
                            <a:latin typeface="Cambria Math"/>
                            <a:ea typeface="Cambria Math"/>
                          </a:rPr>
                          <m:t>𝜌</m:t>
                        </m:r>
                      </m:e>
                      <m:sub>
                        <m:r>
                          <a:rPr lang="en-US" altLang="en-US" sz="2000" b="1" i="1">
                            <a:latin typeface="Cambria Math"/>
                          </a:rPr>
                          <m:t>𝒙𝒚</m:t>
                        </m:r>
                      </m:sub>
                    </m:sSub>
                    <m:r>
                      <a:rPr lang="en-US" altLang="en-US" sz="2000" b="1" i="1" smtClean="0">
                        <a:latin typeface="Cambria Math"/>
                      </a:rPr>
                      <m:t>=</m:t>
                    </m:r>
                    <m:r>
                      <a:rPr lang="en-US" altLang="en-US" sz="2000" b="0" i="1" smtClean="0">
                        <a:latin typeface="Cambria Math"/>
                      </a:rPr>
                      <m:t>0.5</m:t>
                    </m:r>
                  </m:oMath>
                </a14:m>
                <a:r>
                  <a:rPr lang="en-US" sz="2000" dirty="0" smtClean="0"/>
                  <a:t>. Find the mean and variance of  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𝒛</m:t>
                    </m:r>
                    <m:r>
                      <a:rPr lang="en-US" altLang="en-US" sz="2000" b="1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𝒙</m:t>
                    </m:r>
                    <m:r>
                      <a:rPr lang="en-US" altLang="en-US" sz="2000" b="1" i="1" dirty="0">
                        <a:latin typeface="Cambria Math"/>
                      </a:rPr>
                      <m:t>+ </m:t>
                    </m:r>
                    <m:r>
                      <a:rPr lang="en-US" altLang="en-US" sz="2000" b="1" i="1" dirty="0"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 smtClean="0"/>
                  <a:t>  and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𝒘</m:t>
                    </m:r>
                    <m:r>
                      <a:rPr lang="en-US" altLang="en-US" sz="2000" b="1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𝒙</m:t>
                    </m:r>
                    <m:r>
                      <a:rPr lang="en-US" altLang="en-US" sz="2000" b="1" i="1" dirty="0" smtClean="0">
                        <a:latin typeface="Cambria Math"/>
                      </a:rPr>
                      <m:t>−</m:t>
                    </m:r>
                    <m:r>
                      <a:rPr lang="en-US" altLang="en-US" sz="2000" b="1" i="1" dirty="0">
                        <a:latin typeface="Cambria Math"/>
                      </a:rPr>
                      <m:t> </m:t>
                    </m:r>
                    <m:r>
                      <a:rPr lang="en-US" altLang="en-US" sz="2000" b="1" i="1" dirty="0"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𝒛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en-US" sz="20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𝒚</m:t>
                        </m:r>
                      </m:sub>
                    </m:sSub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10</m:t>
                    </m:r>
                  </m:oMath>
                </a14:m>
                <a:r>
                  <a:rPr lang="en-US" sz="2000" dirty="0" smtClean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𝒘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en-US" sz="2000" b="1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𝒚</m:t>
                        </m:r>
                      </m:sub>
                    </m:sSub>
                    <m:r>
                      <a:rPr lang="en-US" sz="2000" b="1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10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𝒛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i="1">
                        <a:latin typeface="Cambria Math"/>
                      </a:rPr>
                      <m:t>2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𝜌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𝒙𝒚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𝒚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=7</m:t>
                    </m:r>
                  </m:oMath>
                </a14:m>
                <a:r>
                  <a:rPr lang="en-US" sz="2000" dirty="0" smtClean="0"/>
                  <a:t>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/>
                              </a:rPr>
                              <m:t>𝒘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−</m:t>
                    </m:r>
                    <m:r>
                      <a:rPr lang="en-US" sz="2000" i="1">
                        <a:latin typeface="Cambria Math"/>
                      </a:rPr>
                      <m:t>2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𝜌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𝒙𝒚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𝒚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3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91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Characteristic Function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/>
                          <a:ea typeface="Cambria Math"/>
                        </a:rPr>
                        <m:t>Φ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l-GR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l-GR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>
                                          <a:latin typeface="Cambria Math"/>
                                          <a:ea typeface="Cambria Math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>
                                          <a:latin typeface="Cambria Math"/>
                                          <a:ea typeface="Cambria Math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smtClean="0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l-GR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𝑑𝑥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Inversion Formula</a:t>
                </a:r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undOvr"/>
                          <m:ctrlPr>
                            <a:rPr lang="en-US" sz="2000" i="1" smtClean="0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/>
                                  <a:ea typeface="Cambria Math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l-GR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l-GR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>
                                          <a:latin typeface="Cambria Math"/>
                                          <a:ea typeface="Cambria Math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>
                                          <a:latin typeface="Cambria Math"/>
                                          <a:ea typeface="Cambria Math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l-GR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l-GR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>
                                      <a:latin typeface="Cambria Math"/>
                                      <a:ea typeface="Cambria Math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>
                                      <a:latin typeface="Cambria Math"/>
                                      <a:ea typeface="Cambria Math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88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</p:txBody>
      </p:sp>
    </p:spTree>
    <p:extLst>
      <p:ext uri="{BB962C8B-B14F-4D97-AF65-F5344CB8AC3E}">
        <p14:creationId xmlns:p14="http://schemas.microsoft.com/office/powerpoint/2010/main" val="40122493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Lecture-9    Joint Moments, Joint Characteristic Functions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Mean&amp;quot;&quot;/&gt;&lt;property id=&quot;20307&quot; value=&quot;283&quot;/&gt;&lt;/object&gt;&lt;object type=&quot;3&quot; unique_id=&quot;10005&quot;&gt;&lt;property id=&quot;20148&quot; value=&quot;5&quot;/&gt;&lt;property id=&quot;20300&quot; value=&quot;Slide 3 - &amp;quot;Covariance and Correlation Coefficients&amp;quot;&quot;/&gt;&lt;property id=&quot;20307&quot; value=&quot;296&quot;/&gt;&lt;/object&gt;&lt;object type=&quot;3&quot; unique_id=&quot;10006&quot;&gt;&lt;property id=&quot;20148&quot; value=&quot;5&quot;/&gt;&lt;property id=&quot;20300&quot; value=&quot;Slide 4 - &amp;quot;Independent 𝑮𝒂𝒖𝒓𝒂𝒏𝒕𝒆𝒆𝒔 Uncorrelated Uncorrelated 𝒅𝒐𝒆𝒔 𝒏 ′ 𝒕 𝒆𝒏𝒔𝒖𝒓𝒆 Independent&amp;quot;&quot;/&gt;&lt;property id=&quot;20307&quot; value=&quot;298&quot;/&gt;&lt;/object&gt;&lt;object type=&quot;3&quot; unique_id=&quot;10007&quot;&gt;&lt;property id=&quot;20148&quot; value=&quot;5&quot;/&gt;&lt;property id=&quot;20300&quot; value=&quot;Slide 6 - &amp;quot;Mean and Variance of sum of two RVs&amp;quot;&quot;/&gt;&lt;property id=&quot;20307&quot; value=&quot;295&quot;/&gt;&lt;/object&gt;&lt;object type=&quot;3&quot; unique_id=&quot;10008&quot;&gt;&lt;property id=&quot;20148&quot; value=&quot;5&quot;/&gt;&lt;property id=&quot;20300&quot; value=&quot;Slide 7 - &amp;quot;Joint Moments&amp;quot;&quot;/&gt;&lt;property id=&quot;20307&quot; value=&quot;299&quot;/&gt;&lt;/object&gt;&lt;object type=&quot;3&quot; unique_id=&quot;10009&quot;&gt;&lt;property id=&quot;20148&quot; value=&quot;5&quot;/&gt;&lt;property id=&quot;20300&quot; value=&quot;Slide 8 - &amp;quot;Joint Moments&amp;quot;&quot;/&gt;&lt;property id=&quot;20307&quot; value=&quot;300&quot;/&gt;&lt;/object&gt;&lt;object type=&quot;3&quot; unique_id=&quot;10010&quot;&gt;&lt;property id=&quot;20148&quot; value=&quot;5&quot;/&gt;&lt;property id=&quot;20300&quot; value=&quot;Slide 9 - &amp;quot;Joint Characteristic Function&amp;quot;&quot;/&gt;&lt;property id=&quot;20307&quot; value=&quot;301&quot;/&gt;&lt;/object&gt;&lt;object type=&quot;3&quot; unique_id=&quot;10011&quot;&gt;&lt;property id=&quot;20148&quot; value=&quot;5&quot;/&gt;&lt;property id=&quot;20300&quot; value=&quot;Slide 10 - &amp;quot;Reference&amp;quot;&quot;/&gt;&lt;property id=&quot;20307&quot; value=&quot;302&quot;/&gt;&lt;/object&gt;&lt;object type=&quot;3&quot; unique_id=&quot;10100&quot;&gt;&lt;property id=&quot;20148&quot; value=&quot;5&quot;/&gt;&lt;property id=&quot;20300&quot; value=&quot;Slide 5 - &amp;quot;Independent 𝑮𝒂𝒖𝒓𝒂𝒏𝒕𝒆𝒆𝒔 Uncorrelated Uncorrelated 𝒅𝒐𝒆𝒔 𝒏 ′ 𝒕 𝒆𝒏𝒔𝒖𝒓𝒆 Independent&amp;quot;&quot;/&gt;&lt;property id=&quot;20307&quot; value=&quot;303&quot;/&gt;&lt;/object&gt;&lt;/object&gt;&lt;object type=&quot;8&quot; unique_id=&quot;10022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</TotalTime>
  <Words>1412</Words>
  <Application>Microsoft Office PowerPoint</Application>
  <PresentationFormat>On-screen Show (4:3)</PresentationFormat>
  <Paragraphs>94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Lecture-9    Joint Moments, Joint Characteristic Functions</vt:lpstr>
      <vt:lpstr>Mean</vt:lpstr>
      <vt:lpstr>Covariance and Correlation Coefficients</vt:lpstr>
      <vt:lpstr>Independent Gaurantees Uncorrelated Uncorrelated doesn^′ t ensure Independent</vt:lpstr>
      <vt:lpstr>Independent Gaurantees Uncorrelated Uncorrelated doesn^′ t ensure Independent</vt:lpstr>
      <vt:lpstr>Mean and Variance of sum of two RVs</vt:lpstr>
      <vt:lpstr>Joint Moments</vt:lpstr>
      <vt:lpstr>Joint Moments</vt:lpstr>
      <vt:lpstr>Joint Characteristic Function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Lecture-5  FUNCTIONS OF ONE RANDOM VARIABLE</dc:title>
  <dc:creator>ashutosh</dc:creator>
  <cp:lastModifiedBy>ashutosh</cp:lastModifiedBy>
  <cp:revision>124</cp:revision>
  <dcterms:created xsi:type="dcterms:W3CDTF">2020-06-13T16:57:58Z</dcterms:created>
  <dcterms:modified xsi:type="dcterms:W3CDTF">2020-07-07T10:35:16Z</dcterms:modified>
</cp:coreProperties>
</file>