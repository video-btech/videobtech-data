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48" r:id="rId2"/>
    <p:sldId id="349" r:id="rId3"/>
    <p:sldId id="350" r:id="rId4"/>
    <p:sldId id="327" r:id="rId5"/>
    <p:sldId id="352" r:id="rId6"/>
    <p:sldId id="325" r:id="rId7"/>
    <p:sldId id="351" r:id="rId8"/>
    <p:sldId id="334" r:id="rId9"/>
    <p:sldId id="346" r:id="rId10"/>
    <p:sldId id="336" r:id="rId11"/>
    <p:sldId id="355" r:id="rId12"/>
    <p:sldId id="354" r:id="rId13"/>
    <p:sldId id="337" r:id="rId14"/>
    <p:sldId id="311" r:id="rId15"/>
    <p:sldId id="324" r:id="rId16"/>
    <p:sldId id="308" r:id="rId17"/>
    <p:sldId id="353" r:id="rId18"/>
  </p:sldIdLst>
  <p:sldSz cx="9144000" cy="6858000" type="screen4x3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6408" autoAdjust="0"/>
  </p:normalViewPr>
  <p:slideViewPr>
    <p:cSldViewPr>
      <p:cViewPr>
        <p:scale>
          <a:sx n="50" d="100"/>
          <a:sy n="50" d="100"/>
        </p:scale>
        <p:origin x="-126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13793" units="1/cm"/>
        </inkml:channelProperties>
      </inkml:inkSource>
      <inkml:timestamp xml:id="ts0" timeString="2020-07-18T08:32:58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11782 6450,'25'-25,"0"25,0 0,-1-25,1 25,25 0,-50-25,25 25,-1 0,1 0,0 0,0 0,0 0,24-24,-24 24,0-25,0 25,-1 0,51 0,-26 0,-24 0,50 0,-1 0,-49 0,49 0,-24 0,0 0,-1 0,1 0,-25 0,24 0,1 0,-25 0,24 0,26 0,-51 0,51 0,24 0,25 0,25 0,25 0,-26 25,26-1,-75-24,-24 0,24 0,-25 0,-49 0,0 0,0 0,0 25,-1-25,1 0,0 25,25-25,49 25,74 0,-24 24,50-49,24 50,25-50,-50 0,26 0,24 0,0 0,-50 0,26 0,-76 0,1 0,-99 0,-1 0,-24 0,0 0,-25-25</inkml:trace>
  <inkml:trace contextRef="#ctx0" brushRef="#br0" timeOffset="15296.1929">2852 8435,'25'0,"0"-25,-1 0,1 25,-25-25,25 25,0 0,0 0,0 0,-1 0,26-25,0 25,-1 0,1 0,49 0,0 0,-49 0,49 0,0 0,-24 0,-1 0,1 0,24 0,-74 0,-1 0,1 0,0 0,25 0,-26 0,26 0,49 0,25 0,25 0,25 0,-1 0,1 0,-25 0,24 0,-48 0,23 0,-73 0,49 0,-50 0,1 0,-51 0,1-25,0 25,-25-24,25 24,0 0,-1 0,-24-25,25 25,0 0,-25-25,25 25,0 0</inkml:trace>
  <inkml:trace contextRef="#ctx0" brushRef="#br0" timeOffset="18638.3593">2406 10469,'24'0,"-24"-25,25 25,0 0,0 0,0 0,-1 0,1 0,0 0,49-25,1 25,-1 0,100 0,0 0,24 0,0 0,50 0,1 0,-76 0,1 0,-1 0,-49 0,-49 0,-1 0,-49 0,25 0,-25 0,-25-25,24 25,1-25,25 25,-1 0,51 0,48 0,26 0,74 0,-74 0,-50 0,0 0,-50 0,1 0,-51 0,1 0</inkml:trace>
  <inkml:trace contextRef="#ctx0" brushRef="#br0" timeOffset="31754.7461">14808 14860,'25'0,"-25"-50,25-148,0 24,0 75,-1 49,-24 0,50-49,-25 0,0 49,-1 26,1 24,-25-25,0 0,0 0</inkml:trace>
  <inkml:trace contextRef="#ctx0" brushRef="#br0" timeOffset="32661.7887">14833 14363,'0'50,"0"0,50 49,-25-25,-1 1,-24-26,25 26,0-1,-25-24,0-1,0 1,0-25,0 0,0 0,25-25,0 0,-1 0,-24-25,25 25,-50 0,25 25</inkml:trace>
  <inkml:trace contextRef="#ctx0" brushRef="#br0" timeOffset="33631.3897">8632 14413,'0'-25,"25"25,-25-25,24 25,1 0,25 0,-25 0,-1 0,26 75,0-1,-1 50,-24-49,25 49,-26-50,26-24,-25-1,-25 1,25-50,0 25,-50 0,0 24,0-49</inkml:trace>
  <inkml:trace contextRef="#ctx0" brushRef="#br0" timeOffset="34614.683">8557 14909,'0'0,"25"0,0 0,-25-25,25 25,0-24,-1-1,1 25,0 0,25 0,-26 0,26 0,-25 0,0 25,-1-1,26 26,0-25,-26-25,1 0,-50 0,25-99,0-25,0 99,0 0,0 0,25 25,-25-25,0 1,0-1,25 25</inkml:trace>
  <inkml:trace contextRef="#ctx0" brushRef="#br0" timeOffset="35832.0936">6052 15257,'0'0,"25"0,24 0,-24 0,25 0,-25 0,-1 0,26 0,0 0,-1 0,-49-25,25 25,0 0,-25-25,25 25,-25-50,25-24,24 24,1-24,-25 24,-1 25,1 1,-25-1,25 0</inkml:trace>
  <inkml:trace contextRef="#ctx0" brushRef="#br0" timeOffset="37044.1576">16669 15505,'0'-25,"25"25,148-75,26-24,-1 0,1 0,-26-25,26 49,-100 26,-49 24,-50 0,0 0</inkml:trace>
  <inkml:trace contextRef="#ctx0" brushRef="#br0" timeOffset="39918.2861">9475 14612,'75'0,"49"0,74 0,100 0,-1 0,-49 0,-49 0,-25 0,-1 24,-49-24,-49 0,-26 0,-24 0,0 0,0 0,24 0,51 0,-26 0,50 0,50 0,-1 0,26 0,-26 0,-49 0,-49 0,-50 0,24 0,-24-24,0 24,24 0,-24 0,25 0,24-25,-24 25,24 0,25 0,1 0,-26 0,25 0,1 0,-51 0,1 0,-1 0,-49-25,50 25,24-50,-24 26,0 24,24 0,-24 0,-1 0,1-25,-25 25</inkml:trace>
  <inkml:trace contextRef="#ctx0" brushRef="#br0" timeOffset="40692.9681">14213 14388,'25'0,"24"0,1 25,-25-25,0 25,-25 0,-25-25,25 25,-25-25,25 24,-25-24,0 0,25 25,0 0,-24-25,-1 25,0-25,-173 0</inkml:trace>
  <inkml:trace contextRef="#ctx0" brushRef="#br0" timeOffset="41815.9816">9500 14636,'0'-24,"0"-1,25 0,0 0,-1 0,-24 1,50-1,-25 25,-25-25,49-25,-24 50,0 0,0-25,0 25,-25-49,24 49,1 0,-25-25,25 25</inkml:trace>
  <inkml:trace contextRef="#ctx0" brushRef="#br0" timeOffset="42903.513">9574 14760,'50'0,"-25"0,24 25,1 25,0-25,-50-1,24-24,26 25,-50 0,25-25,0 25,-1-25,1 0,0 0,0 0,-25 25,0-1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13793" units="1/cm"/>
        </inkml:channelProperties>
      </inkml:inkSource>
      <inkml:timestamp xml:id="ts0" timeString="2020-07-18T08:34:08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7342 5780,'25'0,"0"0,-1 0,26 0,-25 0,0 0,24-49,26 24,-26 0,100-50,-75 26,50-50,-24 49,-26 0,25 1,-49-1,24 1,-24 24,-25 0,0-25,24 26,-24-1</inkml:trace>
  <inkml:trace contextRef="#ctx0" brushRef="#br0" timeOffset="1304.8159">13841 6177,'25'25,"0"-25,24 0,-49 25,25-25,-25 24,25 1,0-25,-1 0,1 0,25 0,-25 0,49 0,-24 0,-26 0,51-25,-25 1,-1-1,-49 0,25 25,0-25,-25 0,0 1,25 24</inkml:trace>
  <inkml:trace contextRef="#ctx0" brushRef="#br0" timeOffset="5664.1314">10616 7988,'25'0,"0"0,0 0,-1 0,1 0,0 0,0 0,0 0,0 0,-1 0,-24-74,50-50,-25 74,24 0,-49 1,50 24,-25-25,0 50,-25-25,24 25,1-24</inkml:trace>
  <inkml:trace contextRef="#ctx0" brushRef="#br0" timeOffset="8709.8954">1016 9352,'50'-24,"0"-1,24-25,1 25,-1-24,25-1,0 25,-24-24,24-26,-49 50,24 1,-24-1,-1-25,1 25,-25 25,24 0,-49-49,50 24,-25 25,0-25</inkml:trace>
  <inkml:trace contextRef="#ctx0" brushRef="#br0" timeOffset="12522.8906">1140 11089,'0'-50,"25"50,0 0,0-25,25 1,-26-51,26 26,0-1,49 0,-50-24,26 0,-26 24,1 0,0 26,-1-1,-24-25,0 0,0 50,-1 0,-24-24,0-1,25 25,0 0,-25-25,25 0,-25 0</inkml:trace>
  <inkml:trace contextRef="#ctx0" brushRef="#br0" timeOffset="14015.8343">9649 11486,'0'-25,"99"25,99 0,26 0,49 0,24 0,-49 0,0 0,-124 0,-74 0,-25 0,0 0</inkml:trace>
  <inkml:trace contextRef="#ctx0" brushRef="#br0" timeOffset="18085.7864">694 12478,'25'0,"0"-25,24 0,50-49,25 24,-24 1,-51-1,51 1,-26 24,0 0,-24 25,-25-50,24 26,1-1,-50 0,25 25,24-25,-24 0,0 1,49-1,-24-25,24 25,-49-24,25 24,-25 0,-1 25,-24-25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13793" units="1/cm"/>
        </inkml:channelProperties>
      </inkml:inkSource>
      <inkml:timestamp xml:id="ts0" timeString="2020-07-18T08:35:13.4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8285 2332,'49'0,"-24"0,0 0,0 0,-1 0,1 0,0 0,0 0,0 0,24 0,-24 0,25 0,-26 0,1 0,0 0,0 0,0 0,-1 0,1 0,0 0,0 0,0 0,-1 0,26 0,-25 0,24 0,-24 0,0 0,0 0,0 0,24 0,1 0,0 0,-1 25,26-25,-26 0,26 0,24 25,-50-25,1 0,24 24,-24-24,0 0,-1 0,1 25,-25-25,0 0,24 0,-24 0,0 0,0 0,24 0,1 0,49 0,0 0,25 25,-25-25,1 0,-26 0,25 25,-24-25,-26 0,51 0,-26 25,0-25,-24 0,0 0,-26 0,51 24,-1-24,-24 0,24 0,1 0,24 25,25-25,0 0,0 0,0 0,99 0,-99 0,75 0,-26 0,1 0,-75 0,25 0,-49 0,-26 0,-24 0,0 0,0 0,0 0,-1 0,26 0,0 0,49 0,25 0,0 0,-25 0,0 0,-24 0,-1 0,-49 0,0-25,0 25</inkml:trace>
  <inkml:trace contextRef="#ctx0" brushRef="#br0" timeOffset="13664.4424">10914 4044,'0'24,"50"51,-26-26,1-24,0 0,0-25,-25 25,25-25,-1 0,1 0,25 0,49-50,-49 25,49-24,-50-1,51 25,-26-24,-24 49,-25-25,24 25,-49-25,0 0</inkml:trace>
  <inkml:trace contextRef="#ctx0" brushRef="#br0" timeOffset="32459.416">13370 5855,'49'0,"26"0,-26 0,1 0,0 0,-1 0,1-25,-1 25,-24 0,25 0,-25 0,-25-25,24 25</inkml:trace>
  <inkml:trace contextRef="#ctx0" brushRef="#br0" timeOffset="58481.6386">16942 6996,'49'-25,"-24"25,50-25,49 25,0 0,-25 0,0 0,-49 0,49 0,0-25,-24 25,-26 0,1-25,-1 25,-24 0,25 0,-1 0,26 0,-50 0,-1 0,26 0,0 0,24 0,-24 0,24 0,-24-24,-26 24,1 0,0 0</inkml:trace>
  <inkml:trace contextRef="#ctx0" brushRef="#br0" timeOffset="64667.3382">19943 7045,'0'-25,"50"1,49 24,-25-50,-49 50,99-25,-74 0,49 25,-74-24,25 24,-1 0,-24 0,25 0,-26-25,1 25,0 0,0 0,24 0,-49-25,25 25,25 0,-25 0,-1 0,1 0,0 0,0 0</inkml:trace>
  <inkml:trace contextRef="#ctx0" brushRef="#br0" timeOffset="83269.3774">11931 9476,'50'0,"-1"0,-24 0,0 0,49 0,25 0,-24 0,-1 0,25 0,-24 0,24 0,0 0,1-24,-1 24,-50 0,51 0,-26 0,-49 0,0 0,24 0,-24 0,0 0,0 0,-1 0,1 0,0 0,50 0,-51 0,76 0,-26 0,75 0,-50 0,50 0,-25 0,99 0,25 0,25 0,25 0,-50 0,-75 24,51-24,-100 0,0 0,-25 0,25 0,-74 0,49 0,-25 0,-49 0,25 0,-1 0,-24 0,25 0,-26 0,26 0,0 0,49 0,-49 0,74-24,49 24,-24-25,0 25,74 0,-24-50,24 50,25 0,-74 0,-50 0,49-25,-123 25,-25 0</inkml:trace>
  <inkml:trace contextRef="#ctx0" brushRef="#br0" timeOffset="106117.2258">19447 12553,'25'0,"49"-25,-24 25,0-25,-1 25,50 0,-24 0,-1 0,25 0,25 0,-49 0,99 0,-50 0,49 0,1 0,-50 0,0 0,0 0,50 0,-75 0,50 0,-25 0,0 0,-25 0,0 0,-24 0,-1 0,-24 0,-1 0,50 0,-24 0,-50 0,24 0,1 0,-25 0,-1 0,1 0,0-25,0 25,24 0,-24 0,0 0,25 0,-26 0,1 0</inkml:trace>
  <inkml:trace contextRef="#ctx0" brushRef="#br0" timeOffset="108695.2676">2530 13396,'49'0,"75"0,25 0,25 0,49 0,-25 0,1 0,-26 0,1 0,-50 0,25 25,-99-25,24 0,-24 0,-1 0,-24 0,0 0,0 0,24 0,26 0,-26 0,51 0,-1 0,50 0,74 0,-74 0,24 0,1 0,0 0,-50 0,-25 25,-25-25,1 0,-26 0,-24 0,0 0,25 0,24 0,-24 0,24 0,0 0,1 0,49 0,0 0,-25 0,100-25,-75 25,49 0,-49 0,50 0,-25 0,0 0,-25-50,0 50,-25 0,0 0,-49 0,49 0,-50 0,-24 0,25-25,-1 25,-24 0,25-24,0-1,-1 25,1-25,24 0,-49 0,25 25,-1 0,1 0,-25-24,24 24,1 0,-25 0,24-25,-24 25,25 0,-26 0,1 0,0 0,0 0,0 0,-25-25,24 25,26 0,0 0,24 0,1 0,-26 0,26 0,-1 0,-49 0</inkml:trace>
  <inkml:trace contextRef="#ctx0" brushRef="#br0" timeOffset="114404.8746">19621 14512,'49'0,"51"0,24-24,-50 24,-24 0,49 0,0-25,-25 25,-24 0,0 0,-25 0,-1 0,1 0,0 0</inkml:trace>
  <inkml:trace contextRef="#ctx0" brushRef="#br0" timeOffset="118318.8267">5233 15306,'0'-25,"50"25,0 0,-1 0,1-24,-1 24,-24 0,0 0,0 0,0 0,0 0,-1 0,1 0,25-25,-25 0,-1 25,1 0,25 0,-25 0,49 0,25 0,0 0,-24 0,24 0,0 0,-49 0,49 0,-24 0,-1 0,-24 0,24 0,0 0,-49 0,50 0,-1 0,-24 0,24 0,25 0,-24 0,24 0,0 0,0 0,-49 0,24 0,-49 0,50 0,-26 0,-24 0,25 0,-1 0,-24 0,49 0,26 0,-51 0,26 0,24 0,-25 0,1 0,24 0,-49 0,49 0,-25 0,1 0,-26 0,26 0,-50 0,74 0,-25 0,25 0,-24 0,24 0,0 0,0 0,25 0,-74 0,49 0,1 0,-51 0,1 0,24 0,-49 0,0 0,0 0,24 0,26 0,-26 0,26 0,-26 0,26 0,-1 0,50 0,-74 0,24 0,1 0,-26 0,-24 0,49 0,-24 0,0 0,-26 0,1 0,25 0,-25 0,49 0,-49 0,49 0,-24 0,24 0,-24 0,24 0,-24 0,0 0,24 0,-49 25,24-25,26 0,-50 0,24 25,1-25,-25 0,49 0,1 0,-26 0,26 24,-1-24,-24 0,24 0,0 0,26 25,-51-25,26 0,49 0,-25 0,-49 0,49 0,0 0,-49 0,24 0,-24 0,24 0,0 0,-24 0,-25 0,49 0,-24 0,-1 0,26 0,-50 0,49 0,25 0,25 0,-24 0,24 0,49 25,-24-25,25 0,49 0,-74 0,24 0,-24 25,-25-25,-49 0,-1 0,-24 0,-25 0,-1 0,1 0,0 0,-25-25,25 25,0 0</inkml:trace>
  <inkml:trace contextRef="#ctx0" brushRef="#br0" timeOffset="125178.332">3224 17489,'25'0,"0"0,0 0,-1 0,1 0,25 0,-25 0,-1-25,26 25,-25 0,0-24,-1 24,1 0,0 0,0-25,0 25,-1 0,1-25,0 25,25 0,-26 0,51 0,-1 0,-24-25,24 25,1 0,-26 0,51 0,-1 0,0 0,-25 0,1 0,-1 0,-24 0,49 0,-49 0,24 0,1 0,24-25,-25 25,1 0,24 0,0 0,0 0,25 0,-49 0,24 0,0 0,-49 0,49 0,-25 0,50 0,-24 0,24 0,0 0,0 0,-25 0,-25 0,1 0,-1 0,-49 0,49 0,-24 0,0 0,49 0,0 0,25 50,0-50,50 25,49-25,-24 0,-1 0,-24 25,-26-25,-24 0,1 0,-26 0,-50 0,26 0,-26 24,1-24,24 0,1 0,-26 0,26 0,-26 0,1 0,24 0,-49 0,50-24,-1 24,-24 0,-25 0,49 0,0 0,-24 0,24 0,1 0,-1 0,1 0,24 0,-25 0,26 0,-1 0,0 0,-25 0,-24 0,24 0,-24 0,0 0,-1 0,1 0,-1 24,1-24,0 0,24 25,1-25,-1 0,0 25,75-25,0 0,-75 0,1 0,24 0,-49 0,49 0,-49 0,-26 0,26 0,0 0,-1 0,1 0,24 0,-24 0,49 0,-25 0,1 0,24 0,0 0,1 0,-26 0,0 0,26 0,-51 0,50 0,1 0,24 0,74 25,-24-25,-1 0,-73 0,48 0,-48 25,-26-25,-49 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13793" units="1/cm"/>
        </inkml:channelProperties>
      </inkml:inkSource>
      <inkml:timestamp xml:id="ts0" timeString="2020-07-18T08:37:50.5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6275 3473,'50'0,"-25"0,24 0,-24 0,0-25,25 25,-26 0,1 0,0 0,0 0,0 0</inkml:trace>
  <inkml:trace contextRef="#ctx0" brushRef="#br0" timeOffset="1553.7084">9996 3721,'25'0,"49"0,-49 0,50 0,24 0,-25 0,25 0,-24 0,24 0,-49 0,24 0,25 0,-74 0,50 0,-51 0,26 0,-25 0,0 0,24 0,-24 0,25 0,-1 0,26 0,24 0,25 0,0 0,0 0,50 0,49 0,-99 0,74 0,-24 0,0 0,-50 0,-50 0,-24 0,-26 0,1 0</inkml:trace>
  <inkml:trace contextRef="#ctx0" brushRef="#br0" timeOffset="18600.4523">15379 4713,'25'0,"24"0,-24 0,0 0,0 0,0 0,-1 0,1 0,0 0,0 0,0 0,-1 0,1 0,0 0,0 0,24 0,-24 0,0 0,0 0,0 0,-1 0,1 0,0 0,0 0,0 0,0 0,24 0,-24 0,0 0,24 0,-24 0,25 0,-1 0,-24 0,0 0,0 0,0 0,-1 0,26 0,-25 0,24 0,-24 0,25 0,-25 0,24 0,-24 0,25 0,-26 0,26 0,25 0,-1 0,-49 0,49 0,-49 0,25 0,-26 0,26 0,0 0,-26 0,1 0,0 0,0 0,-25-24,25 24</inkml:trace>
  <inkml:trace contextRef="#ctx0" brushRef="#br0" timeOffset="47666.4387">10492 5979,'25'0,"0"0,0 0,24 0,-24 0,0 0,0 0,24 0,-24 0,25 0,-1 0,26 0,-1 0,-49 0,49 0,-24 0,0 0,24 0,-24 0,-26 0,51 0,-50 0,49 0,-24 0,-26 0,26 0,0 0,-25 0,24 0,1 0,-1 0,26 0,-1 0,1 0,24 0,-25 0,1 0,49 24,-25-24,75 25,-26-25,26 0,-75 0,0 0,-49 0,0 0,-1 0,-24 0,0 0,25 0,49 0,25 0,-25 0,50 0,-50 0,-25 0,26 0,24 0,-50 0,-24 0,24 0,-24 0,-1 0,1 0,0 0,24 0,-24 0,24 0,25 0,50 50,25-50,-1 0,-49 0,100 0,-26 0,25 25,25-25,-49 24,24 1,-49-25,-25 0,24 25,1-25,0 0,-50 0,0 0,-25 0,-25 0,-49 0,0 0,0 0,24 0,50 0,-24 0,49 0,-25 0,50 0,0 0,-75 0,1 0,-26 0,-24 0,0 0</inkml:trace>
  <inkml:trace contextRef="#ctx0" brushRef="#br0" timeOffset="115790.4856">3745 10890,'25'0,"0"-24,-1 24,26-25,0 25,-25 0,24-25,-24 25,25-25,-1 25,-24 0,25 0,-1 0,1 0,-1-25,26 25,-50 0,49-24,25 24,-24-25,74 25,-75 0,75-25,-75 0,75 25,-99 0,24 0,0 0,-49-25,0 25,0 0,0 0,0 0,-1 0,1 0,0 0,0 0,24 0,-24 0,25 0,-1 0,1 0,0 0,24 0,-49 0,24 0,-24 0,25 0,-25 0,-1 0,1 0,0 0</inkml:trace>
  <inkml:trace contextRef="#ctx0" brushRef="#br0" timeOffset="134866.1341">7540 13892,'25'-25,"0"1,-25-1,50 25,-26-25,-24 0,25 25,0 0,-25-25,0 0,25 1,24-26,1-24,-25-1,0 50,24-49,-24 49,0 0,0-24,-25 24,24 0,-24 0,25 25,-25-24</inkml:trace>
  <inkml:trace contextRef="#ctx0" brushRef="#br0" timeOffset="143468.1222">14461 14190,'25'0,"0"0,0 0,49 0,-24 0,-1 0,50 0,-24 0,-26 0,1 0,24 0,-49 0,0 0,0 0,0 0,24 0,-24 0,25 0,-25 25,74-25,-74 0,49 0,0 0,1 0,-1 0,1 0,-1 0,-49 0,24 0,-24 0,0 0,0 0</inkml:trace>
  <inkml:trace contextRef="#ctx0" brushRef="#br0" timeOffset="186138.8322">12179 15405,'25'0,"0"0,-1 0,1 0,0 0,-25-24,25 24,0 0,-25-25,24 25,1 0,0 0,0 0,0 0,-25-25,49 25,-24 0,0 0,25 0,-26 0,1 0,25 0,-25 0,24 0,-24 0,25 0,24 0,-49 0,49 0,-24 0,-25 0,24 0,-24 0,0 0,24 0,-24 0,0 0,25 0,-1 0,-24-25,0 25,74 0,-74 0,25 0,-1 0,-24 0,49 0,1 0,-50 0,24 0,1 0,24 0,-49 0,0 0,24 0,1 0,-25 0,0 0,24 0,-24 0,25 0,-1-25,1 25,24 0,-24 0,-25 0,24 0,1 0,0 0,-26 0,1 0,0 0,0 0,74 0,-25 0,75 0,-49 0,-26 0,50 0,-25 0,25 0,-25 0,-24 0,-26 0,1 0,-25 0,25 0,-1 0,-24 0,25 0,-26 0,51 0,-1 0,75 0,-50 0,-24 0,24 0,0 0,0 0,-49 0,24 0,-24 0,0 0,-26 0,1 0,0 0,25 0,24 0,-24 0,49 0,0 0,0 0,-24 0,-1 0,1 0,-51 0,1 0,0 0,0 0</inkml:trace>
  <inkml:trace contextRef="#ctx0" brushRef="#br0" timeOffset="187134.1474">17959 15108,'25'0,"-1"0,1 0,0 0,-25 25,25-1,0-24,24 0,-49 25,25-25,-25 25,0 0,25 0,-25-1,25 1,-25 0,0 0,-50 24,25-49,0 25,1-25,-1 25,0-25,0 0,0 0,25 25,-24-25,-26 0,0-75</inkml:trace>
  <inkml:trace contextRef="#ctx0" brushRef="#br0" timeOffset="188685.8085">12278 15405,'25'-24,"0"24,-25-50,25 0,-1 50,1-24,0-1,25 0,-50 0,24 25,1-25,-25 1</inkml:trace>
  <inkml:trace contextRef="#ctx0" brushRef="#br0" timeOffset="190021.4261">12402 15331,'75'25,"-51"-25,1 0,0 0,-25 25,25-25,0 0,0 0,-1 0,1 0,0 0,0 0,-25 24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AA789-524D-4684-863F-5B8C863AC3CF}" type="datetimeFigureOut">
              <a:rPr lang="en-IN" smtClean="0"/>
              <a:t>18-07-2020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74BAE-09B5-4D55-9C03-078FBA72F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92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974BAE-09B5-4D55-9C03-078FBA72F76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4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64327F-298B-49E4-9DB6-D4E4F20DA666}" type="slidenum">
              <a:rPr lang="en-US"/>
              <a:pPr/>
              <a:t>8</a:t>
            </a:fld>
            <a:endParaRPr lang="en-US"/>
          </a:p>
        </p:txBody>
      </p:sp>
      <p:sp>
        <p:nvSpPr>
          <p:cNvPr id="1209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9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4267623"/>
            <a:ext cx="5029200" cy="4114246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D76E4A-63DF-4E3F-9B0A-00539729ADC9}" type="slidenum">
              <a:rPr lang="en-US"/>
              <a:pPr/>
              <a:t>10</a:t>
            </a:fld>
            <a:endParaRPr lang="en-US"/>
          </a:p>
        </p:txBody>
      </p:sp>
      <p:sp>
        <p:nvSpPr>
          <p:cNvPr id="121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3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4267623"/>
            <a:ext cx="5029200" cy="4114246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D76E4A-63DF-4E3F-9B0A-00539729ADC9}" type="slidenum">
              <a:rPr lang="en-US"/>
              <a:pPr/>
              <a:t>11</a:t>
            </a:fld>
            <a:endParaRPr lang="en-US"/>
          </a:p>
        </p:txBody>
      </p:sp>
      <p:sp>
        <p:nvSpPr>
          <p:cNvPr id="121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3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4267623"/>
            <a:ext cx="5029200" cy="4114246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D76E4A-63DF-4E3F-9B0A-00539729ADC9}" type="slidenum">
              <a:rPr lang="en-US"/>
              <a:pPr/>
              <a:t>12</a:t>
            </a:fld>
            <a:endParaRPr lang="en-US"/>
          </a:p>
        </p:txBody>
      </p:sp>
      <p:sp>
        <p:nvSpPr>
          <p:cNvPr id="121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3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4267623"/>
            <a:ext cx="5029200" cy="4114246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5D472B-B75D-457D-81FC-AA2191513B19}" type="slidenum">
              <a:rPr lang="en-US"/>
              <a:pPr/>
              <a:t>13</a:t>
            </a:fld>
            <a:endParaRPr lang="en-US"/>
          </a:p>
        </p:txBody>
      </p:sp>
      <p:sp>
        <p:nvSpPr>
          <p:cNvPr id="122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4267623"/>
            <a:ext cx="5029200" cy="4114246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371600"/>
            <a:ext cx="8686800" cy="4572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09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emf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4.emf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 PP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898"/>
            <a:ext cx="9144000" cy="6879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EB0F514-78C8-42E7-AA37-B041CBCFE9C4}"/>
              </a:ext>
            </a:extLst>
          </p:cNvPr>
          <p:cNvSpPr/>
          <p:nvPr/>
        </p:nvSpPr>
        <p:spPr>
          <a:xfrm>
            <a:off x="3211016" y="244204"/>
            <a:ext cx="3063741" cy="773008"/>
          </a:xfrm>
          <a:prstGeom prst="rect">
            <a:avLst/>
          </a:prstGeom>
        </p:spPr>
        <p:txBody>
          <a:bodyPr wrap="none" lIns="64493" tIns="32246" rIns="64493" bIns="32246">
            <a:spAutoFit/>
          </a:bodyPr>
          <a:lstStyle/>
          <a:p>
            <a:pPr algn="ctr"/>
            <a:r>
              <a:rPr lang="en-GB" sz="2300" b="1" dirty="0" smtClean="0"/>
              <a:t>Information </a:t>
            </a:r>
            <a:r>
              <a:rPr lang="en-GB" sz="2300" b="1" dirty="0"/>
              <a:t>and</a:t>
            </a:r>
            <a:br>
              <a:rPr lang="en-GB" sz="2300" b="1" dirty="0"/>
            </a:br>
            <a:r>
              <a:rPr lang="en-GB" sz="2300" b="1" dirty="0"/>
              <a:t> Communication Theory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627784" y="5445224"/>
            <a:ext cx="4176464" cy="14127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800" dirty="0" smtClean="0"/>
              <a:t>By </a:t>
            </a:r>
          </a:p>
          <a:p>
            <a:pPr marL="0" indent="0" algn="ctr">
              <a:buNone/>
            </a:pPr>
            <a:r>
              <a:rPr lang="en-IN" sz="1800" dirty="0" err="1" smtClean="0"/>
              <a:t>Dr.</a:t>
            </a:r>
            <a:r>
              <a:rPr lang="en-IN" sz="1800" dirty="0" smtClean="0"/>
              <a:t> Hem </a:t>
            </a:r>
            <a:r>
              <a:rPr lang="en-IN" sz="1800" dirty="0" err="1" smtClean="0"/>
              <a:t>Dutt</a:t>
            </a:r>
            <a:r>
              <a:rPr lang="en-IN" sz="1800" dirty="0" smtClean="0"/>
              <a:t> Joshi</a:t>
            </a:r>
          </a:p>
          <a:p>
            <a:pPr marL="0" indent="0" algn="ctr">
              <a:buNone/>
            </a:pPr>
            <a:r>
              <a:rPr lang="en-IN" sz="1800" dirty="0" smtClean="0"/>
              <a:t>Associate Professor, ECED, </a:t>
            </a:r>
          </a:p>
          <a:p>
            <a:pPr marL="0" indent="0" algn="ctr">
              <a:buNone/>
            </a:pPr>
            <a:r>
              <a:rPr lang="en-IN" sz="1800" dirty="0" smtClean="0"/>
              <a:t>TIET, Patiala</a:t>
            </a:r>
            <a:endParaRPr lang="en-IN" sz="1800" dirty="0"/>
          </a:p>
        </p:txBody>
      </p:sp>
      <p:pic>
        <p:nvPicPr>
          <p:cNvPr id="1026" name="Picture 2" descr="C:\Users\Dr. Hem Dutt Joshi\Desktop\UEC607\for website\for website\hemdut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5431200"/>
            <a:ext cx="1238160" cy="123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8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Lecture-6</a:t>
            </a:r>
            <a:br>
              <a:rPr lang="en-IN" dirty="0" smtClean="0"/>
            </a:br>
            <a:r>
              <a:rPr lang="en-IN" sz="4000" dirty="0" smtClean="0"/>
              <a:t>One-Tailed and Two-Tailed Test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752600"/>
          </a:xfrm>
        </p:spPr>
        <p:txBody>
          <a:bodyPr/>
          <a:lstStyle/>
          <a:p>
            <a:r>
              <a:rPr lang="en-IN" dirty="0"/>
              <a:t>Module – 4</a:t>
            </a:r>
            <a:br>
              <a:rPr lang="en-IN" dirty="0"/>
            </a:br>
            <a:r>
              <a:rPr lang="en-US" b="1" dirty="0" smtClean="0"/>
              <a:t>Estimation </a:t>
            </a:r>
            <a:r>
              <a:rPr lang="en-US" b="1" dirty="0"/>
              <a:t>&amp; Hypothesis Testing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2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Autofit/>
          </a:bodyPr>
          <a:lstStyle/>
          <a:p>
            <a:r>
              <a:rPr lang="en-IN" sz="2800" dirty="0" smtClean="0"/>
              <a:t>Content of Lecture-6</a:t>
            </a:r>
            <a:br>
              <a:rPr lang="en-IN" sz="2800" dirty="0" smtClean="0"/>
            </a:br>
            <a:r>
              <a:rPr lang="en-IN" sz="2800" dirty="0" smtClean="0"/>
              <a:t>Module – 4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P-value approach of </a:t>
            </a:r>
            <a:r>
              <a:rPr lang="en-US" sz="2800" dirty="0"/>
              <a:t>Hypothesis Testing</a:t>
            </a:r>
            <a:endParaRPr lang="en-US" sz="2800" dirty="0" smtClean="0"/>
          </a:p>
          <a:p>
            <a:pPr algn="just"/>
            <a:r>
              <a:rPr lang="en-US" sz="2800" dirty="0" smtClean="0"/>
              <a:t>One sided and Two sided test</a:t>
            </a:r>
          </a:p>
          <a:p>
            <a:pPr algn="just"/>
            <a:r>
              <a:rPr lang="en-US" altLang="en-US" sz="2800" dirty="0"/>
              <a:t>Steps for Hypothesis Testing using significance level &amp; p-value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4348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914400"/>
          </a:xfrm>
        </p:spPr>
        <p:txBody>
          <a:bodyPr>
            <a:noAutofit/>
          </a:bodyPr>
          <a:lstStyle/>
          <a:p>
            <a:r>
              <a:rPr lang="en-US" sz="3200" dirty="0" smtClean="0"/>
              <a:t>The Probability Values (p-values) Approach of 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447800"/>
                <a:ext cx="8534400" cy="502920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An alternative approach </a:t>
                </a:r>
                <a:r>
                  <a:rPr lang="en-US" sz="2400" dirty="0" smtClean="0"/>
                  <a:t>of </a:t>
                </a:r>
                <a:r>
                  <a:rPr lang="en-US" sz="2400" dirty="0"/>
                  <a:t>hypothesis testing is to use probability of random variable instead of particular level </a:t>
                </a:r>
                <a:r>
                  <a:rPr lang="el-GR" sz="2400" dirty="0"/>
                  <a:t>α</a:t>
                </a:r>
                <a:r>
                  <a:rPr lang="en-IN" sz="2400" dirty="0"/>
                  <a:t> </a:t>
                </a:r>
              </a:p>
              <a:p>
                <a:pPr algn="just"/>
                <a:endParaRPr lang="en-US" sz="1200" dirty="0" smtClean="0"/>
              </a:p>
              <a:p>
                <a:pPr algn="just"/>
                <a:r>
                  <a:rPr lang="en-US" sz="2400" dirty="0" smtClean="0"/>
                  <a:t>Instead</a:t>
                </a:r>
                <a:r>
                  <a:rPr lang="en-US" sz="2400" dirty="0"/>
                  <a:t>, based on the observation,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IN" sz="2400" b="1" i="1">
                                <a:latin typeface="Cambria Math"/>
                              </a:rPr>
                              <m:t>𝑿</m:t>
                            </m:r>
                          </m:e>
                        </m:acc>
                      </m:e>
                      <m:sub>
                        <m:r>
                          <a:rPr lang="en-IN" sz="2400" b="1" i="1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IN" sz="2400" b="1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400" b="1" dirty="0"/>
                  <a:t>  </a:t>
                </a:r>
                <a:r>
                  <a:rPr lang="en-US" sz="2400" dirty="0"/>
                  <a:t>we ask the question, “Assuming H0 is true, what is the probability that the statistic would assume a value as extreme or more extreme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IN" sz="2400" b="1" i="1">
                                <a:latin typeface="Cambria Math"/>
                              </a:rPr>
                              <m:t>𝑿</m:t>
                            </m:r>
                          </m:e>
                        </m:acc>
                      </m:e>
                      <m:sub>
                        <m:r>
                          <a:rPr lang="en-IN" sz="2400" b="1" i="1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IN" sz="2400">
                        <a:latin typeface="Cambria Math"/>
                      </a:rPr>
                      <m:t>.</m:t>
                    </m:r>
                  </m:oMath>
                </a14:m>
                <a:endParaRPr lang="en-IN" sz="2400" dirty="0"/>
              </a:p>
              <a:p>
                <a:pPr algn="just"/>
                <a:endParaRPr lang="en-US" sz="1400" dirty="0" smtClean="0"/>
              </a:p>
              <a:p>
                <a:pPr algn="just"/>
                <a:r>
                  <a:rPr lang="en-US" sz="2400" dirty="0" smtClean="0"/>
                  <a:t>This is known as  </a:t>
                </a:r>
                <a:r>
                  <a:rPr lang="en-US" sz="2400" dirty="0"/>
                  <a:t>the </a:t>
                </a:r>
                <a:r>
                  <a:rPr lang="en-US" sz="2400" b="1" i="1" dirty="0"/>
                  <a:t>p</a:t>
                </a:r>
                <a:r>
                  <a:rPr lang="en-US" sz="2400" b="1" dirty="0"/>
                  <a:t>-value of the test statistic</a:t>
                </a:r>
                <a:r>
                  <a:rPr lang="en-US" sz="2400" dirty="0"/>
                  <a:t>. </a:t>
                </a:r>
              </a:p>
              <a:p>
                <a:pPr algn="just"/>
                <a:endParaRPr lang="en-US" sz="1600" dirty="0" smtClean="0"/>
              </a:p>
              <a:p>
                <a:pPr algn="just"/>
                <a:r>
                  <a:rPr lang="en-US" sz="2400" dirty="0" smtClean="0"/>
                  <a:t>If </a:t>
                </a:r>
                <a14:m>
                  <m:oMath xmlns:m="http://schemas.openxmlformats.org/officeDocument/2006/math">
                    <m:r>
                      <a:rPr lang="en-IN" sz="2400" b="1" i="1"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IN" sz="24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1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IN" sz="2400" b="1" i="1">
                                    <a:latin typeface="Cambria Math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b="1" i="1">
                                <a:latin typeface="Cambria Math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is close to one, then there is no reason to reject the null hypothesis, but if </a:t>
                </a:r>
                <a14:m>
                  <m:oMath xmlns:m="http://schemas.openxmlformats.org/officeDocument/2006/math">
                    <m:r>
                      <a:rPr lang="en-IN" sz="2400" b="1" i="1"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IN" sz="24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1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IN" sz="2400" b="1" i="1">
                                    <a:latin typeface="Cambria Math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b="1" i="1">
                                <a:latin typeface="Cambria Math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is small, then there is reason to reject the null hypothesis.</a:t>
                </a:r>
                <a:endParaRPr lang="en-US" sz="2400" dirty="0" smtClean="0"/>
              </a:p>
              <a:p>
                <a:pPr algn="just"/>
                <a:endParaRPr lang="en-US" sz="2400" dirty="0" smtClean="0"/>
              </a:p>
              <a:p>
                <a:pPr algn="just"/>
                <a:endParaRPr lang="en-US" sz="2400" dirty="0" smtClean="0"/>
              </a:p>
              <a:p>
                <a:pPr algn="just"/>
                <a:endParaRPr lang="en-US" sz="2400" dirty="0" smtClean="0"/>
              </a:p>
            </p:txBody>
          </p:sp>
        </mc:Choice>
        <mc:Fallback xmlns="">
          <p:sp>
            <p:nvSpPr>
              <p:cNvPr id="2560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447800"/>
                <a:ext cx="8534400" cy="5029200"/>
              </a:xfrm>
              <a:blipFill rotWithShape="1">
                <a:blip r:embed="rId2"/>
                <a:stretch>
                  <a:fillRect l="-929" t="-970" r="-1929" b="-2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460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86800" cy="1066800"/>
          </a:xfrm>
        </p:spPr>
        <p:txBody>
          <a:bodyPr>
            <a:noAutofit/>
          </a:bodyPr>
          <a:lstStyle/>
          <a:p>
            <a:r>
              <a:rPr lang="en-US" sz="3200" dirty="0" smtClean="0"/>
              <a:t>The Probability Values (p-values) Approach of hypothesis testing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534400" cy="3810000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p-value is used to determine “how unlikely is the result that has been observed?”</a:t>
            </a:r>
          </a:p>
          <a:p>
            <a:pPr algn="just"/>
            <a:r>
              <a:rPr lang="en-US" sz="2800" dirty="0" smtClean="0"/>
              <a:t>p-value is sensitive to sample size.  A large sample should yield a low p-value</a:t>
            </a:r>
          </a:p>
          <a:p>
            <a:pPr algn="just"/>
            <a:r>
              <a:rPr lang="en-US" sz="2800" dirty="0" smtClean="0"/>
              <a:t>Decision Rule</a:t>
            </a:r>
            <a:r>
              <a:rPr lang="en-US" sz="2800" dirty="0" smtClean="0"/>
              <a:t>:</a:t>
            </a:r>
          </a:p>
          <a:p>
            <a:pPr algn="just"/>
            <a:r>
              <a:rPr lang="en-US" sz="2800" dirty="0" smtClean="0">
                <a:latin typeface="+mj-lt"/>
              </a:rPr>
              <a:t>If </a:t>
            </a:r>
            <a:r>
              <a:rPr lang="en-US" sz="2800" i="1" dirty="0" smtClean="0">
                <a:latin typeface="+mj-lt"/>
              </a:rPr>
              <a:t>p</a:t>
            </a:r>
            <a:r>
              <a:rPr lang="en-US" sz="2800" dirty="0" smtClean="0">
                <a:latin typeface="+mj-lt"/>
              </a:rPr>
              <a:t> </a:t>
            </a:r>
            <a:r>
              <a:rPr lang="en-US" sz="2800" dirty="0">
                <a:latin typeface="+mj-lt"/>
                <a:sym typeface="Symbol" pitchFamily="18" charset="2"/>
              </a:rPr>
              <a:t> </a:t>
            </a:r>
            <a:r>
              <a:rPr lang="en-US" sz="2800" i="1" dirty="0">
                <a:latin typeface="+mj-lt"/>
                <a:sym typeface="Symbol" pitchFamily="18" charset="2"/>
              </a:rPr>
              <a:t></a:t>
            </a:r>
            <a:r>
              <a:rPr lang="en-US" sz="2800" dirty="0">
                <a:latin typeface="+mj-lt"/>
                <a:sym typeface="Symbol" pitchFamily="18" charset="2"/>
              </a:rPr>
              <a:t>, then reject </a:t>
            </a:r>
            <a:r>
              <a:rPr lang="en-US" sz="2800" i="1" dirty="0" smtClean="0">
                <a:latin typeface="+mj-lt"/>
                <a:sym typeface="Symbol" pitchFamily="18" charset="2"/>
              </a:rPr>
              <a:t>H</a:t>
            </a:r>
            <a:r>
              <a:rPr lang="en-US" sz="2800" baseline="-25000" dirty="0" smtClean="0">
                <a:latin typeface="+mj-lt"/>
                <a:sym typeface="Symbol" pitchFamily="18" charset="2"/>
              </a:rPr>
              <a:t>0</a:t>
            </a:r>
            <a:r>
              <a:rPr lang="en-US" sz="2800" dirty="0" smtClean="0">
                <a:latin typeface="+mj-lt"/>
                <a:sym typeface="Symbol" pitchFamily="18" charset="2"/>
              </a:rPr>
              <a:t>,</a:t>
            </a:r>
          </a:p>
          <a:p>
            <a:pPr algn="just"/>
            <a:r>
              <a:rPr lang="en-US" sz="2800" dirty="0" smtClean="0">
                <a:latin typeface="+mj-lt"/>
                <a:sym typeface="Symbol" pitchFamily="18" charset="2"/>
              </a:rPr>
              <a:t>If </a:t>
            </a:r>
            <a:r>
              <a:rPr lang="en-US" sz="2800" i="1" dirty="0" smtClean="0">
                <a:latin typeface="+mj-lt"/>
                <a:sym typeface="Symbol" pitchFamily="18" charset="2"/>
              </a:rPr>
              <a:t>p</a:t>
            </a:r>
            <a:r>
              <a:rPr lang="en-US" sz="2800" dirty="0" smtClean="0">
                <a:latin typeface="+mj-lt"/>
              </a:rPr>
              <a:t> </a:t>
            </a:r>
            <a:r>
              <a:rPr lang="en-US" sz="2800" dirty="0">
                <a:latin typeface="+mj-lt"/>
                <a:sym typeface="Symbol" pitchFamily="18" charset="2"/>
              </a:rPr>
              <a:t>&gt; </a:t>
            </a:r>
            <a:r>
              <a:rPr lang="en-US" sz="2800" i="1" dirty="0">
                <a:latin typeface="+mj-lt"/>
                <a:sym typeface="Symbol" pitchFamily="18" charset="2"/>
              </a:rPr>
              <a:t></a:t>
            </a:r>
            <a:r>
              <a:rPr lang="en-US" sz="2800" dirty="0">
                <a:latin typeface="+mj-lt"/>
                <a:sym typeface="Symbol" pitchFamily="18" charset="2"/>
              </a:rPr>
              <a:t>, then </a:t>
            </a:r>
            <a:r>
              <a:rPr lang="en-US" sz="2800" dirty="0" smtClean="0">
                <a:latin typeface="+mj-lt"/>
                <a:sym typeface="Symbol" pitchFamily="18" charset="2"/>
              </a:rPr>
              <a:t>Accept </a:t>
            </a:r>
            <a:r>
              <a:rPr lang="en-US" sz="2800" i="1" dirty="0" smtClean="0">
                <a:latin typeface="+mj-lt"/>
                <a:sym typeface="Symbol" pitchFamily="18" charset="2"/>
              </a:rPr>
              <a:t>H</a:t>
            </a:r>
            <a:r>
              <a:rPr lang="en-US" sz="2800" baseline="-25000" dirty="0" smtClean="0">
                <a:latin typeface="+mj-lt"/>
                <a:sym typeface="Symbol" pitchFamily="18" charset="2"/>
              </a:rPr>
              <a:t>0</a:t>
            </a:r>
            <a:r>
              <a:rPr lang="en-US" sz="2800" dirty="0">
                <a:latin typeface="+mj-lt"/>
                <a:sym typeface="Symbol" pitchFamily="18" charset="2"/>
              </a:rPr>
              <a:t>.</a:t>
            </a:r>
          </a:p>
          <a:p>
            <a:pPr algn="just"/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76182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>
            <a:noAutofit/>
          </a:bodyPr>
          <a:lstStyle/>
          <a:p>
            <a:r>
              <a:rPr lang="en-IN" sz="3200" dirty="0" smtClean="0"/>
              <a:t>Types of Hypothesis Test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5257800"/>
          </a:xfrm>
        </p:spPr>
        <p:txBody>
          <a:bodyPr>
            <a:noAutofit/>
          </a:bodyPr>
          <a:lstStyle/>
          <a:p>
            <a:pPr algn="just"/>
            <a:r>
              <a:rPr lang="en-US" altLang="en-US" sz="2800" dirty="0" smtClean="0"/>
              <a:t>The </a:t>
            </a:r>
            <a:r>
              <a:rPr lang="en-US" altLang="en-US" sz="2800" dirty="0"/>
              <a:t>type of test depends on the region of the sampling distribution that favors a rejection of </a:t>
            </a:r>
            <a:r>
              <a:rPr lang="en-US" altLang="en-US" sz="2800" i="1" dirty="0"/>
              <a:t>H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. </a:t>
            </a:r>
            <a:endParaRPr lang="en-US" altLang="en-US" sz="2800" dirty="0" smtClean="0"/>
          </a:p>
          <a:p>
            <a:pPr algn="just"/>
            <a:endParaRPr lang="en-US" altLang="en-US" sz="2800" dirty="0" smtClean="0"/>
          </a:p>
          <a:p>
            <a:pPr algn="just"/>
            <a:r>
              <a:rPr lang="en-US" altLang="en-US" sz="2800" dirty="0" smtClean="0"/>
              <a:t>This </a:t>
            </a:r>
            <a:r>
              <a:rPr lang="en-US" altLang="en-US" sz="2800" dirty="0"/>
              <a:t>region is indicated by the alternative hypothesis.</a:t>
            </a:r>
            <a:endParaRPr lang="en-US" altLang="en-US" sz="2800" dirty="0" smtClean="0"/>
          </a:p>
          <a:p>
            <a:pPr algn="just"/>
            <a:endParaRPr lang="en-US" altLang="en-US" sz="2800" dirty="0" smtClean="0"/>
          </a:p>
          <a:p>
            <a:pPr algn="just"/>
            <a:r>
              <a:rPr lang="en-US" altLang="en-US" sz="2800" dirty="0" smtClean="0"/>
              <a:t>Therefore, on the basis of sampling distribution, two types </a:t>
            </a:r>
            <a:r>
              <a:rPr lang="en-US" altLang="en-US" sz="2800" dirty="0"/>
              <a:t>of hypothesis </a:t>
            </a:r>
            <a:r>
              <a:rPr lang="en-US" altLang="en-US" sz="2800" dirty="0" smtClean="0"/>
              <a:t>tests can be defined: </a:t>
            </a:r>
          </a:p>
          <a:p>
            <a:pPr algn="just"/>
            <a:endParaRPr lang="en-US" altLang="en-US" sz="2800" dirty="0" smtClean="0"/>
          </a:p>
          <a:p>
            <a:pPr lvl="1" algn="just"/>
            <a:r>
              <a:rPr lang="en-US" altLang="en-US" dirty="0" smtClean="0">
                <a:solidFill>
                  <a:srgbClr val="FF0000"/>
                </a:solidFill>
              </a:rPr>
              <a:t>One-tailed  or One-sided test</a:t>
            </a:r>
          </a:p>
          <a:p>
            <a:pPr lvl="1" algn="just"/>
            <a:r>
              <a:rPr lang="en-US" altLang="en-US" dirty="0" smtClean="0">
                <a:solidFill>
                  <a:srgbClr val="0070C0"/>
                </a:solidFill>
              </a:rPr>
              <a:t>Two</a:t>
            </a:r>
            <a:r>
              <a:rPr lang="en-US" altLang="en-US" dirty="0" smtClean="0">
                <a:solidFill>
                  <a:srgbClr val="0070C0"/>
                </a:solidFill>
                <a:latin typeface="Times New Roman" pitchFamily="18" charset="0"/>
              </a:rPr>
              <a:t>-</a:t>
            </a:r>
            <a:r>
              <a:rPr lang="en-US" altLang="en-US" dirty="0" smtClean="0">
                <a:solidFill>
                  <a:srgbClr val="0070C0"/>
                </a:solidFill>
              </a:rPr>
              <a:t>tailed or Two- sided test</a:t>
            </a:r>
            <a:r>
              <a:rPr lang="en-US" altLang="en-US" dirty="0">
                <a:solidFill>
                  <a:srgbClr val="0070C0"/>
                </a:solidFill>
              </a:rPr>
              <a:t>. </a:t>
            </a:r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sz="2800" dirty="0" smtClean="0">
              <a:solidFill>
                <a:srgbClr val="FF0000"/>
              </a:solidFill>
            </a:endParaRPr>
          </a:p>
          <a:p>
            <a:pPr algn="just"/>
            <a:endParaRPr lang="en-US" sz="2800" dirty="0" smtClean="0">
              <a:solidFill>
                <a:srgbClr val="FF0000"/>
              </a:solidFill>
            </a:endParaRPr>
          </a:p>
          <a:p>
            <a:pPr algn="just"/>
            <a:endParaRPr lang="en-US" sz="2800" dirty="0"/>
          </a:p>
          <a:p>
            <a:pPr algn="just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8716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334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One-tailed or one-sided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32004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/>
              <a:t>A </a:t>
            </a:r>
            <a:r>
              <a:rPr lang="en-US" sz="2400" dirty="0"/>
              <a:t>one sided test is a statistical hypothesis test in which the values for which we can reject the null hypothesis </a:t>
            </a:r>
            <a:r>
              <a:rPr lang="en-US" sz="2400" b="1" dirty="0" smtClean="0"/>
              <a:t>(Ho)</a:t>
            </a:r>
            <a:r>
              <a:rPr lang="en-US" sz="2400" dirty="0" smtClean="0"/>
              <a:t> </a:t>
            </a:r>
            <a:r>
              <a:rPr lang="en-US" sz="2400" dirty="0"/>
              <a:t>are located entirely in one tail of the </a:t>
            </a:r>
            <a:r>
              <a:rPr lang="en-US" sz="2400" dirty="0" smtClean="0"/>
              <a:t>probability distribution function</a:t>
            </a:r>
          </a:p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critical region for a one-sided test is the set of values </a:t>
            </a:r>
            <a:r>
              <a:rPr lang="en-US" sz="2400" dirty="0" smtClean="0"/>
              <a:t>which are  </a:t>
            </a:r>
            <a:r>
              <a:rPr lang="en-US" sz="2400" dirty="0"/>
              <a:t>either less or greater than the critical value of the </a:t>
            </a:r>
            <a:r>
              <a:rPr lang="en-US" sz="2400" dirty="0" smtClean="0"/>
              <a:t>test</a:t>
            </a:r>
          </a:p>
          <a:p>
            <a:pPr algn="just"/>
            <a:r>
              <a:rPr lang="en-US" sz="2400" dirty="0" smtClean="0"/>
              <a:t>The rejection region lies only in one tail.</a:t>
            </a:r>
            <a:endParaRPr lang="en-US" sz="2400" dirty="0"/>
          </a:p>
          <a:p>
            <a:pPr algn="just"/>
            <a:endParaRPr lang="en-US" sz="2400" dirty="0" smtClean="0">
              <a:solidFill>
                <a:srgbClr val="FF0000"/>
              </a:solidFill>
            </a:endParaRPr>
          </a:p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  <p:grpSp>
        <p:nvGrpSpPr>
          <p:cNvPr id="5" name="Group 80"/>
          <p:cNvGrpSpPr>
            <a:grpSpLocks/>
          </p:cNvGrpSpPr>
          <p:nvPr/>
        </p:nvGrpSpPr>
        <p:grpSpPr bwMode="auto">
          <a:xfrm>
            <a:off x="379146" y="4350047"/>
            <a:ext cx="4939115" cy="1441153"/>
            <a:chOff x="789" y="2150"/>
            <a:chExt cx="4491" cy="1597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" y="2150"/>
              <a:ext cx="3132" cy="1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789" y="3257"/>
              <a:ext cx="4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251" y="2158"/>
              <a:ext cx="2129" cy="1096"/>
            </a:xfrm>
            <a:custGeom>
              <a:avLst/>
              <a:gdLst>
                <a:gd name="T0" fmla="*/ 2 w 2129"/>
                <a:gd name="T1" fmla="*/ 1096 h 1096"/>
                <a:gd name="T2" fmla="*/ 0 w 2129"/>
                <a:gd name="T3" fmla="*/ 826 h 1096"/>
                <a:gd name="T4" fmla="*/ 84 w 2129"/>
                <a:gd name="T5" fmla="*/ 746 h 1096"/>
                <a:gd name="T6" fmla="*/ 134 w 2129"/>
                <a:gd name="T7" fmla="*/ 684 h 1096"/>
                <a:gd name="T8" fmla="*/ 204 w 2129"/>
                <a:gd name="T9" fmla="*/ 588 h 1096"/>
                <a:gd name="T10" fmla="*/ 216 w 2129"/>
                <a:gd name="T11" fmla="*/ 564 h 1096"/>
                <a:gd name="T12" fmla="*/ 266 w 2129"/>
                <a:gd name="T13" fmla="*/ 476 h 1096"/>
                <a:gd name="T14" fmla="*/ 314 w 2129"/>
                <a:gd name="T15" fmla="*/ 380 h 1096"/>
                <a:gd name="T16" fmla="*/ 362 w 2129"/>
                <a:gd name="T17" fmla="*/ 284 h 1096"/>
                <a:gd name="T18" fmla="*/ 422 w 2129"/>
                <a:gd name="T19" fmla="*/ 176 h 1096"/>
                <a:gd name="T20" fmla="*/ 470 w 2129"/>
                <a:gd name="T21" fmla="*/ 104 h 1096"/>
                <a:gd name="T22" fmla="*/ 514 w 2129"/>
                <a:gd name="T23" fmla="*/ 56 h 1096"/>
                <a:gd name="T24" fmla="*/ 566 w 2129"/>
                <a:gd name="T25" fmla="*/ 28 h 1096"/>
                <a:gd name="T26" fmla="*/ 650 w 2129"/>
                <a:gd name="T27" fmla="*/ 0 h 1096"/>
                <a:gd name="T28" fmla="*/ 710 w 2129"/>
                <a:gd name="T29" fmla="*/ 0 h 1096"/>
                <a:gd name="T30" fmla="*/ 790 w 2129"/>
                <a:gd name="T31" fmla="*/ 28 h 1096"/>
                <a:gd name="T32" fmla="*/ 878 w 2129"/>
                <a:gd name="T33" fmla="*/ 92 h 1096"/>
                <a:gd name="T34" fmla="*/ 950 w 2129"/>
                <a:gd name="T35" fmla="*/ 180 h 1096"/>
                <a:gd name="T36" fmla="*/ 1046 w 2129"/>
                <a:gd name="T37" fmla="*/ 368 h 1096"/>
                <a:gd name="T38" fmla="*/ 1094 w 2129"/>
                <a:gd name="T39" fmla="*/ 472 h 1096"/>
                <a:gd name="T40" fmla="*/ 1138 w 2129"/>
                <a:gd name="T41" fmla="*/ 564 h 1096"/>
                <a:gd name="T42" fmla="*/ 1178 w 2129"/>
                <a:gd name="T43" fmla="*/ 620 h 1096"/>
                <a:gd name="T44" fmla="*/ 1250 w 2129"/>
                <a:gd name="T45" fmla="*/ 720 h 1096"/>
                <a:gd name="T46" fmla="*/ 1302 w 2129"/>
                <a:gd name="T47" fmla="*/ 778 h 1096"/>
                <a:gd name="T48" fmla="*/ 1362 w 2129"/>
                <a:gd name="T49" fmla="*/ 832 h 1096"/>
                <a:gd name="T50" fmla="*/ 1560 w 2129"/>
                <a:gd name="T51" fmla="*/ 962 h 1096"/>
                <a:gd name="T52" fmla="*/ 1738 w 2129"/>
                <a:gd name="T53" fmla="*/ 1029 h 1096"/>
                <a:gd name="T54" fmla="*/ 1944 w 2129"/>
                <a:gd name="T55" fmla="*/ 1072 h 1096"/>
                <a:gd name="T56" fmla="*/ 2129 w 2129"/>
                <a:gd name="T57" fmla="*/ 1094 h 1096"/>
                <a:gd name="T58" fmla="*/ 2 w 2129"/>
                <a:gd name="T59" fmla="*/ 1096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129" h="1096">
                  <a:moveTo>
                    <a:pt x="2" y="1096"/>
                  </a:moveTo>
                  <a:lnTo>
                    <a:pt x="0" y="826"/>
                  </a:lnTo>
                  <a:lnTo>
                    <a:pt x="84" y="746"/>
                  </a:lnTo>
                  <a:lnTo>
                    <a:pt x="134" y="684"/>
                  </a:lnTo>
                  <a:lnTo>
                    <a:pt x="204" y="588"/>
                  </a:lnTo>
                  <a:lnTo>
                    <a:pt x="216" y="564"/>
                  </a:lnTo>
                  <a:lnTo>
                    <a:pt x="266" y="476"/>
                  </a:lnTo>
                  <a:lnTo>
                    <a:pt x="314" y="380"/>
                  </a:lnTo>
                  <a:lnTo>
                    <a:pt x="362" y="284"/>
                  </a:lnTo>
                  <a:lnTo>
                    <a:pt x="422" y="176"/>
                  </a:lnTo>
                  <a:lnTo>
                    <a:pt x="470" y="104"/>
                  </a:lnTo>
                  <a:lnTo>
                    <a:pt x="514" y="56"/>
                  </a:lnTo>
                  <a:lnTo>
                    <a:pt x="566" y="28"/>
                  </a:lnTo>
                  <a:lnTo>
                    <a:pt x="650" y="0"/>
                  </a:lnTo>
                  <a:lnTo>
                    <a:pt x="710" y="0"/>
                  </a:lnTo>
                  <a:lnTo>
                    <a:pt x="790" y="28"/>
                  </a:lnTo>
                  <a:lnTo>
                    <a:pt x="878" y="92"/>
                  </a:lnTo>
                  <a:lnTo>
                    <a:pt x="950" y="180"/>
                  </a:lnTo>
                  <a:lnTo>
                    <a:pt x="1046" y="368"/>
                  </a:lnTo>
                  <a:lnTo>
                    <a:pt x="1094" y="472"/>
                  </a:lnTo>
                  <a:lnTo>
                    <a:pt x="1138" y="564"/>
                  </a:lnTo>
                  <a:lnTo>
                    <a:pt x="1178" y="620"/>
                  </a:lnTo>
                  <a:lnTo>
                    <a:pt x="1250" y="720"/>
                  </a:lnTo>
                  <a:lnTo>
                    <a:pt x="1302" y="778"/>
                  </a:lnTo>
                  <a:lnTo>
                    <a:pt x="1362" y="832"/>
                  </a:lnTo>
                  <a:lnTo>
                    <a:pt x="1560" y="962"/>
                  </a:lnTo>
                  <a:lnTo>
                    <a:pt x="1738" y="1029"/>
                  </a:lnTo>
                  <a:lnTo>
                    <a:pt x="1944" y="1072"/>
                  </a:lnTo>
                  <a:lnTo>
                    <a:pt x="2129" y="1094"/>
                  </a:lnTo>
                  <a:lnTo>
                    <a:pt x="2" y="1096"/>
                  </a:lnTo>
                  <a:close/>
                </a:path>
              </a:pathLst>
            </a:custGeom>
            <a:solidFill>
              <a:srgbClr val="FFC000">
                <a:alpha val="60001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095" y="3121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i="1"/>
                <a:t>z</a:t>
              </a: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413" y="2995"/>
              <a:ext cx="845" cy="259"/>
            </a:xfrm>
            <a:custGeom>
              <a:avLst/>
              <a:gdLst>
                <a:gd name="T0" fmla="*/ 0 w 845"/>
                <a:gd name="T1" fmla="*/ 259 h 259"/>
                <a:gd name="T2" fmla="*/ 835 w 845"/>
                <a:gd name="T3" fmla="*/ 256 h 259"/>
                <a:gd name="T4" fmla="*/ 835 w 845"/>
                <a:gd name="T5" fmla="*/ 0 h 259"/>
                <a:gd name="T6" fmla="*/ 776 w 845"/>
                <a:gd name="T7" fmla="*/ 37 h 259"/>
                <a:gd name="T8" fmla="*/ 717 w 845"/>
                <a:gd name="T9" fmla="*/ 75 h 259"/>
                <a:gd name="T10" fmla="*/ 653 w 845"/>
                <a:gd name="T11" fmla="*/ 115 h 259"/>
                <a:gd name="T12" fmla="*/ 570 w 845"/>
                <a:gd name="T13" fmla="*/ 150 h 259"/>
                <a:gd name="T14" fmla="*/ 384 w 845"/>
                <a:gd name="T15" fmla="*/ 211 h 259"/>
                <a:gd name="T16" fmla="*/ 138 w 845"/>
                <a:gd name="T17" fmla="*/ 246 h 259"/>
                <a:gd name="T18" fmla="*/ 0 w 845"/>
                <a:gd name="T19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5" h="259">
                  <a:moveTo>
                    <a:pt x="0" y="259"/>
                  </a:moveTo>
                  <a:lnTo>
                    <a:pt x="835" y="256"/>
                  </a:lnTo>
                  <a:cubicBezTo>
                    <a:pt x="835" y="256"/>
                    <a:pt x="845" y="36"/>
                    <a:pt x="835" y="0"/>
                  </a:cubicBezTo>
                  <a:cubicBezTo>
                    <a:pt x="795" y="21"/>
                    <a:pt x="806" y="18"/>
                    <a:pt x="776" y="37"/>
                  </a:cubicBezTo>
                  <a:cubicBezTo>
                    <a:pt x="756" y="50"/>
                    <a:pt x="738" y="62"/>
                    <a:pt x="717" y="75"/>
                  </a:cubicBezTo>
                  <a:cubicBezTo>
                    <a:pt x="696" y="88"/>
                    <a:pt x="677" y="103"/>
                    <a:pt x="653" y="115"/>
                  </a:cubicBezTo>
                  <a:cubicBezTo>
                    <a:pt x="629" y="127"/>
                    <a:pt x="615" y="134"/>
                    <a:pt x="570" y="150"/>
                  </a:cubicBezTo>
                  <a:lnTo>
                    <a:pt x="384" y="211"/>
                  </a:lnTo>
                  <a:lnTo>
                    <a:pt x="138" y="246"/>
                  </a:lnTo>
                  <a:lnTo>
                    <a:pt x="0" y="259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grpSp>
          <p:nvGrpSpPr>
            <p:cNvPr id="11" name="Group 79"/>
            <p:cNvGrpSpPr>
              <a:grpSpLocks/>
            </p:cNvGrpSpPr>
            <p:nvPr/>
          </p:nvGrpSpPr>
          <p:grpSpPr bwMode="auto">
            <a:xfrm>
              <a:off x="2766" y="3179"/>
              <a:ext cx="288" cy="375"/>
              <a:chOff x="2766" y="3179"/>
              <a:chExt cx="288" cy="375"/>
            </a:xfrm>
          </p:grpSpPr>
          <p:sp>
            <p:nvSpPr>
              <p:cNvPr id="30" name="Text Box 12"/>
              <p:cNvSpPr txBox="1">
                <a:spLocks noChangeArrowheads="1"/>
              </p:cNvSpPr>
              <p:nvPr/>
            </p:nvSpPr>
            <p:spPr bwMode="auto">
              <a:xfrm>
                <a:off x="2766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0</a:t>
                </a:r>
              </a:p>
            </p:txBody>
          </p:sp>
          <p:sp>
            <p:nvSpPr>
              <p:cNvPr id="31" name="Line 13"/>
              <p:cNvSpPr>
                <a:spLocks noChangeShapeType="1"/>
              </p:cNvSpPr>
              <p:nvPr/>
            </p:nvSpPr>
            <p:spPr bwMode="auto">
              <a:xfrm>
                <a:off x="2901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78"/>
            <p:cNvGrpSpPr>
              <a:grpSpLocks/>
            </p:cNvGrpSpPr>
            <p:nvPr/>
          </p:nvGrpSpPr>
          <p:grpSpPr bwMode="auto">
            <a:xfrm>
              <a:off x="3179" y="3179"/>
              <a:ext cx="288" cy="375"/>
              <a:chOff x="3179" y="3179"/>
              <a:chExt cx="288" cy="375"/>
            </a:xfrm>
          </p:grpSpPr>
          <p:sp>
            <p:nvSpPr>
              <p:cNvPr id="28" name="Text Box 15"/>
              <p:cNvSpPr txBox="1">
                <a:spLocks noChangeArrowheads="1"/>
              </p:cNvSpPr>
              <p:nvPr/>
            </p:nvSpPr>
            <p:spPr bwMode="auto">
              <a:xfrm>
                <a:off x="3179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1</a:t>
                </a:r>
              </a:p>
            </p:txBody>
          </p:sp>
          <p:sp>
            <p:nvSpPr>
              <p:cNvPr id="29" name="Line 16"/>
              <p:cNvSpPr>
                <a:spLocks noChangeShapeType="1"/>
              </p:cNvSpPr>
              <p:nvPr/>
            </p:nvSpPr>
            <p:spPr bwMode="auto">
              <a:xfrm>
                <a:off x="3314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77"/>
            <p:cNvGrpSpPr>
              <a:grpSpLocks/>
            </p:cNvGrpSpPr>
            <p:nvPr/>
          </p:nvGrpSpPr>
          <p:grpSpPr bwMode="auto">
            <a:xfrm>
              <a:off x="3592" y="3179"/>
              <a:ext cx="288" cy="375"/>
              <a:chOff x="3592" y="3179"/>
              <a:chExt cx="288" cy="375"/>
            </a:xfrm>
          </p:grpSpPr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3592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/>
                  <a:t>2</a:t>
                </a:r>
              </a:p>
            </p:txBody>
          </p:sp>
          <p:sp>
            <p:nvSpPr>
              <p:cNvPr id="27" name="Line 19"/>
              <p:cNvSpPr>
                <a:spLocks noChangeShapeType="1"/>
              </p:cNvSpPr>
              <p:nvPr/>
            </p:nvSpPr>
            <p:spPr bwMode="auto">
              <a:xfrm>
                <a:off x="3727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76"/>
            <p:cNvGrpSpPr>
              <a:grpSpLocks/>
            </p:cNvGrpSpPr>
            <p:nvPr/>
          </p:nvGrpSpPr>
          <p:grpSpPr bwMode="auto">
            <a:xfrm>
              <a:off x="4005" y="3179"/>
              <a:ext cx="288" cy="375"/>
              <a:chOff x="4005" y="3179"/>
              <a:chExt cx="288" cy="375"/>
            </a:xfrm>
          </p:grpSpPr>
          <p:sp>
            <p:nvSpPr>
              <p:cNvPr id="24" name="Text Box 21"/>
              <p:cNvSpPr txBox="1">
                <a:spLocks noChangeArrowheads="1"/>
              </p:cNvSpPr>
              <p:nvPr/>
            </p:nvSpPr>
            <p:spPr bwMode="auto">
              <a:xfrm>
                <a:off x="4005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3</a:t>
                </a:r>
              </a:p>
            </p:txBody>
          </p:sp>
          <p:sp>
            <p:nvSpPr>
              <p:cNvPr id="25" name="Line 22"/>
              <p:cNvSpPr>
                <a:spLocks noChangeShapeType="1"/>
              </p:cNvSpPr>
              <p:nvPr/>
            </p:nvSpPr>
            <p:spPr bwMode="auto">
              <a:xfrm>
                <a:off x="4140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75"/>
            <p:cNvGrpSpPr>
              <a:grpSpLocks/>
            </p:cNvGrpSpPr>
            <p:nvPr/>
          </p:nvGrpSpPr>
          <p:grpSpPr bwMode="auto">
            <a:xfrm>
              <a:off x="1576" y="3179"/>
              <a:ext cx="288" cy="568"/>
              <a:chOff x="1576" y="3179"/>
              <a:chExt cx="288" cy="568"/>
            </a:xfrm>
          </p:grpSpPr>
          <p:sp>
            <p:nvSpPr>
              <p:cNvPr id="22" name="Text Box 24"/>
              <p:cNvSpPr txBox="1">
                <a:spLocks noChangeArrowheads="1"/>
              </p:cNvSpPr>
              <p:nvPr/>
            </p:nvSpPr>
            <p:spPr bwMode="auto">
              <a:xfrm>
                <a:off x="1576" y="3304"/>
                <a:ext cx="288" cy="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 smtClean="0"/>
                  <a:t>3</a:t>
                </a:r>
                <a:endParaRPr lang="en-US" sz="2000" dirty="0"/>
              </a:p>
            </p:txBody>
          </p:sp>
          <p:sp>
            <p:nvSpPr>
              <p:cNvPr id="23" name="Line 25"/>
              <p:cNvSpPr>
                <a:spLocks noChangeShapeType="1"/>
              </p:cNvSpPr>
              <p:nvPr/>
            </p:nvSpPr>
            <p:spPr bwMode="auto">
              <a:xfrm>
                <a:off x="1711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74"/>
            <p:cNvGrpSpPr>
              <a:grpSpLocks/>
            </p:cNvGrpSpPr>
            <p:nvPr/>
          </p:nvGrpSpPr>
          <p:grpSpPr bwMode="auto">
            <a:xfrm>
              <a:off x="1989" y="3179"/>
              <a:ext cx="288" cy="568"/>
              <a:chOff x="1989" y="3179"/>
              <a:chExt cx="288" cy="568"/>
            </a:xfrm>
          </p:grpSpPr>
          <p:sp>
            <p:nvSpPr>
              <p:cNvPr id="20" name="Text Box 27"/>
              <p:cNvSpPr txBox="1">
                <a:spLocks noChangeArrowheads="1"/>
              </p:cNvSpPr>
              <p:nvPr/>
            </p:nvSpPr>
            <p:spPr bwMode="auto">
              <a:xfrm>
                <a:off x="1989" y="3304"/>
                <a:ext cx="288" cy="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 smtClean="0"/>
                  <a:t>2</a:t>
                </a:r>
                <a:endParaRPr lang="en-US" sz="2000" dirty="0"/>
              </a:p>
            </p:txBody>
          </p:sp>
          <p:sp>
            <p:nvSpPr>
              <p:cNvPr id="21" name="Line 28"/>
              <p:cNvSpPr>
                <a:spLocks noChangeShapeType="1"/>
              </p:cNvSpPr>
              <p:nvPr/>
            </p:nvSpPr>
            <p:spPr bwMode="auto">
              <a:xfrm>
                <a:off x="2124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73"/>
            <p:cNvGrpSpPr>
              <a:grpSpLocks/>
            </p:cNvGrpSpPr>
            <p:nvPr/>
          </p:nvGrpSpPr>
          <p:grpSpPr bwMode="auto">
            <a:xfrm>
              <a:off x="2402" y="3179"/>
              <a:ext cx="288" cy="568"/>
              <a:chOff x="2402" y="3179"/>
              <a:chExt cx="288" cy="568"/>
            </a:xfrm>
          </p:grpSpPr>
          <p:sp>
            <p:nvSpPr>
              <p:cNvPr id="18" name="Text Box 30"/>
              <p:cNvSpPr txBox="1">
                <a:spLocks noChangeArrowheads="1"/>
              </p:cNvSpPr>
              <p:nvPr/>
            </p:nvSpPr>
            <p:spPr bwMode="auto">
              <a:xfrm>
                <a:off x="2402" y="3304"/>
                <a:ext cx="288" cy="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 smtClean="0"/>
                  <a:t>1</a:t>
                </a:r>
                <a:endParaRPr lang="en-US" sz="2000" dirty="0"/>
              </a:p>
            </p:txBody>
          </p:sp>
          <p:sp>
            <p:nvSpPr>
              <p:cNvPr id="19" name="Line 31"/>
              <p:cNvSpPr>
                <a:spLocks noChangeShapeType="1"/>
              </p:cNvSpPr>
              <p:nvPr/>
            </p:nvSpPr>
            <p:spPr bwMode="auto">
              <a:xfrm>
                <a:off x="2537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</p:grpSp>
      <p:grpSp>
        <p:nvGrpSpPr>
          <p:cNvPr id="32" name="Group 46"/>
          <p:cNvGrpSpPr>
            <a:grpSpLocks/>
          </p:cNvGrpSpPr>
          <p:nvPr/>
        </p:nvGrpSpPr>
        <p:grpSpPr bwMode="auto">
          <a:xfrm>
            <a:off x="3610301" y="5191375"/>
            <a:ext cx="5422929" cy="1666625"/>
            <a:chOff x="789" y="2150"/>
            <a:chExt cx="4491" cy="1518"/>
          </a:xfrm>
        </p:grpSpPr>
        <p:pic>
          <p:nvPicPr>
            <p:cNvPr id="3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" y="2150"/>
              <a:ext cx="3132" cy="1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Line 6"/>
            <p:cNvSpPr>
              <a:spLocks noChangeShapeType="1"/>
            </p:cNvSpPr>
            <p:nvPr/>
          </p:nvSpPr>
          <p:spPr bwMode="auto">
            <a:xfrm>
              <a:off x="789" y="3257"/>
              <a:ext cx="4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" name="Freeform 7"/>
            <p:cNvSpPr>
              <a:spLocks/>
            </p:cNvSpPr>
            <p:nvPr/>
          </p:nvSpPr>
          <p:spPr bwMode="auto">
            <a:xfrm>
              <a:off x="1438" y="2158"/>
              <a:ext cx="2175" cy="1094"/>
            </a:xfrm>
            <a:custGeom>
              <a:avLst/>
              <a:gdLst>
                <a:gd name="T0" fmla="*/ 0 w 2175"/>
                <a:gd name="T1" fmla="*/ 1094 h 1094"/>
                <a:gd name="T2" fmla="*/ 168 w 2175"/>
                <a:gd name="T3" fmla="*/ 1077 h 1094"/>
                <a:gd name="T4" fmla="*/ 288 w 2175"/>
                <a:gd name="T5" fmla="*/ 1063 h 1094"/>
                <a:gd name="T6" fmla="*/ 494 w 2175"/>
                <a:gd name="T7" fmla="*/ 1010 h 1094"/>
                <a:gd name="T8" fmla="*/ 595 w 2175"/>
                <a:gd name="T9" fmla="*/ 967 h 1094"/>
                <a:gd name="T10" fmla="*/ 732 w 2175"/>
                <a:gd name="T11" fmla="*/ 895 h 1094"/>
                <a:gd name="T12" fmla="*/ 813 w 2175"/>
                <a:gd name="T13" fmla="*/ 826 h 1094"/>
                <a:gd name="T14" fmla="*/ 897 w 2175"/>
                <a:gd name="T15" fmla="*/ 746 h 1094"/>
                <a:gd name="T16" fmla="*/ 947 w 2175"/>
                <a:gd name="T17" fmla="*/ 684 h 1094"/>
                <a:gd name="T18" fmla="*/ 1017 w 2175"/>
                <a:gd name="T19" fmla="*/ 588 h 1094"/>
                <a:gd name="T20" fmla="*/ 1029 w 2175"/>
                <a:gd name="T21" fmla="*/ 564 h 1094"/>
                <a:gd name="T22" fmla="*/ 1079 w 2175"/>
                <a:gd name="T23" fmla="*/ 476 h 1094"/>
                <a:gd name="T24" fmla="*/ 1127 w 2175"/>
                <a:gd name="T25" fmla="*/ 380 h 1094"/>
                <a:gd name="T26" fmla="*/ 1175 w 2175"/>
                <a:gd name="T27" fmla="*/ 284 h 1094"/>
                <a:gd name="T28" fmla="*/ 1235 w 2175"/>
                <a:gd name="T29" fmla="*/ 176 h 1094"/>
                <a:gd name="T30" fmla="*/ 1283 w 2175"/>
                <a:gd name="T31" fmla="*/ 104 h 1094"/>
                <a:gd name="T32" fmla="*/ 1327 w 2175"/>
                <a:gd name="T33" fmla="*/ 56 h 1094"/>
                <a:gd name="T34" fmla="*/ 1379 w 2175"/>
                <a:gd name="T35" fmla="*/ 28 h 1094"/>
                <a:gd name="T36" fmla="*/ 1463 w 2175"/>
                <a:gd name="T37" fmla="*/ 0 h 1094"/>
                <a:gd name="T38" fmla="*/ 1523 w 2175"/>
                <a:gd name="T39" fmla="*/ 0 h 1094"/>
                <a:gd name="T40" fmla="*/ 1603 w 2175"/>
                <a:gd name="T41" fmla="*/ 28 h 1094"/>
                <a:gd name="T42" fmla="*/ 1691 w 2175"/>
                <a:gd name="T43" fmla="*/ 92 h 1094"/>
                <a:gd name="T44" fmla="*/ 1763 w 2175"/>
                <a:gd name="T45" fmla="*/ 180 h 1094"/>
                <a:gd name="T46" fmla="*/ 1859 w 2175"/>
                <a:gd name="T47" fmla="*/ 368 h 1094"/>
                <a:gd name="T48" fmla="*/ 1907 w 2175"/>
                <a:gd name="T49" fmla="*/ 472 h 1094"/>
                <a:gd name="T50" fmla="*/ 1951 w 2175"/>
                <a:gd name="T51" fmla="*/ 564 h 1094"/>
                <a:gd name="T52" fmla="*/ 1991 w 2175"/>
                <a:gd name="T53" fmla="*/ 620 h 1094"/>
                <a:gd name="T54" fmla="*/ 2063 w 2175"/>
                <a:gd name="T55" fmla="*/ 720 h 1094"/>
                <a:gd name="T56" fmla="*/ 2115 w 2175"/>
                <a:gd name="T57" fmla="*/ 778 h 1094"/>
                <a:gd name="T58" fmla="*/ 2175 w 2175"/>
                <a:gd name="T59" fmla="*/ 832 h 1094"/>
                <a:gd name="T60" fmla="*/ 2169 w 2175"/>
                <a:gd name="T61" fmla="*/ 1094 h 1094"/>
                <a:gd name="T62" fmla="*/ 0 w 2175"/>
                <a:gd name="T63" fmla="*/ 1094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75" h="1094">
                  <a:moveTo>
                    <a:pt x="0" y="1094"/>
                  </a:moveTo>
                  <a:lnTo>
                    <a:pt x="168" y="1077"/>
                  </a:lnTo>
                  <a:lnTo>
                    <a:pt x="288" y="1063"/>
                  </a:lnTo>
                  <a:lnTo>
                    <a:pt x="494" y="1010"/>
                  </a:lnTo>
                  <a:lnTo>
                    <a:pt x="595" y="967"/>
                  </a:lnTo>
                  <a:lnTo>
                    <a:pt x="732" y="895"/>
                  </a:lnTo>
                  <a:lnTo>
                    <a:pt x="813" y="826"/>
                  </a:lnTo>
                  <a:lnTo>
                    <a:pt x="897" y="746"/>
                  </a:lnTo>
                  <a:lnTo>
                    <a:pt x="947" y="684"/>
                  </a:lnTo>
                  <a:lnTo>
                    <a:pt x="1017" y="588"/>
                  </a:lnTo>
                  <a:lnTo>
                    <a:pt x="1029" y="564"/>
                  </a:lnTo>
                  <a:lnTo>
                    <a:pt x="1079" y="476"/>
                  </a:lnTo>
                  <a:lnTo>
                    <a:pt x="1127" y="380"/>
                  </a:lnTo>
                  <a:lnTo>
                    <a:pt x="1175" y="284"/>
                  </a:lnTo>
                  <a:lnTo>
                    <a:pt x="1235" y="176"/>
                  </a:lnTo>
                  <a:lnTo>
                    <a:pt x="1283" y="104"/>
                  </a:lnTo>
                  <a:lnTo>
                    <a:pt x="1327" y="56"/>
                  </a:lnTo>
                  <a:lnTo>
                    <a:pt x="1379" y="28"/>
                  </a:lnTo>
                  <a:lnTo>
                    <a:pt x="1463" y="0"/>
                  </a:lnTo>
                  <a:lnTo>
                    <a:pt x="1523" y="0"/>
                  </a:lnTo>
                  <a:lnTo>
                    <a:pt x="1603" y="28"/>
                  </a:lnTo>
                  <a:lnTo>
                    <a:pt x="1691" y="92"/>
                  </a:lnTo>
                  <a:lnTo>
                    <a:pt x="1763" y="180"/>
                  </a:lnTo>
                  <a:lnTo>
                    <a:pt x="1859" y="368"/>
                  </a:lnTo>
                  <a:lnTo>
                    <a:pt x="1907" y="472"/>
                  </a:lnTo>
                  <a:lnTo>
                    <a:pt x="1951" y="564"/>
                  </a:lnTo>
                  <a:lnTo>
                    <a:pt x="1991" y="620"/>
                  </a:lnTo>
                  <a:lnTo>
                    <a:pt x="2063" y="720"/>
                  </a:lnTo>
                  <a:lnTo>
                    <a:pt x="2115" y="778"/>
                  </a:lnTo>
                  <a:lnTo>
                    <a:pt x="2175" y="832"/>
                  </a:lnTo>
                  <a:lnTo>
                    <a:pt x="2169" y="1094"/>
                  </a:lnTo>
                  <a:lnTo>
                    <a:pt x="0" y="1094"/>
                  </a:lnTo>
                  <a:close/>
                </a:path>
              </a:pathLst>
            </a:custGeom>
            <a:solidFill>
              <a:srgbClr val="FFC000">
                <a:alpha val="60001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6" name="Rectangle 8"/>
            <p:cNvSpPr>
              <a:spLocks noChangeArrowheads="1"/>
            </p:cNvSpPr>
            <p:nvPr/>
          </p:nvSpPr>
          <p:spPr bwMode="auto">
            <a:xfrm>
              <a:off x="5095" y="3121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i="1"/>
                <a:t>z</a:t>
              </a:r>
            </a:p>
          </p:txBody>
        </p:sp>
        <p:sp>
          <p:nvSpPr>
            <p:cNvPr id="37" name="Freeform 10"/>
            <p:cNvSpPr>
              <a:spLocks/>
            </p:cNvSpPr>
            <p:nvPr/>
          </p:nvSpPr>
          <p:spPr bwMode="auto">
            <a:xfrm>
              <a:off x="3613" y="2995"/>
              <a:ext cx="848" cy="260"/>
            </a:xfrm>
            <a:custGeom>
              <a:avLst/>
              <a:gdLst>
                <a:gd name="T0" fmla="*/ 848 w 848"/>
                <a:gd name="T1" fmla="*/ 260 h 260"/>
                <a:gd name="T2" fmla="*/ 0 w 848"/>
                <a:gd name="T3" fmla="*/ 259 h 260"/>
                <a:gd name="T4" fmla="*/ 2 w 848"/>
                <a:gd name="T5" fmla="*/ 0 h 260"/>
                <a:gd name="T6" fmla="*/ 70 w 848"/>
                <a:gd name="T7" fmla="*/ 46 h 260"/>
                <a:gd name="T8" fmla="*/ 128 w 848"/>
                <a:gd name="T9" fmla="*/ 85 h 260"/>
                <a:gd name="T10" fmla="*/ 195 w 848"/>
                <a:gd name="T11" fmla="*/ 116 h 260"/>
                <a:gd name="T12" fmla="*/ 278 w 848"/>
                <a:gd name="T13" fmla="*/ 151 h 260"/>
                <a:gd name="T14" fmla="*/ 464 w 848"/>
                <a:gd name="T15" fmla="*/ 212 h 260"/>
                <a:gd name="T16" fmla="*/ 710 w 848"/>
                <a:gd name="T17" fmla="*/ 247 h 260"/>
                <a:gd name="T18" fmla="*/ 848 w 848"/>
                <a:gd name="T19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8" h="260">
                  <a:moveTo>
                    <a:pt x="848" y="260"/>
                  </a:moveTo>
                  <a:lnTo>
                    <a:pt x="0" y="259"/>
                  </a:lnTo>
                  <a:lnTo>
                    <a:pt x="2" y="0"/>
                  </a:lnTo>
                  <a:cubicBezTo>
                    <a:pt x="37" y="24"/>
                    <a:pt x="49" y="33"/>
                    <a:pt x="70" y="46"/>
                  </a:cubicBezTo>
                  <a:cubicBezTo>
                    <a:pt x="91" y="60"/>
                    <a:pt x="107" y="73"/>
                    <a:pt x="128" y="85"/>
                  </a:cubicBezTo>
                  <a:cubicBezTo>
                    <a:pt x="149" y="97"/>
                    <a:pt x="170" y="105"/>
                    <a:pt x="195" y="116"/>
                  </a:cubicBezTo>
                  <a:cubicBezTo>
                    <a:pt x="220" y="127"/>
                    <a:pt x="233" y="135"/>
                    <a:pt x="278" y="151"/>
                  </a:cubicBezTo>
                  <a:lnTo>
                    <a:pt x="464" y="212"/>
                  </a:lnTo>
                  <a:lnTo>
                    <a:pt x="710" y="247"/>
                  </a:lnTo>
                  <a:lnTo>
                    <a:pt x="848" y="26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grpSp>
          <p:nvGrpSpPr>
            <p:cNvPr id="38" name="Group 11"/>
            <p:cNvGrpSpPr>
              <a:grpSpLocks/>
            </p:cNvGrpSpPr>
            <p:nvPr/>
          </p:nvGrpSpPr>
          <p:grpSpPr bwMode="auto">
            <a:xfrm>
              <a:off x="2766" y="3179"/>
              <a:ext cx="288" cy="375"/>
              <a:chOff x="2457" y="2754"/>
              <a:chExt cx="288" cy="375"/>
            </a:xfrm>
          </p:grpSpPr>
          <p:sp>
            <p:nvSpPr>
              <p:cNvPr id="57" name="Text Box 12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0</a:t>
                </a:r>
              </a:p>
            </p:txBody>
          </p:sp>
          <p:sp>
            <p:nvSpPr>
              <p:cNvPr id="58" name="Line 13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39" name="Group 14"/>
            <p:cNvGrpSpPr>
              <a:grpSpLocks/>
            </p:cNvGrpSpPr>
            <p:nvPr/>
          </p:nvGrpSpPr>
          <p:grpSpPr bwMode="auto">
            <a:xfrm>
              <a:off x="3179" y="3179"/>
              <a:ext cx="288" cy="375"/>
              <a:chOff x="2457" y="2754"/>
              <a:chExt cx="288" cy="375"/>
            </a:xfrm>
          </p:grpSpPr>
          <p:sp>
            <p:nvSpPr>
              <p:cNvPr id="55" name="Text Box 15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1</a:t>
                </a:r>
              </a:p>
            </p:txBody>
          </p:sp>
          <p:sp>
            <p:nvSpPr>
              <p:cNvPr id="56" name="Line 16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0" name="Group 17"/>
            <p:cNvGrpSpPr>
              <a:grpSpLocks/>
            </p:cNvGrpSpPr>
            <p:nvPr/>
          </p:nvGrpSpPr>
          <p:grpSpPr bwMode="auto">
            <a:xfrm>
              <a:off x="3592" y="3179"/>
              <a:ext cx="288" cy="375"/>
              <a:chOff x="2457" y="2754"/>
              <a:chExt cx="288" cy="375"/>
            </a:xfrm>
          </p:grpSpPr>
          <p:sp>
            <p:nvSpPr>
              <p:cNvPr id="53" name="Text Box 18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2</a:t>
                </a:r>
              </a:p>
            </p:txBody>
          </p:sp>
          <p:sp>
            <p:nvSpPr>
              <p:cNvPr id="54" name="Line 19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1" name="Group 20"/>
            <p:cNvGrpSpPr>
              <a:grpSpLocks/>
            </p:cNvGrpSpPr>
            <p:nvPr/>
          </p:nvGrpSpPr>
          <p:grpSpPr bwMode="auto">
            <a:xfrm>
              <a:off x="4005" y="3179"/>
              <a:ext cx="288" cy="375"/>
              <a:chOff x="2457" y="2754"/>
              <a:chExt cx="288" cy="375"/>
            </a:xfrm>
          </p:grpSpPr>
          <p:sp>
            <p:nvSpPr>
              <p:cNvPr id="51" name="Text Box 21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3</a:t>
                </a:r>
              </a:p>
            </p:txBody>
          </p:sp>
          <p:sp>
            <p:nvSpPr>
              <p:cNvPr id="52" name="Line 22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2" name="Group 23"/>
            <p:cNvGrpSpPr>
              <a:grpSpLocks/>
            </p:cNvGrpSpPr>
            <p:nvPr/>
          </p:nvGrpSpPr>
          <p:grpSpPr bwMode="auto">
            <a:xfrm>
              <a:off x="1576" y="3179"/>
              <a:ext cx="288" cy="489"/>
              <a:chOff x="2457" y="2754"/>
              <a:chExt cx="288" cy="489"/>
            </a:xfrm>
          </p:grpSpPr>
          <p:sp>
            <p:nvSpPr>
              <p:cNvPr id="49" name="Text Box 24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 smtClean="0"/>
                  <a:t>3</a:t>
                </a:r>
                <a:endParaRPr lang="en-US" sz="2000" dirty="0"/>
              </a:p>
            </p:txBody>
          </p:sp>
          <p:sp>
            <p:nvSpPr>
              <p:cNvPr id="50" name="Line 25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3" name="Group 26"/>
            <p:cNvGrpSpPr>
              <a:grpSpLocks/>
            </p:cNvGrpSpPr>
            <p:nvPr/>
          </p:nvGrpSpPr>
          <p:grpSpPr bwMode="auto">
            <a:xfrm>
              <a:off x="1989" y="3179"/>
              <a:ext cx="288" cy="489"/>
              <a:chOff x="2457" y="2754"/>
              <a:chExt cx="288" cy="489"/>
            </a:xfrm>
          </p:grpSpPr>
          <p:sp>
            <p:nvSpPr>
              <p:cNvPr id="47" name="Text Box 27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 smtClean="0"/>
                  <a:t>2</a:t>
                </a:r>
                <a:endParaRPr lang="en-US" sz="2000" dirty="0"/>
              </a:p>
            </p:txBody>
          </p:sp>
          <p:sp>
            <p:nvSpPr>
              <p:cNvPr id="48" name="Line 28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4" name="Group 29"/>
            <p:cNvGrpSpPr>
              <a:grpSpLocks/>
            </p:cNvGrpSpPr>
            <p:nvPr/>
          </p:nvGrpSpPr>
          <p:grpSpPr bwMode="auto">
            <a:xfrm>
              <a:off x="2402" y="3179"/>
              <a:ext cx="288" cy="489"/>
              <a:chOff x="2457" y="2754"/>
              <a:chExt cx="288" cy="489"/>
            </a:xfrm>
          </p:grpSpPr>
          <p:sp>
            <p:nvSpPr>
              <p:cNvPr id="45" name="Text Box 30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 smtClean="0"/>
                  <a:t>1</a:t>
                </a:r>
                <a:endParaRPr lang="en-US" sz="2000" dirty="0"/>
              </a:p>
            </p:txBody>
          </p:sp>
          <p:sp>
            <p:nvSpPr>
              <p:cNvPr id="46" name="Line 31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391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667" y="228600"/>
            <a:ext cx="9144000" cy="457200"/>
          </a:xfrm>
        </p:spPr>
        <p:txBody>
          <a:bodyPr>
            <a:normAutofit/>
          </a:bodyPr>
          <a:lstStyle/>
          <a:p>
            <a:pPr algn="l"/>
            <a:r>
              <a:rPr lang="en-US" altLang="en-US" sz="2400" dirty="0" smtClean="0">
                <a:solidFill>
                  <a:srgbClr val="FF0000"/>
                </a:solidFill>
                <a:latin typeface="Times New Roman" pitchFamily="18" charset="0"/>
              </a:rPr>
              <a:t>Left-</a:t>
            </a:r>
            <a:r>
              <a:rPr lang="en-US" altLang="en-US" sz="2400" dirty="0" smtClean="0">
                <a:solidFill>
                  <a:srgbClr val="FF0000"/>
                </a:solidFill>
              </a:rPr>
              <a:t>tailed Test</a:t>
            </a:r>
            <a:endParaRPr lang="en-US" altLang="en-US" sz="2400" dirty="0">
              <a:solidFill>
                <a:srgbClr val="FF0000"/>
              </a:solidFill>
            </a:endParaRPr>
          </a:p>
        </p:txBody>
      </p:sp>
      <p:sp>
        <p:nvSpPr>
          <p:cNvPr id="1208323" name="Text Box 3"/>
          <p:cNvSpPr txBox="1">
            <a:spLocks noChangeArrowheads="1"/>
          </p:cNvSpPr>
          <p:nvPr/>
        </p:nvSpPr>
        <p:spPr bwMode="auto">
          <a:xfrm>
            <a:off x="2162967" y="228600"/>
            <a:ext cx="693928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04813" indent="-404813"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519113"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altLang="en-US" sz="1800" dirty="0" smtClean="0">
                <a:latin typeface="+mj-lt"/>
              </a:rPr>
              <a:t>If the alternative hypothesis contains the less-than inequality symbol (</a:t>
            </a:r>
            <a:r>
              <a:rPr lang="en-US" altLang="en-US" sz="1800" dirty="0" smtClean="0">
                <a:latin typeface="+mj-lt"/>
                <a:sym typeface="Symbol" pitchFamily="18" charset="2"/>
              </a:rPr>
              <a:t>&lt;), </a:t>
            </a:r>
          </a:p>
          <a:p>
            <a:pPr algn="just">
              <a:spcBef>
                <a:spcPct val="20000"/>
              </a:spcBef>
            </a:pPr>
            <a:r>
              <a:rPr lang="en-US" altLang="en-US" sz="1800" dirty="0" smtClean="0">
                <a:latin typeface="+mj-lt"/>
                <a:sym typeface="Symbol" pitchFamily="18" charset="2"/>
              </a:rPr>
              <a:t>the hypothesis test is a </a:t>
            </a:r>
            <a:r>
              <a:rPr lang="en-US" altLang="en-US" sz="1800" b="1" dirty="0" smtClean="0">
                <a:solidFill>
                  <a:srgbClr val="FF0000"/>
                </a:solidFill>
                <a:latin typeface="+mj-lt"/>
                <a:sym typeface="Symbol" pitchFamily="18" charset="2"/>
              </a:rPr>
              <a:t>left</a:t>
            </a:r>
            <a:r>
              <a:rPr lang="en-US" altLang="en-US" sz="1800" b="1" dirty="0" smtClean="0">
                <a:solidFill>
                  <a:srgbClr val="FF0000"/>
                </a:solidFill>
                <a:latin typeface="+mj-lt"/>
              </a:rPr>
              <a:t>-tailed test</a:t>
            </a:r>
            <a:r>
              <a:rPr lang="en-US" altLang="en-US" sz="1800" dirty="0" smtClean="0">
                <a:latin typeface="+mj-lt"/>
              </a:rPr>
              <a:t>. H0</a:t>
            </a:r>
            <a:r>
              <a:rPr lang="en-US" sz="1800" dirty="0" smtClean="0">
                <a:latin typeface="+mj-lt"/>
              </a:rPr>
              <a:t>: </a:t>
            </a:r>
            <a:r>
              <a:rPr lang="el-GR" sz="1800" i="1" dirty="0" smtClean="0">
                <a:latin typeface="+mj-lt"/>
              </a:rPr>
              <a:t>μ</a:t>
            </a:r>
            <a:r>
              <a:rPr lang="en-US" sz="1800" i="1" dirty="0" smtClean="0">
                <a:latin typeface="+mj-lt"/>
              </a:rPr>
              <a:t> </a:t>
            </a:r>
            <a:r>
              <a:rPr lang="en-US" sz="1800" dirty="0" smtClean="0">
                <a:latin typeface="+mj-lt"/>
                <a:sym typeface="Symbol" pitchFamily="18" charset="2"/>
              </a:rPr>
              <a:t>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i="1" dirty="0" smtClean="0">
                <a:latin typeface="+mj-lt"/>
              </a:rPr>
              <a:t>k,  </a:t>
            </a:r>
            <a:r>
              <a:rPr lang="en-US" sz="1800" dirty="0" smtClean="0">
                <a:latin typeface="+mj-lt"/>
                <a:sym typeface="Symbol" pitchFamily="18" charset="2"/>
              </a:rPr>
              <a:t>H1</a:t>
            </a:r>
            <a:r>
              <a:rPr lang="en-US" sz="1800" dirty="0" smtClean="0">
                <a:latin typeface="+mj-lt"/>
              </a:rPr>
              <a:t>: </a:t>
            </a:r>
            <a:r>
              <a:rPr lang="el-GR" sz="1800" i="1" dirty="0" smtClean="0">
                <a:latin typeface="+mj-lt"/>
              </a:rPr>
              <a:t>μ</a:t>
            </a:r>
            <a:r>
              <a:rPr lang="en-US" sz="1800" i="1" dirty="0" smtClean="0">
                <a:latin typeface="+mj-lt"/>
              </a:rPr>
              <a:t> </a:t>
            </a:r>
            <a:r>
              <a:rPr lang="en-US" sz="1800" dirty="0" smtClean="0">
                <a:latin typeface="+mj-lt"/>
              </a:rPr>
              <a:t>&lt;</a:t>
            </a:r>
            <a:r>
              <a:rPr lang="en-US" sz="1800" i="1" dirty="0" smtClean="0">
                <a:latin typeface="+mj-lt"/>
                <a:sym typeface="Symbol" pitchFamily="18" charset="2"/>
              </a:rPr>
              <a:t> k</a:t>
            </a:r>
          </a:p>
          <a:p>
            <a:pPr algn="just" eaLnBrk="0" hangingPunct="0">
              <a:buFont typeface="Arial" pitchFamily="34" charset="0"/>
              <a:buChar char="•"/>
            </a:pPr>
            <a:endParaRPr lang="en-US" altLang="en-US" sz="1800" dirty="0">
              <a:latin typeface="+mj-lt"/>
              <a:sym typeface="MS Reference 2" pitchFamily="2" charset="2"/>
            </a:endParaRPr>
          </a:p>
        </p:txBody>
      </p:sp>
      <p:grpSp>
        <p:nvGrpSpPr>
          <p:cNvPr id="1208400" name="Group 80"/>
          <p:cNvGrpSpPr>
            <a:grpSpLocks/>
          </p:cNvGrpSpPr>
          <p:nvPr/>
        </p:nvGrpSpPr>
        <p:grpSpPr bwMode="auto">
          <a:xfrm>
            <a:off x="1788000" y="1045277"/>
            <a:ext cx="7129465" cy="2228852"/>
            <a:chOff x="789" y="2150"/>
            <a:chExt cx="4491" cy="1404"/>
          </a:xfrm>
        </p:grpSpPr>
        <p:pic>
          <p:nvPicPr>
            <p:cNvPr id="120832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" y="2150"/>
              <a:ext cx="3132" cy="1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8326" name="Line 6"/>
            <p:cNvSpPr>
              <a:spLocks noChangeShapeType="1"/>
            </p:cNvSpPr>
            <p:nvPr/>
          </p:nvSpPr>
          <p:spPr bwMode="auto">
            <a:xfrm>
              <a:off x="789" y="3257"/>
              <a:ext cx="4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08327" name="Freeform 7"/>
            <p:cNvSpPr>
              <a:spLocks/>
            </p:cNvSpPr>
            <p:nvPr/>
          </p:nvSpPr>
          <p:spPr bwMode="auto">
            <a:xfrm>
              <a:off x="2251" y="2158"/>
              <a:ext cx="2129" cy="1096"/>
            </a:xfrm>
            <a:custGeom>
              <a:avLst/>
              <a:gdLst>
                <a:gd name="T0" fmla="*/ 2 w 2129"/>
                <a:gd name="T1" fmla="*/ 1096 h 1096"/>
                <a:gd name="T2" fmla="*/ 0 w 2129"/>
                <a:gd name="T3" fmla="*/ 826 h 1096"/>
                <a:gd name="T4" fmla="*/ 84 w 2129"/>
                <a:gd name="T5" fmla="*/ 746 h 1096"/>
                <a:gd name="T6" fmla="*/ 134 w 2129"/>
                <a:gd name="T7" fmla="*/ 684 h 1096"/>
                <a:gd name="T8" fmla="*/ 204 w 2129"/>
                <a:gd name="T9" fmla="*/ 588 h 1096"/>
                <a:gd name="T10" fmla="*/ 216 w 2129"/>
                <a:gd name="T11" fmla="*/ 564 h 1096"/>
                <a:gd name="T12" fmla="*/ 266 w 2129"/>
                <a:gd name="T13" fmla="*/ 476 h 1096"/>
                <a:gd name="T14" fmla="*/ 314 w 2129"/>
                <a:gd name="T15" fmla="*/ 380 h 1096"/>
                <a:gd name="T16" fmla="*/ 362 w 2129"/>
                <a:gd name="T17" fmla="*/ 284 h 1096"/>
                <a:gd name="T18" fmla="*/ 422 w 2129"/>
                <a:gd name="T19" fmla="*/ 176 h 1096"/>
                <a:gd name="T20" fmla="*/ 470 w 2129"/>
                <a:gd name="T21" fmla="*/ 104 h 1096"/>
                <a:gd name="T22" fmla="*/ 514 w 2129"/>
                <a:gd name="T23" fmla="*/ 56 h 1096"/>
                <a:gd name="T24" fmla="*/ 566 w 2129"/>
                <a:gd name="T25" fmla="*/ 28 h 1096"/>
                <a:gd name="T26" fmla="*/ 650 w 2129"/>
                <a:gd name="T27" fmla="*/ 0 h 1096"/>
                <a:gd name="T28" fmla="*/ 710 w 2129"/>
                <a:gd name="T29" fmla="*/ 0 h 1096"/>
                <a:gd name="T30" fmla="*/ 790 w 2129"/>
                <a:gd name="T31" fmla="*/ 28 h 1096"/>
                <a:gd name="T32" fmla="*/ 878 w 2129"/>
                <a:gd name="T33" fmla="*/ 92 h 1096"/>
                <a:gd name="T34" fmla="*/ 950 w 2129"/>
                <a:gd name="T35" fmla="*/ 180 h 1096"/>
                <a:gd name="T36" fmla="*/ 1046 w 2129"/>
                <a:gd name="T37" fmla="*/ 368 h 1096"/>
                <a:gd name="T38" fmla="*/ 1094 w 2129"/>
                <a:gd name="T39" fmla="*/ 472 h 1096"/>
                <a:gd name="T40" fmla="*/ 1138 w 2129"/>
                <a:gd name="T41" fmla="*/ 564 h 1096"/>
                <a:gd name="T42" fmla="*/ 1178 w 2129"/>
                <a:gd name="T43" fmla="*/ 620 h 1096"/>
                <a:gd name="T44" fmla="*/ 1250 w 2129"/>
                <a:gd name="T45" fmla="*/ 720 h 1096"/>
                <a:gd name="T46" fmla="*/ 1302 w 2129"/>
                <a:gd name="T47" fmla="*/ 778 h 1096"/>
                <a:gd name="T48" fmla="*/ 1362 w 2129"/>
                <a:gd name="T49" fmla="*/ 832 h 1096"/>
                <a:gd name="T50" fmla="*/ 1560 w 2129"/>
                <a:gd name="T51" fmla="*/ 962 h 1096"/>
                <a:gd name="T52" fmla="*/ 1738 w 2129"/>
                <a:gd name="T53" fmla="*/ 1029 h 1096"/>
                <a:gd name="T54" fmla="*/ 1944 w 2129"/>
                <a:gd name="T55" fmla="*/ 1072 h 1096"/>
                <a:gd name="T56" fmla="*/ 2129 w 2129"/>
                <a:gd name="T57" fmla="*/ 1094 h 1096"/>
                <a:gd name="T58" fmla="*/ 2 w 2129"/>
                <a:gd name="T59" fmla="*/ 1096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129" h="1096">
                  <a:moveTo>
                    <a:pt x="2" y="1096"/>
                  </a:moveTo>
                  <a:lnTo>
                    <a:pt x="0" y="826"/>
                  </a:lnTo>
                  <a:lnTo>
                    <a:pt x="84" y="746"/>
                  </a:lnTo>
                  <a:lnTo>
                    <a:pt x="134" y="684"/>
                  </a:lnTo>
                  <a:lnTo>
                    <a:pt x="204" y="588"/>
                  </a:lnTo>
                  <a:lnTo>
                    <a:pt x="216" y="564"/>
                  </a:lnTo>
                  <a:lnTo>
                    <a:pt x="266" y="476"/>
                  </a:lnTo>
                  <a:lnTo>
                    <a:pt x="314" y="380"/>
                  </a:lnTo>
                  <a:lnTo>
                    <a:pt x="362" y="284"/>
                  </a:lnTo>
                  <a:lnTo>
                    <a:pt x="422" y="176"/>
                  </a:lnTo>
                  <a:lnTo>
                    <a:pt x="470" y="104"/>
                  </a:lnTo>
                  <a:lnTo>
                    <a:pt x="514" y="56"/>
                  </a:lnTo>
                  <a:lnTo>
                    <a:pt x="566" y="28"/>
                  </a:lnTo>
                  <a:lnTo>
                    <a:pt x="650" y="0"/>
                  </a:lnTo>
                  <a:lnTo>
                    <a:pt x="710" y="0"/>
                  </a:lnTo>
                  <a:lnTo>
                    <a:pt x="790" y="28"/>
                  </a:lnTo>
                  <a:lnTo>
                    <a:pt x="878" y="92"/>
                  </a:lnTo>
                  <a:lnTo>
                    <a:pt x="950" y="180"/>
                  </a:lnTo>
                  <a:lnTo>
                    <a:pt x="1046" y="368"/>
                  </a:lnTo>
                  <a:lnTo>
                    <a:pt x="1094" y="472"/>
                  </a:lnTo>
                  <a:lnTo>
                    <a:pt x="1138" y="564"/>
                  </a:lnTo>
                  <a:lnTo>
                    <a:pt x="1178" y="620"/>
                  </a:lnTo>
                  <a:lnTo>
                    <a:pt x="1250" y="720"/>
                  </a:lnTo>
                  <a:lnTo>
                    <a:pt x="1302" y="778"/>
                  </a:lnTo>
                  <a:lnTo>
                    <a:pt x="1362" y="832"/>
                  </a:lnTo>
                  <a:lnTo>
                    <a:pt x="1560" y="962"/>
                  </a:lnTo>
                  <a:lnTo>
                    <a:pt x="1738" y="1029"/>
                  </a:lnTo>
                  <a:lnTo>
                    <a:pt x="1944" y="1072"/>
                  </a:lnTo>
                  <a:lnTo>
                    <a:pt x="2129" y="1094"/>
                  </a:lnTo>
                  <a:lnTo>
                    <a:pt x="2" y="1096"/>
                  </a:lnTo>
                  <a:close/>
                </a:path>
              </a:pathLst>
            </a:custGeom>
            <a:solidFill>
              <a:srgbClr val="FFC000">
                <a:alpha val="60001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208328" name="Rectangle 8"/>
            <p:cNvSpPr>
              <a:spLocks noChangeArrowheads="1"/>
            </p:cNvSpPr>
            <p:nvPr/>
          </p:nvSpPr>
          <p:spPr bwMode="auto">
            <a:xfrm>
              <a:off x="5095" y="3121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i="1"/>
                <a:t>z</a:t>
              </a:r>
            </a:p>
          </p:txBody>
        </p:sp>
        <p:sp>
          <p:nvSpPr>
            <p:cNvPr id="1208329" name="Freeform 9"/>
            <p:cNvSpPr>
              <a:spLocks/>
            </p:cNvSpPr>
            <p:nvPr/>
          </p:nvSpPr>
          <p:spPr bwMode="auto">
            <a:xfrm>
              <a:off x="1413" y="2995"/>
              <a:ext cx="845" cy="259"/>
            </a:xfrm>
            <a:custGeom>
              <a:avLst/>
              <a:gdLst>
                <a:gd name="T0" fmla="*/ 0 w 845"/>
                <a:gd name="T1" fmla="*/ 259 h 259"/>
                <a:gd name="T2" fmla="*/ 835 w 845"/>
                <a:gd name="T3" fmla="*/ 256 h 259"/>
                <a:gd name="T4" fmla="*/ 835 w 845"/>
                <a:gd name="T5" fmla="*/ 0 h 259"/>
                <a:gd name="T6" fmla="*/ 776 w 845"/>
                <a:gd name="T7" fmla="*/ 37 h 259"/>
                <a:gd name="T8" fmla="*/ 717 w 845"/>
                <a:gd name="T9" fmla="*/ 75 h 259"/>
                <a:gd name="T10" fmla="*/ 653 w 845"/>
                <a:gd name="T11" fmla="*/ 115 h 259"/>
                <a:gd name="T12" fmla="*/ 570 w 845"/>
                <a:gd name="T13" fmla="*/ 150 h 259"/>
                <a:gd name="T14" fmla="*/ 384 w 845"/>
                <a:gd name="T15" fmla="*/ 211 h 259"/>
                <a:gd name="T16" fmla="*/ 138 w 845"/>
                <a:gd name="T17" fmla="*/ 246 h 259"/>
                <a:gd name="T18" fmla="*/ 0 w 845"/>
                <a:gd name="T19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5" h="259">
                  <a:moveTo>
                    <a:pt x="0" y="259"/>
                  </a:moveTo>
                  <a:lnTo>
                    <a:pt x="835" y="256"/>
                  </a:lnTo>
                  <a:cubicBezTo>
                    <a:pt x="835" y="256"/>
                    <a:pt x="845" y="36"/>
                    <a:pt x="835" y="0"/>
                  </a:cubicBezTo>
                  <a:cubicBezTo>
                    <a:pt x="795" y="21"/>
                    <a:pt x="806" y="18"/>
                    <a:pt x="776" y="37"/>
                  </a:cubicBezTo>
                  <a:cubicBezTo>
                    <a:pt x="756" y="50"/>
                    <a:pt x="738" y="62"/>
                    <a:pt x="717" y="75"/>
                  </a:cubicBezTo>
                  <a:cubicBezTo>
                    <a:pt x="696" y="88"/>
                    <a:pt x="677" y="103"/>
                    <a:pt x="653" y="115"/>
                  </a:cubicBezTo>
                  <a:cubicBezTo>
                    <a:pt x="629" y="127"/>
                    <a:pt x="615" y="134"/>
                    <a:pt x="570" y="150"/>
                  </a:cubicBezTo>
                  <a:lnTo>
                    <a:pt x="384" y="211"/>
                  </a:lnTo>
                  <a:lnTo>
                    <a:pt x="138" y="246"/>
                  </a:lnTo>
                  <a:lnTo>
                    <a:pt x="0" y="259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grpSp>
          <p:nvGrpSpPr>
            <p:cNvPr id="1208399" name="Group 79"/>
            <p:cNvGrpSpPr>
              <a:grpSpLocks/>
            </p:cNvGrpSpPr>
            <p:nvPr/>
          </p:nvGrpSpPr>
          <p:grpSpPr bwMode="auto">
            <a:xfrm>
              <a:off x="2766" y="3179"/>
              <a:ext cx="288" cy="375"/>
              <a:chOff x="2766" y="3179"/>
              <a:chExt cx="288" cy="375"/>
            </a:xfrm>
          </p:grpSpPr>
          <p:sp>
            <p:nvSpPr>
              <p:cNvPr id="1208332" name="Text Box 12"/>
              <p:cNvSpPr txBox="1">
                <a:spLocks noChangeArrowheads="1"/>
              </p:cNvSpPr>
              <p:nvPr/>
            </p:nvSpPr>
            <p:spPr bwMode="auto">
              <a:xfrm>
                <a:off x="2766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0</a:t>
                </a:r>
              </a:p>
            </p:txBody>
          </p:sp>
          <p:sp>
            <p:nvSpPr>
              <p:cNvPr id="1208333" name="Line 13"/>
              <p:cNvSpPr>
                <a:spLocks noChangeShapeType="1"/>
              </p:cNvSpPr>
              <p:nvPr/>
            </p:nvSpPr>
            <p:spPr bwMode="auto">
              <a:xfrm>
                <a:off x="2901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208398" name="Group 78"/>
            <p:cNvGrpSpPr>
              <a:grpSpLocks/>
            </p:cNvGrpSpPr>
            <p:nvPr/>
          </p:nvGrpSpPr>
          <p:grpSpPr bwMode="auto">
            <a:xfrm>
              <a:off x="3179" y="3179"/>
              <a:ext cx="288" cy="375"/>
              <a:chOff x="3179" y="3179"/>
              <a:chExt cx="288" cy="375"/>
            </a:xfrm>
          </p:grpSpPr>
          <p:sp>
            <p:nvSpPr>
              <p:cNvPr id="1208335" name="Text Box 15"/>
              <p:cNvSpPr txBox="1">
                <a:spLocks noChangeArrowheads="1"/>
              </p:cNvSpPr>
              <p:nvPr/>
            </p:nvSpPr>
            <p:spPr bwMode="auto">
              <a:xfrm>
                <a:off x="3179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1</a:t>
                </a:r>
              </a:p>
            </p:txBody>
          </p:sp>
          <p:sp>
            <p:nvSpPr>
              <p:cNvPr id="1208336" name="Line 16"/>
              <p:cNvSpPr>
                <a:spLocks noChangeShapeType="1"/>
              </p:cNvSpPr>
              <p:nvPr/>
            </p:nvSpPr>
            <p:spPr bwMode="auto">
              <a:xfrm>
                <a:off x="3314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208397" name="Group 77"/>
            <p:cNvGrpSpPr>
              <a:grpSpLocks/>
            </p:cNvGrpSpPr>
            <p:nvPr/>
          </p:nvGrpSpPr>
          <p:grpSpPr bwMode="auto">
            <a:xfrm>
              <a:off x="3592" y="3179"/>
              <a:ext cx="288" cy="375"/>
              <a:chOff x="3592" y="3179"/>
              <a:chExt cx="288" cy="375"/>
            </a:xfrm>
          </p:grpSpPr>
          <p:sp>
            <p:nvSpPr>
              <p:cNvPr id="1208338" name="Text Box 18"/>
              <p:cNvSpPr txBox="1">
                <a:spLocks noChangeArrowheads="1"/>
              </p:cNvSpPr>
              <p:nvPr/>
            </p:nvSpPr>
            <p:spPr bwMode="auto">
              <a:xfrm>
                <a:off x="3592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2</a:t>
                </a:r>
              </a:p>
            </p:txBody>
          </p:sp>
          <p:sp>
            <p:nvSpPr>
              <p:cNvPr id="1208339" name="Line 19"/>
              <p:cNvSpPr>
                <a:spLocks noChangeShapeType="1"/>
              </p:cNvSpPr>
              <p:nvPr/>
            </p:nvSpPr>
            <p:spPr bwMode="auto">
              <a:xfrm>
                <a:off x="3727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208396" name="Group 76"/>
            <p:cNvGrpSpPr>
              <a:grpSpLocks/>
            </p:cNvGrpSpPr>
            <p:nvPr/>
          </p:nvGrpSpPr>
          <p:grpSpPr bwMode="auto">
            <a:xfrm>
              <a:off x="4005" y="3179"/>
              <a:ext cx="288" cy="375"/>
              <a:chOff x="4005" y="3179"/>
              <a:chExt cx="288" cy="375"/>
            </a:xfrm>
          </p:grpSpPr>
          <p:sp>
            <p:nvSpPr>
              <p:cNvPr id="1208341" name="Text Box 21"/>
              <p:cNvSpPr txBox="1">
                <a:spLocks noChangeArrowheads="1"/>
              </p:cNvSpPr>
              <p:nvPr/>
            </p:nvSpPr>
            <p:spPr bwMode="auto">
              <a:xfrm>
                <a:off x="4005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3</a:t>
                </a:r>
              </a:p>
            </p:txBody>
          </p:sp>
          <p:sp>
            <p:nvSpPr>
              <p:cNvPr id="1208342" name="Line 22"/>
              <p:cNvSpPr>
                <a:spLocks noChangeShapeType="1"/>
              </p:cNvSpPr>
              <p:nvPr/>
            </p:nvSpPr>
            <p:spPr bwMode="auto">
              <a:xfrm>
                <a:off x="4140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208395" name="Group 75"/>
            <p:cNvGrpSpPr>
              <a:grpSpLocks/>
            </p:cNvGrpSpPr>
            <p:nvPr/>
          </p:nvGrpSpPr>
          <p:grpSpPr bwMode="auto">
            <a:xfrm>
              <a:off x="1576" y="3179"/>
              <a:ext cx="288" cy="375"/>
              <a:chOff x="1576" y="3179"/>
              <a:chExt cx="288" cy="375"/>
            </a:xfrm>
          </p:grpSpPr>
          <p:sp>
            <p:nvSpPr>
              <p:cNvPr id="1208344" name="Text Box 24"/>
              <p:cNvSpPr txBox="1">
                <a:spLocks noChangeArrowheads="1"/>
              </p:cNvSpPr>
              <p:nvPr/>
            </p:nvSpPr>
            <p:spPr bwMode="auto">
              <a:xfrm>
                <a:off x="1576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-3</a:t>
                </a:r>
              </a:p>
            </p:txBody>
          </p:sp>
          <p:sp>
            <p:nvSpPr>
              <p:cNvPr id="1208345" name="Line 25"/>
              <p:cNvSpPr>
                <a:spLocks noChangeShapeType="1"/>
              </p:cNvSpPr>
              <p:nvPr/>
            </p:nvSpPr>
            <p:spPr bwMode="auto">
              <a:xfrm>
                <a:off x="1711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208394" name="Group 74"/>
            <p:cNvGrpSpPr>
              <a:grpSpLocks/>
            </p:cNvGrpSpPr>
            <p:nvPr/>
          </p:nvGrpSpPr>
          <p:grpSpPr bwMode="auto">
            <a:xfrm>
              <a:off x="1989" y="3179"/>
              <a:ext cx="288" cy="375"/>
              <a:chOff x="1989" y="3179"/>
              <a:chExt cx="288" cy="375"/>
            </a:xfrm>
          </p:grpSpPr>
          <p:sp>
            <p:nvSpPr>
              <p:cNvPr id="1208347" name="Text Box 27"/>
              <p:cNvSpPr txBox="1">
                <a:spLocks noChangeArrowheads="1"/>
              </p:cNvSpPr>
              <p:nvPr/>
            </p:nvSpPr>
            <p:spPr bwMode="auto">
              <a:xfrm>
                <a:off x="1989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-2</a:t>
                </a:r>
              </a:p>
            </p:txBody>
          </p:sp>
          <p:sp>
            <p:nvSpPr>
              <p:cNvPr id="1208348" name="Line 28"/>
              <p:cNvSpPr>
                <a:spLocks noChangeShapeType="1"/>
              </p:cNvSpPr>
              <p:nvPr/>
            </p:nvSpPr>
            <p:spPr bwMode="auto">
              <a:xfrm>
                <a:off x="2124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208393" name="Group 73"/>
            <p:cNvGrpSpPr>
              <a:grpSpLocks/>
            </p:cNvGrpSpPr>
            <p:nvPr/>
          </p:nvGrpSpPr>
          <p:grpSpPr bwMode="auto">
            <a:xfrm>
              <a:off x="2402" y="3179"/>
              <a:ext cx="288" cy="375"/>
              <a:chOff x="2402" y="3179"/>
              <a:chExt cx="288" cy="375"/>
            </a:xfrm>
          </p:grpSpPr>
          <p:sp>
            <p:nvSpPr>
              <p:cNvPr id="1208350" name="Text Box 30"/>
              <p:cNvSpPr txBox="1">
                <a:spLocks noChangeArrowheads="1"/>
              </p:cNvSpPr>
              <p:nvPr/>
            </p:nvSpPr>
            <p:spPr bwMode="auto">
              <a:xfrm>
                <a:off x="2402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-1</a:t>
                </a:r>
              </a:p>
            </p:txBody>
          </p:sp>
          <p:sp>
            <p:nvSpPr>
              <p:cNvPr id="1208351" name="Line 31"/>
              <p:cNvSpPr>
                <a:spLocks noChangeShapeType="1"/>
              </p:cNvSpPr>
              <p:nvPr/>
            </p:nvSpPr>
            <p:spPr bwMode="auto">
              <a:xfrm>
                <a:off x="2537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</p:grpSp>
      <p:sp>
        <p:nvSpPr>
          <p:cNvPr id="1208353" name="Text Box 33"/>
          <p:cNvSpPr txBox="1">
            <a:spLocks noChangeArrowheads="1"/>
          </p:cNvSpPr>
          <p:nvPr/>
        </p:nvSpPr>
        <p:spPr bwMode="auto">
          <a:xfrm>
            <a:off x="6484936" y="1081351"/>
            <a:ext cx="1219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dirty="0"/>
              <a:t>Test statistic</a:t>
            </a:r>
          </a:p>
        </p:txBody>
      </p:sp>
      <p:grpSp>
        <p:nvGrpSpPr>
          <p:cNvPr id="1208359" name="Group 39"/>
          <p:cNvGrpSpPr>
            <a:grpSpLocks/>
          </p:cNvGrpSpPr>
          <p:nvPr/>
        </p:nvGrpSpPr>
        <p:grpSpPr bwMode="auto">
          <a:xfrm>
            <a:off x="1495900" y="1578626"/>
            <a:ext cx="1752600" cy="911225"/>
            <a:chOff x="1296" y="1824"/>
            <a:chExt cx="1104" cy="768"/>
          </a:xfrm>
        </p:grpSpPr>
        <p:sp>
          <p:nvSpPr>
            <p:cNvPr id="1208360" name="AutoShape 40"/>
            <p:cNvSpPr>
              <a:spLocks noChangeArrowheads="1"/>
            </p:cNvSpPr>
            <p:nvPr/>
          </p:nvSpPr>
          <p:spPr bwMode="auto">
            <a:xfrm>
              <a:off x="1296" y="1824"/>
              <a:ext cx="1104" cy="768"/>
            </a:xfrm>
            <a:prstGeom prst="wedgeRectCallout">
              <a:avLst>
                <a:gd name="adj1" fmla="val 61412"/>
                <a:gd name="adj2" fmla="val 73829"/>
              </a:avLst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1208361" name="Text Box 41"/>
            <p:cNvSpPr txBox="1">
              <a:spLocks noChangeArrowheads="1"/>
            </p:cNvSpPr>
            <p:nvPr/>
          </p:nvSpPr>
          <p:spPr bwMode="auto">
            <a:xfrm>
              <a:off x="1296" y="1872"/>
              <a:ext cx="1104" cy="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i="1" dirty="0"/>
                <a:t>P</a:t>
              </a:r>
              <a:r>
                <a:rPr lang="en-US" sz="1600" dirty="0"/>
                <a:t>  is the area to the left of the test statistic.</a:t>
              </a:r>
              <a:endParaRPr lang="en-US" sz="1600" i="1" dirty="0"/>
            </a:p>
          </p:txBody>
        </p:sp>
      </p:grpSp>
      <p:sp>
        <p:nvSpPr>
          <p:cNvPr id="38" name="Rectangle 2"/>
          <p:cNvSpPr txBox="1">
            <a:spLocks noChangeArrowheads="1"/>
          </p:cNvSpPr>
          <p:nvPr/>
        </p:nvSpPr>
        <p:spPr>
          <a:xfrm>
            <a:off x="0" y="3368040"/>
            <a:ext cx="9144000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dirty="0" smtClean="0">
                <a:solidFill>
                  <a:srgbClr val="FF0000"/>
                </a:solidFill>
              </a:rPr>
              <a:t>Right-tailed Test</a:t>
            </a:r>
            <a:endParaRPr lang="en-US" altLang="en-US" sz="2400" dirty="0">
              <a:solidFill>
                <a:srgbClr val="FF0000"/>
              </a:solidFill>
            </a:endParaRPr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2162967" y="3505200"/>
            <a:ext cx="8643937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04813" indent="-404813"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519113"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altLang="en-US" sz="1800" dirty="0" smtClean="0">
                <a:latin typeface="+mj-lt"/>
              </a:rPr>
              <a:t>If </a:t>
            </a:r>
            <a:r>
              <a:rPr lang="en-US" altLang="en-US" sz="1800" dirty="0">
                <a:latin typeface="+mj-lt"/>
              </a:rPr>
              <a:t>the alternative hypothesis contains the </a:t>
            </a:r>
            <a:r>
              <a:rPr lang="en-US" altLang="en-US" sz="1800" dirty="0" smtClean="0">
                <a:latin typeface="+mj-lt"/>
              </a:rPr>
              <a:t>greater-than  </a:t>
            </a:r>
            <a:r>
              <a:rPr lang="en-US" altLang="en-US" sz="1800" dirty="0">
                <a:latin typeface="+mj-lt"/>
              </a:rPr>
              <a:t>symbol </a:t>
            </a:r>
            <a:r>
              <a:rPr lang="en-US" altLang="en-US" sz="1800" dirty="0" smtClean="0">
                <a:latin typeface="+mj-lt"/>
              </a:rPr>
              <a:t>(&gt;</a:t>
            </a:r>
            <a:r>
              <a:rPr lang="en-US" altLang="en-US" sz="1800" dirty="0" smtClean="0">
                <a:latin typeface="+mj-lt"/>
                <a:sym typeface="Symbol" pitchFamily="18" charset="2"/>
              </a:rPr>
              <a:t>),</a:t>
            </a:r>
          </a:p>
          <a:p>
            <a:pPr algn="just">
              <a:spcBef>
                <a:spcPct val="20000"/>
              </a:spcBef>
            </a:pPr>
            <a:r>
              <a:rPr lang="en-US" altLang="en-US" sz="1800" dirty="0" smtClean="0">
                <a:latin typeface="+mj-lt"/>
                <a:sym typeface="Symbol" pitchFamily="18" charset="2"/>
              </a:rPr>
              <a:t> the hypothesis test </a:t>
            </a:r>
            <a:r>
              <a:rPr lang="en-US" altLang="en-US" sz="1800" dirty="0">
                <a:latin typeface="+mj-lt"/>
                <a:sym typeface="Symbol" pitchFamily="18" charset="2"/>
              </a:rPr>
              <a:t>is a </a:t>
            </a:r>
            <a:r>
              <a:rPr lang="en-US" altLang="en-US" sz="1800" b="1" dirty="0" smtClean="0">
                <a:solidFill>
                  <a:srgbClr val="FF0000"/>
                </a:solidFill>
                <a:latin typeface="+mj-lt"/>
                <a:sym typeface="Symbol" pitchFamily="18" charset="2"/>
              </a:rPr>
              <a:t>right</a:t>
            </a:r>
            <a:r>
              <a:rPr lang="en-US" altLang="en-US" sz="1800" b="1" dirty="0" smtClean="0">
                <a:solidFill>
                  <a:srgbClr val="FF0000"/>
                </a:solidFill>
                <a:latin typeface="+mj-lt"/>
              </a:rPr>
              <a:t>-tailed </a:t>
            </a:r>
            <a:r>
              <a:rPr lang="en-US" altLang="en-US" sz="1800" b="1" dirty="0">
                <a:solidFill>
                  <a:srgbClr val="FF0000"/>
                </a:solidFill>
                <a:latin typeface="+mj-lt"/>
              </a:rPr>
              <a:t>test</a:t>
            </a:r>
            <a:r>
              <a:rPr lang="en-US" altLang="en-US" sz="1800" dirty="0">
                <a:latin typeface="+mj-lt"/>
              </a:rPr>
              <a:t>. </a:t>
            </a:r>
            <a:r>
              <a:rPr lang="en-US" altLang="en-US" sz="1800" dirty="0" smtClean="0">
                <a:latin typeface="+mj-lt"/>
              </a:rPr>
              <a:t>H0</a:t>
            </a:r>
            <a:r>
              <a:rPr lang="en-US" sz="1800" dirty="0" smtClean="0">
                <a:latin typeface="+mj-lt"/>
              </a:rPr>
              <a:t>: </a:t>
            </a:r>
            <a:r>
              <a:rPr lang="el-GR" sz="1800" i="1" dirty="0">
                <a:latin typeface="+mj-lt"/>
              </a:rPr>
              <a:t>μ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dirty="0">
                <a:sym typeface="Symbol" pitchFamily="18" charset="2"/>
              </a:rPr>
              <a:t>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i="1" dirty="0" smtClean="0">
                <a:latin typeface="+mj-lt"/>
              </a:rPr>
              <a:t>k,  </a:t>
            </a:r>
            <a:r>
              <a:rPr lang="en-US" sz="1800" dirty="0" smtClean="0">
                <a:latin typeface="+mj-lt"/>
                <a:sym typeface="Symbol" pitchFamily="18" charset="2"/>
              </a:rPr>
              <a:t>H1</a:t>
            </a:r>
            <a:r>
              <a:rPr lang="en-US" sz="1800" dirty="0" smtClean="0">
                <a:latin typeface="+mj-lt"/>
              </a:rPr>
              <a:t>: </a:t>
            </a:r>
            <a:r>
              <a:rPr lang="el-GR" sz="1800" i="1" dirty="0">
                <a:latin typeface="+mj-lt"/>
              </a:rPr>
              <a:t>μ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i="1" dirty="0" smtClean="0">
                <a:latin typeface="+mj-lt"/>
              </a:rPr>
              <a:t>&gt;</a:t>
            </a:r>
            <a:r>
              <a:rPr lang="en-US" sz="1800" i="1" dirty="0" smtClean="0">
                <a:latin typeface="+mj-lt"/>
                <a:sym typeface="Symbol" pitchFamily="18" charset="2"/>
              </a:rPr>
              <a:t> </a:t>
            </a:r>
            <a:r>
              <a:rPr lang="en-US" sz="1800" i="1" dirty="0">
                <a:latin typeface="+mj-lt"/>
                <a:sym typeface="Symbol" pitchFamily="18" charset="2"/>
              </a:rPr>
              <a:t>k</a:t>
            </a:r>
          </a:p>
          <a:p>
            <a:pPr algn="just" eaLnBrk="0" hangingPunct="0">
              <a:buFont typeface="Arial" pitchFamily="34" charset="0"/>
              <a:buChar char="•"/>
            </a:pPr>
            <a:endParaRPr lang="en-US" altLang="en-US" sz="1800" dirty="0">
              <a:latin typeface="+mj-lt"/>
              <a:sym typeface="MS Reference 2" pitchFamily="2" charset="2"/>
            </a:endParaRPr>
          </a:p>
        </p:txBody>
      </p:sp>
      <p:grpSp>
        <p:nvGrpSpPr>
          <p:cNvPr id="42" name="Group 46"/>
          <p:cNvGrpSpPr>
            <a:grpSpLocks/>
          </p:cNvGrpSpPr>
          <p:nvPr/>
        </p:nvGrpSpPr>
        <p:grpSpPr bwMode="auto">
          <a:xfrm>
            <a:off x="1755298" y="4554151"/>
            <a:ext cx="7129462" cy="2228850"/>
            <a:chOff x="789" y="2150"/>
            <a:chExt cx="4491" cy="1404"/>
          </a:xfrm>
        </p:grpSpPr>
        <p:pic>
          <p:nvPicPr>
            <p:cNvPr id="43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" y="2150"/>
              <a:ext cx="3132" cy="1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Line 6"/>
            <p:cNvSpPr>
              <a:spLocks noChangeShapeType="1"/>
            </p:cNvSpPr>
            <p:nvPr/>
          </p:nvSpPr>
          <p:spPr bwMode="auto">
            <a:xfrm>
              <a:off x="789" y="3257"/>
              <a:ext cx="4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5" name="Freeform 7"/>
            <p:cNvSpPr>
              <a:spLocks/>
            </p:cNvSpPr>
            <p:nvPr/>
          </p:nvSpPr>
          <p:spPr bwMode="auto">
            <a:xfrm>
              <a:off x="1438" y="2158"/>
              <a:ext cx="2175" cy="1094"/>
            </a:xfrm>
            <a:custGeom>
              <a:avLst/>
              <a:gdLst>
                <a:gd name="T0" fmla="*/ 0 w 2175"/>
                <a:gd name="T1" fmla="*/ 1094 h 1094"/>
                <a:gd name="T2" fmla="*/ 168 w 2175"/>
                <a:gd name="T3" fmla="*/ 1077 h 1094"/>
                <a:gd name="T4" fmla="*/ 288 w 2175"/>
                <a:gd name="T5" fmla="*/ 1063 h 1094"/>
                <a:gd name="T6" fmla="*/ 494 w 2175"/>
                <a:gd name="T7" fmla="*/ 1010 h 1094"/>
                <a:gd name="T8" fmla="*/ 595 w 2175"/>
                <a:gd name="T9" fmla="*/ 967 h 1094"/>
                <a:gd name="T10" fmla="*/ 732 w 2175"/>
                <a:gd name="T11" fmla="*/ 895 h 1094"/>
                <a:gd name="T12" fmla="*/ 813 w 2175"/>
                <a:gd name="T13" fmla="*/ 826 h 1094"/>
                <a:gd name="T14" fmla="*/ 897 w 2175"/>
                <a:gd name="T15" fmla="*/ 746 h 1094"/>
                <a:gd name="T16" fmla="*/ 947 w 2175"/>
                <a:gd name="T17" fmla="*/ 684 h 1094"/>
                <a:gd name="T18" fmla="*/ 1017 w 2175"/>
                <a:gd name="T19" fmla="*/ 588 h 1094"/>
                <a:gd name="T20" fmla="*/ 1029 w 2175"/>
                <a:gd name="T21" fmla="*/ 564 h 1094"/>
                <a:gd name="T22" fmla="*/ 1079 w 2175"/>
                <a:gd name="T23" fmla="*/ 476 h 1094"/>
                <a:gd name="T24" fmla="*/ 1127 w 2175"/>
                <a:gd name="T25" fmla="*/ 380 h 1094"/>
                <a:gd name="T26" fmla="*/ 1175 w 2175"/>
                <a:gd name="T27" fmla="*/ 284 h 1094"/>
                <a:gd name="T28" fmla="*/ 1235 w 2175"/>
                <a:gd name="T29" fmla="*/ 176 h 1094"/>
                <a:gd name="T30" fmla="*/ 1283 w 2175"/>
                <a:gd name="T31" fmla="*/ 104 h 1094"/>
                <a:gd name="T32" fmla="*/ 1327 w 2175"/>
                <a:gd name="T33" fmla="*/ 56 h 1094"/>
                <a:gd name="T34" fmla="*/ 1379 w 2175"/>
                <a:gd name="T35" fmla="*/ 28 h 1094"/>
                <a:gd name="T36" fmla="*/ 1463 w 2175"/>
                <a:gd name="T37" fmla="*/ 0 h 1094"/>
                <a:gd name="T38" fmla="*/ 1523 w 2175"/>
                <a:gd name="T39" fmla="*/ 0 h 1094"/>
                <a:gd name="T40" fmla="*/ 1603 w 2175"/>
                <a:gd name="T41" fmla="*/ 28 h 1094"/>
                <a:gd name="T42" fmla="*/ 1691 w 2175"/>
                <a:gd name="T43" fmla="*/ 92 h 1094"/>
                <a:gd name="T44" fmla="*/ 1763 w 2175"/>
                <a:gd name="T45" fmla="*/ 180 h 1094"/>
                <a:gd name="T46" fmla="*/ 1859 w 2175"/>
                <a:gd name="T47" fmla="*/ 368 h 1094"/>
                <a:gd name="T48" fmla="*/ 1907 w 2175"/>
                <a:gd name="T49" fmla="*/ 472 h 1094"/>
                <a:gd name="T50" fmla="*/ 1951 w 2175"/>
                <a:gd name="T51" fmla="*/ 564 h 1094"/>
                <a:gd name="T52" fmla="*/ 1991 w 2175"/>
                <a:gd name="T53" fmla="*/ 620 h 1094"/>
                <a:gd name="T54" fmla="*/ 2063 w 2175"/>
                <a:gd name="T55" fmla="*/ 720 h 1094"/>
                <a:gd name="T56" fmla="*/ 2115 w 2175"/>
                <a:gd name="T57" fmla="*/ 778 h 1094"/>
                <a:gd name="T58" fmla="*/ 2175 w 2175"/>
                <a:gd name="T59" fmla="*/ 832 h 1094"/>
                <a:gd name="T60" fmla="*/ 2169 w 2175"/>
                <a:gd name="T61" fmla="*/ 1094 h 1094"/>
                <a:gd name="T62" fmla="*/ 0 w 2175"/>
                <a:gd name="T63" fmla="*/ 1094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75" h="1094">
                  <a:moveTo>
                    <a:pt x="0" y="1094"/>
                  </a:moveTo>
                  <a:lnTo>
                    <a:pt x="168" y="1077"/>
                  </a:lnTo>
                  <a:lnTo>
                    <a:pt x="288" y="1063"/>
                  </a:lnTo>
                  <a:lnTo>
                    <a:pt x="494" y="1010"/>
                  </a:lnTo>
                  <a:lnTo>
                    <a:pt x="595" y="967"/>
                  </a:lnTo>
                  <a:lnTo>
                    <a:pt x="732" y="895"/>
                  </a:lnTo>
                  <a:lnTo>
                    <a:pt x="813" y="826"/>
                  </a:lnTo>
                  <a:lnTo>
                    <a:pt x="897" y="746"/>
                  </a:lnTo>
                  <a:lnTo>
                    <a:pt x="947" y="684"/>
                  </a:lnTo>
                  <a:lnTo>
                    <a:pt x="1017" y="588"/>
                  </a:lnTo>
                  <a:lnTo>
                    <a:pt x="1029" y="564"/>
                  </a:lnTo>
                  <a:lnTo>
                    <a:pt x="1079" y="476"/>
                  </a:lnTo>
                  <a:lnTo>
                    <a:pt x="1127" y="380"/>
                  </a:lnTo>
                  <a:lnTo>
                    <a:pt x="1175" y="284"/>
                  </a:lnTo>
                  <a:lnTo>
                    <a:pt x="1235" y="176"/>
                  </a:lnTo>
                  <a:lnTo>
                    <a:pt x="1283" y="104"/>
                  </a:lnTo>
                  <a:lnTo>
                    <a:pt x="1327" y="56"/>
                  </a:lnTo>
                  <a:lnTo>
                    <a:pt x="1379" y="28"/>
                  </a:lnTo>
                  <a:lnTo>
                    <a:pt x="1463" y="0"/>
                  </a:lnTo>
                  <a:lnTo>
                    <a:pt x="1523" y="0"/>
                  </a:lnTo>
                  <a:lnTo>
                    <a:pt x="1603" y="28"/>
                  </a:lnTo>
                  <a:lnTo>
                    <a:pt x="1691" y="92"/>
                  </a:lnTo>
                  <a:lnTo>
                    <a:pt x="1763" y="180"/>
                  </a:lnTo>
                  <a:lnTo>
                    <a:pt x="1859" y="368"/>
                  </a:lnTo>
                  <a:lnTo>
                    <a:pt x="1907" y="472"/>
                  </a:lnTo>
                  <a:lnTo>
                    <a:pt x="1951" y="564"/>
                  </a:lnTo>
                  <a:lnTo>
                    <a:pt x="1991" y="620"/>
                  </a:lnTo>
                  <a:lnTo>
                    <a:pt x="2063" y="720"/>
                  </a:lnTo>
                  <a:lnTo>
                    <a:pt x="2115" y="778"/>
                  </a:lnTo>
                  <a:lnTo>
                    <a:pt x="2175" y="832"/>
                  </a:lnTo>
                  <a:lnTo>
                    <a:pt x="2169" y="1094"/>
                  </a:lnTo>
                  <a:lnTo>
                    <a:pt x="0" y="1094"/>
                  </a:lnTo>
                  <a:close/>
                </a:path>
              </a:pathLst>
            </a:custGeom>
            <a:solidFill>
              <a:srgbClr val="FFC000">
                <a:alpha val="60001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46" name="Rectangle 8"/>
            <p:cNvSpPr>
              <a:spLocks noChangeArrowheads="1"/>
            </p:cNvSpPr>
            <p:nvPr/>
          </p:nvSpPr>
          <p:spPr bwMode="auto">
            <a:xfrm>
              <a:off x="5095" y="3121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i="1"/>
                <a:t>z</a:t>
              </a: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3613" y="2995"/>
              <a:ext cx="848" cy="260"/>
            </a:xfrm>
            <a:custGeom>
              <a:avLst/>
              <a:gdLst>
                <a:gd name="T0" fmla="*/ 848 w 848"/>
                <a:gd name="T1" fmla="*/ 260 h 260"/>
                <a:gd name="T2" fmla="*/ 0 w 848"/>
                <a:gd name="T3" fmla="*/ 259 h 260"/>
                <a:gd name="T4" fmla="*/ 2 w 848"/>
                <a:gd name="T5" fmla="*/ 0 h 260"/>
                <a:gd name="T6" fmla="*/ 70 w 848"/>
                <a:gd name="T7" fmla="*/ 46 h 260"/>
                <a:gd name="T8" fmla="*/ 128 w 848"/>
                <a:gd name="T9" fmla="*/ 85 h 260"/>
                <a:gd name="T10" fmla="*/ 195 w 848"/>
                <a:gd name="T11" fmla="*/ 116 h 260"/>
                <a:gd name="T12" fmla="*/ 278 w 848"/>
                <a:gd name="T13" fmla="*/ 151 h 260"/>
                <a:gd name="T14" fmla="*/ 464 w 848"/>
                <a:gd name="T15" fmla="*/ 212 h 260"/>
                <a:gd name="T16" fmla="*/ 710 w 848"/>
                <a:gd name="T17" fmla="*/ 247 h 260"/>
                <a:gd name="T18" fmla="*/ 848 w 848"/>
                <a:gd name="T19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8" h="260">
                  <a:moveTo>
                    <a:pt x="848" y="260"/>
                  </a:moveTo>
                  <a:lnTo>
                    <a:pt x="0" y="259"/>
                  </a:lnTo>
                  <a:lnTo>
                    <a:pt x="2" y="0"/>
                  </a:lnTo>
                  <a:cubicBezTo>
                    <a:pt x="37" y="24"/>
                    <a:pt x="49" y="33"/>
                    <a:pt x="70" y="46"/>
                  </a:cubicBezTo>
                  <a:cubicBezTo>
                    <a:pt x="91" y="60"/>
                    <a:pt x="107" y="73"/>
                    <a:pt x="128" y="85"/>
                  </a:cubicBezTo>
                  <a:cubicBezTo>
                    <a:pt x="149" y="97"/>
                    <a:pt x="170" y="105"/>
                    <a:pt x="195" y="116"/>
                  </a:cubicBezTo>
                  <a:cubicBezTo>
                    <a:pt x="220" y="127"/>
                    <a:pt x="233" y="135"/>
                    <a:pt x="278" y="151"/>
                  </a:cubicBezTo>
                  <a:lnTo>
                    <a:pt x="464" y="212"/>
                  </a:lnTo>
                  <a:lnTo>
                    <a:pt x="710" y="247"/>
                  </a:lnTo>
                  <a:lnTo>
                    <a:pt x="848" y="26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grpSp>
          <p:nvGrpSpPr>
            <p:cNvPr id="48" name="Group 11"/>
            <p:cNvGrpSpPr>
              <a:grpSpLocks/>
            </p:cNvGrpSpPr>
            <p:nvPr/>
          </p:nvGrpSpPr>
          <p:grpSpPr bwMode="auto">
            <a:xfrm>
              <a:off x="2766" y="3179"/>
              <a:ext cx="288" cy="375"/>
              <a:chOff x="2457" y="2754"/>
              <a:chExt cx="288" cy="375"/>
            </a:xfrm>
          </p:grpSpPr>
          <p:sp>
            <p:nvSpPr>
              <p:cNvPr id="67" name="Text Box 12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0</a:t>
                </a:r>
              </a:p>
            </p:txBody>
          </p:sp>
          <p:sp>
            <p:nvSpPr>
              <p:cNvPr id="68" name="Line 13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9" name="Group 14"/>
            <p:cNvGrpSpPr>
              <a:grpSpLocks/>
            </p:cNvGrpSpPr>
            <p:nvPr/>
          </p:nvGrpSpPr>
          <p:grpSpPr bwMode="auto">
            <a:xfrm>
              <a:off x="3179" y="3179"/>
              <a:ext cx="288" cy="375"/>
              <a:chOff x="2457" y="2754"/>
              <a:chExt cx="288" cy="375"/>
            </a:xfrm>
          </p:grpSpPr>
          <p:sp>
            <p:nvSpPr>
              <p:cNvPr id="65" name="Text Box 15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1</a:t>
                </a:r>
              </a:p>
            </p:txBody>
          </p:sp>
          <p:sp>
            <p:nvSpPr>
              <p:cNvPr id="66" name="Line 16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50" name="Group 17"/>
            <p:cNvGrpSpPr>
              <a:grpSpLocks/>
            </p:cNvGrpSpPr>
            <p:nvPr/>
          </p:nvGrpSpPr>
          <p:grpSpPr bwMode="auto">
            <a:xfrm>
              <a:off x="3592" y="3179"/>
              <a:ext cx="288" cy="375"/>
              <a:chOff x="2457" y="2754"/>
              <a:chExt cx="288" cy="375"/>
            </a:xfrm>
          </p:grpSpPr>
          <p:sp>
            <p:nvSpPr>
              <p:cNvPr id="63" name="Text Box 18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2</a:t>
                </a:r>
              </a:p>
            </p:txBody>
          </p:sp>
          <p:sp>
            <p:nvSpPr>
              <p:cNvPr id="64" name="Line 19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51" name="Group 20"/>
            <p:cNvGrpSpPr>
              <a:grpSpLocks/>
            </p:cNvGrpSpPr>
            <p:nvPr/>
          </p:nvGrpSpPr>
          <p:grpSpPr bwMode="auto">
            <a:xfrm>
              <a:off x="4005" y="3179"/>
              <a:ext cx="288" cy="375"/>
              <a:chOff x="2457" y="2754"/>
              <a:chExt cx="288" cy="375"/>
            </a:xfrm>
          </p:grpSpPr>
          <p:sp>
            <p:nvSpPr>
              <p:cNvPr id="61" name="Text Box 21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3</a:t>
                </a:r>
              </a:p>
            </p:txBody>
          </p:sp>
          <p:sp>
            <p:nvSpPr>
              <p:cNvPr id="62" name="Line 22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52" name="Group 23"/>
            <p:cNvGrpSpPr>
              <a:grpSpLocks/>
            </p:cNvGrpSpPr>
            <p:nvPr/>
          </p:nvGrpSpPr>
          <p:grpSpPr bwMode="auto">
            <a:xfrm>
              <a:off x="1576" y="3179"/>
              <a:ext cx="288" cy="375"/>
              <a:chOff x="2457" y="2754"/>
              <a:chExt cx="288" cy="375"/>
            </a:xfrm>
          </p:grpSpPr>
          <p:sp>
            <p:nvSpPr>
              <p:cNvPr id="59" name="Text Box 24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-3</a:t>
                </a:r>
              </a:p>
            </p:txBody>
          </p:sp>
          <p:sp>
            <p:nvSpPr>
              <p:cNvPr id="60" name="Line 25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53" name="Group 26"/>
            <p:cNvGrpSpPr>
              <a:grpSpLocks/>
            </p:cNvGrpSpPr>
            <p:nvPr/>
          </p:nvGrpSpPr>
          <p:grpSpPr bwMode="auto">
            <a:xfrm>
              <a:off x="1989" y="3179"/>
              <a:ext cx="288" cy="375"/>
              <a:chOff x="2457" y="2754"/>
              <a:chExt cx="288" cy="375"/>
            </a:xfrm>
          </p:grpSpPr>
          <p:sp>
            <p:nvSpPr>
              <p:cNvPr id="57" name="Text Box 27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-2</a:t>
                </a:r>
              </a:p>
            </p:txBody>
          </p:sp>
          <p:sp>
            <p:nvSpPr>
              <p:cNvPr id="58" name="Line 28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54" name="Group 29"/>
            <p:cNvGrpSpPr>
              <a:grpSpLocks/>
            </p:cNvGrpSpPr>
            <p:nvPr/>
          </p:nvGrpSpPr>
          <p:grpSpPr bwMode="auto">
            <a:xfrm>
              <a:off x="2402" y="3179"/>
              <a:ext cx="288" cy="375"/>
              <a:chOff x="2457" y="2754"/>
              <a:chExt cx="288" cy="375"/>
            </a:xfrm>
          </p:grpSpPr>
          <p:sp>
            <p:nvSpPr>
              <p:cNvPr id="55" name="Text Box 30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-1</a:t>
                </a:r>
              </a:p>
            </p:txBody>
          </p:sp>
          <p:sp>
            <p:nvSpPr>
              <p:cNvPr id="56" name="Line 31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</p:grpSp>
      <p:sp>
        <p:nvSpPr>
          <p:cNvPr id="71" name="Text Box 37"/>
          <p:cNvSpPr txBox="1">
            <a:spLocks noChangeArrowheads="1"/>
          </p:cNvSpPr>
          <p:nvPr/>
        </p:nvSpPr>
        <p:spPr bwMode="auto">
          <a:xfrm>
            <a:off x="2766535" y="4571369"/>
            <a:ext cx="1219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rgbClr val="E11521"/>
                </a:solidFill>
              </a:rPr>
              <a:t>Test statistic</a:t>
            </a:r>
          </a:p>
        </p:txBody>
      </p:sp>
      <p:grpSp>
        <p:nvGrpSpPr>
          <p:cNvPr id="72" name="Group 42"/>
          <p:cNvGrpSpPr>
            <a:grpSpLocks/>
          </p:cNvGrpSpPr>
          <p:nvPr/>
        </p:nvGrpSpPr>
        <p:grpSpPr bwMode="auto">
          <a:xfrm>
            <a:off x="6632098" y="4880859"/>
            <a:ext cx="1752600" cy="984250"/>
            <a:chOff x="3840" y="1872"/>
            <a:chExt cx="1104" cy="768"/>
          </a:xfrm>
        </p:grpSpPr>
        <p:sp>
          <p:nvSpPr>
            <p:cNvPr id="73" name="AutoShape 43"/>
            <p:cNvSpPr>
              <a:spLocks noChangeArrowheads="1"/>
            </p:cNvSpPr>
            <p:nvPr/>
          </p:nvSpPr>
          <p:spPr bwMode="auto">
            <a:xfrm>
              <a:off x="3840" y="1872"/>
              <a:ext cx="1104" cy="768"/>
            </a:xfrm>
            <a:prstGeom prst="wedgeRectCallout">
              <a:avLst>
                <a:gd name="adj1" fmla="val -63315"/>
                <a:gd name="adj2" fmla="val 81120"/>
              </a:avLst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4" name="Text Box 44"/>
            <p:cNvSpPr txBox="1">
              <a:spLocks noChangeArrowheads="1"/>
            </p:cNvSpPr>
            <p:nvPr/>
          </p:nvSpPr>
          <p:spPr bwMode="auto">
            <a:xfrm>
              <a:off x="3840" y="1920"/>
              <a:ext cx="1104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i="1" dirty="0"/>
                <a:t>P </a:t>
              </a:r>
              <a:r>
                <a:rPr lang="en-US" sz="1600" dirty="0"/>
                <a:t> is the area to the right of the test statistic.</a:t>
              </a:r>
              <a:endParaRPr lang="en-US" sz="1600" i="1" dirty="0"/>
            </a:p>
          </p:txBody>
        </p:sp>
      </p:grpSp>
      <p:cxnSp>
        <p:nvCxnSpPr>
          <p:cNvPr id="75" name="Straight Arrow Connector 74"/>
          <p:cNvCxnSpPr/>
          <p:nvPr/>
        </p:nvCxnSpPr>
        <p:spPr>
          <a:xfrm>
            <a:off x="3874611" y="5105400"/>
            <a:ext cx="2330449" cy="99021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>
            <a:off x="4150201" y="1774103"/>
            <a:ext cx="2324734" cy="6711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4760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Two-tailed or Two-sided Test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3185160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/>
              <a:t>A </a:t>
            </a:r>
            <a:r>
              <a:rPr lang="en-US" sz="2000" dirty="0"/>
              <a:t>two sided test is a statistical hypothesis test in which the values for which we can reject the null hypothesis </a:t>
            </a:r>
            <a:r>
              <a:rPr lang="en-US" sz="2000" b="1" dirty="0"/>
              <a:t>(Ho)</a:t>
            </a:r>
            <a:r>
              <a:rPr lang="en-US" sz="2000" dirty="0"/>
              <a:t> are located in both side or both tail of the probability distribution </a:t>
            </a:r>
            <a:r>
              <a:rPr lang="en-US" sz="2000" dirty="0" smtClean="0"/>
              <a:t>function</a:t>
            </a:r>
            <a:endParaRPr lang="en-US" sz="1800" dirty="0" smtClean="0"/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For two-sided test, </a:t>
            </a:r>
            <a:r>
              <a:rPr lang="en-US" sz="2000" dirty="0" smtClean="0"/>
              <a:t>acceptance region lies between two </a:t>
            </a:r>
            <a:r>
              <a:rPr lang="en-US" sz="2000" dirty="0" smtClean="0"/>
              <a:t>critical </a:t>
            </a:r>
            <a:r>
              <a:rPr lang="en-US" sz="2000" dirty="0" smtClean="0"/>
              <a:t>values.</a:t>
            </a:r>
          </a:p>
          <a:p>
            <a:pPr algn="just"/>
            <a:endParaRPr lang="en-US" altLang="en-US" sz="2000" dirty="0" smtClean="0"/>
          </a:p>
          <a:p>
            <a:pPr algn="just"/>
            <a:r>
              <a:rPr lang="en-US" altLang="en-US" sz="2000" dirty="0" smtClean="0"/>
              <a:t>If </a:t>
            </a:r>
            <a:r>
              <a:rPr lang="en-US" altLang="en-US" sz="2000" dirty="0"/>
              <a:t>the alternative hypothesis contains the not-equal-to symbol (</a:t>
            </a:r>
            <a:r>
              <a:rPr lang="en-US" altLang="en-US" sz="2000" dirty="0">
                <a:sym typeface="Symbol" pitchFamily="18" charset="2"/>
              </a:rPr>
              <a:t>), the hypothesis test is a </a:t>
            </a:r>
            <a:r>
              <a:rPr lang="en-US" altLang="en-US" sz="2000" b="1" dirty="0">
                <a:solidFill>
                  <a:schemeClr val="folHlink"/>
                </a:solidFill>
              </a:rPr>
              <a:t>two-tailed test</a:t>
            </a:r>
            <a:r>
              <a:rPr lang="en-US" altLang="en-US" sz="2000" dirty="0"/>
              <a:t>.  In a two-tailed test, each tail has an area of </a:t>
            </a:r>
            <a:r>
              <a:rPr lang="en-US" altLang="en-US" sz="2000" dirty="0">
                <a:sym typeface="MS Reference 2" pitchFamily="2" charset="2"/>
              </a:rPr>
              <a:t>  p/2. </a:t>
            </a:r>
            <a:r>
              <a:rPr lang="en-US" sz="2000" dirty="0">
                <a:latin typeface="Times New Roman" pitchFamily="18" charset="0"/>
              </a:rPr>
              <a:t>H</a:t>
            </a:r>
            <a:r>
              <a:rPr lang="en-US" sz="2000" baseline="-25000" dirty="0">
                <a:latin typeface="Times New Roman" pitchFamily="18" charset="0"/>
              </a:rPr>
              <a:t>0</a:t>
            </a:r>
            <a:r>
              <a:rPr lang="en-US" sz="2000" dirty="0">
                <a:latin typeface="Times New Roman" pitchFamily="18" charset="0"/>
              </a:rPr>
              <a:t>: </a:t>
            </a:r>
            <a:r>
              <a:rPr lang="el-GR" sz="2000" i="1" dirty="0"/>
              <a:t>μ</a:t>
            </a:r>
            <a:r>
              <a:rPr lang="en-US" sz="2000" i="1" dirty="0"/>
              <a:t> </a:t>
            </a:r>
            <a:r>
              <a:rPr lang="en-US" sz="2000" dirty="0"/>
              <a:t>= </a:t>
            </a:r>
            <a:r>
              <a:rPr lang="en-US" sz="2000" i="1" dirty="0"/>
              <a:t>k,  </a:t>
            </a:r>
            <a:r>
              <a:rPr lang="en-US" sz="2000" dirty="0">
                <a:latin typeface="Times New Roman" pitchFamily="18" charset="0"/>
                <a:sym typeface="Symbol" pitchFamily="18" charset="2"/>
              </a:rPr>
              <a:t>H</a:t>
            </a:r>
            <a:r>
              <a:rPr lang="en-US" sz="2000" baseline="-25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sz="2000" dirty="0">
                <a:latin typeface="Times New Roman" pitchFamily="18" charset="0"/>
              </a:rPr>
              <a:t>: </a:t>
            </a:r>
            <a:r>
              <a:rPr lang="el-GR" sz="2000" i="1" dirty="0"/>
              <a:t>μ</a:t>
            </a:r>
            <a:r>
              <a:rPr lang="en-US" sz="2000" i="1" dirty="0"/>
              <a:t> </a:t>
            </a:r>
            <a:r>
              <a:rPr lang="en-US" sz="2000" dirty="0">
                <a:sym typeface="Symbol" pitchFamily="18" charset="2"/>
              </a:rPr>
              <a:t></a:t>
            </a:r>
            <a:r>
              <a:rPr lang="en-US" sz="2000" i="1" dirty="0">
                <a:sym typeface="Symbol" pitchFamily="18" charset="2"/>
              </a:rPr>
              <a:t> k</a:t>
            </a:r>
          </a:p>
          <a:p>
            <a:pPr algn="just"/>
            <a:endParaRPr lang="en-US" sz="2000" dirty="0" smtClean="0"/>
          </a:p>
          <a:p>
            <a:pPr algn="just"/>
            <a:endParaRPr lang="en-IN" sz="1800" dirty="0"/>
          </a:p>
        </p:txBody>
      </p: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1252538" y="4371181"/>
            <a:ext cx="6443662" cy="1724819"/>
            <a:chOff x="789" y="2150"/>
            <a:chExt cx="4491" cy="1404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" y="2150"/>
              <a:ext cx="3132" cy="1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789" y="3257"/>
              <a:ext cx="4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2251" y="2158"/>
              <a:ext cx="1362" cy="1096"/>
            </a:xfrm>
            <a:custGeom>
              <a:avLst/>
              <a:gdLst>
                <a:gd name="T0" fmla="*/ 2 w 1362"/>
                <a:gd name="T1" fmla="*/ 1096 h 1096"/>
                <a:gd name="T2" fmla="*/ 0 w 1362"/>
                <a:gd name="T3" fmla="*/ 826 h 1096"/>
                <a:gd name="T4" fmla="*/ 84 w 1362"/>
                <a:gd name="T5" fmla="*/ 746 h 1096"/>
                <a:gd name="T6" fmla="*/ 134 w 1362"/>
                <a:gd name="T7" fmla="*/ 684 h 1096"/>
                <a:gd name="T8" fmla="*/ 204 w 1362"/>
                <a:gd name="T9" fmla="*/ 588 h 1096"/>
                <a:gd name="T10" fmla="*/ 216 w 1362"/>
                <a:gd name="T11" fmla="*/ 564 h 1096"/>
                <a:gd name="T12" fmla="*/ 266 w 1362"/>
                <a:gd name="T13" fmla="*/ 476 h 1096"/>
                <a:gd name="T14" fmla="*/ 314 w 1362"/>
                <a:gd name="T15" fmla="*/ 380 h 1096"/>
                <a:gd name="T16" fmla="*/ 362 w 1362"/>
                <a:gd name="T17" fmla="*/ 284 h 1096"/>
                <a:gd name="T18" fmla="*/ 422 w 1362"/>
                <a:gd name="T19" fmla="*/ 176 h 1096"/>
                <a:gd name="T20" fmla="*/ 470 w 1362"/>
                <a:gd name="T21" fmla="*/ 104 h 1096"/>
                <a:gd name="T22" fmla="*/ 514 w 1362"/>
                <a:gd name="T23" fmla="*/ 56 h 1096"/>
                <a:gd name="T24" fmla="*/ 566 w 1362"/>
                <a:gd name="T25" fmla="*/ 28 h 1096"/>
                <a:gd name="T26" fmla="*/ 650 w 1362"/>
                <a:gd name="T27" fmla="*/ 0 h 1096"/>
                <a:gd name="T28" fmla="*/ 710 w 1362"/>
                <a:gd name="T29" fmla="*/ 0 h 1096"/>
                <a:gd name="T30" fmla="*/ 790 w 1362"/>
                <a:gd name="T31" fmla="*/ 28 h 1096"/>
                <a:gd name="T32" fmla="*/ 878 w 1362"/>
                <a:gd name="T33" fmla="*/ 92 h 1096"/>
                <a:gd name="T34" fmla="*/ 950 w 1362"/>
                <a:gd name="T35" fmla="*/ 180 h 1096"/>
                <a:gd name="T36" fmla="*/ 1046 w 1362"/>
                <a:gd name="T37" fmla="*/ 368 h 1096"/>
                <a:gd name="T38" fmla="*/ 1094 w 1362"/>
                <a:gd name="T39" fmla="*/ 472 h 1096"/>
                <a:gd name="T40" fmla="*/ 1138 w 1362"/>
                <a:gd name="T41" fmla="*/ 564 h 1096"/>
                <a:gd name="T42" fmla="*/ 1178 w 1362"/>
                <a:gd name="T43" fmla="*/ 620 h 1096"/>
                <a:gd name="T44" fmla="*/ 1250 w 1362"/>
                <a:gd name="T45" fmla="*/ 720 h 1096"/>
                <a:gd name="T46" fmla="*/ 1302 w 1362"/>
                <a:gd name="T47" fmla="*/ 778 h 1096"/>
                <a:gd name="T48" fmla="*/ 1362 w 1362"/>
                <a:gd name="T49" fmla="*/ 832 h 1096"/>
                <a:gd name="T50" fmla="*/ 1360 w 1362"/>
                <a:gd name="T51" fmla="*/ 1091 h 1096"/>
                <a:gd name="T52" fmla="*/ 2 w 1362"/>
                <a:gd name="T53" fmla="*/ 1096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62" h="1096">
                  <a:moveTo>
                    <a:pt x="2" y="1096"/>
                  </a:moveTo>
                  <a:lnTo>
                    <a:pt x="0" y="826"/>
                  </a:lnTo>
                  <a:lnTo>
                    <a:pt x="84" y="746"/>
                  </a:lnTo>
                  <a:lnTo>
                    <a:pt x="134" y="684"/>
                  </a:lnTo>
                  <a:lnTo>
                    <a:pt x="204" y="588"/>
                  </a:lnTo>
                  <a:lnTo>
                    <a:pt x="216" y="564"/>
                  </a:lnTo>
                  <a:lnTo>
                    <a:pt x="266" y="476"/>
                  </a:lnTo>
                  <a:lnTo>
                    <a:pt x="314" y="380"/>
                  </a:lnTo>
                  <a:lnTo>
                    <a:pt x="362" y="284"/>
                  </a:lnTo>
                  <a:lnTo>
                    <a:pt x="422" y="176"/>
                  </a:lnTo>
                  <a:lnTo>
                    <a:pt x="470" y="104"/>
                  </a:lnTo>
                  <a:lnTo>
                    <a:pt x="514" y="56"/>
                  </a:lnTo>
                  <a:lnTo>
                    <a:pt x="566" y="28"/>
                  </a:lnTo>
                  <a:lnTo>
                    <a:pt x="650" y="0"/>
                  </a:lnTo>
                  <a:lnTo>
                    <a:pt x="710" y="0"/>
                  </a:lnTo>
                  <a:lnTo>
                    <a:pt x="790" y="28"/>
                  </a:lnTo>
                  <a:lnTo>
                    <a:pt x="878" y="92"/>
                  </a:lnTo>
                  <a:lnTo>
                    <a:pt x="950" y="180"/>
                  </a:lnTo>
                  <a:lnTo>
                    <a:pt x="1046" y="368"/>
                  </a:lnTo>
                  <a:lnTo>
                    <a:pt x="1094" y="472"/>
                  </a:lnTo>
                  <a:lnTo>
                    <a:pt x="1138" y="564"/>
                  </a:lnTo>
                  <a:lnTo>
                    <a:pt x="1178" y="620"/>
                  </a:lnTo>
                  <a:lnTo>
                    <a:pt x="1250" y="720"/>
                  </a:lnTo>
                  <a:lnTo>
                    <a:pt x="1302" y="778"/>
                  </a:lnTo>
                  <a:lnTo>
                    <a:pt x="1362" y="832"/>
                  </a:lnTo>
                  <a:lnTo>
                    <a:pt x="1360" y="1091"/>
                  </a:lnTo>
                  <a:lnTo>
                    <a:pt x="2" y="1096"/>
                  </a:lnTo>
                  <a:close/>
                </a:path>
              </a:pathLst>
            </a:custGeom>
            <a:solidFill>
              <a:srgbClr val="FFC000">
                <a:alpha val="60001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5095" y="3121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i="1"/>
                <a:t>z</a:t>
              </a:r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auto">
            <a:xfrm>
              <a:off x="1413" y="2995"/>
              <a:ext cx="845" cy="259"/>
            </a:xfrm>
            <a:custGeom>
              <a:avLst/>
              <a:gdLst>
                <a:gd name="T0" fmla="*/ 0 w 845"/>
                <a:gd name="T1" fmla="*/ 259 h 259"/>
                <a:gd name="T2" fmla="*/ 835 w 845"/>
                <a:gd name="T3" fmla="*/ 256 h 259"/>
                <a:gd name="T4" fmla="*/ 835 w 845"/>
                <a:gd name="T5" fmla="*/ 0 h 259"/>
                <a:gd name="T6" fmla="*/ 776 w 845"/>
                <a:gd name="T7" fmla="*/ 37 h 259"/>
                <a:gd name="T8" fmla="*/ 717 w 845"/>
                <a:gd name="T9" fmla="*/ 75 h 259"/>
                <a:gd name="T10" fmla="*/ 653 w 845"/>
                <a:gd name="T11" fmla="*/ 115 h 259"/>
                <a:gd name="T12" fmla="*/ 570 w 845"/>
                <a:gd name="T13" fmla="*/ 150 h 259"/>
                <a:gd name="T14" fmla="*/ 384 w 845"/>
                <a:gd name="T15" fmla="*/ 211 h 259"/>
                <a:gd name="T16" fmla="*/ 138 w 845"/>
                <a:gd name="T17" fmla="*/ 246 h 259"/>
                <a:gd name="T18" fmla="*/ 0 w 845"/>
                <a:gd name="T19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5" h="259">
                  <a:moveTo>
                    <a:pt x="0" y="259"/>
                  </a:moveTo>
                  <a:lnTo>
                    <a:pt x="835" y="256"/>
                  </a:lnTo>
                  <a:cubicBezTo>
                    <a:pt x="835" y="256"/>
                    <a:pt x="845" y="36"/>
                    <a:pt x="835" y="0"/>
                  </a:cubicBezTo>
                  <a:cubicBezTo>
                    <a:pt x="795" y="21"/>
                    <a:pt x="806" y="18"/>
                    <a:pt x="776" y="37"/>
                  </a:cubicBezTo>
                  <a:cubicBezTo>
                    <a:pt x="756" y="50"/>
                    <a:pt x="738" y="62"/>
                    <a:pt x="717" y="75"/>
                  </a:cubicBezTo>
                  <a:cubicBezTo>
                    <a:pt x="696" y="88"/>
                    <a:pt x="677" y="103"/>
                    <a:pt x="653" y="115"/>
                  </a:cubicBezTo>
                  <a:cubicBezTo>
                    <a:pt x="629" y="127"/>
                    <a:pt x="615" y="134"/>
                    <a:pt x="570" y="150"/>
                  </a:cubicBezTo>
                  <a:lnTo>
                    <a:pt x="384" y="211"/>
                  </a:lnTo>
                  <a:lnTo>
                    <a:pt x="138" y="246"/>
                  </a:lnTo>
                  <a:lnTo>
                    <a:pt x="0" y="259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10" name="Freeform 27"/>
            <p:cNvSpPr>
              <a:spLocks/>
            </p:cNvSpPr>
            <p:nvPr/>
          </p:nvSpPr>
          <p:spPr bwMode="auto">
            <a:xfrm>
              <a:off x="3613" y="2995"/>
              <a:ext cx="848" cy="260"/>
            </a:xfrm>
            <a:custGeom>
              <a:avLst/>
              <a:gdLst>
                <a:gd name="T0" fmla="*/ 848 w 848"/>
                <a:gd name="T1" fmla="*/ 260 h 260"/>
                <a:gd name="T2" fmla="*/ 0 w 848"/>
                <a:gd name="T3" fmla="*/ 259 h 260"/>
                <a:gd name="T4" fmla="*/ 2 w 848"/>
                <a:gd name="T5" fmla="*/ 0 h 260"/>
                <a:gd name="T6" fmla="*/ 70 w 848"/>
                <a:gd name="T7" fmla="*/ 46 h 260"/>
                <a:gd name="T8" fmla="*/ 128 w 848"/>
                <a:gd name="T9" fmla="*/ 85 h 260"/>
                <a:gd name="T10" fmla="*/ 195 w 848"/>
                <a:gd name="T11" fmla="*/ 116 h 260"/>
                <a:gd name="T12" fmla="*/ 278 w 848"/>
                <a:gd name="T13" fmla="*/ 151 h 260"/>
                <a:gd name="T14" fmla="*/ 464 w 848"/>
                <a:gd name="T15" fmla="*/ 212 h 260"/>
                <a:gd name="T16" fmla="*/ 710 w 848"/>
                <a:gd name="T17" fmla="*/ 247 h 260"/>
                <a:gd name="T18" fmla="*/ 848 w 848"/>
                <a:gd name="T19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8" h="260">
                  <a:moveTo>
                    <a:pt x="848" y="260"/>
                  </a:moveTo>
                  <a:lnTo>
                    <a:pt x="0" y="259"/>
                  </a:lnTo>
                  <a:lnTo>
                    <a:pt x="2" y="0"/>
                  </a:lnTo>
                  <a:cubicBezTo>
                    <a:pt x="37" y="24"/>
                    <a:pt x="49" y="33"/>
                    <a:pt x="70" y="46"/>
                  </a:cubicBezTo>
                  <a:cubicBezTo>
                    <a:pt x="91" y="60"/>
                    <a:pt x="107" y="73"/>
                    <a:pt x="128" y="85"/>
                  </a:cubicBezTo>
                  <a:cubicBezTo>
                    <a:pt x="149" y="97"/>
                    <a:pt x="170" y="105"/>
                    <a:pt x="195" y="116"/>
                  </a:cubicBezTo>
                  <a:cubicBezTo>
                    <a:pt x="220" y="127"/>
                    <a:pt x="233" y="135"/>
                    <a:pt x="278" y="151"/>
                  </a:cubicBezTo>
                  <a:lnTo>
                    <a:pt x="464" y="212"/>
                  </a:lnTo>
                  <a:lnTo>
                    <a:pt x="710" y="247"/>
                  </a:lnTo>
                  <a:lnTo>
                    <a:pt x="848" y="26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grpSp>
          <p:nvGrpSpPr>
            <p:cNvPr id="11" name="Group 33"/>
            <p:cNvGrpSpPr>
              <a:grpSpLocks/>
            </p:cNvGrpSpPr>
            <p:nvPr/>
          </p:nvGrpSpPr>
          <p:grpSpPr bwMode="auto">
            <a:xfrm>
              <a:off x="2766" y="3179"/>
              <a:ext cx="288" cy="375"/>
              <a:chOff x="2457" y="2754"/>
              <a:chExt cx="288" cy="375"/>
            </a:xfrm>
          </p:grpSpPr>
          <p:sp>
            <p:nvSpPr>
              <p:cNvPr id="30" name="Text Box 11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0</a:t>
                </a:r>
              </a:p>
            </p:txBody>
          </p:sp>
          <p:sp>
            <p:nvSpPr>
              <p:cNvPr id="31" name="Line 32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34"/>
            <p:cNvGrpSpPr>
              <a:grpSpLocks/>
            </p:cNvGrpSpPr>
            <p:nvPr/>
          </p:nvGrpSpPr>
          <p:grpSpPr bwMode="auto">
            <a:xfrm>
              <a:off x="3179" y="3179"/>
              <a:ext cx="288" cy="375"/>
              <a:chOff x="2457" y="2754"/>
              <a:chExt cx="288" cy="375"/>
            </a:xfrm>
          </p:grpSpPr>
          <p:sp>
            <p:nvSpPr>
              <p:cNvPr id="28" name="Text Box 35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1</a:t>
                </a:r>
              </a:p>
            </p:txBody>
          </p:sp>
          <p:sp>
            <p:nvSpPr>
              <p:cNvPr id="29" name="Line 36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37"/>
            <p:cNvGrpSpPr>
              <a:grpSpLocks/>
            </p:cNvGrpSpPr>
            <p:nvPr/>
          </p:nvGrpSpPr>
          <p:grpSpPr bwMode="auto">
            <a:xfrm>
              <a:off x="3592" y="3179"/>
              <a:ext cx="288" cy="375"/>
              <a:chOff x="2457" y="2754"/>
              <a:chExt cx="288" cy="375"/>
            </a:xfrm>
          </p:grpSpPr>
          <p:sp>
            <p:nvSpPr>
              <p:cNvPr id="26" name="Text Box 38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2</a:t>
                </a:r>
              </a:p>
            </p:txBody>
          </p:sp>
          <p:sp>
            <p:nvSpPr>
              <p:cNvPr id="27" name="Line 39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40"/>
            <p:cNvGrpSpPr>
              <a:grpSpLocks/>
            </p:cNvGrpSpPr>
            <p:nvPr/>
          </p:nvGrpSpPr>
          <p:grpSpPr bwMode="auto">
            <a:xfrm>
              <a:off x="4005" y="3179"/>
              <a:ext cx="288" cy="375"/>
              <a:chOff x="2457" y="2754"/>
              <a:chExt cx="288" cy="375"/>
            </a:xfrm>
          </p:grpSpPr>
          <p:sp>
            <p:nvSpPr>
              <p:cNvPr id="24" name="Text Box 41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3</a:t>
                </a:r>
              </a:p>
            </p:txBody>
          </p:sp>
          <p:sp>
            <p:nvSpPr>
              <p:cNvPr id="25" name="Line 42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43"/>
            <p:cNvGrpSpPr>
              <a:grpSpLocks/>
            </p:cNvGrpSpPr>
            <p:nvPr/>
          </p:nvGrpSpPr>
          <p:grpSpPr bwMode="auto">
            <a:xfrm>
              <a:off x="1576" y="3179"/>
              <a:ext cx="288" cy="375"/>
              <a:chOff x="2457" y="2754"/>
              <a:chExt cx="288" cy="375"/>
            </a:xfrm>
          </p:grpSpPr>
          <p:sp>
            <p:nvSpPr>
              <p:cNvPr id="22" name="Text Box 44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-3</a:t>
                </a:r>
              </a:p>
            </p:txBody>
          </p:sp>
          <p:sp>
            <p:nvSpPr>
              <p:cNvPr id="23" name="Line 45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46"/>
            <p:cNvGrpSpPr>
              <a:grpSpLocks/>
            </p:cNvGrpSpPr>
            <p:nvPr/>
          </p:nvGrpSpPr>
          <p:grpSpPr bwMode="auto">
            <a:xfrm>
              <a:off x="1989" y="3179"/>
              <a:ext cx="288" cy="375"/>
              <a:chOff x="2457" y="2754"/>
              <a:chExt cx="288" cy="375"/>
            </a:xfrm>
          </p:grpSpPr>
          <p:sp>
            <p:nvSpPr>
              <p:cNvPr id="20" name="Text Box 47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-2</a:t>
                </a:r>
              </a:p>
            </p:txBody>
          </p:sp>
          <p:sp>
            <p:nvSpPr>
              <p:cNvPr id="21" name="Line 48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49"/>
            <p:cNvGrpSpPr>
              <a:grpSpLocks/>
            </p:cNvGrpSpPr>
            <p:nvPr/>
          </p:nvGrpSpPr>
          <p:grpSpPr bwMode="auto">
            <a:xfrm>
              <a:off x="2402" y="3179"/>
              <a:ext cx="288" cy="375"/>
              <a:chOff x="2457" y="2754"/>
              <a:chExt cx="288" cy="375"/>
            </a:xfrm>
          </p:grpSpPr>
          <p:sp>
            <p:nvSpPr>
              <p:cNvPr id="18" name="Text Box 50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-1</a:t>
                </a:r>
              </a:p>
            </p:txBody>
          </p:sp>
          <p:sp>
            <p:nvSpPr>
              <p:cNvPr id="19" name="Line 51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</p:grpSp>
      <p:grpSp>
        <p:nvGrpSpPr>
          <p:cNvPr id="32" name="Group 70"/>
          <p:cNvGrpSpPr>
            <a:grpSpLocks/>
          </p:cNvGrpSpPr>
          <p:nvPr/>
        </p:nvGrpSpPr>
        <p:grpSpPr bwMode="auto">
          <a:xfrm>
            <a:off x="1458914" y="4500564"/>
            <a:ext cx="1516063" cy="828675"/>
            <a:chOff x="919" y="2383"/>
            <a:chExt cx="955" cy="522"/>
          </a:xfrm>
        </p:grpSpPr>
        <p:sp>
          <p:nvSpPr>
            <p:cNvPr id="33" name="Text Box 52"/>
            <p:cNvSpPr txBox="1">
              <a:spLocks noChangeArrowheads="1"/>
            </p:cNvSpPr>
            <p:nvPr/>
          </p:nvSpPr>
          <p:spPr bwMode="auto">
            <a:xfrm>
              <a:off x="919" y="2383"/>
              <a:ext cx="76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 dirty="0">
                  <a:solidFill>
                    <a:srgbClr val="E11521"/>
                  </a:solidFill>
                </a:rPr>
                <a:t>Test statistic</a:t>
              </a:r>
            </a:p>
          </p:txBody>
        </p:sp>
        <p:sp>
          <p:nvSpPr>
            <p:cNvPr id="34" name="Line 53"/>
            <p:cNvSpPr>
              <a:spLocks noChangeShapeType="1"/>
            </p:cNvSpPr>
            <p:nvPr/>
          </p:nvSpPr>
          <p:spPr bwMode="auto">
            <a:xfrm flipH="1" flipV="1">
              <a:off x="1548" y="2634"/>
              <a:ext cx="326" cy="271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IN"/>
            </a:p>
          </p:txBody>
        </p:sp>
      </p:grpSp>
      <p:grpSp>
        <p:nvGrpSpPr>
          <p:cNvPr id="38" name="Group 70"/>
          <p:cNvGrpSpPr>
            <a:grpSpLocks/>
          </p:cNvGrpSpPr>
          <p:nvPr/>
        </p:nvGrpSpPr>
        <p:grpSpPr bwMode="auto">
          <a:xfrm>
            <a:off x="5729288" y="4384676"/>
            <a:ext cx="1543050" cy="1009650"/>
            <a:chOff x="3283" y="2214"/>
            <a:chExt cx="972" cy="636"/>
          </a:xfrm>
        </p:grpSpPr>
        <p:sp>
          <p:nvSpPr>
            <p:cNvPr id="39" name="Text Box 52"/>
            <p:cNvSpPr txBox="1">
              <a:spLocks noChangeArrowheads="1"/>
            </p:cNvSpPr>
            <p:nvPr/>
          </p:nvSpPr>
          <p:spPr bwMode="auto">
            <a:xfrm>
              <a:off x="3487" y="2214"/>
              <a:ext cx="76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 dirty="0">
                  <a:solidFill>
                    <a:srgbClr val="E11521"/>
                  </a:solidFill>
                </a:rPr>
                <a:t>Test statistic</a:t>
              </a:r>
            </a:p>
          </p:txBody>
        </p:sp>
        <p:sp>
          <p:nvSpPr>
            <p:cNvPr id="40" name="Line 53"/>
            <p:cNvSpPr>
              <a:spLocks noChangeShapeType="1"/>
            </p:cNvSpPr>
            <p:nvPr/>
          </p:nvSpPr>
          <p:spPr bwMode="auto">
            <a:xfrm flipV="1">
              <a:off x="3283" y="2574"/>
              <a:ext cx="209" cy="27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5360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5334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Example of test</a:t>
            </a:r>
            <a:endParaRPr lang="el-GR" altLang="en-US" sz="2800" dirty="0"/>
          </a:p>
        </p:txBody>
      </p:sp>
      <p:sp>
        <p:nvSpPr>
          <p:cNvPr id="1212424" name="Text Box 8"/>
          <p:cNvSpPr txBox="1">
            <a:spLocks noChangeArrowheads="1"/>
          </p:cNvSpPr>
          <p:nvPr/>
        </p:nvSpPr>
        <p:spPr bwMode="auto">
          <a:xfrm>
            <a:off x="83820" y="1219200"/>
            <a:ext cx="898398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69913" indent="-569913"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4538"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342900" indent="-342900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+mj-lt"/>
              </a:rPr>
              <a:t>One private company survey claims that </a:t>
            </a:r>
            <a:r>
              <a:rPr lang="en-US" sz="2800" dirty="0" smtClean="0">
                <a:latin typeface="+mj-lt"/>
              </a:rPr>
              <a:t>less than </a:t>
            </a:r>
            <a:r>
              <a:rPr lang="en-US" sz="2800" dirty="0" smtClean="0">
                <a:latin typeface="+mj-lt"/>
              </a:rPr>
              <a:t>one-fourth </a:t>
            </a:r>
            <a:r>
              <a:rPr lang="en-US" sz="2800" dirty="0">
                <a:latin typeface="+mj-lt"/>
              </a:rPr>
              <a:t>of the </a:t>
            </a:r>
            <a:r>
              <a:rPr lang="en-US" sz="2800" dirty="0" smtClean="0">
                <a:latin typeface="+mj-lt"/>
              </a:rPr>
              <a:t>Indian adult population are suffering from </a:t>
            </a:r>
            <a:r>
              <a:rPr lang="en-US" sz="2800" dirty="0" smtClean="0">
                <a:latin typeface="+mj-lt"/>
              </a:rPr>
              <a:t>obesity but in realty it looks that this claim is wrong and more peoples are suffering from obesity.</a:t>
            </a:r>
            <a:endParaRPr lang="en-US" sz="28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2431" name="Rectangle 15"/>
              <p:cNvSpPr>
                <a:spLocks noChangeArrowheads="1"/>
              </p:cNvSpPr>
              <p:nvPr/>
            </p:nvSpPr>
            <p:spPr bwMode="auto">
              <a:xfrm>
                <a:off x="324802" y="3218170"/>
                <a:ext cx="782859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solidFill>
                      <a:schemeClr val="folHlink"/>
                    </a:solidFill>
                    <a:latin typeface="Times New Roman" pitchFamily="18" charset="0"/>
                    <a:sym typeface="Symbol" pitchFamily="18" charset="2"/>
                  </a:rPr>
                  <a:t>H0</a:t>
                </a:r>
                <a:r>
                  <a:rPr lang="en-US" sz="2800" dirty="0" smtClean="0">
                    <a:solidFill>
                      <a:schemeClr val="folHlink"/>
                    </a:solidFill>
                    <a:latin typeface="Times New Roman" pitchFamily="18" charset="0"/>
                  </a:rPr>
                  <a:t>:</a:t>
                </a:r>
                <a:r>
                  <a:rPr lang="en-US" sz="2800" i="1" dirty="0" smtClean="0">
                    <a:solidFill>
                      <a:schemeClr val="folHlink"/>
                    </a:solidFill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𝜇</m:t>
                    </m:r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≤0.25</m:t>
                    </m:r>
                  </m:oMath>
                </a14:m>
                <a:r>
                  <a:rPr lang="en-US" sz="2800" dirty="0" smtClean="0">
                    <a:solidFill>
                      <a:schemeClr val="folHlink"/>
                    </a:solidFill>
                    <a:sym typeface="Symbol" pitchFamily="18" charset="2"/>
                  </a:rPr>
                  <a:t>   </a:t>
                </a:r>
                <a:r>
                  <a:rPr lang="en-US" sz="2800" dirty="0">
                    <a:solidFill>
                      <a:schemeClr val="folHlink"/>
                    </a:solidFill>
                  </a:rPr>
                  <a:t>(C</a:t>
                </a:r>
                <a:r>
                  <a:rPr lang="en-US" altLang="en-US" sz="2800" dirty="0">
                    <a:solidFill>
                      <a:schemeClr val="folHlink"/>
                    </a:solidFill>
                  </a:rPr>
                  <a:t>laim</a:t>
                </a:r>
                <a:r>
                  <a:rPr lang="en-US" altLang="en-US" sz="2800" dirty="0" smtClean="0">
                    <a:solidFill>
                      <a:schemeClr val="folHlink"/>
                    </a:solidFill>
                  </a:rPr>
                  <a:t>)  --- Null Hypothesis</a:t>
                </a:r>
                <a:endParaRPr lang="en-US" sz="2800" dirty="0">
                  <a:solidFill>
                    <a:schemeClr val="folHlink"/>
                  </a:solidFill>
                  <a:sym typeface="Symbol" pitchFamily="18" charset="2"/>
                </a:endParaRPr>
              </a:p>
            </p:txBody>
          </p:sp>
        </mc:Choice>
        <mc:Fallback>
          <p:sp>
            <p:nvSpPr>
              <p:cNvPr id="1212431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802" y="3218170"/>
                <a:ext cx="7828598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556" t="-12791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2432" name="Rectangle 16"/>
              <p:cNvSpPr>
                <a:spLocks noChangeArrowheads="1"/>
              </p:cNvSpPr>
              <p:nvPr/>
            </p:nvSpPr>
            <p:spPr bwMode="auto">
              <a:xfrm>
                <a:off x="367313" y="3962400"/>
                <a:ext cx="581537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dirty="0" smtClean="0">
                    <a:solidFill>
                      <a:schemeClr val="folHlink"/>
                    </a:solidFill>
                    <a:latin typeface="Times New Roman" pitchFamily="18" charset="0"/>
                  </a:rPr>
                  <a:t>H1:</a:t>
                </a:r>
                <a:r>
                  <a:rPr lang="en-US" sz="2800" i="1" dirty="0" smtClean="0">
                    <a:solidFill>
                      <a:schemeClr val="folHlink"/>
                    </a:solidFill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𝜇</m:t>
                    </m:r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&gt;0.25</m:t>
                    </m:r>
                  </m:oMath>
                </a14:m>
                <a:r>
                  <a:rPr lang="en-US" sz="2800" dirty="0" smtClean="0">
                    <a:solidFill>
                      <a:schemeClr val="folHlink"/>
                    </a:solidFill>
                  </a:rPr>
                  <a:t> ---- Alternate Hypothesis</a:t>
                </a:r>
                <a:endParaRPr lang="en-US" sz="2800" dirty="0">
                  <a:solidFill>
                    <a:schemeClr val="folHlink"/>
                  </a:solidFill>
                </a:endParaRPr>
              </a:p>
            </p:txBody>
          </p:sp>
        </mc:Choice>
        <mc:Fallback>
          <p:sp>
            <p:nvSpPr>
              <p:cNvPr id="1212432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313" y="3962400"/>
                <a:ext cx="5815375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096" t="-12791" r="-2411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2435" name="Rectangle 19"/>
          <p:cNvSpPr>
            <a:spLocks noChangeArrowheads="1"/>
          </p:cNvSpPr>
          <p:nvPr/>
        </p:nvSpPr>
        <p:spPr bwMode="auto">
          <a:xfrm>
            <a:off x="279083" y="766763"/>
            <a:ext cx="26572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Right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</a:rPr>
              <a:t>-</a:t>
            </a:r>
            <a:r>
              <a:rPr lang="en-US" sz="2800" b="1" dirty="0" smtClean="0">
                <a:solidFill>
                  <a:srgbClr val="FF0000"/>
                </a:solidFill>
              </a:rPr>
              <a:t>tailed </a:t>
            </a:r>
            <a:r>
              <a:rPr lang="en-US" sz="2800" b="1" dirty="0">
                <a:solidFill>
                  <a:srgbClr val="FF0000"/>
                </a:solidFill>
              </a:rPr>
              <a:t>test</a:t>
            </a:r>
          </a:p>
        </p:txBody>
      </p:sp>
      <p:grpSp>
        <p:nvGrpSpPr>
          <p:cNvPr id="11" name="Group 46"/>
          <p:cNvGrpSpPr>
            <a:grpSpLocks/>
          </p:cNvGrpSpPr>
          <p:nvPr/>
        </p:nvGrpSpPr>
        <p:grpSpPr bwMode="auto">
          <a:xfrm>
            <a:off x="1329054" y="4675187"/>
            <a:ext cx="6982618" cy="2030413"/>
            <a:chOff x="789" y="2150"/>
            <a:chExt cx="4491" cy="1404"/>
          </a:xfrm>
        </p:grpSpPr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" y="2150"/>
              <a:ext cx="3132" cy="1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Line 6"/>
            <p:cNvSpPr>
              <a:spLocks noChangeShapeType="1"/>
            </p:cNvSpPr>
            <p:nvPr/>
          </p:nvSpPr>
          <p:spPr bwMode="auto">
            <a:xfrm>
              <a:off x="789" y="3257"/>
              <a:ext cx="4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1438" y="2158"/>
              <a:ext cx="2175" cy="1094"/>
            </a:xfrm>
            <a:custGeom>
              <a:avLst/>
              <a:gdLst>
                <a:gd name="T0" fmla="*/ 0 w 2175"/>
                <a:gd name="T1" fmla="*/ 1094 h 1094"/>
                <a:gd name="T2" fmla="*/ 168 w 2175"/>
                <a:gd name="T3" fmla="*/ 1077 h 1094"/>
                <a:gd name="T4" fmla="*/ 288 w 2175"/>
                <a:gd name="T5" fmla="*/ 1063 h 1094"/>
                <a:gd name="T6" fmla="*/ 494 w 2175"/>
                <a:gd name="T7" fmla="*/ 1010 h 1094"/>
                <a:gd name="T8" fmla="*/ 595 w 2175"/>
                <a:gd name="T9" fmla="*/ 967 h 1094"/>
                <a:gd name="T10" fmla="*/ 732 w 2175"/>
                <a:gd name="T11" fmla="*/ 895 h 1094"/>
                <a:gd name="T12" fmla="*/ 813 w 2175"/>
                <a:gd name="T13" fmla="*/ 826 h 1094"/>
                <a:gd name="T14" fmla="*/ 897 w 2175"/>
                <a:gd name="T15" fmla="*/ 746 h 1094"/>
                <a:gd name="T16" fmla="*/ 947 w 2175"/>
                <a:gd name="T17" fmla="*/ 684 h 1094"/>
                <a:gd name="T18" fmla="*/ 1017 w 2175"/>
                <a:gd name="T19" fmla="*/ 588 h 1094"/>
                <a:gd name="T20" fmla="*/ 1029 w 2175"/>
                <a:gd name="T21" fmla="*/ 564 h 1094"/>
                <a:gd name="T22" fmla="*/ 1079 w 2175"/>
                <a:gd name="T23" fmla="*/ 476 h 1094"/>
                <a:gd name="T24" fmla="*/ 1127 w 2175"/>
                <a:gd name="T25" fmla="*/ 380 h 1094"/>
                <a:gd name="T26" fmla="*/ 1175 w 2175"/>
                <a:gd name="T27" fmla="*/ 284 h 1094"/>
                <a:gd name="T28" fmla="*/ 1235 w 2175"/>
                <a:gd name="T29" fmla="*/ 176 h 1094"/>
                <a:gd name="T30" fmla="*/ 1283 w 2175"/>
                <a:gd name="T31" fmla="*/ 104 h 1094"/>
                <a:gd name="T32" fmla="*/ 1327 w 2175"/>
                <a:gd name="T33" fmla="*/ 56 h 1094"/>
                <a:gd name="T34" fmla="*/ 1379 w 2175"/>
                <a:gd name="T35" fmla="*/ 28 h 1094"/>
                <a:gd name="T36" fmla="*/ 1463 w 2175"/>
                <a:gd name="T37" fmla="*/ 0 h 1094"/>
                <a:gd name="T38" fmla="*/ 1523 w 2175"/>
                <a:gd name="T39" fmla="*/ 0 h 1094"/>
                <a:gd name="T40" fmla="*/ 1603 w 2175"/>
                <a:gd name="T41" fmla="*/ 28 h 1094"/>
                <a:gd name="T42" fmla="*/ 1691 w 2175"/>
                <a:gd name="T43" fmla="*/ 92 h 1094"/>
                <a:gd name="T44" fmla="*/ 1763 w 2175"/>
                <a:gd name="T45" fmla="*/ 180 h 1094"/>
                <a:gd name="T46" fmla="*/ 1859 w 2175"/>
                <a:gd name="T47" fmla="*/ 368 h 1094"/>
                <a:gd name="T48" fmla="*/ 1907 w 2175"/>
                <a:gd name="T49" fmla="*/ 472 h 1094"/>
                <a:gd name="T50" fmla="*/ 1951 w 2175"/>
                <a:gd name="T51" fmla="*/ 564 h 1094"/>
                <a:gd name="T52" fmla="*/ 1991 w 2175"/>
                <a:gd name="T53" fmla="*/ 620 h 1094"/>
                <a:gd name="T54" fmla="*/ 2063 w 2175"/>
                <a:gd name="T55" fmla="*/ 720 h 1094"/>
                <a:gd name="T56" fmla="*/ 2115 w 2175"/>
                <a:gd name="T57" fmla="*/ 778 h 1094"/>
                <a:gd name="T58" fmla="*/ 2175 w 2175"/>
                <a:gd name="T59" fmla="*/ 832 h 1094"/>
                <a:gd name="T60" fmla="*/ 2169 w 2175"/>
                <a:gd name="T61" fmla="*/ 1094 h 1094"/>
                <a:gd name="T62" fmla="*/ 0 w 2175"/>
                <a:gd name="T63" fmla="*/ 1094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75" h="1094">
                  <a:moveTo>
                    <a:pt x="0" y="1094"/>
                  </a:moveTo>
                  <a:lnTo>
                    <a:pt x="168" y="1077"/>
                  </a:lnTo>
                  <a:lnTo>
                    <a:pt x="288" y="1063"/>
                  </a:lnTo>
                  <a:lnTo>
                    <a:pt x="494" y="1010"/>
                  </a:lnTo>
                  <a:lnTo>
                    <a:pt x="595" y="967"/>
                  </a:lnTo>
                  <a:lnTo>
                    <a:pt x="732" y="895"/>
                  </a:lnTo>
                  <a:lnTo>
                    <a:pt x="813" y="826"/>
                  </a:lnTo>
                  <a:lnTo>
                    <a:pt x="897" y="746"/>
                  </a:lnTo>
                  <a:lnTo>
                    <a:pt x="947" y="684"/>
                  </a:lnTo>
                  <a:lnTo>
                    <a:pt x="1017" y="588"/>
                  </a:lnTo>
                  <a:lnTo>
                    <a:pt x="1029" y="564"/>
                  </a:lnTo>
                  <a:lnTo>
                    <a:pt x="1079" y="476"/>
                  </a:lnTo>
                  <a:lnTo>
                    <a:pt x="1127" y="380"/>
                  </a:lnTo>
                  <a:lnTo>
                    <a:pt x="1175" y="284"/>
                  </a:lnTo>
                  <a:lnTo>
                    <a:pt x="1235" y="176"/>
                  </a:lnTo>
                  <a:lnTo>
                    <a:pt x="1283" y="104"/>
                  </a:lnTo>
                  <a:lnTo>
                    <a:pt x="1327" y="56"/>
                  </a:lnTo>
                  <a:lnTo>
                    <a:pt x="1379" y="28"/>
                  </a:lnTo>
                  <a:lnTo>
                    <a:pt x="1463" y="0"/>
                  </a:lnTo>
                  <a:lnTo>
                    <a:pt x="1523" y="0"/>
                  </a:lnTo>
                  <a:lnTo>
                    <a:pt x="1603" y="28"/>
                  </a:lnTo>
                  <a:lnTo>
                    <a:pt x="1691" y="92"/>
                  </a:lnTo>
                  <a:lnTo>
                    <a:pt x="1763" y="180"/>
                  </a:lnTo>
                  <a:lnTo>
                    <a:pt x="1859" y="368"/>
                  </a:lnTo>
                  <a:lnTo>
                    <a:pt x="1907" y="472"/>
                  </a:lnTo>
                  <a:lnTo>
                    <a:pt x="1951" y="564"/>
                  </a:lnTo>
                  <a:lnTo>
                    <a:pt x="1991" y="620"/>
                  </a:lnTo>
                  <a:lnTo>
                    <a:pt x="2063" y="720"/>
                  </a:lnTo>
                  <a:lnTo>
                    <a:pt x="2115" y="778"/>
                  </a:lnTo>
                  <a:lnTo>
                    <a:pt x="2175" y="832"/>
                  </a:lnTo>
                  <a:lnTo>
                    <a:pt x="2169" y="1094"/>
                  </a:lnTo>
                  <a:lnTo>
                    <a:pt x="0" y="1094"/>
                  </a:lnTo>
                  <a:close/>
                </a:path>
              </a:pathLst>
            </a:custGeom>
            <a:solidFill>
              <a:srgbClr val="FFC000">
                <a:alpha val="60001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5095" y="3121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i="1"/>
                <a:t>z</a:t>
              </a:r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3613" y="2995"/>
              <a:ext cx="848" cy="260"/>
            </a:xfrm>
            <a:custGeom>
              <a:avLst/>
              <a:gdLst>
                <a:gd name="T0" fmla="*/ 848 w 848"/>
                <a:gd name="T1" fmla="*/ 260 h 260"/>
                <a:gd name="T2" fmla="*/ 0 w 848"/>
                <a:gd name="T3" fmla="*/ 259 h 260"/>
                <a:gd name="T4" fmla="*/ 2 w 848"/>
                <a:gd name="T5" fmla="*/ 0 h 260"/>
                <a:gd name="T6" fmla="*/ 70 w 848"/>
                <a:gd name="T7" fmla="*/ 46 h 260"/>
                <a:gd name="T8" fmla="*/ 128 w 848"/>
                <a:gd name="T9" fmla="*/ 85 h 260"/>
                <a:gd name="T10" fmla="*/ 195 w 848"/>
                <a:gd name="T11" fmla="*/ 116 h 260"/>
                <a:gd name="T12" fmla="*/ 278 w 848"/>
                <a:gd name="T13" fmla="*/ 151 h 260"/>
                <a:gd name="T14" fmla="*/ 464 w 848"/>
                <a:gd name="T15" fmla="*/ 212 h 260"/>
                <a:gd name="T16" fmla="*/ 710 w 848"/>
                <a:gd name="T17" fmla="*/ 247 h 260"/>
                <a:gd name="T18" fmla="*/ 848 w 848"/>
                <a:gd name="T19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8" h="260">
                  <a:moveTo>
                    <a:pt x="848" y="260"/>
                  </a:moveTo>
                  <a:lnTo>
                    <a:pt x="0" y="259"/>
                  </a:lnTo>
                  <a:lnTo>
                    <a:pt x="2" y="0"/>
                  </a:lnTo>
                  <a:cubicBezTo>
                    <a:pt x="37" y="24"/>
                    <a:pt x="49" y="33"/>
                    <a:pt x="70" y="46"/>
                  </a:cubicBezTo>
                  <a:cubicBezTo>
                    <a:pt x="91" y="60"/>
                    <a:pt x="107" y="73"/>
                    <a:pt x="128" y="85"/>
                  </a:cubicBezTo>
                  <a:cubicBezTo>
                    <a:pt x="149" y="97"/>
                    <a:pt x="170" y="105"/>
                    <a:pt x="195" y="116"/>
                  </a:cubicBezTo>
                  <a:cubicBezTo>
                    <a:pt x="220" y="127"/>
                    <a:pt x="233" y="135"/>
                    <a:pt x="278" y="151"/>
                  </a:cubicBezTo>
                  <a:lnTo>
                    <a:pt x="464" y="212"/>
                  </a:lnTo>
                  <a:lnTo>
                    <a:pt x="710" y="247"/>
                  </a:lnTo>
                  <a:lnTo>
                    <a:pt x="848" y="26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grpSp>
          <p:nvGrpSpPr>
            <p:cNvPr id="17" name="Group 11"/>
            <p:cNvGrpSpPr>
              <a:grpSpLocks/>
            </p:cNvGrpSpPr>
            <p:nvPr/>
          </p:nvGrpSpPr>
          <p:grpSpPr bwMode="auto">
            <a:xfrm>
              <a:off x="2766" y="3179"/>
              <a:ext cx="288" cy="375"/>
              <a:chOff x="2457" y="2754"/>
              <a:chExt cx="288" cy="375"/>
            </a:xfrm>
          </p:grpSpPr>
          <p:sp>
            <p:nvSpPr>
              <p:cNvPr id="36" name="Text Box 12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0</a:t>
                </a:r>
              </a:p>
            </p:txBody>
          </p:sp>
          <p:sp>
            <p:nvSpPr>
              <p:cNvPr id="37" name="Line 13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4"/>
            <p:cNvGrpSpPr>
              <a:grpSpLocks/>
            </p:cNvGrpSpPr>
            <p:nvPr/>
          </p:nvGrpSpPr>
          <p:grpSpPr bwMode="auto">
            <a:xfrm>
              <a:off x="3179" y="3179"/>
              <a:ext cx="288" cy="375"/>
              <a:chOff x="2457" y="2754"/>
              <a:chExt cx="288" cy="375"/>
            </a:xfrm>
          </p:grpSpPr>
          <p:sp>
            <p:nvSpPr>
              <p:cNvPr id="34" name="Text Box 15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1</a:t>
                </a:r>
              </a:p>
            </p:txBody>
          </p:sp>
          <p:sp>
            <p:nvSpPr>
              <p:cNvPr id="35" name="Line 16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7"/>
            <p:cNvGrpSpPr>
              <a:grpSpLocks/>
            </p:cNvGrpSpPr>
            <p:nvPr/>
          </p:nvGrpSpPr>
          <p:grpSpPr bwMode="auto">
            <a:xfrm>
              <a:off x="3592" y="3179"/>
              <a:ext cx="288" cy="375"/>
              <a:chOff x="2457" y="2754"/>
              <a:chExt cx="288" cy="375"/>
            </a:xfrm>
          </p:grpSpPr>
          <p:sp>
            <p:nvSpPr>
              <p:cNvPr id="32" name="Text Box 18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2</a:t>
                </a:r>
              </a:p>
            </p:txBody>
          </p:sp>
          <p:sp>
            <p:nvSpPr>
              <p:cNvPr id="33" name="Line 19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20"/>
            <p:cNvGrpSpPr>
              <a:grpSpLocks/>
            </p:cNvGrpSpPr>
            <p:nvPr/>
          </p:nvGrpSpPr>
          <p:grpSpPr bwMode="auto">
            <a:xfrm>
              <a:off x="4005" y="3179"/>
              <a:ext cx="288" cy="375"/>
              <a:chOff x="2457" y="2754"/>
              <a:chExt cx="288" cy="375"/>
            </a:xfrm>
          </p:grpSpPr>
          <p:sp>
            <p:nvSpPr>
              <p:cNvPr id="30" name="Text Box 21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3</a:t>
                </a:r>
              </a:p>
            </p:txBody>
          </p:sp>
          <p:sp>
            <p:nvSpPr>
              <p:cNvPr id="31" name="Line 22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3"/>
            <p:cNvGrpSpPr>
              <a:grpSpLocks/>
            </p:cNvGrpSpPr>
            <p:nvPr/>
          </p:nvGrpSpPr>
          <p:grpSpPr bwMode="auto">
            <a:xfrm>
              <a:off x="1576" y="3179"/>
              <a:ext cx="288" cy="375"/>
              <a:chOff x="2457" y="2754"/>
              <a:chExt cx="288" cy="375"/>
            </a:xfrm>
          </p:grpSpPr>
          <p:sp>
            <p:nvSpPr>
              <p:cNvPr id="28" name="Text Box 24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-3</a:t>
                </a:r>
              </a:p>
            </p:txBody>
          </p:sp>
          <p:sp>
            <p:nvSpPr>
              <p:cNvPr id="29" name="Line 25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1989" y="3179"/>
              <a:ext cx="288" cy="375"/>
              <a:chOff x="2457" y="2754"/>
              <a:chExt cx="288" cy="375"/>
            </a:xfrm>
          </p:grpSpPr>
          <p:sp>
            <p:nvSpPr>
              <p:cNvPr id="26" name="Text Box 27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-2</a:t>
                </a:r>
              </a:p>
            </p:txBody>
          </p:sp>
          <p:sp>
            <p:nvSpPr>
              <p:cNvPr id="27" name="Line 28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9"/>
            <p:cNvGrpSpPr>
              <a:grpSpLocks/>
            </p:cNvGrpSpPr>
            <p:nvPr/>
          </p:nvGrpSpPr>
          <p:grpSpPr bwMode="auto">
            <a:xfrm>
              <a:off x="2402" y="3179"/>
              <a:ext cx="288" cy="375"/>
              <a:chOff x="2457" y="2754"/>
              <a:chExt cx="288" cy="375"/>
            </a:xfrm>
          </p:grpSpPr>
          <p:sp>
            <p:nvSpPr>
              <p:cNvPr id="24" name="Text Box 30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-1</a:t>
                </a:r>
              </a:p>
            </p:txBody>
          </p:sp>
          <p:sp>
            <p:nvSpPr>
              <p:cNvPr id="25" name="Line 31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89040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5334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Example of test</a:t>
            </a:r>
            <a:endParaRPr lang="el-GR" altLang="en-US" sz="2800" dirty="0"/>
          </a:p>
        </p:txBody>
      </p:sp>
      <p:sp>
        <p:nvSpPr>
          <p:cNvPr id="1212424" name="Text Box 8"/>
          <p:cNvSpPr txBox="1">
            <a:spLocks noChangeArrowheads="1"/>
          </p:cNvSpPr>
          <p:nvPr/>
        </p:nvSpPr>
        <p:spPr bwMode="auto">
          <a:xfrm>
            <a:off x="83820" y="1408093"/>
            <a:ext cx="845058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69913" indent="-569913"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4538"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just">
              <a:buFont typeface="Arial" pitchFamily="34" charset="0"/>
              <a:buChar char="•"/>
            </a:pPr>
            <a:r>
              <a:rPr lang="en-US" sz="2800" dirty="0">
                <a:latin typeface="+mj-lt"/>
              </a:rPr>
              <a:t>A mobile manufacturer claims that the battery of its </a:t>
            </a:r>
            <a:r>
              <a:rPr lang="en-US" sz="2800" dirty="0" smtClean="0">
                <a:latin typeface="+mj-lt"/>
              </a:rPr>
              <a:t>smart phone </a:t>
            </a:r>
            <a:r>
              <a:rPr lang="en-US" sz="2800" dirty="0">
                <a:latin typeface="+mj-lt"/>
              </a:rPr>
              <a:t>has an average life of at least 3 year</a:t>
            </a:r>
            <a:r>
              <a:rPr lang="en-US" sz="2800" dirty="0" smtClean="0">
                <a:latin typeface="+mj-lt"/>
              </a:rPr>
              <a:t>.</a:t>
            </a:r>
            <a:endParaRPr lang="en-US" sz="28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2431" name="Rectangle 15"/>
              <p:cNvSpPr>
                <a:spLocks noChangeArrowheads="1"/>
              </p:cNvSpPr>
              <p:nvPr/>
            </p:nvSpPr>
            <p:spPr bwMode="auto">
              <a:xfrm>
                <a:off x="232111" y="2694950"/>
                <a:ext cx="782859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solidFill>
                      <a:schemeClr val="folHlink"/>
                    </a:solidFill>
                    <a:latin typeface="Times New Roman" pitchFamily="18" charset="0"/>
                    <a:sym typeface="Symbol" pitchFamily="18" charset="2"/>
                  </a:rPr>
                  <a:t>H0</a:t>
                </a:r>
                <a:r>
                  <a:rPr lang="en-US" sz="2800" dirty="0" smtClean="0">
                    <a:solidFill>
                      <a:schemeClr val="folHlink"/>
                    </a:solidFill>
                    <a:latin typeface="Times New Roman" pitchFamily="18" charset="0"/>
                  </a:rPr>
                  <a:t>:</a:t>
                </a:r>
                <a:r>
                  <a:rPr lang="en-US" sz="2800" i="1" dirty="0" smtClean="0">
                    <a:solidFill>
                      <a:schemeClr val="folHlink"/>
                    </a:solidFill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𝜇</m:t>
                    </m:r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≥3</m:t>
                    </m:r>
                  </m:oMath>
                </a14:m>
                <a:r>
                  <a:rPr lang="en-US" sz="2800" dirty="0" smtClean="0">
                    <a:solidFill>
                      <a:schemeClr val="folHlink"/>
                    </a:solidFill>
                    <a:sym typeface="Symbol" pitchFamily="18" charset="2"/>
                  </a:rPr>
                  <a:t>   </a:t>
                </a:r>
                <a:r>
                  <a:rPr lang="en-US" sz="2800" dirty="0">
                    <a:solidFill>
                      <a:schemeClr val="folHlink"/>
                    </a:solidFill>
                  </a:rPr>
                  <a:t>(C</a:t>
                </a:r>
                <a:r>
                  <a:rPr lang="en-US" altLang="en-US" sz="2800" dirty="0">
                    <a:solidFill>
                      <a:schemeClr val="folHlink"/>
                    </a:solidFill>
                  </a:rPr>
                  <a:t>laim</a:t>
                </a:r>
                <a:r>
                  <a:rPr lang="en-US" altLang="en-US" sz="2800" dirty="0" smtClean="0">
                    <a:solidFill>
                      <a:schemeClr val="folHlink"/>
                    </a:solidFill>
                  </a:rPr>
                  <a:t>)  --- Null Hypothesis</a:t>
                </a:r>
              </a:p>
            </p:txBody>
          </p:sp>
        </mc:Choice>
        <mc:Fallback>
          <p:sp>
            <p:nvSpPr>
              <p:cNvPr id="1212431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1" y="2694950"/>
                <a:ext cx="7828598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558" t="-12791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2432" name="Rectangle 16"/>
              <p:cNvSpPr>
                <a:spLocks noChangeArrowheads="1"/>
              </p:cNvSpPr>
              <p:nvPr/>
            </p:nvSpPr>
            <p:spPr bwMode="auto">
              <a:xfrm>
                <a:off x="232111" y="3581400"/>
                <a:ext cx="522829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dirty="0" smtClean="0">
                    <a:solidFill>
                      <a:schemeClr val="folHlink"/>
                    </a:solidFill>
                    <a:latin typeface="Times New Roman" pitchFamily="18" charset="0"/>
                  </a:rPr>
                  <a:t>H1:</a:t>
                </a:r>
                <a:r>
                  <a:rPr lang="en-US" sz="2800" i="1" dirty="0" smtClean="0">
                    <a:solidFill>
                      <a:schemeClr val="folHlink"/>
                    </a:solidFill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𝜇</m:t>
                    </m:r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&lt;</m:t>
                    </m:r>
                  </m:oMath>
                </a14:m>
                <a:r>
                  <a:rPr lang="en-US" sz="2800" dirty="0" smtClean="0">
                    <a:solidFill>
                      <a:schemeClr val="folHlink"/>
                    </a:solidFill>
                  </a:rPr>
                  <a:t>3 ---- Alternate Hypothesis</a:t>
                </a:r>
              </a:p>
            </p:txBody>
          </p:sp>
        </mc:Choice>
        <mc:Fallback>
          <p:sp>
            <p:nvSpPr>
              <p:cNvPr id="1212432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1" y="3581400"/>
                <a:ext cx="5228291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331" t="-12941" r="-268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2435" name="Rectangle 19"/>
          <p:cNvSpPr>
            <a:spLocks noChangeArrowheads="1"/>
          </p:cNvSpPr>
          <p:nvPr/>
        </p:nvSpPr>
        <p:spPr bwMode="auto">
          <a:xfrm>
            <a:off x="279083" y="766763"/>
            <a:ext cx="23710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Left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</a:rPr>
              <a:t>-</a:t>
            </a:r>
            <a:r>
              <a:rPr lang="en-US" sz="2800" b="1" dirty="0" smtClean="0">
                <a:solidFill>
                  <a:srgbClr val="FF0000"/>
                </a:solidFill>
              </a:rPr>
              <a:t>tailed </a:t>
            </a:r>
            <a:r>
              <a:rPr lang="en-US" sz="2800" b="1" dirty="0">
                <a:solidFill>
                  <a:srgbClr val="FF0000"/>
                </a:solidFill>
              </a:rPr>
              <a:t>test</a:t>
            </a:r>
          </a:p>
        </p:txBody>
      </p:sp>
      <p:grpSp>
        <p:nvGrpSpPr>
          <p:cNvPr id="38" name="Group 80"/>
          <p:cNvGrpSpPr>
            <a:grpSpLocks/>
          </p:cNvGrpSpPr>
          <p:nvPr/>
        </p:nvGrpSpPr>
        <p:grpSpPr bwMode="auto">
          <a:xfrm>
            <a:off x="1309285" y="4350047"/>
            <a:ext cx="4939115" cy="1441153"/>
            <a:chOff x="789" y="2150"/>
            <a:chExt cx="4491" cy="1597"/>
          </a:xfrm>
        </p:grpSpPr>
        <p:pic>
          <p:nvPicPr>
            <p:cNvPr id="39" name="Picture 3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" y="2150"/>
              <a:ext cx="3132" cy="1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Line 6"/>
            <p:cNvSpPr>
              <a:spLocks noChangeShapeType="1"/>
            </p:cNvSpPr>
            <p:nvPr/>
          </p:nvSpPr>
          <p:spPr bwMode="auto">
            <a:xfrm>
              <a:off x="789" y="3257"/>
              <a:ext cx="4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2251" y="2158"/>
              <a:ext cx="2129" cy="1096"/>
            </a:xfrm>
            <a:custGeom>
              <a:avLst/>
              <a:gdLst>
                <a:gd name="T0" fmla="*/ 2 w 2129"/>
                <a:gd name="T1" fmla="*/ 1096 h 1096"/>
                <a:gd name="T2" fmla="*/ 0 w 2129"/>
                <a:gd name="T3" fmla="*/ 826 h 1096"/>
                <a:gd name="T4" fmla="*/ 84 w 2129"/>
                <a:gd name="T5" fmla="*/ 746 h 1096"/>
                <a:gd name="T6" fmla="*/ 134 w 2129"/>
                <a:gd name="T7" fmla="*/ 684 h 1096"/>
                <a:gd name="T8" fmla="*/ 204 w 2129"/>
                <a:gd name="T9" fmla="*/ 588 h 1096"/>
                <a:gd name="T10" fmla="*/ 216 w 2129"/>
                <a:gd name="T11" fmla="*/ 564 h 1096"/>
                <a:gd name="T12" fmla="*/ 266 w 2129"/>
                <a:gd name="T13" fmla="*/ 476 h 1096"/>
                <a:gd name="T14" fmla="*/ 314 w 2129"/>
                <a:gd name="T15" fmla="*/ 380 h 1096"/>
                <a:gd name="T16" fmla="*/ 362 w 2129"/>
                <a:gd name="T17" fmla="*/ 284 h 1096"/>
                <a:gd name="T18" fmla="*/ 422 w 2129"/>
                <a:gd name="T19" fmla="*/ 176 h 1096"/>
                <a:gd name="T20" fmla="*/ 470 w 2129"/>
                <a:gd name="T21" fmla="*/ 104 h 1096"/>
                <a:gd name="T22" fmla="*/ 514 w 2129"/>
                <a:gd name="T23" fmla="*/ 56 h 1096"/>
                <a:gd name="T24" fmla="*/ 566 w 2129"/>
                <a:gd name="T25" fmla="*/ 28 h 1096"/>
                <a:gd name="T26" fmla="*/ 650 w 2129"/>
                <a:gd name="T27" fmla="*/ 0 h 1096"/>
                <a:gd name="T28" fmla="*/ 710 w 2129"/>
                <a:gd name="T29" fmla="*/ 0 h 1096"/>
                <a:gd name="T30" fmla="*/ 790 w 2129"/>
                <a:gd name="T31" fmla="*/ 28 h 1096"/>
                <a:gd name="T32" fmla="*/ 878 w 2129"/>
                <a:gd name="T33" fmla="*/ 92 h 1096"/>
                <a:gd name="T34" fmla="*/ 950 w 2129"/>
                <a:gd name="T35" fmla="*/ 180 h 1096"/>
                <a:gd name="T36" fmla="*/ 1046 w 2129"/>
                <a:gd name="T37" fmla="*/ 368 h 1096"/>
                <a:gd name="T38" fmla="*/ 1094 w 2129"/>
                <a:gd name="T39" fmla="*/ 472 h 1096"/>
                <a:gd name="T40" fmla="*/ 1138 w 2129"/>
                <a:gd name="T41" fmla="*/ 564 h 1096"/>
                <a:gd name="T42" fmla="*/ 1178 w 2129"/>
                <a:gd name="T43" fmla="*/ 620 h 1096"/>
                <a:gd name="T44" fmla="*/ 1250 w 2129"/>
                <a:gd name="T45" fmla="*/ 720 h 1096"/>
                <a:gd name="T46" fmla="*/ 1302 w 2129"/>
                <a:gd name="T47" fmla="*/ 778 h 1096"/>
                <a:gd name="T48" fmla="*/ 1362 w 2129"/>
                <a:gd name="T49" fmla="*/ 832 h 1096"/>
                <a:gd name="T50" fmla="*/ 1560 w 2129"/>
                <a:gd name="T51" fmla="*/ 962 h 1096"/>
                <a:gd name="T52" fmla="*/ 1738 w 2129"/>
                <a:gd name="T53" fmla="*/ 1029 h 1096"/>
                <a:gd name="T54" fmla="*/ 1944 w 2129"/>
                <a:gd name="T55" fmla="*/ 1072 h 1096"/>
                <a:gd name="T56" fmla="*/ 2129 w 2129"/>
                <a:gd name="T57" fmla="*/ 1094 h 1096"/>
                <a:gd name="T58" fmla="*/ 2 w 2129"/>
                <a:gd name="T59" fmla="*/ 1096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129" h="1096">
                  <a:moveTo>
                    <a:pt x="2" y="1096"/>
                  </a:moveTo>
                  <a:lnTo>
                    <a:pt x="0" y="826"/>
                  </a:lnTo>
                  <a:lnTo>
                    <a:pt x="84" y="746"/>
                  </a:lnTo>
                  <a:lnTo>
                    <a:pt x="134" y="684"/>
                  </a:lnTo>
                  <a:lnTo>
                    <a:pt x="204" y="588"/>
                  </a:lnTo>
                  <a:lnTo>
                    <a:pt x="216" y="564"/>
                  </a:lnTo>
                  <a:lnTo>
                    <a:pt x="266" y="476"/>
                  </a:lnTo>
                  <a:lnTo>
                    <a:pt x="314" y="380"/>
                  </a:lnTo>
                  <a:lnTo>
                    <a:pt x="362" y="284"/>
                  </a:lnTo>
                  <a:lnTo>
                    <a:pt x="422" y="176"/>
                  </a:lnTo>
                  <a:lnTo>
                    <a:pt x="470" y="104"/>
                  </a:lnTo>
                  <a:lnTo>
                    <a:pt x="514" y="56"/>
                  </a:lnTo>
                  <a:lnTo>
                    <a:pt x="566" y="28"/>
                  </a:lnTo>
                  <a:lnTo>
                    <a:pt x="650" y="0"/>
                  </a:lnTo>
                  <a:lnTo>
                    <a:pt x="710" y="0"/>
                  </a:lnTo>
                  <a:lnTo>
                    <a:pt x="790" y="28"/>
                  </a:lnTo>
                  <a:lnTo>
                    <a:pt x="878" y="92"/>
                  </a:lnTo>
                  <a:lnTo>
                    <a:pt x="950" y="180"/>
                  </a:lnTo>
                  <a:lnTo>
                    <a:pt x="1046" y="368"/>
                  </a:lnTo>
                  <a:lnTo>
                    <a:pt x="1094" y="472"/>
                  </a:lnTo>
                  <a:lnTo>
                    <a:pt x="1138" y="564"/>
                  </a:lnTo>
                  <a:lnTo>
                    <a:pt x="1178" y="620"/>
                  </a:lnTo>
                  <a:lnTo>
                    <a:pt x="1250" y="720"/>
                  </a:lnTo>
                  <a:lnTo>
                    <a:pt x="1302" y="778"/>
                  </a:lnTo>
                  <a:lnTo>
                    <a:pt x="1362" y="832"/>
                  </a:lnTo>
                  <a:lnTo>
                    <a:pt x="1560" y="962"/>
                  </a:lnTo>
                  <a:lnTo>
                    <a:pt x="1738" y="1029"/>
                  </a:lnTo>
                  <a:lnTo>
                    <a:pt x="1944" y="1072"/>
                  </a:lnTo>
                  <a:lnTo>
                    <a:pt x="2129" y="1094"/>
                  </a:lnTo>
                  <a:lnTo>
                    <a:pt x="2" y="1096"/>
                  </a:lnTo>
                  <a:close/>
                </a:path>
              </a:pathLst>
            </a:custGeom>
            <a:solidFill>
              <a:srgbClr val="FFC000">
                <a:alpha val="60001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5095" y="3121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i="1"/>
                <a:t>z</a:t>
              </a:r>
            </a:p>
          </p:txBody>
        </p:sp>
        <p:sp>
          <p:nvSpPr>
            <p:cNvPr id="43" name="Freeform 42"/>
            <p:cNvSpPr>
              <a:spLocks/>
            </p:cNvSpPr>
            <p:nvPr/>
          </p:nvSpPr>
          <p:spPr bwMode="auto">
            <a:xfrm>
              <a:off x="1413" y="2995"/>
              <a:ext cx="845" cy="259"/>
            </a:xfrm>
            <a:custGeom>
              <a:avLst/>
              <a:gdLst>
                <a:gd name="T0" fmla="*/ 0 w 845"/>
                <a:gd name="T1" fmla="*/ 259 h 259"/>
                <a:gd name="T2" fmla="*/ 835 w 845"/>
                <a:gd name="T3" fmla="*/ 256 h 259"/>
                <a:gd name="T4" fmla="*/ 835 w 845"/>
                <a:gd name="T5" fmla="*/ 0 h 259"/>
                <a:gd name="T6" fmla="*/ 776 w 845"/>
                <a:gd name="T7" fmla="*/ 37 h 259"/>
                <a:gd name="T8" fmla="*/ 717 w 845"/>
                <a:gd name="T9" fmla="*/ 75 h 259"/>
                <a:gd name="T10" fmla="*/ 653 w 845"/>
                <a:gd name="T11" fmla="*/ 115 h 259"/>
                <a:gd name="T12" fmla="*/ 570 w 845"/>
                <a:gd name="T13" fmla="*/ 150 h 259"/>
                <a:gd name="T14" fmla="*/ 384 w 845"/>
                <a:gd name="T15" fmla="*/ 211 h 259"/>
                <a:gd name="T16" fmla="*/ 138 w 845"/>
                <a:gd name="T17" fmla="*/ 246 h 259"/>
                <a:gd name="T18" fmla="*/ 0 w 845"/>
                <a:gd name="T19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5" h="259">
                  <a:moveTo>
                    <a:pt x="0" y="259"/>
                  </a:moveTo>
                  <a:lnTo>
                    <a:pt x="835" y="256"/>
                  </a:lnTo>
                  <a:cubicBezTo>
                    <a:pt x="835" y="256"/>
                    <a:pt x="845" y="36"/>
                    <a:pt x="835" y="0"/>
                  </a:cubicBezTo>
                  <a:cubicBezTo>
                    <a:pt x="795" y="21"/>
                    <a:pt x="806" y="18"/>
                    <a:pt x="776" y="37"/>
                  </a:cubicBezTo>
                  <a:cubicBezTo>
                    <a:pt x="756" y="50"/>
                    <a:pt x="738" y="62"/>
                    <a:pt x="717" y="75"/>
                  </a:cubicBezTo>
                  <a:cubicBezTo>
                    <a:pt x="696" y="88"/>
                    <a:pt x="677" y="103"/>
                    <a:pt x="653" y="115"/>
                  </a:cubicBezTo>
                  <a:cubicBezTo>
                    <a:pt x="629" y="127"/>
                    <a:pt x="615" y="134"/>
                    <a:pt x="570" y="150"/>
                  </a:cubicBezTo>
                  <a:lnTo>
                    <a:pt x="384" y="211"/>
                  </a:lnTo>
                  <a:lnTo>
                    <a:pt x="138" y="246"/>
                  </a:lnTo>
                  <a:lnTo>
                    <a:pt x="0" y="259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grpSp>
          <p:nvGrpSpPr>
            <p:cNvPr id="44" name="Group 79"/>
            <p:cNvGrpSpPr>
              <a:grpSpLocks/>
            </p:cNvGrpSpPr>
            <p:nvPr/>
          </p:nvGrpSpPr>
          <p:grpSpPr bwMode="auto">
            <a:xfrm>
              <a:off x="2766" y="3179"/>
              <a:ext cx="288" cy="375"/>
              <a:chOff x="2766" y="3179"/>
              <a:chExt cx="288" cy="375"/>
            </a:xfrm>
          </p:grpSpPr>
          <p:sp>
            <p:nvSpPr>
              <p:cNvPr id="63" name="Text Box 12"/>
              <p:cNvSpPr txBox="1">
                <a:spLocks noChangeArrowheads="1"/>
              </p:cNvSpPr>
              <p:nvPr/>
            </p:nvSpPr>
            <p:spPr bwMode="auto">
              <a:xfrm>
                <a:off x="2766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0</a:t>
                </a:r>
              </a:p>
            </p:txBody>
          </p:sp>
          <p:sp>
            <p:nvSpPr>
              <p:cNvPr id="64" name="Line 13"/>
              <p:cNvSpPr>
                <a:spLocks noChangeShapeType="1"/>
              </p:cNvSpPr>
              <p:nvPr/>
            </p:nvSpPr>
            <p:spPr bwMode="auto">
              <a:xfrm>
                <a:off x="2901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5" name="Group 78"/>
            <p:cNvGrpSpPr>
              <a:grpSpLocks/>
            </p:cNvGrpSpPr>
            <p:nvPr/>
          </p:nvGrpSpPr>
          <p:grpSpPr bwMode="auto">
            <a:xfrm>
              <a:off x="3179" y="3179"/>
              <a:ext cx="288" cy="375"/>
              <a:chOff x="3179" y="3179"/>
              <a:chExt cx="288" cy="375"/>
            </a:xfrm>
          </p:grpSpPr>
          <p:sp>
            <p:nvSpPr>
              <p:cNvPr id="61" name="Text Box 15"/>
              <p:cNvSpPr txBox="1">
                <a:spLocks noChangeArrowheads="1"/>
              </p:cNvSpPr>
              <p:nvPr/>
            </p:nvSpPr>
            <p:spPr bwMode="auto">
              <a:xfrm>
                <a:off x="3179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1</a:t>
                </a:r>
              </a:p>
            </p:txBody>
          </p:sp>
          <p:sp>
            <p:nvSpPr>
              <p:cNvPr id="62" name="Line 16"/>
              <p:cNvSpPr>
                <a:spLocks noChangeShapeType="1"/>
              </p:cNvSpPr>
              <p:nvPr/>
            </p:nvSpPr>
            <p:spPr bwMode="auto">
              <a:xfrm>
                <a:off x="3314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6" name="Group 77"/>
            <p:cNvGrpSpPr>
              <a:grpSpLocks/>
            </p:cNvGrpSpPr>
            <p:nvPr/>
          </p:nvGrpSpPr>
          <p:grpSpPr bwMode="auto">
            <a:xfrm>
              <a:off x="3592" y="3179"/>
              <a:ext cx="288" cy="375"/>
              <a:chOff x="3592" y="3179"/>
              <a:chExt cx="288" cy="375"/>
            </a:xfrm>
          </p:grpSpPr>
          <p:sp>
            <p:nvSpPr>
              <p:cNvPr id="59" name="Text Box 18"/>
              <p:cNvSpPr txBox="1">
                <a:spLocks noChangeArrowheads="1"/>
              </p:cNvSpPr>
              <p:nvPr/>
            </p:nvSpPr>
            <p:spPr bwMode="auto">
              <a:xfrm>
                <a:off x="3592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/>
                  <a:t>2</a:t>
                </a:r>
              </a:p>
            </p:txBody>
          </p:sp>
          <p:sp>
            <p:nvSpPr>
              <p:cNvPr id="60" name="Line 19"/>
              <p:cNvSpPr>
                <a:spLocks noChangeShapeType="1"/>
              </p:cNvSpPr>
              <p:nvPr/>
            </p:nvSpPr>
            <p:spPr bwMode="auto">
              <a:xfrm>
                <a:off x="3727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7" name="Group 76"/>
            <p:cNvGrpSpPr>
              <a:grpSpLocks/>
            </p:cNvGrpSpPr>
            <p:nvPr/>
          </p:nvGrpSpPr>
          <p:grpSpPr bwMode="auto">
            <a:xfrm>
              <a:off x="4005" y="3179"/>
              <a:ext cx="288" cy="375"/>
              <a:chOff x="4005" y="3179"/>
              <a:chExt cx="288" cy="375"/>
            </a:xfrm>
          </p:grpSpPr>
          <p:sp>
            <p:nvSpPr>
              <p:cNvPr id="57" name="Text Box 21"/>
              <p:cNvSpPr txBox="1">
                <a:spLocks noChangeArrowheads="1"/>
              </p:cNvSpPr>
              <p:nvPr/>
            </p:nvSpPr>
            <p:spPr bwMode="auto">
              <a:xfrm>
                <a:off x="4005" y="330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3</a:t>
                </a:r>
              </a:p>
            </p:txBody>
          </p:sp>
          <p:sp>
            <p:nvSpPr>
              <p:cNvPr id="58" name="Line 22"/>
              <p:cNvSpPr>
                <a:spLocks noChangeShapeType="1"/>
              </p:cNvSpPr>
              <p:nvPr/>
            </p:nvSpPr>
            <p:spPr bwMode="auto">
              <a:xfrm>
                <a:off x="4140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8" name="Group 75"/>
            <p:cNvGrpSpPr>
              <a:grpSpLocks/>
            </p:cNvGrpSpPr>
            <p:nvPr/>
          </p:nvGrpSpPr>
          <p:grpSpPr bwMode="auto">
            <a:xfrm>
              <a:off x="1576" y="3179"/>
              <a:ext cx="288" cy="568"/>
              <a:chOff x="1576" y="3179"/>
              <a:chExt cx="288" cy="568"/>
            </a:xfrm>
          </p:grpSpPr>
          <p:sp>
            <p:nvSpPr>
              <p:cNvPr id="55" name="Text Box 24"/>
              <p:cNvSpPr txBox="1">
                <a:spLocks noChangeArrowheads="1"/>
              </p:cNvSpPr>
              <p:nvPr/>
            </p:nvSpPr>
            <p:spPr bwMode="auto">
              <a:xfrm>
                <a:off x="1576" y="3304"/>
                <a:ext cx="288" cy="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 smtClean="0"/>
                  <a:t>3</a:t>
                </a:r>
                <a:endParaRPr lang="en-US" sz="2000" dirty="0"/>
              </a:p>
            </p:txBody>
          </p:sp>
          <p:sp>
            <p:nvSpPr>
              <p:cNvPr id="56" name="Line 25"/>
              <p:cNvSpPr>
                <a:spLocks noChangeShapeType="1"/>
              </p:cNvSpPr>
              <p:nvPr/>
            </p:nvSpPr>
            <p:spPr bwMode="auto">
              <a:xfrm>
                <a:off x="1711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49" name="Group 74"/>
            <p:cNvGrpSpPr>
              <a:grpSpLocks/>
            </p:cNvGrpSpPr>
            <p:nvPr/>
          </p:nvGrpSpPr>
          <p:grpSpPr bwMode="auto">
            <a:xfrm>
              <a:off x="1989" y="3179"/>
              <a:ext cx="288" cy="568"/>
              <a:chOff x="1989" y="3179"/>
              <a:chExt cx="288" cy="568"/>
            </a:xfrm>
          </p:grpSpPr>
          <p:sp>
            <p:nvSpPr>
              <p:cNvPr id="53" name="Text Box 27"/>
              <p:cNvSpPr txBox="1">
                <a:spLocks noChangeArrowheads="1"/>
              </p:cNvSpPr>
              <p:nvPr/>
            </p:nvSpPr>
            <p:spPr bwMode="auto">
              <a:xfrm>
                <a:off x="1989" y="3304"/>
                <a:ext cx="288" cy="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 smtClean="0"/>
                  <a:t>2</a:t>
                </a:r>
                <a:endParaRPr lang="en-US" sz="2000" dirty="0"/>
              </a:p>
            </p:txBody>
          </p:sp>
          <p:sp>
            <p:nvSpPr>
              <p:cNvPr id="54" name="Line 28"/>
              <p:cNvSpPr>
                <a:spLocks noChangeShapeType="1"/>
              </p:cNvSpPr>
              <p:nvPr/>
            </p:nvSpPr>
            <p:spPr bwMode="auto">
              <a:xfrm>
                <a:off x="2124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50" name="Group 73"/>
            <p:cNvGrpSpPr>
              <a:grpSpLocks/>
            </p:cNvGrpSpPr>
            <p:nvPr/>
          </p:nvGrpSpPr>
          <p:grpSpPr bwMode="auto">
            <a:xfrm>
              <a:off x="2402" y="3179"/>
              <a:ext cx="288" cy="568"/>
              <a:chOff x="2402" y="3179"/>
              <a:chExt cx="288" cy="568"/>
            </a:xfrm>
          </p:grpSpPr>
          <p:sp>
            <p:nvSpPr>
              <p:cNvPr id="51" name="Text Box 30"/>
              <p:cNvSpPr txBox="1">
                <a:spLocks noChangeArrowheads="1"/>
              </p:cNvSpPr>
              <p:nvPr/>
            </p:nvSpPr>
            <p:spPr bwMode="auto">
              <a:xfrm>
                <a:off x="2402" y="3304"/>
                <a:ext cx="288" cy="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 smtClean="0"/>
                  <a:t>1</a:t>
                </a:r>
                <a:endParaRPr lang="en-US" sz="2000" dirty="0"/>
              </a:p>
            </p:txBody>
          </p:sp>
          <p:sp>
            <p:nvSpPr>
              <p:cNvPr id="52" name="Line 31"/>
              <p:cNvSpPr>
                <a:spLocks noChangeShapeType="1"/>
              </p:cNvSpPr>
              <p:nvPr/>
            </p:nvSpPr>
            <p:spPr bwMode="auto">
              <a:xfrm>
                <a:off x="2537" y="3179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26892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5334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Example of test</a:t>
            </a:r>
            <a:endParaRPr lang="el-GR" altLang="en-US" sz="2800" dirty="0"/>
          </a:p>
        </p:txBody>
      </p:sp>
      <p:sp>
        <p:nvSpPr>
          <p:cNvPr id="1212428" name="Text Box 12"/>
          <p:cNvSpPr txBox="1">
            <a:spLocks noChangeArrowheads="1"/>
          </p:cNvSpPr>
          <p:nvPr/>
        </p:nvSpPr>
        <p:spPr bwMode="auto">
          <a:xfrm>
            <a:off x="152400" y="1371600"/>
            <a:ext cx="81534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69913" indent="-569913"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4538"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342900" indent="-342900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+mj-lt"/>
              </a:rPr>
              <a:t>A </a:t>
            </a:r>
            <a:r>
              <a:rPr lang="en-US" sz="2800" dirty="0">
                <a:latin typeface="+mj-lt"/>
              </a:rPr>
              <a:t>local </a:t>
            </a:r>
            <a:r>
              <a:rPr lang="en-US" sz="2800" dirty="0" smtClean="0">
                <a:latin typeface="+mj-lt"/>
              </a:rPr>
              <a:t>mobile company </a:t>
            </a:r>
            <a:r>
              <a:rPr lang="en-US" sz="2800" dirty="0">
                <a:latin typeface="+mj-lt"/>
              </a:rPr>
              <a:t>claims that the average </a:t>
            </a:r>
            <a:r>
              <a:rPr lang="en-US" sz="2800" dirty="0" smtClean="0">
                <a:latin typeface="+mj-lt"/>
              </a:rPr>
              <a:t>data downloaded by a user is 1.5 Gb per day</a:t>
            </a:r>
            <a:endParaRPr lang="en-US" sz="2800" dirty="0">
              <a:latin typeface="+mj-lt"/>
            </a:endParaRPr>
          </a:p>
        </p:txBody>
      </p:sp>
      <p:sp>
        <p:nvSpPr>
          <p:cNvPr id="1212441" name="Rectangle 25"/>
          <p:cNvSpPr>
            <a:spLocks noChangeArrowheads="1"/>
          </p:cNvSpPr>
          <p:nvPr/>
        </p:nvSpPr>
        <p:spPr bwMode="auto">
          <a:xfrm>
            <a:off x="289560" y="762000"/>
            <a:ext cx="24259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Two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</a:rPr>
              <a:t>-</a:t>
            </a:r>
            <a:r>
              <a:rPr lang="en-US" sz="2800" b="1" dirty="0">
                <a:solidFill>
                  <a:srgbClr val="FF0000"/>
                </a:solidFill>
              </a:rPr>
              <a:t>tailed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5"/>
              <p:cNvSpPr>
                <a:spLocks noChangeArrowheads="1"/>
              </p:cNvSpPr>
              <p:nvPr/>
            </p:nvSpPr>
            <p:spPr bwMode="auto">
              <a:xfrm>
                <a:off x="232111" y="2438400"/>
                <a:ext cx="782859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solidFill>
                      <a:schemeClr val="folHlink"/>
                    </a:solidFill>
                    <a:latin typeface="Times New Roman" pitchFamily="18" charset="0"/>
                    <a:sym typeface="Symbol" pitchFamily="18" charset="2"/>
                  </a:rPr>
                  <a:t>H0</a:t>
                </a:r>
                <a:r>
                  <a:rPr lang="en-US" sz="2800" dirty="0" smtClean="0">
                    <a:solidFill>
                      <a:schemeClr val="folHlink"/>
                    </a:solidFill>
                    <a:latin typeface="Times New Roman" pitchFamily="18" charset="0"/>
                  </a:rPr>
                  <a:t>:</a:t>
                </a:r>
                <a:r>
                  <a:rPr lang="en-US" sz="2800" i="1" dirty="0" smtClean="0">
                    <a:solidFill>
                      <a:schemeClr val="folHlink"/>
                    </a:solidFill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𝜇</m:t>
                    </m:r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ea typeface="Cambria Math"/>
                        <a:sym typeface="Symbol" pitchFamily="18" charset="2"/>
                      </a:rPr>
                      <m:t>=</m:t>
                    </m:r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1.5</m:t>
                    </m:r>
                  </m:oMath>
                </a14:m>
                <a:r>
                  <a:rPr lang="en-US" sz="2800" dirty="0" smtClean="0">
                    <a:solidFill>
                      <a:schemeClr val="folHlink"/>
                    </a:solidFill>
                    <a:sym typeface="Symbol" pitchFamily="18" charset="2"/>
                  </a:rPr>
                  <a:t>   </a:t>
                </a:r>
                <a:r>
                  <a:rPr lang="en-US" sz="2800" dirty="0">
                    <a:solidFill>
                      <a:schemeClr val="folHlink"/>
                    </a:solidFill>
                  </a:rPr>
                  <a:t>(C</a:t>
                </a:r>
                <a:r>
                  <a:rPr lang="en-US" altLang="en-US" sz="2800" dirty="0">
                    <a:solidFill>
                      <a:schemeClr val="folHlink"/>
                    </a:solidFill>
                  </a:rPr>
                  <a:t>laim</a:t>
                </a:r>
                <a:r>
                  <a:rPr lang="en-US" altLang="en-US" sz="2800" dirty="0" smtClean="0">
                    <a:solidFill>
                      <a:schemeClr val="folHlink"/>
                    </a:solidFill>
                  </a:rPr>
                  <a:t>)  --- Null Hypothesis</a:t>
                </a:r>
              </a:p>
            </p:txBody>
          </p:sp>
        </mc:Choice>
        <mc:Fallback>
          <p:sp>
            <p:nvSpPr>
              <p:cNvPr id="11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1" y="2438400"/>
                <a:ext cx="7828598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558" t="-12791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6"/>
              <p:cNvSpPr>
                <a:spLocks noChangeArrowheads="1"/>
              </p:cNvSpPr>
              <p:nvPr/>
            </p:nvSpPr>
            <p:spPr bwMode="auto">
              <a:xfrm>
                <a:off x="232111" y="3124200"/>
                <a:ext cx="558255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800" dirty="0" smtClean="0">
                    <a:solidFill>
                      <a:schemeClr val="folHlink"/>
                    </a:solidFill>
                    <a:latin typeface="Times New Roman" pitchFamily="18" charset="0"/>
                  </a:rPr>
                  <a:t>H1:</a:t>
                </a:r>
                <a:r>
                  <a:rPr lang="en-US" sz="2800" i="1" dirty="0" smtClean="0">
                    <a:solidFill>
                      <a:schemeClr val="folHlink"/>
                    </a:solidFill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𝜇</m:t>
                    </m:r>
                    <m:r>
                      <a:rPr lang="en-IN" sz="2800" b="0" i="1" smtClean="0">
                        <a:solidFill>
                          <a:schemeClr val="folHlink"/>
                        </a:solidFill>
                        <a:latin typeface="Cambria Math"/>
                        <a:sym typeface="Symbol" pitchFamily="18" charset="2"/>
                      </a:rPr>
                      <m:t>≠</m:t>
                    </m:r>
                  </m:oMath>
                </a14:m>
                <a:r>
                  <a:rPr lang="en-US" sz="2800" dirty="0" smtClean="0">
                    <a:solidFill>
                      <a:schemeClr val="folHlink"/>
                    </a:solidFill>
                  </a:rPr>
                  <a:t> 1.5 ---- Alternate Hypothesis</a:t>
                </a:r>
              </a:p>
            </p:txBody>
          </p:sp>
        </mc:Choice>
        <mc:Fallback>
          <p:sp>
            <p:nvSpPr>
              <p:cNvPr id="12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1" y="3124200"/>
                <a:ext cx="5582554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183" t="-12941" r="-2402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71"/>
          <p:cNvGrpSpPr>
            <a:grpSpLocks/>
          </p:cNvGrpSpPr>
          <p:nvPr/>
        </p:nvGrpSpPr>
        <p:grpSpPr bwMode="auto">
          <a:xfrm>
            <a:off x="1252538" y="4371181"/>
            <a:ext cx="6443662" cy="1724819"/>
            <a:chOff x="789" y="2150"/>
            <a:chExt cx="4491" cy="1404"/>
          </a:xfrm>
        </p:grpSpPr>
        <p:pic>
          <p:nvPicPr>
            <p:cNvPr id="14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" y="2150"/>
              <a:ext cx="3132" cy="1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789" y="3257"/>
              <a:ext cx="4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Freeform 8"/>
            <p:cNvSpPr>
              <a:spLocks/>
            </p:cNvSpPr>
            <p:nvPr/>
          </p:nvSpPr>
          <p:spPr bwMode="auto">
            <a:xfrm>
              <a:off x="2251" y="2158"/>
              <a:ext cx="1362" cy="1096"/>
            </a:xfrm>
            <a:custGeom>
              <a:avLst/>
              <a:gdLst>
                <a:gd name="T0" fmla="*/ 2 w 1362"/>
                <a:gd name="T1" fmla="*/ 1096 h 1096"/>
                <a:gd name="T2" fmla="*/ 0 w 1362"/>
                <a:gd name="T3" fmla="*/ 826 h 1096"/>
                <a:gd name="T4" fmla="*/ 84 w 1362"/>
                <a:gd name="T5" fmla="*/ 746 h 1096"/>
                <a:gd name="T6" fmla="*/ 134 w 1362"/>
                <a:gd name="T7" fmla="*/ 684 h 1096"/>
                <a:gd name="T8" fmla="*/ 204 w 1362"/>
                <a:gd name="T9" fmla="*/ 588 h 1096"/>
                <a:gd name="T10" fmla="*/ 216 w 1362"/>
                <a:gd name="T11" fmla="*/ 564 h 1096"/>
                <a:gd name="T12" fmla="*/ 266 w 1362"/>
                <a:gd name="T13" fmla="*/ 476 h 1096"/>
                <a:gd name="T14" fmla="*/ 314 w 1362"/>
                <a:gd name="T15" fmla="*/ 380 h 1096"/>
                <a:gd name="T16" fmla="*/ 362 w 1362"/>
                <a:gd name="T17" fmla="*/ 284 h 1096"/>
                <a:gd name="T18" fmla="*/ 422 w 1362"/>
                <a:gd name="T19" fmla="*/ 176 h 1096"/>
                <a:gd name="T20" fmla="*/ 470 w 1362"/>
                <a:gd name="T21" fmla="*/ 104 h 1096"/>
                <a:gd name="T22" fmla="*/ 514 w 1362"/>
                <a:gd name="T23" fmla="*/ 56 h 1096"/>
                <a:gd name="T24" fmla="*/ 566 w 1362"/>
                <a:gd name="T25" fmla="*/ 28 h 1096"/>
                <a:gd name="T26" fmla="*/ 650 w 1362"/>
                <a:gd name="T27" fmla="*/ 0 h 1096"/>
                <a:gd name="T28" fmla="*/ 710 w 1362"/>
                <a:gd name="T29" fmla="*/ 0 h 1096"/>
                <a:gd name="T30" fmla="*/ 790 w 1362"/>
                <a:gd name="T31" fmla="*/ 28 h 1096"/>
                <a:gd name="T32" fmla="*/ 878 w 1362"/>
                <a:gd name="T33" fmla="*/ 92 h 1096"/>
                <a:gd name="T34" fmla="*/ 950 w 1362"/>
                <a:gd name="T35" fmla="*/ 180 h 1096"/>
                <a:gd name="T36" fmla="*/ 1046 w 1362"/>
                <a:gd name="T37" fmla="*/ 368 h 1096"/>
                <a:gd name="T38" fmla="*/ 1094 w 1362"/>
                <a:gd name="T39" fmla="*/ 472 h 1096"/>
                <a:gd name="T40" fmla="*/ 1138 w 1362"/>
                <a:gd name="T41" fmla="*/ 564 h 1096"/>
                <a:gd name="T42" fmla="*/ 1178 w 1362"/>
                <a:gd name="T43" fmla="*/ 620 h 1096"/>
                <a:gd name="T44" fmla="*/ 1250 w 1362"/>
                <a:gd name="T45" fmla="*/ 720 h 1096"/>
                <a:gd name="T46" fmla="*/ 1302 w 1362"/>
                <a:gd name="T47" fmla="*/ 778 h 1096"/>
                <a:gd name="T48" fmla="*/ 1362 w 1362"/>
                <a:gd name="T49" fmla="*/ 832 h 1096"/>
                <a:gd name="T50" fmla="*/ 1360 w 1362"/>
                <a:gd name="T51" fmla="*/ 1091 h 1096"/>
                <a:gd name="T52" fmla="*/ 2 w 1362"/>
                <a:gd name="T53" fmla="*/ 1096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62" h="1096">
                  <a:moveTo>
                    <a:pt x="2" y="1096"/>
                  </a:moveTo>
                  <a:lnTo>
                    <a:pt x="0" y="826"/>
                  </a:lnTo>
                  <a:lnTo>
                    <a:pt x="84" y="746"/>
                  </a:lnTo>
                  <a:lnTo>
                    <a:pt x="134" y="684"/>
                  </a:lnTo>
                  <a:lnTo>
                    <a:pt x="204" y="588"/>
                  </a:lnTo>
                  <a:lnTo>
                    <a:pt x="216" y="564"/>
                  </a:lnTo>
                  <a:lnTo>
                    <a:pt x="266" y="476"/>
                  </a:lnTo>
                  <a:lnTo>
                    <a:pt x="314" y="380"/>
                  </a:lnTo>
                  <a:lnTo>
                    <a:pt x="362" y="284"/>
                  </a:lnTo>
                  <a:lnTo>
                    <a:pt x="422" y="176"/>
                  </a:lnTo>
                  <a:lnTo>
                    <a:pt x="470" y="104"/>
                  </a:lnTo>
                  <a:lnTo>
                    <a:pt x="514" y="56"/>
                  </a:lnTo>
                  <a:lnTo>
                    <a:pt x="566" y="28"/>
                  </a:lnTo>
                  <a:lnTo>
                    <a:pt x="650" y="0"/>
                  </a:lnTo>
                  <a:lnTo>
                    <a:pt x="710" y="0"/>
                  </a:lnTo>
                  <a:lnTo>
                    <a:pt x="790" y="28"/>
                  </a:lnTo>
                  <a:lnTo>
                    <a:pt x="878" y="92"/>
                  </a:lnTo>
                  <a:lnTo>
                    <a:pt x="950" y="180"/>
                  </a:lnTo>
                  <a:lnTo>
                    <a:pt x="1046" y="368"/>
                  </a:lnTo>
                  <a:lnTo>
                    <a:pt x="1094" y="472"/>
                  </a:lnTo>
                  <a:lnTo>
                    <a:pt x="1138" y="564"/>
                  </a:lnTo>
                  <a:lnTo>
                    <a:pt x="1178" y="620"/>
                  </a:lnTo>
                  <a:lnTo>
                    <a:pt x="1250" y="720"/>
                  </a:lnTo>
                  <a:lnTo>
                    <a:pt x="1302" y="778"/>
                  </a:lnTo>
                  <a:lnTo>
                    <a:pt x="1362" y="832"/>
                  </a:lnTo>
                  <a:lnTo>
                    <a:pt x="1360" y="1091"/>
                  </a:lnTo>
                  <a:lnTo>
                    <a:pt x="2" y="1096"/>
                  </a:lnTo>
                  <a:close/>
                </a:path>
              </a:pathLst>
            </a:custGeom>
            <a:solidFill>
              <a:srgbClr val="FFC000">
                <a:alpha val="60001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5095" y="3121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i="1"/>
                <a:t>z</a:t>
              </a:r>
            </a:p>
          </p:txBody>
        </p:sp>
        <p:sp>
          <p:nvSpPr>
            <p:cNvPr id="18" name="Freeform 26"/>
            <p:cNvSpPr>
              <a:spLocks/>
            </p:cNvSpPr>
            <p:nvPr/>
          </p:nvSpPr>
          <p:spPr bwMode="auto">
            <a:xfrm>
              <a:off x="1413" y="2995"/>
              <a:ext cx="845" cy="259"/>
            </a:xfrm>
            <a:custGeom>
              <a:avLst/>
              <a:gdLst>
                <a:gd name="T0" fmla="*/ 0 w 845"/>
                <a:gd name="T1" fmla="*/ 259 h 259"/>
                <a:gd name="T2" fmla="*/ 835 w 845"/>
                <a:gd name="T3" fmla="*/ 256 h 259"/>
                <a:gd name="T4" fmla="*/ 835 w 845"/>
                <a:gd name="T5" fmla="*/ 0 h 259"/>
                <a:gd name="T6" fmla="*/ 776 w 845"/>
                <a:gd name="T7" fmla="*/ 37 h 259"/>
                <a:gd name="T8" fmla="*/ 717 w 845"/>
                <a:gd name="T9" fmla="*/ 75 h 259"/>
                <a:gd name="T10" fmla="*/ 653 w 845"/>
                <a:gd name="T11" fmla="*/ 115 h 259"/>
                <a:gd name="T12" fmla="*/ 570 w 845"/>
                <a:gd name="T13" fmla="*/ 150 h 259"/>
                <a:gd name="T14" fmla="*/ 384 w 845"/>
                <a:gd name="T15" fmla="*/ 211 h 259"/>
                <a:gd name="T16" fmla="*/ 138 w 845"/>
                <a:gd name="T17" fmla="*/ 246 h 259"/>
                <a:gd name="T18" fmla="*/ 0 w 845"/>
                <a:gd name="T19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5" h="259">
                  <a:moveTo>
                    <a:pt x="0" y="259"/>
                  </a:moveTo>
                  <a:lnTo>
                    <a:pt x="835" y="256"/>
                  </a:lnTo>
                  <a:cubicBezTo>
                    <a:pt x="835" y="256"/>
                    <a:pt x="845" y="36"/>
                    <a:pt x="835" y="0"/>
                  </a:cubicBezTo>
                  <a:cubicBezTo>
                    <a:pt x="795" y="21"/>
                    <a:pt x="806" y="18"/>
                    <a:pt x="776" y="37"/>
                  </a:cubicBezTo>
                  <a:cubicBezTo>
                    <a:pt x="756" y="50"/>
                    <a:pt x="738" y="62"/>
                    <a:pt x="717" y="75"/>
                  </a:cubicBezTo>
                  <a:cubicBezTo>
                    <a:pt x="696" y="88"/>
                    <a:pt x="677" y="103"/>
                    <a:pt x="653" y="115"/>
                  </a:cubicBezTo>
                  <a:cubicBezTo>
                    <a:pt x="629" y="127"/>
                    <a:pt x="615" y="134"/>
                    <a:pt x="570" y="150"/>
                  </a:cubicBezTo>
                  <a:lnTo>
                    <a:pt x="384" y="211"/>
                  </a:lnTo>
                  <a:lnTo>
                    <a:pt x="138" y="246"/>
                  </a:lnTo>
                  <a:lnTo>
                    <a:pt x="0" y="259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19" name="Freeform 27"/>
            <p:cNvSpPr>
              <a:spLocks/>
            </p:cNvSpPr>
            <p:nvPr/>
          </p:nvSpPr>
          <p:spPr bwMode="auto">
            <a:xfrm>
              <a:off x="3613" y="2995"/>
              <a:ext cx="848" cy="260"/>
            </a:xfrm>
            <a:custGeom>
              <a:avLst/>
              <a:gdLst>
                <a:gd name="T0" fmla="*/ 848 w 848"/>
                <a:gd name="T1" fmla="*/ 260 h 260"/>
                <a:gd name="T2" fmla="*/ 0 w 848"/>
                <a:gd name="T3" fmla="*/ 259 h 260"/>
                <a:gd name="T4" fmla="*/ 2 w 848"/>
                <a:gd name="T5" fmla="*/ 0 h 260"/>
                <a:gd name="T6" fmla="*/ 70 w 848"/>
                <a:gd name="T7" fmla="*/ 46 h 260"/>
                <a:gd name="T8" fmla="*/ 128 w 848"/>
                <a:gd name="T9" fmla="*/ 85 h 260"/>
                <a:gd name="T10" fmla="*/ 195 w 848"/>
                <a:gd name="T11" fmla="*/ 116 h 260"/>
                <a:gd name="T12" fmla="*/ 278 w 848"/>
                <a:gd name="T13" fmla="*/ 151 h 260"/>
                <a:gd name="T14" fmla="*/ 464 w 848"/>
                <a:gd name="T15" fmla="*/ 212 h 260"/>
                <a:gd name="T16" fmla="*/ 710 w 848"/>
                <a:gd name="T17" fmla="*/ 247 h 260"/>
                <a:gd name="T18" fmla="*/ 848 w 848"/>
                <a:gd name="T19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8" h="260">
                  <a:moveTo>
                    <a:pt x="848" y="260"/>
                  </a:moveTo>
                  <a:lnTo>
                    <a:pt x="0" y="259"/>
                  </a:lnTo>
                  <a:lnTo>
                    <a:pt x="2" y="0"/>
                  </a:lnTo>
                  <a:cubicBezTo>
                    <a:pt x="37" y="24"/>
                    <a:pt x="49" y="33"/>
                    <a:pt x="70" y="46"/>
                  </a:cubicBezTo>
                  <a:cubicBezTo>
                    <a:pt x="91" y="60"/>
                    <a:pt x="107" y="73"/>
                    <a:pt x="128" y="85"/>
                  </a:cubicBezTo>
                  <a:cubicBezTo>
                    <a:pt x="149" y="97"/>
                    <a:pt x="170" y="105"/>
                    <a:pt x="195" y="116"/>
                  </a:cubicBezTo>
                  <a:cubicBezTo>
                    <a:pt x="220" y="127"/>
                    <a:pt x="233" y="135"/>
                    <a:pt x="278" y="151"/>
                  </a:cubicBezTo>
                  <a:lnTo>
                    <a:pt x="464" y="212"/>
                  </a:lnTo>
                  <a:lnTo>
                    <a:pt x="710" y="247"/>
                  </a:lnTo>
                  <a:lnTo>
                    <a:pt x="848" y="26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grpSp>
          <p:nvGrpSpPr>
            <p:cNvPr id="20" name="Group 33"/>
            <p:cNvGrpSpPr>
              <a:grpSpLocks/>
            </p:cNvGrpSpPr>
            <p:nvPr/>
          </p:nvGrpSpPr>
          <p:grpSpPr bwMode="auto">
            <a:xfrm>
              <a:off x="2766" y="3179"/>
              <a:ext cx="288" cy="375"/>
              <a:chOff x="2457" y="2754"/>
              <a:chExt cx="288" cy="375"/>
            </a:xfrm>
          </p:grpSpPr>
          <p:sp>
            <p:nvSpPr>
              <p:cNvPr id="39" name="Text Box 11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0</a:t>
                </a:r>
              </a:p>
            </p:txBody>
          </p:sp>
          <p:sp>
            <p:nvSpPr>
              <p:cNvPr id="40" name="Line 32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34"/>
            <p:cNvGrpSpPr>
              <a:grpSpLocks/>
            </p:cNvGrpSpPr>
            <p:nvPr/>
          </p:nvGrpSpPr>
          <p:grpSpPr bwMode="auto">
            <a:xfrm>
              <a:off x="3179" y="3179"/>
              <a:ext cx="288" cy="375"/>
              <a:chOff x="2457" y="2754"/>
              <a:chExt cx="288" cy="375"/>
            </a:xfrm>
          </p:grpSpPr>
          <p:sp>
            <p:nvSpPr>
              <p:cNvPr id="37" name="Text Box 35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1</a:t>
                </a:r>
              </a:p>
            </p:txBody>
          </p:sp>
          <p:sp>
            <p:nvSpPr>
              <p:cNvPr id="38" name="Line 36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37"/>
            <p:cNvGrpSpPr>
              <a:grpSpLocks/>
            </p:cNvGrpSpPr>
            <p:nvPr/>
          </p:nvGrpSpPr>
          <p:grpSpPr bwMode="auto">
            <a:xfrm>
              <a:off x="3592" y="3179"/>
              <a:ext cx="288" cy="375"/>
              <a:chOff x="2457" y="2754"/>
              <a:chExt cx="288" cy="375"/>
            </a:xfrm>
          </p:grpSpPr>
          <p:sp>
            <p:nvSpPr>
              <p:cNvPr id="35" name="Text Box 38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2</a:t>
                </a:r>
              </a:p>
            </p:txBody>
          </p:sp>
          <p:sp>
            <p:nvSpPr>
              <p:cNvPr id="36" name="Line 39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40"/>
            <p:cNvGrpSpPr>
              <a:grpSpLocks/>
            </p:cNvGrpSpPr>
            <p:nvPr/>
          </p:nvGrpSpPr>
          <p:grpSpPr bwMode="auto">
            <a:xfrm>
              <a:off x="4005" y="3179"/>
              <a:ext cx="288" cy="375"/>
              <a:chOff x="2457" y="2754"/>
              <a:chExt cx="288" cy="375"/>
            </a:xfrm>
          </p:grpSpPr>
          <p:sp>
            <p:nvSpPr>
              <p:cNvPr id="33" name="Text Box 41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3</a:t>
                </a:r>
              </a:p>
            </p:txBody>
          </p:sp>
          <p:sp>
            <p:nvSpPr>
              <p:cNvPr id="34" name="Line 42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43"/>
            <p:cNvGrpSpPr>
              <a:grpSpLocks/>
            </p:cNvGrpSpPr>
            <p:nvPr/>
          </p:nvGrpSpPr>
          <p:grpSpPr bwMode="auto">
            <a:xfrm>
              <a:off x="1576" y="3179"/>
              <a:ext cx="288" cy="375"/>
              <a:chOff x="2457" y="2754"/>
              <a:chExt cx="288" cy="375"/>
            </a:xfrm>
          </p:grpSpPr>
          <p:sp>
            <p:nvSpPr>
              <p:cNvPr id="31" name="Text Box 44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-3</a:t>
                </a:r>
              </a:p>
            </p:txBody>
          </p:sp>
          <p:sp>
            <p:nvSpPr>
              <p:cNvPr id="32" name="Line 45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5" name="Group 46"/>
            <p:cNvGrpSpPr>
              <a:grpSpLocks/>
            </p:cNvGrpSpPr>
            <p:nvPr/>
          </p:nvGrpSpPr>
          <p:grpSpPr bwMode="auto">
            <a:xfrm>
              <a:off x="1989" y="3179"/>
              <a:ext cx="288" cy="375"/>
              <a:chOff x="2457" y="2754"/>
              <a:chExt cx="288" cy="375"/>
            </a:xfrm>
          </p:grpSpPr>
          <p:sp>
            <p:nvSpPr>
              <p:cNvPr id="29" name="Text Box 47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-2</a:t>
                </a:r>
              </a:p>
            </p:txBody>
          </p:sp>
          <p:sp>
            <p:nvSpPr>
              <p:cNvPr id="30" name="Line 48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6" name="Group 49"/>
            <p:cNvGrpSpPr>
              <a:grpSpLocks/>
            </p:cNvGrpSpPr>
            <p:nvPr/>
          </p:nvGrpSpPr>
          <p:grpSpPr bwMode="auto">
            <a:xfrm>
              <a:off x="2402" y="3179"/>
              <a:ext cx="288" cy="375"/>
              <a:chOff x="2457" y="2754"/>
              <a:chExt cx="288" cy="375"/>
            </a:xfrm>
          </p:grpSpPr>
          <p:sp>
            <p:nvSpPr>
              <p:cNvPr id="27" name="Text Box 50"/>
              <p:cNvSpPr txBox="1">
                <a:spLocks noChangeArrowheads="1"/>
              </p:cNvSpPr>
              <p:nvPr/>
            </p:nvSpPr>
            <p:spPr bwMode="auto">
              <a:xfrm>
                <a:off x="2457" y="287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-1</a:t>
                </a:r>
              </a:p>
            </p:txBody>
          </p:sp>
          <p:sp>
            <p:nvSpPr>
              <p:cNvPr id="28" name="Line 51"/>
              <p:cNvSpPr>
                <a:spLocks noChangeShapeType="1"/>
              </p:cNvSpPr>
              <p:nvPr/>
            </p:nvSpPr>
            <p:spPr bwMode="auto">
              <a:xfrm>
                <a:off x="2592" y="275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866160" y="2277360"/>
              <a:ext cx="5608440" cy="33048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6800" y="2268000"/>
                <a:ext cx="5627160" cy="332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51158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Steps for Hypothesis </a:t>
            </a:r>
            <a:r>
              <a:rPr lang="en-US" altLang="en-US" sz="2800" dirty="0" smtClean="0"/>
              <a:t>Testing using significance level &amp; p-value</a:t>
            </a:r>
            <a:endParaRPr lang="el-GR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0612" name="Text Box 4"/>
              <p:cNvSpPr txBox="1">
                <a:spLocks noChangeArrowheads="1"/>
              </p:cNvSpPr>
              <p:nvPr/>
            </p:nvSpPr>
            <p:spPr bwMode="auto">
              <a:xfrm>
                <a:off x="304800" y="1094631"/>
                <a:ext cx="8458200" cy="50013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 marL="457200" indent="-4572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1pPr>
                <a:lvl2pPr marL="914400" indent="-4572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371600" indent="-4572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3pPr>
                <a:lvl4pPr marL="1828800" indent="-4572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4pPr>
                <a:lvl5pPr marL="2286000" indent="-4572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5pPr>
                <a:lvl6pPr marL="27432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6pPr>
                <a:lvl7pPr marL="32004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7pPr>
                <a:lvl8pPr marL="36576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8pPr>
                <a:lvl9pPr marL="41148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9pPr>
              </a:lstStyle>
              <a:p>
                <a:pPr marL="342900" indent="-342900"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en-US" sz="2200" dirty="0" smtClean="0">
                    <a:latin typeface="Century" pitchFamily="18" charset="0"/>
                  </a:rPr>
                  <a:t>State the claim mathematically and verbally.  Identify the null and alternative hypotheses.</a:t>
                </a:r>
              </a:p>
              <a:p>
                <a:pPr marL="0" indent="0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IN" sz="2200" b="0" i="1" smtClean="0">
                          <a:latin typeface="Cambria Math"/>
                        </a:rPr>
                        <m:t>= ?    </m:t>
                      </m:r>
                      <m:r>
                        <a:rPr lang="en-IN" sz="2200" b="0" i="1" smtClean="0">
                          <a:latin typeface="Cambria Math"/>
                        </a:rPr>
                        <m:t>𝑎𝑛𝑑</m:t>
                      </m:r>
                      <m:r>
                        <a:rPr lang="en-IN" sz="2200" b="0" i="1" smtClean="0">
                          <a:latin typeface="Cambria Math"/>
                        </a:rPr>
                        <m:t>  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IN" sz="2200" b="0" i="1" smtClean="0">
                          <a:latin typeface="Cambria Math"/>
                        </a:rPr>
                        <m:t>= ? </m:t>
                      </m:r>
                    </m:oMath>
                  </m:oMathPara>
                </a14:m>
                <a:endParaRPr lang="en-US" sz="2200" dirty="0" smtClean="0">
                  <a:latin typeface="Century" pitchFamily="18" charset="0"/>
                </a:endParaRPr>
              </a:p>
              <a:p>
                <a:pPr marL="342900" indent="-342900"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en-US" sz="2200" dirty="0" smtClean="0">
                    <a:latin typeface="Century" pitchFamily="18" charset="0"/>
                    <a:sym typeface="Symbol" pitchFamily="18" charset="2"/>
                  </a:rPr>
                  <a:t>Specify </a:t>
                </a:r>
                <a:r>
                  <a:rPr lang="en-US" sz="2200" dirty="0">
                    <a:latin typeface="Century" pitchFamily="18" charset="0"/>
                    <a:sym typeface="Symbol" pitchFamily="18" charset="2"/>
                  </a:rPr>
                  <a:t>the level of significance</a:t>
                </a:r>
                <a:r>
                  <a:rPr lang="en-US" sz="2200" dirty="0" smtClean="0">
                    <a:latin typeface="Century" pitchFamily="18" charset="0"/>
                    <a:sym typeface="Symbol" pitchFamily="18" charset="2"/>
                  </a:rPr>
                  <a:t>.</a:t>
                </a:r>
              </a:p>
              <a:p>
                <a:pPr marL="0" indent="0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i="1" smtClean="0">
                          <a:latin typeface="Cambria Math"/>
                        </a:rPr>
                        <m:t>𝛼</m:t>
                      </m:r>
                      <m:r>
                        <a:rPr lang="en-IN" sz="2200" b="0" i="1" smtClean="0">
                          <a:latin typeface="Cambria Math"/>
                        </a:rPr>
                        <m:t>=</m:t>
                      </m:r>
                      <m:r>
                        <a:rPr lang="en-IN" sz="2200" i="1">
                          <a:latin typeface="Cambria Math"/>
                        </a:rPr>
                        <m:t> ?</m:t>
                      </m:r>
                    </m:oMath>
                  </m:oMathPara>
                </a14:m>
                <a:endParaRPr lang="en-US" sz="2200" dirty="0" smtClean="0">
                  <a:latin typeface="Century" pitchFamily="18" charset="0"/>
                  <a:sym typeface="Symbol" pitchFamily="18" charset="2"/>
                </a:endParaRPr>
              </a:p>
              <a:p>
                <a:pPr marL="342900" indent="-342900"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en-US" sz="2200" dirty="0" smtClean="0">
                    <a:latin typeface="Century" pitchFamily="18" charset="0"/>
                    <a:sym typeface="Symbol" pitchFamily="18" charset="2"/>
                  </a:rPr>
                  <a:t>Determine the standardize sampling distribution</a:t>
                </a:r>
              </a:p>
              <a:p>
                <a:pPr marL="342900" indent="-342900"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en-US" sz="2200" dirty="0" smtClean="0">
                    <a:latin typeface="Century" pitchFamily="18" charset="0"/>
                    <a:sym typeface="Symbol" pitchFamily="18" charset="2"/>
                  </a:rPr>
                  <a:t>Calculate the test statistic and its standardized value</a:t>
                </a:r>
              </a:p>
              <a:p>
                <a:pPr marL="342900" indent="-342900"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en-US" sz="2200" dirty="0" smtClean="0">
                    <a:latin typeface="Century" pitchFamily="18" charset="0"/>
                  </a:rPr>
                  <a:t>Find </a:t>
                </a:r>
                <a:r>
                  <a:rPr lang="en-US" sz="2200" dirty="0">
                    <a:latin typeface="Century" pitchFamily="18" charset="0"/>
                  </a:rPr>
                  <a:t>the </a:t>
                </a:r>
                <a:r>
                  <a:rPr lang="en-US" sz="2200" i="1" dirty="0" smtClean="0">
                    <a:latin typeface="Century" pitchFamily="18" charset="0"/>
                  </a:rPr>
                  <a:t>P</a:t>
                </a:r>
                <a:r>
                  <a:rPr lang="en-US" sz="2200" dirty="0" smtClean="0">
                    <a:latin typeface="Times New Roman" pitchFamily="18" charset="0"/>
                  </a:rPr>
                  <a:t>-</a:t>
                </a:r>
                <a:r>
                  <a:rPr lang="en-US" sz="2200" dirty="0" smtClean="0">
                    <a:latin typeface="Century" pitchFamily="18" charset="0"/>
                  </a:rPr>
                  <a:t>value</a:t>
                </a:r>
                <a:endParaRPr lang="en-US" sz="2200" dirty="0" smtClean="0">
                  <a:latin typeface="Century" pitchFamily="18" charset="0"/>
                  <a:sym typeface="Symbol" pitchFamily="18" charset="2"/>
                </a:endParaRPr>
              </a:p>
              <a:p>
                <a:pPr marL="342900" indent="-342900"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en-US" sz="2200" dirty="0" smtClean="0">
                    <a:latin typeface="Century" pitchFamily="18" charset="0"/>
                    <a:sym typeface="Symbol" pitchFamily="18" charset="2"/>
                  </a:rPr>
                  <a:t>Use </a:t>
                </a:r>
                <a:r>
                  <a:rPr lang="en-US" sz="2200" dirty="0">
                    <a:latin typeface="Century" pitchFamily="18" charset="0"/>
                    <a:sym typeface="Symbol" pitchFamily="18" charset="2"/>
                  </a:rPr>
                  <a:t>the following decision </a:t>
                </a:r>
                <a:r>
                  <a:rPr lang="en-US" sz="2200" dirty="0" smtClean="0">
                    <a:latin typeface="Century" pitchFamily="18" charset="0"/>
                    <a:sym typeface="Symbol" pitchFamily="18" charset="2"/>
                  </a:rPr>
                  <a:t>rule</a:t>
                </a:r>
              </a:p>
              <a:p>
                <a:pPr marL="342900" indent="-342900"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en-US" sz="2200" dirty="0" smtClean="0">
                    <a:latin typeface="+mj-lt"/>
                  </a:rPr>
                  <a:t>If </a:t>
                </a:r>
                <a:r>
                  <a:rPr lang="en-US" sz="2200" i="1" dirty="0">
                    <a:latin typeface="+mj-lt"/>
                  </a:rPr>
                  <a:t>p</a:t>
                </a:r>
                <a:r>
                  <a:rPr lang="en-US" sz="2200" dirty="0">
                    <a:latin typeface="+mj-lt"/>
                  </a:rPr>
                  <a:t> </a:t>
                </a:r>
                <a:r>
                  <a:rPr lang="en-US" sz="2200" dirty="0">
                    <a:latin typeface="+mj-lt"/>
                    <a:sym typeface="Symbol" pitchFamily="18" charset="2"/>
                  </a:rPr>
                  <a:t> </a:t>
                </a:r>
                <a:r>
                  <a:rPr lang="en-US" sz="2200" i="1" dirty="0">
                    <a:latin typeface="+mj-lt"/>
                    <a:sym typeface="Symbol" pitchFamily="18" charset="2"/>
                  </a:rPr>
                  <a:t></a:t>
                </a:r>
                <a:r>
                  <a:rPr lang="en-US" sz="2200" dirty="0">
                    <a:latin typeface="+mj-lt"/>
                    <a:sym typeface="Symbol" pitchFamily="18" charset="2"/>
                  </a:rPr>
                  <a:t>, then reject </a:t>
                </a:r>
                <a:r>
                  <a:rPr lang="en-US" sz="2200" i="1" dirty="0">
                    <a:latin typeface="+mj-lt"/>
                    <a:sym typeface="Symbol" pitchFamily="18" charset="2"/>
                  </a:rPr>
                  <a:t>H</a:t>
                </a:r>
                <a:r>
                  <a:rPr lang="en-US" sz="2200" baseline="-25000" dirty="0">
                    <a:latin typeface="+mj-lt"/>
                    <a:sym typeface="Symbol" pitchFamily="18" charset="2"/>
                  </a:rPr>
                  <a:t>0</a:t>
                </a:r>
                <a:r>
                  <a:rPr lang="en-US" sz="2200" dirty="0">
                    <a:latin typeface="+mj-lt"/>
                    <a:sym typeface="Symbol" pitchFamily="18" charset="2"/>
                  </a:rPr>
                  <a:t>, </a:t>
                </a:r>
                <a:endParaRPr lang="en-US" sz="2200" dirty="0" smtClean="0">
                  <a:latin typeface="+mj-lt"/>
                  <a:sym typeface="Symbol" pitchFamily="18" charset="2"/>
                </a:endParaRPr>
              </a:p>
              <a:p>
                <a:pPr marL="342900" indent="-342900">
                  <a:spcBef>
                    <a:spcPct val="50000"/>
                  </a:spcBef>
                  <a:buFont typeface="Arial" pitchFamily="34" charset="0"/>
                  <a:buChar char="•"/>
                </a:pPr>
                <a:r>
                  <a:rPr lang="en-US" sz="2200" dirty="0" smtClean="0">
                    <a:latin typeface="+mj-lt"/>
                    <a:sym typeface="Symbol" pitchFamily="18" charset="2"/>
                  </a:rPr>
                  <a:t>If </a:t>
                </a:r>
                <a:r>
                  <a:rPr lang="en-US" sz="2200" i="1" dirty="0">
                    <a:latin typeface="+mj-lt"/>
                    <a:sym typeface="Symbol" pitchFamily="18" charset="2"/>
                  </a:rPr>
                  <a:t>p</a:t>
                </a:r>
                <a:r>
                  <a:rPr lang="en-US" sz="2200" dirty="0">
                    <a:latin typeface="+mj-lt"/>
                  </a:rPr>
                  <a:t> </a:t>
                </a:r>
                <a:r>
                  <a:rPr lang="en-US" sz="2200" dirty="0">
                    <a:latin typeface="+mj-lt"/>
                    <a:sym typeface="Symbol" pitchFamily="18" charset="2"/>
                  </a:rPr>
                  <a:t>&gt; </a:t>
                </a:r>
                <a:r>
                  <a:rPr lang="en-US" sz="2200" i="1" dirty="0">
                    <a:latin typeface="+mj-lt"/>
                    <a:sym typeface="Symbol" pitchFamily="18" charset="2"/>
                  </a:rPr>
                  <a:t></a:t>
                </a:r>
                <a:r>
                  <a:rPr lang="en-US" sz="2200" dirty="0">
                    <a:latin typeface="+mj-lt"/>
                    <a:sym typeface="Symbol" pitchFamily="18" charset="2"/>
                  </a:rPr>
                  <a:t>, then fail to reject </a:t>
                </a:r>
                <a:r>
                  <a:rPr lang="en-US" sz="2200" i="1" dirty="0">
                    <a:latin typeface="+mj-lt"/>
                    <a:sym typeface="Symbol" pitchFamily="18" charset="2"/>
                  </a:rPr>
                  <a:t>H</a:t>
                </a:r>
                <a:r>
                  <a:rPr lang="en-US" sz="2200" baseline="-25000" dirty="0">
                    <a:latin typeface="+mj-lt"/>
                    <a:sym typeface="Symbol" pitchFamily="18" charset="2"/>
                  </a:rPr>
                  <a:t>0</a:t>
                </a:r>
                <a:r>
                  <a:rPr lang="en-US" sz="2200" dirty="0" smtClean="0">
                    <a:latin typeface="+mj-lt"/>
                    <a:sym typeface="Symbol" pitchFamily="18" charset="2"/>
                  </a:rPr>
                  <a:t>.</a:t>
                </a:r>
                <a:endParaRPr lang="en-US" sz="2200" dirty="0">
                  <a:latin typeface="+mj-lt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22061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94631"/>
                <a:ext cx="8458200" cy="5001369"/>
              </a:xfrm>
              <a:prstGeom prst="rect">
                <a:avLst/>
              </a:prstGeom>
              <a:blipFill rotWithShape="1">
                <a:blip r:embed="rId3"/>
                <a:stretch>
                  <a:fillRect l="-793" t="-732" b="-15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0663" name="Group 55"/>
          <p:cNvGrpSpPr>
            <a:grpSpLocks/>
          </p:cNvGrpSpPr>
          <p:nvPr/>
        </p:nvGrpSpPr>
        <p:grpSpPr bwMode="auto">
          <a:xfrm>
            <a:off x="5335589" y="4090352"/>
            <a:ext cx="3421062" cy="1195388"/>
            <a:chOff x="3192" y="2866"/>
            <a:chExt cx="2155" cy="753"/>
          </a:xfrm>
        </p:grpSpPr>
        <p:pic>
          <p:nvPicPr>
            <p:cNvPr id="1220635" name="Picture 2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2866"/>
              <a:ext cx="1433" cy="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20636" name="Line 28"/>
            <p:cNvSpPr>
              <a:spLocks noChangeShapeType="1"/>
            </p:cNvSpPr>
            <p:nvPr/>
          </p:nvSpPr>
          <p:spPr bwMode="auto">
            <a:xfrm>
              <a:off x="3192" y="3348"/>
              <a:ext cx="19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20637" name="Freeform 29"/>
            <p:cNvSpPr>
              <a:spLocks/>
            </p:cNvSpPr>
            <p:nvPr/>
          </p:nvSpPr>
          <p:spPr bwMode="auto">
            <a:xfrm>
              <a:off x="3489" y="2869"/>
              <a:ext cx="995" cy="476"/>
            </a:xfrm>
            <a:custGeom>
              <a:avLst/>
              <a:gdLst>
                <a:gd name="T0" fmla="*/ 0 w 2175"/>
                <a:gd name="T1" fmla="*/ 1094 h 1094"/>
                <a:gd name="T2" fmla="*/ 168 w 2175"/>
                <a:gd name="T3" fmla="*/ 1077 h 1094"/>
                <a:gd name="T4" fmla="*/ 288 w 2175"/>
                <a:gd name="T5" fmla="*/ 1063 h 1094"/>
                <a:gd name="T6" fmla="*/ 494 w 2175"/>
                <a:gd name="T7" fmla="*/ 1010 h 1094"/>
                <a:gd name="T8" fmla="*/ 595 w 2175"/>
                <a:gd name="T9" fmla="*/ 967 h 1094"/>
                <a:gd name="T10" fmla="*/ 732 w 2175"/>
                <a:gd name="T11" fmla="*/ 895 h 1094"/>
                <a:gd name="T12" fmla="*/ 813 w 2175"/>
                <a:gd name="T13" fmla="*/ 826 h 1094"/>
                <a:gd name="T14" fmla="*/ 897 w 2175"/>
                <a:gd name="T15" fmla="*/ 746 h 1094"/>
                <a:gd name="T16" fmla="*/ 947 w 2175"/>
                <a:gd name="T17" fmla="*/ 684 h 1094"/>
                <a:gd name="T18" fmla="*/ 1017 w 2175"/>
                <a:gd name="T19" fmla="*/ 588 h 1094"/>
                <a:gd name="T20" fmla="*/ 1029 w 2175"/>
                <a:gd name="T21" fmla="*/ 564 h 1094"/>
                <a:gd name="T22" fmla="*/ 1079 w 2175"/>
                <a:gd name="T23" fmla="*/ 476 h 1094"/>
                <a:gd name="T24" fmla="*/ 1127 w 2175"/>
                <a:gd name="T25" fmla="*/ 380 h 1094"/>
                <a:gd name="T26" fmla="*/ 1175 w 2175"/>
                <a:gd name="T27" fmla="*/ 284 h 1094"/>
                <a:gd name="T28" fmla="*/ 1235 w 2175"/>
                <a:gd name="T29" fmla="*/ 176 h 1094"/>
                <a:gd name="T30" fmla="*/ 1283 w 2175"/>
                <a:gd name="T31" fmla="*/ 104 h 1094"/>
                <a:gd name="T32" fmla="*/ 1327 w 2175"/>
                <a:gd name="T33" fmla="*/ 56 h 1094"/>
                <a:gd name="T34" fmla="*/ 1379 w 2175"/>
                <a:gd name="T35" fmla="*/ 28 h 1094"/>
                <a:gd name="T36" fmla="*/ 1463 w 2175"/>
                <a:gd name="T37" fmla="*/ 0 h 1094"/>
                <a:gd name="T38" fmla="*/ 1523 w 2175"/>
                <a:gd name="T39" fmla="*/ 0 h 1094"/>
                <a:gd name="T40" fmla="*/ 1603 w 2175"/>
                <a:gd name="T41" fmla="*/ 28 h 1094"/>
                <a:gd name="T42" fmla="*/ 1691 w 2175"/>
                <a:gd name="T43" fmla="*/ 92 h 1094"/>
                <a:gd name="T44" fmla="*/ 1763 w 2175"/>
                <a:gd name="T45" fmla="*/ 180 h 1094"/>
                <a:gd name="T46" fmla="*/ 1859 w 2175"/>
                <a:gd name="T47" fmla="*/ 368 h 1094"/>
                <a:gd name="T48" fmla="*/ 1907 w 2175"/>
                <a:gd name="T49" fmla="*/ 472 h 1094"/>
                <a:gd name="T50" fmla="*/ 1951 w 2175"/>
                <a:gd name="T51" fmla="*/ 564 h 1094"/>
                <a:gd name="T52" fmla="*/ 1991 w 2175"/>
                <a:gd name="T53" fmla="*/ 620 h 1094"/>
                <a:gd name="T54" fmla="*/ 2063 w 2175"/>
                <a:gd name="T55" fmla="*/ 720 h 1094"/>
                <a:gd name="T56" fmla="*/ 2115 w 2175"/>
                <a:gd name="T57" fmla="*/ 778 h 1094"/>
                <a:gd name="T58" fmla="*/ 2175 w 2175"/>
                <a:gd name="T59" fmla="*/ 832 h 1094"/>
                <a:gd name="T60" fmla="*/ 2169 w 2175"/>
                <a:gd name="T61" fmla="*/ 1094 h 1094"/>
                <a:gd name="T62" fmla="*/ 0 w 2175"/>
                <a:gd name="T63" fmla="*/ 1094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75" h="1094">
                  <a:moveTo>
                    <a:pt x="0" y="1094"/>
                  </a:moveTo>
                  <a:lnTo>
                    <a:pt x="168" y="1077"/>
                  </a:lnTo>
                  <a:lnTo>
                    <a:pt x="288" y="1063"/>
                  </a:lnTo>
                  <a:lnTo>
                    <a:pt x="494" y="1010"/>
                  </a:lnTo>
                  <a:lnTo>
                    <a:pt x="595" y="967"/>
                  </a:lnTo>
                  <a:lnTo>
                    <a:pt x="732" y="895"/>
                  </a:lnTo>
                  <a:lnTo>
                    <a:pt x="813" y="826"/>
                  </a:lnTo>
                  <a:lnTo>
                    <a:pt x="897" y="746"/>
                  </a:lnTo>
                  <a:lnTo>
                    <a:pt x="947" y="684"/>
                  </a:lnTo>
                  <a:lnTo>
                    <a:pt x="1017" y="588"/>
                  </a:lnTo>
                  <a:lnTo>
                    <a:pt x="1029" y="564"/>
                  </a:lnTo>
                  <a:lnTo>
                    <a:pt x="1079" y="476"/>
                  </a:lnTo>
                  <a:lnTo>
                    <a:pt x="1127" y="380"/>
                  </a:lnTo>
                  <a:lnTo>
                    <a:pt x="1175" y="284"/>
                  </a:lnTo>
                  <a:lnTo>
                    <a:pt x="1235" y="176"/>
                  </a:lnTo>
                  <a:lnTo>
                    <a:pt x="1283" y="104"/>
                  </a:lnTo>
                  <a:lnTo>
                    <a:pt x="1327" y="56"/>
                  </a:lnTo>
                  <a:lnTo>
                    <a:pt x="1379" y="28"/>
                  </a:lnTo>
                  <a:lnTo>
                    <a:pt x="1463" y="0"/>
                  </a:lnTo>
                  <a:lnTo>
                    <a:pt x="1523" y="0"/>
                  </a:lnTo>
                  <a:lnTo>
                    <a:pt x="1603" y="28"/>
                  </a:lnTo>
                  <a:lnTo>
                    <a:pt x="1691" y="92"/>
                  </a:lnTo>
                  <a:lnTo>
                    <a:pt x="1763" y="180"/>
                  </a:lnTo>
                  <a:lnTo>
                    <a:pt x="1859" y="368"/>
                  </a:lnTo>
                  <a:lnTo>
                    <a:pt x="1907" y="472"/>
                  </a:lnTo>
                  <a:lnTo>
                    <a:pt x="1951" y="564"/>
                  </a:lnTo>
                  <a:lnTo>
                    <a:pt x="1991" y="620"/>
                  </a:lnTo>
                  <a:lnTo>
                    <a:pt x="2063" y="720"/>
                  </a:lnTo>
                  <a:lnTo>
                    <a:pt x="2115" y="778"/>
                  </a:lnTo>
                  <a:lnTo>
                    <a:pt x="2175" y="832"/>
                  </a:lnTo>
                  <a:lnTo>
                    <a:pt x="2169" y="1094"/>
                  </a:lnTo>
                  <a:lnTo>
                    <a:pt x="0" y="1094"/>
                  </a:lnTo>
                  <a:close/>
                </a:path>
              </a:pathLst>
            </a:custGeom>
            <a:solidFill>
              <a:schemeClr val="accent2">
                <a:alpha val="60001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220638" name="Rectangle 30"/>
            <p:cNvSpPr>
              <a:spLocks noChangeArrowheads="1"/>
            </p:cNvSpPr>
            <p:nvPr/>
          </p:nvSpPr>
          <p:spPr bwMode="auto">
            <a:xfrm>
              <a:off x="5162" y="3288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i="1"/>
                <a:t>z</a:t>
              </a:r>
            </a:p>
          </p:txBody>
        </p:sp>
        <p:sp>
          <p:nvSpPr>
            <p:cNvPr id="1220639" name="Freeform 31"/>
            <p:cNvSpPr>
              <a:spLocks/>
            </p:cNvSpPr>
            <p:nvPr/>
          </p:nvSpPr>
          <p:spPr bwMode="auto">
            <a:xfrm>
              <a:off x="4484" y="3234"/>
              <a:ext cx="388" cy="113"/>
            </a:xfrm>
            <a:custGeom>
              <a:avLst/>
              <a:gdLst>
                <a:gd name="T0" fmla="*/ 848 w 848"/>
                <a:gd name="T1" fmla="*/ 260 h 260"/>
                <a:gd name="T2" fmla="*/ 0 w 848"/>
                <a:gd name="T3" fmla="*/ 259 h 260"/>
                <a:gd name="T4" fmla="*/ 2 w 848"/>
                <a:gd name="T5" fmla="*/ 0 h 260"/>
                <a:gd name="T6" fmla="*/ 70 w 848"/>
                <a:gd name="T7" fmla="*/ 46 h 260"/>
                <a:gd name="T8" fmla="*/ 128 w 848"/>
                <a:gd name="T9" fmla="*/ 85 h 260"/>
                <a:gd name="T10" fmla="*/ 195 w 848"/>
                <a:gd name="T11" fmla="*/ 116 h 260"/>
                <a:gd name="T12" fmla="*/ 278 w 848"/>
                <a:gd name="T13" fmla="*/ 151 h 260"/>
                <a:gd name="T14" fmla="*/ 464 w 848"/>
                <a:gd name="T15" fmla="*/ 212 h 260"/>
                <a:gd name="T16" fmla="*/ 710 w 848"/>
                <a:gd name="T17" fmla="*/ 247 h 260"/>
                <a:gd name="T18" fmla="*/ 848 w 848"/>
                <a:gd name="T19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8" h="260">
                  <a:moveTo>
                    <a:pt x="848" y="260"/>
                  </a:moveTo>
                  <a:lnTo>
                    <a:pt x="0" y="259"/>
                  </a:lnTo>
                  <a:lnTo>
                    <a:pt x="2" y="0"/>
                  </a:lnTo>
                  <a:cubicBezTo>
                    <a:pt x="37" y="24"/>
                    <a:pt x="49" y="33"/>
                    <a:pt x="70" y="46"/>
                  </a:cubicBezTo>
                  <a:cubicBezTo>
                    <a:pt x="91" y="60"/>
                    <a:pt x="107" y="73"/>
                    <a:pt x="128" y="85"/>
                  </a:cubicBezTo>
                  <a:cubicBezTo>
                    <a:pt x="149" y="97"/>
                    <a:pt x="170" y="105"/>
                    <a:pt x="195" y="116"/>
                  </a:cubicBezTo>
                  <a:cubicBezTo>
                    <a:pt x="220" y="127"/>
                    <a:pt x="233" y="135"/>
                    <a:pt x="278" y="151"/>
                  </a:cubicBezTo>
                  <a:lnTo>
                    <a:pt x="464" y="212"/>
                  </a:lnTo>
                  <a:lnTo>
                    <a:pt x="710" y="247"/>
                  </a:lnTo>
                  <a:lnTo>
                    <a:pt x="848" y="26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grpSp>
          <p:nvGrpSpPr>
            <p:cNvPr id="1220662" name="Group 54"/>
            <p:cNvGrpSpPr>
              <a:grpSpLocks/>
            </p:cNvGrpSpPr>
            <p:nvPr/>
          </p:nvGrpSpPr>
          <p:grpSpPr bwMode="auto">
            <a:xfrm>
              <a:off x="4062" y="3314"/>
              <a:ext cx="131" cy="305"/>
              <a:chOff x="4062" y="3314"/>
              <a:chExt cx="131" cy="305"/>
            </a:xfrm>
          </p:grpSpPr>
          <p:sp>
            <p:nvSpPr>
              <p:cNvPr id="1220641" name="Text Box 33"/>
              <p:cNvSpPr txBox="1">
                <a:spLocks noChangeArrowheads="1"/>
              </p:cNvSpPr>
              <p:nvPr/>
            </p:nvSpPr>
            <p:spPr bwMode="auto">
              <a:xfrm>
                <a:off x="4062" y="3369"/>
                <a:ext cx="13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/>
                  <a:t>0</a:t>
                </a:r>
              </a:p>
            </p:txBody>
          </p:sp>
          <p:sp>
            <p:nvSpPr>
              <p:cNvPr id="1220642" name="Line 34"/>
              <p:cNvSpPr>
                <a:spLocks noChangeShapeType="1"/>
              </p:cNvSpPr>
              <p:nvPr/>
            </p:nvSpPr>
            <p:spPr bwMode="auto">
              <a:xfrm>
                <a:off x="4158" y="3314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</p:grpSp>
      <p:grpSp>
        <p:nvGrpSpPr>
          <p:cNvPr id="1220643" name="Group 35"/>
          <p:cNvGrpSpPr>
            <a:grpSpLocks/>
          </p:cNvGrpSpPr>
          <p:nvPr/>
        </p:nvGrpSpPr>
        <p:grpSpPr bwMode="auto">
          <a:xfrm flipH="1">
            <a:off x="6647498" y="4940251"/>
            <a:ext cx="2481262" cy="788988"/>
            <a:chOff x="3045" y="3254"/>
            <a:chExt cx="768" cy="586"/>
          </a:xfrm>
        </p:grpSpPr>
        <p:sp>
          <p:nvSpPr>
            <p:cNvPr id="1220644" name="Line 36"/>
            <p:cNvSpPr>
              <a:spLocks noChangeShapeType="1"/>
            </p:cNvSpPr>
            <p:nvPr/>
          </p:nvSpPr>
          <p:spPr bwMode="auto">
            <a:xfrm flipV="1">
              <a:off x="3447" y="3254"/>
              <a:ext cx="162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1220645" name="Text Box 37"/>
            <p:cNvSpPr txBox="1">
              <a:spLocks noChangeArrowheads="1"/>
            </p:cNvSpPr>
            <p:nvPr/>
          </p:nvSpPr>
          <p:spPr bwMode="auto">
            <a:xfrm>
              <a:off x="3045" y="3590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1600">
                  <a:solidFill>
                    <a:srgbClr val="E11521"/>
                  </a:solidFill>
                </a:rPr>
                <a:t>Test statistic</a:t>
              </a:r>
            </a:p>
          </p:txBody>
        </p:sp>
      </p:grpSp>
      <p:grpSp>
        <p:nvGrpSpPr>
          <p:cNvPr id="1220661" name="Group 53"/>
          <p:cNvGrpSpPr>
            <a:grpSpLocks/>
          </p:cNvGrpSpPr>
          <p:nvPr/>
        </p:nvGrpSpPr>
        <p:grpSpPr bwMode="auto">
          <a:xfrm>
            <a:off x="5592922" y="2021762"/>
            <a:ext cx="3421062" cy="1165225"/>
            <a:chOff x="3173" y="2064"/>
            <a:chExt cx="2155" cy="734"/>
          </a:xfrm>
        </p:grpSpPr>
        <p:pic>
          <p:nvPicPr>
            <p:cNvPr id="1220653" name="Picture 4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7" y="2064"/>
              <a:ext cx="1433" cy="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20654" name="Line 46"/>
            <p:cNvSpPr>
              <a:spLocks noChangeShapeType="1"/>
            </p:cNvSpPr>
            <p:nvPr/>
          </p:nvSpPr>
          <p:spPr bwMode="auto">
            <a:xfrm>
              <a:off x="3173" y="2546"/>
              <a:ext cx="19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20655" name="Freeform 47"/>
            <p:cNvSpPr>
              <a:spLocks/>
            </p:cNvSpPr>
            <p:nvPr/>
          </p:nvSpPr>
          <p:spPr bwMode="auto">
            <a:xfrm>
              <a:off x="3470" y="2067"/>
              <a:ext cx="1380" cy="476"/>
            </a:xfrm>
            <a:custGeom>
              <a:avLst/>
              <a:gdLst>
                <a:gd name="T0" fmla="*/ 0 w 1380"/>
                <a:gd name="T1" fmla="*/ 476 h 476"/>
                <a:gd name="T2" fmla="*/ 77 w 1380"/>
                <a:gd name="T3" fmla="*/ 469 h 476"/>
                <a:gd name="T4" fmla="*/ 132 w 1380"/>
                <a:gd name="T5" fmla="*/ 463 h 476"/>
                <a:gd name="T6" fmla="*/ 226 w 1380"/>
                <a:gd name="T7" fmla="*/ 439 h 476"/>
                <a:gd name="T8" fmla="*/ 272 w 1380"/>
                <a:gd name="T9" fmla="*/ 421 h 476"/>
                <a:gd name="T10" fmla="*/ 335 w 1380"/>
                <a:gd name="T11" fmla="*/ 389 h 476"/>
                <a:gd name="T12" fmla="*/ 372 w 1380"/>
                <a:gd name="T13" fmla="*/ 359 h 476"/>
                <a:gd name="T14" fmla="*/ 410 w 1380"/>
                <a:gd name="T15" fmla="*/ 325 h 476"/>
                <a:gd name="T16" fmla="*/ 433 w 1380"/>
                <a:gd name="T17" fmla="*/ 298 h 476"/>
                <a:gd name="T18" fmla="*/ 465 w 1380"/>
                <a:gd name="T19" fmla="*/ 256 h 476"/>
                <a:gd name="T20" fmla="*/ 471 w 1380"/>
                <a:gd name="T21" fmla="*/ 245 h 476"/>
                <a:gd name="T22" fmla="*/ 494 w 1380"/>
                <a:gd name="T23" fmla="*/ 207 h 476"/>
                <a:gd name="T24" fmla="*/ 516 w 1380"/>
                <a:gd name="T25" fmla="*/ 165 h 476"/>
                <a:gd name="T26" fmla="*/ 538 w 1380"/>
                <a:gd name="T27" fmla="*/ 124 h 476"/>
                <a:gd name="T28" fmla="*/ 565 w 1380"/>
                <a:gd name="T29" fmla="*/ 77 h 476"/>
                <a:gd name="T30" fmla="*/ 587 w 1380"/>
                <a:gd name="T31" fmla="*/ 45 h 476"/>
                <a:gd name="T32" fmla="*/ 607 w 1380"/>
                <a:gd name="T33" fmla="*/ 24 h 476"/>
                <a:gd name="T34" fmla="*/ 631 w 1380"/>
                <a:gd name="T35" fmla="*/ 12 h 476"/>
                <a:gd name="T36" fmla="*/ 669 w 1380"/>
                <a:gd name="T37" fmla="*/ 0 h 476"/>
                <a:gd name="T38" fmla="*/ 697 w 1380"/>
                <a:gd name="T39" fmla="*/ 0 h 476"/>
                <a:gd name="T40" fmla="*/ 733 w 1380"/>
                <a:gd name="T41" fmla="*/ 12 h 476"/>
                <a:gd name="T42" fmla="*/ 774 w 1380"/>
                <a:gd name="T43" fmla="*/ 40 h 476"/>
                <a:gd name="T44" fmla="*/ 807 w 1380"/>
                <a:gd name="T45" fmla="*/ 78 h 476"/>
                <a:gd name="T46" fmla="*/ 850 w 1380"/>
                <a:gd name="T47" fmla="*/ 160 h 476"/>
                <a:gd name="T48" fmla="*/ 872 w 1380"/>
                <a:gd name="T49" fmla="*/ 205 h 476"/>
                <a:gd name="T50" fmla="*/ 893 w 1380"/>
                <a:gd name="T51" fmla="*/ 245 h 476"/>
                <a:gd name="T52" fmla="*/ 911 w 1380"/>
                <a:gd name="T53" fmla="*/ 270 h 476"/>
                <a:gd name="T54" fmla="*/ 944 w 1380"/>
                <a:gd name="T55" fmla="*/ 313 h 476"/>
                <a:gd name="T56" fmla="*/ 968 w 1380"/>
                <a:gd name="T57" fmla="*/ 339 h 476"/>
                <a:gd name="T58" fmla="*/ 995 w 1380"/>
                <a:gd name="T59" fmla="*/ 362 h 476"/>
                <a:gd name="T60" fmla="*/ 1095 w 1380"/>
                <a:gd name="T61" fmla="*/ 421 h 476"/>
                <a:gd name="T62" fmla="*/ 1141 w 1380"/>
                <a:gd name="T63" fmla="*/ 435 h 476"/>
                <a:gd name="T64" fmla="*/ 1185 w 1380"/>
                <a:gd name="T65" fmla="*/ 450 h 476"/>
                <a:gd name="T66" fmla="*/ 1255 w 1380"/>
                <a:gd name="T67" fmla="*/ 463 h 476"/>
                <a:gd name="T68" fmla="*/ 1380 w 1380"/>
                <a:gd name="T69" fmla="*/ 474 h 476"/>
                <a:gd name="T70" fmla="*/ 0 w 1380"/>
                <a:gd name="T71" fmla="*/ 47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80" h="476">
                  <a:moveTo>
                    <a:pt x="0" y="476"/>
                  </a:moveTo>
                  <a:lnTo>
                    <a:pt x="77" y="469"/>
                  </a:lnTo>
                  <a:lnTo>
                    <a:pt x="132" y="463"/>
                  </a:lnTo>
                  <a:lnTo>
                    <a:pt x="226" y="439"/>
                  </a:lnTo>
                  <a:lnTo>
                    <a:pt x="272" y="421"/>
                  </a:lnTo>
                  <a:lnTo>
                    <a:pt x="335" y="389"/>
                  </a:lnTo>
                  <a:lnTo>
                    <a:pt x="372" y="359"/>
                  </a:lnTo>
                  <a:lnTo>
                    <a:pt x="410" y="325"/>
                  </a:lnTo>
                  <a:lnTo>
                    <a:pt x="433" y="298"/>
                  </a:lnTo>
                  <a:lnTo>
                    <a:pt x="465" y="256"/>
                  </a:lnTo>
                  <a:lnTo>
                    <a:pt x="471" y="245"/>
                  </a:lnTo>
                  <a:lnTo>
                    <a:pt x="494" y="207"/>
                  </a:lnTo>
                  <a:lnTo>
                    <a:pt x="516" y="165"/>
                  </a:lnTo>
                  <a:lnTo>
                    <a:pt x="538" y="124"/>
                  </a:lnTo>
                  <a:lnTo>
                    <a:pt x="565" y="77"/>
                  </a:lnTo>
                  <a:lnTo>
                    <a:pt x="587" y="45"/>
                  </a:lnTo>
                  <a:lnTo>
                    <a:pt x="607" y="24"/>
                  </a:lnTo>
                  <a:lnTo>
                    <a:pt x="631" y="12"/>
                  </a:lnTo>
                  <a:lnTo>
                    <a:pt x="669" y="0"/>
                  </a:lnTo>
                  <a:lnTo>
                    <a:pt x="697" y="0"/>
                  </a:lnTo>
                  <a:lnTo>
                    <a:pt x="733" y="12"/>
                  </a:lnTo>
                  <a:lnTo>
                    <a:pt x="774" y="40"/>
                  </a:lnTo>
                  <a:lnTo>
                    <a:pt x="807" y="78"/>
                  </a:lnTo>
                  <a:lnTo>
                    <a:pt x="850" y="160"/>
                  </a:lnTo>
                  <a:lnTo>
                    <a:pt x="872" y="205"/>
                  </a:lnTo>
                  <a:lnTo>
                    <a:pt x="893" y="245"/>
                  </a:lnTo>
                  <a:lnTo>
                    <a:pt x="911" y="270"/>
                  </a:lnTo>
                  <a:lnTo>
                    <a:pt x="944" y="313"/>
                  </a:lnTo>
                  <a:lnTo>
                    <a:pt x="968" y="339"/>
                  </a:lnTo>
                  <a:lnTo>
                    <a:pt x="995" y="362"/>
                  </a:lnTo>
                  <a:lnTo>
                    <a:pt x="1095" y="421"/>
                  </a:lnTo>
                  <a:lnTo>
                    <a:pt x="1141" y="435"/>
                  </a:lnTo>
                  <a:lnTo>
                    <a:pt x="1185" y="450"/>
                  </a:lnTo>
                  <a:lnTo>
                    <a:pt x="1255" y="463"/>
                  </a:lnTo>
                  <a:lnTo>
                    <a:pt x="1380" y="474"/>
                  </a:lnTo>
                  <a:lnTo>
                    <a:pt x="0" y="476"/>
                  </a:lnTo>
                  <a:close/>
                </a:path>
              </a:pathLst>
            </a:custGeom>
            <a:solidFill>
              <a:schemeClr val="accent2">
                <a:alpha val="60001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220656" name="Rectangle 48"/>
            <p:cNvSpPr>
              <a:spLocks noChangeArrowheads="1"/>
            </p:cNvSpPr>
            <p:nvPr/>
          </p:nvSpPr>
          <p:spPr bwMode="auto">
            <a:xfrm>
              <a:off x="5143" y="2486"/>
              <a:ext cx="1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i="1"/>
                <a:t>z</a:t>
              </a:r>
            </a:p>
          </p:txBody>
        </p:sp>
        <p:grpSp>
          <p:nvGrpSpPr>
            <p:cNvPr id="1220660" name="Group 52"/>
            <p:cNvGrpSpPr>
              <a:grpSpLocks/>
            </p:cNvGrpSpPr>
            <p:nvPr/>
          </p:nvGrpSpPr>
          <p:grpSpPr bwMode="auto">
            <a:xfrm>
              <a:off x="4071" y="2512"/>
              <a:ext cx="131" cy="286"/>
              <a:chOff x="4071" y="2512"/>
              <a:chExt cx="131" cy="286"/>
            </a:xfrm>
          </p:grpSpPr>
          <p:sp>
            <p:nvSpPr>
              <p:cNvPr id="1220658" name="Text Box 50"/>
              <p:cNvSpPr txBox="1">
                <a:spLocks noChangeArrowheads="1"/>
              </p:cNvSpPr>
              <p:nvPr/>
            </p:nvSpPr>
            <p:spPr bwMode="auto">
              <a:xfrm>
                <a:off x="4071" y="2567"/>
                <a:ext cx="13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sz="1800"/>
                  <a:t>0</a:t>
                </a:r>
              </a:p>
            </p:txBody>
          </p:sp>
          <p:sp>
            <p:nvSpPr>
              <p:cNvPr id="1220659" name="Line 51"/>
              <p:cNvSpPr>
                <a:spLocks noChangeShapeType="1"/>
              </p:cNvSpPr>
              <p:nvPr/>
            </p:nvSpPr>
            <p:spPr bwMode="auto">
              <a:xfrm>
                <a:off x="4160" y="2512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IN"/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249840" y="1821960"/>
              <a:ext cx="4983480" cy="26704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480" y="1812600"/>
                <a:ext cx="5002200" cy="268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54099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txBody>
          <a:bodyPr>
            <a:noAutofit/>
          </a:bodyPr>
          <a:lstStyle/>
          <a:p>
            <a:r>
              <a:rPr lang="en-IN" sz="2800" dirty="0" smtClean="0"/>
              <a:t>Example</a:t>
            </a:r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457200"/>
                <a:ext cx="8229600" cy="601980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200" dirty="0" smtClean="0"/>
                  <a:t>Hypothesis to test: A given coin is fair.  ,   </a:t>
                </a:r>
              </a:p>
              <a:p>
                <a:pPr algn="just"/>
                <a:r>
                  <a:rPr lang="en-IN" sz="2200" dirty="0" smtClean="0"/>
                  <a:t>Null Hypothesis:  H</a:t>
                </a:r>
                <a:r>
                  <a:rPr lang="en-IN" sz="2200" baseline="-25000" dirty="0" smtClean="0"/>
                  <a:t>0</a:t>
                </a:r>
              </a:p>
              <a:p>
                <a:r>
                  <a:rPr lang="en-IN" sz="2200" dirty="0" smtClean="0"/>
                  <a:t>Coin is fair it means p = 0.5 </a:t>
                </a:r>
              </a:p>
              <a:p>
                <a:r>
                  <a:rPr lang="en-IN" sz="2200" dirty="0" smtClean="0"/>
                  <a:t>Find a test at a significance level of 5% ---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/>
                      </a:rPr>
                      <m:t>𝛼</m:t>
                    </m:r>
                    <m:r>
                      <a:rPr lang="en-IN" sz="2200" b="0" i="1" smtClean="0">
                        <a:latin typeface="Cambria Math"/>
                      </a:rPr>
                      <m:t>=0.05</m:t>
                    </m:r>
                  </m:oMath>
                </a14:m>
                <a:endParaRPr lang="en-IN" sz="2200" dirty="0" smtClean="0"/>
              </a:p>
              <a:p>
                <a:pPr algn="just"/>
                <a:r>
                  <a:rPr lang="en-IN" sz="2200" dirty="0"/>
                  <a:t>To test this hypothesis, count the number of heads in 100 flips of the coin. </a:t>
                </a:r>
              </a:p>
              <a:p>
                <a:pPr algn="just"/>
                <a:r>
                  <a:rPr lang="en-IN" sz="2200" dirty="0"/>
                  <a:t>The objective is to determine rejection region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200" i="1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IN" sz="2200" b="1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IN" sz="2200" b="1" i="1">
                                <a:latin typeface="Cambria Math"/>
                              </a:rPr>
                              <m:t>𝑹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2200" dirty="0"/>
                  <a:t>;</a:t>
                </a:r>
              </a:p>
              <a:p>
                <a:pPr marL="0" indent="0" algn="ctr">
                  <a:buNone/>
                </a:pPr>
                <a:endParaRPr lang="en-IN" sz="2200" b="1" dirty="0" smtClean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IN" sz="2200" b="1" dirty="0" smtClean="0">
                    <a:solidFill>
                      <a:srgbClr val="FF0000"/>
                    </a:solidFill>
                  </a:rPr>
                  <a:t>Solution</a:t>
                </a:r>
              </a:p>
              <a:p>
                <a:r>
                  <a:rPr lang="en-US" sz="2200" dirty="0" smtClean="0"/>
                  <a:t>The rejection </a:t>
                </a:r>
                <a:r>
                  <a:rPr lang="en-US" sz="2200" dirty="0"/>
                  <a:t>regions </a:t>
                </a:r>
                <a:r>
                  <a:rPr lang="en-US" sz="2200" dirty="0" smtClean="0"/>
                  <a:t>can be defined </a:t>
                </a:r>
                <a:r>
                  <a:rPr lang="en-US" sz="2200" dirty="0"/>
                  <a:t>in terms of </a:t>
                </a:r>
                <a:r>
                  <a:rPr lang="en-US" sz="2200" dirty="0" smtClean="0"/>
                  <a:t>either </a:t>
                </a:r>
                <a:r>
                  <a:rPr lang="en-US" sz="2200" dirty="0" smtClean="0">
                    <a:solidFill>
                      <a:srgbClr val="FF0000"/>
                    </a:solidFill>
                  </a:rPr>
                  <a:t>two </a:t>
                </a:r>
                <a:r>
                  <a:rPr lang="en-US" sz="2200" dirty="0">
                    <a:solidFill>
                      <a:srgbClr val="FF0000"/>
                    </a:solidFill>
                  </a:rPr>
                  <a:t>tails or one tail of the distribution</a:t>
                </a:r>
                <a:r>
                  <a:rPr lang="en-US" sz="2200" dirty="0" smtClean="0">
                    <a:solidFill>
                      <a:srgbClr val="FF0000"/>
                    </a:solidFill>
                  </a:rPr>
                  <a:t>. </a:t>
                </a:r>
              </a:p>
              <a:p>
                <a:r>
                  <a:rPr lang="en-US" sz="2200" dirty="0" smtClean="0"/>
                  <a:t>This is known as </a:t>
                </a:r>
                <a:r>
                  <a:rPr lang="en-US" sz="2200" dirty="0" smtClean="0">
                    <a:solidFill>
                      <a:srgbClr val="FF0000"/>
                    </a:solidFill>
                  </a:rPr>
                  <a:t>two-tailed </a:t>
                </a:r>
                <a:r>
                  <a:rPr lang="en-US" sz="2200" dirty="0">
                    <a:solidFill>
                      <a:srgbClr val="FF0000"/>
                    </a:solidFill>
                  </a:rPr>
                  <a:t>or two-sided </a:t>
                </a:r>
                <a:r>
                  <a:rPr lang="en-US" sz="2200" dirty="0"/>
                  <a:t>if </a:t>
                </a:r>
                <a:r>
                  <a:rPr lang="en-US" sz="2200" dirty="0" smtClean="0"/>
                  <a:t>it involves </a:t>
                </a:r>
                <a:r>
                  <a:rPr lang="en-US" sz="2200" dirty="0"/>
                  <a:t>two tails, that is, the rejection region consists of two intervals. </a:t>
                </a:r>
                <a:endParaRPr lang="en-US" sz="2200" dirty="0" smtClean="0"/>
              </a:p>
              <a:p>
                <a:pPr algn="just"/>
                <a:r>
                  <a:rPr lang="en-US" sz="2200" dirty="0" smtClean="0"/>
                  <a:t>Similarly, it refer </a:t>
                </a:r>
                <a:r>
                  <a:rPr lang="en-US" sz="2200" dirty="0"/>
                  <a:t>to </a:t>
                </a:r>
                <a:r>
                  <a:rPr lang="en-US" sz="2200" dirty="0">
                    <a:solidFill>
                      <a:srgbClr val="FF0000"/>
                    </a:solidFill>
                  </a:rPr>
                  <a:t>one-tailed or one-sided </a:t>
                </a:r>
                <a:r>
                  <a:rPr lang="en-US" sz="2200" dirty="0"/>
                  <a:t>regions </a:t>
                </a:r>
                <a:r>
                  <a:rPr lang="en-US" sz="2200" dirty="0" smtClean="0"/>
                  <a:t>when the </a:t>
                </a:r>
                <a:r>
                  <a:rPr lang="en-US" sz="2200" dirty="0"/>
                  <a:t>rejection region consists of a </a:t>
                </a:r>
                <a:r>
                  <a:rPr lang="en-US" sz="2200" dirty="0" smtClean="0"/>
                  <a:t>single </a:t>
                </a:r>
                <a:r>
                  <a:rPr lang="en-IN" sz="2200" dirty="0" smtClean="0"/>
                  <a:t>interval.</a:t>
                </a:r>
                <a:endParaRPr lang="en-IN" sz="2200" b="0" dirty="0" smtClean="0"/>
              </a:p>
              <a:p>
                <a:pPr marL="0" indent="0">
                  <a:buNone/>
                </a:pPr>
                <a:endParaRPr lang="en-IN" sz="2200" dirty="0"/>
              </a:p>
              <a:p>
                <a:pPr marL="0" indent="0">
                  <a:buNone/>
                </a:pPr>
                <a:endParaRPr lang="en-IN" sz="2200" dirty="0" smtClean="0"/>
              </a:p>
              <a:p>
                <a:pPr marL="0" indent="0">
                  <a:buNone/>
                </a:pPr>
                <a:endParaRPr lang="en-IN" sz="22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457200"/>
                <a:ext cx="8229600" cy="6019800"/>
              </a:xfrm>
              <a:blipFill rotWithShape="1">
                <a:blip r:embed="rId2"/>
                <a:stretch>
                  <a:fillRect l="-889" t="-607" r="-1778" b="-190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38200" y="3156466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910800" y="839520"/>
              <a:ext cx="7367400" cy="54838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1440" y="830160"/>
                <a:ext cx="7386120" cy="55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49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two-tailed or </a:t>
            </a:r>
            <a:r>
              <a:rPr lang="en-US" sz="2800" dirty="0" smtClean="0">
                <a:solidFill>
                  <a:srgbClr val="FF0000"/>
                </a:solidFill>
              </a:rPr>
              <a:t>two-sided Test</a:t>
            </a:r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533400"/>
                <a:ext cx="8229600" cy="624840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IN" sz="2000" dirty="0" smtClean="0"/>
                  <a:t>To find the rejection region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IN" sz="2000" b="1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IN" sz="2000" b="1" i="1">
                                <a:latin typeface="Cambria Math"/>
                              </a:rPr>
                              <m:t>𝑹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2000" dirty="0" smtClean="0"/>
                  <a:t>,  consider a subset of S = {0, 1, …100} that has probability </a:t>
                </a:r>
                <a:r>
                  <a:rPr lang="el-GR" sz="2000" dirty="0" smtClean="0"/>
                  <a:t>α</a:t>
                </a:r>
                <a:r>
                  <a:rPr lang="en-IN" sz="2000" dirty="0" smtClean="0"/>
                  <a:t>, when the coin is fair</a:t>
                </a:r>
              </a:p>
              <a:p>
                <a:r>
                  <a:rPr lang="en-IN" sz="2000" dirty="0" smtClean="0"/>
                  <a:t>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IN" sz="2000" b="1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IN" sz="2000" b="1" i="1">
                                <a:latin typeface="Cambria Math"/>
                              </a:rPr>
                              <m:t>𝑹</m:t>
                            </m:r>
                          </m:e>
                        </m:acc>
                      </m:e>
                    </m:d>
                  </m:oMath>
                </a14:m>
                <a:r>
                  <a:rPr lang="en-IN" sz="2000" dirty="0" smtClean="0"/>
                  <a:t> is the set of integers outside the range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/>
                      </a:rPr>
                      <m:t>50</m:t>
                    </m:r>
                    <m:r>
                      <a:rPr lang="en-IN" sz="2000" b="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IN" sz="2000" b="0" i="1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endParaRPr lang="en-IN" sz="2000" dirty="0" smtClean="0"/>
              </a:p>
              <a:p>
                <a:pPr marL="0" indent="0">
                  <a:buNone/>
                </a:pPr>
                <a:endParaRPr lang="en-IN" sz="100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/>
                        </a:rPr>
                        <m:t>𝛼</m:t>
                      </m:r>
                      <m:r>
                        <a:rPr lang="en-IN" sz="2000" i="1">
                          <a:latin typeface="Cambria Math"/>
                        </a:rPr>
                        <m:t>=0.05=1 −</m:t>
                      </m:r>
                      <m:r>
                        <a:rPr lang="en-IN" sz="2000" i="1">
                          <a:latin typeface="Cambria Math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i="1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latin typeface="Cambria Math"/>
                                </a:rPr>
                                <m:t>50−</m:t>
                              </m:r>
                              <m:r>
                                <a:rPr lang="en-IN" sz="2000" i="1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IN" sz="2000" i="1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IN" sz="2000" i="1">
                                  <a:latin typeface="Cambria Math"/>
                                </a:rPr>
                                <m:t>𝑁</m:t>
                              </m:r>
                              <m:r>
                                <a:rPr lang="en-IN" sz="2000" i="1">
                                  <a:latin typeface="Cambria Math"/>
                                </a:rPr>
                                <m:t>≤50+</m:t>
                              </m:r>
                              <m:r>
                                <a:rPr lang="en-IN" sz="2000" i="1">
                                  <a:latin typeface="Cambria Math"/>
                                </a:rPr>
                                <m:t>𝑐</m:t>
                              </m:r>
                            </m:e>
                          </m:d>
                          <m:r>
                            <a:rPr lang="en-IN" sz="2000" i="1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000" dirty="0" smtClean="0"/>
              </a:p>
              <a:p>
                <a:pPr marL="0" indent="0">
                  <a:buNone/>
                </a:pPr>
                <a:r>
                  <a:rPr lang="en-IN" sz="2000" dirty="0" smtClean="0"/>
                  <a:t>Using Binomial expansion, we get</a:t>
                </a:r>
              </a:p>
              <a:p>
                <a:pPr marL="0" indent="0">
                  <a:buNone/>
                </a:pPr>
                <a:endParaRPr lang="en-IN" sz="1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/>
                        </a:rPr>
                        <m:t>𝛼</m:t>
                      </m:r>
                      <m:r>
                        <a:rPr lang="en-IN" sz="2000" i="1">
                          <a:latin typeface="Cambria Math"/>
                        </a:rPr>
                        <m:t>=1 − </m:t>
                      </m:r>
                      <m:nary>
                        <m:naryPr>
                          <m:chr m:val="∑"/>
                          <m:ctrlPr>
                            <a:rPr lang="en-IN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i="1">
                              <a:latin typeface="Cambria Math"/>
                            </a:rPr>
                            <m:t>𝑗</m:t>
                          </m:r>
                          <m:r>
                            <a:rPr lang="en-IN" sz="2000" i="1">
                              <a:latin typeface="Cambria Math"/>
                            </a:rPr>
                            <m:t>=50−</m:t>
                          </m:r>
                          <m:r>
                            <a:rPr lang="en-IN" sz="20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lang="en-IN" sz="2000" i="1">
                              <a:latin typeface="Cambria Math"/>
                            </a:rPr>
                            <m:t>50+</m:t>
                          </m:r>
                          <m:r>
                            <a:rPr lang="en-IN" sz="2000" i="1">
                              <a:latin typeface="Cambria Math"/>
                            </a:rPr>
                            <m:t>𝑐</m:t>
                          </m:r>
                        </m:sup>
                        <m:e>
                          <m:d>
                            <m:dPr>
                              <m:ctrlPr>
                                <a:rPr lang="en-IN" sz="20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IN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i="1">
                                      <a:latin typeface="Cambria Math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latin typeface="Cambria Math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IN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0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000" i="1">
                                  <a:latin typeface="Cambria Math"/>
                                </a:rPr>
                                <m:t>100</m:t>
                              </m:r>
                            </m:sup>
                          </m:sSup>
                          <m:r>
                            <a:rPr lang="en-IN" sz="2000" i="1">
                              <a:latin typeface="Cambria Math"/>
                              <a:ea typeface="Cambria Math"/>
                            </a:rPr>
                            <m:t>≈2 </m:t>
                          </m:r>
                          <m:r>
                            <a:rPr lang="en-IN" sz="2000" i="1">
                              <a:latin typeface="Cambria Math"/>
                              <a:ea typeface="Cambria Math"/>
                            </a:rPr>
                            <m:t>𝑄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i="1">
                                      <a:latin typeface="Cambria Math"/>
                                      <a:ea typeface="Cambria Math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latin typeface="Cambria Math"/>
                                      <a:ea typeface="Cambria Math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IN" sz="2000" b="0" dirty="0" smtClean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b="0" dirty="0" smtClean="0"/>
              </a:p>
              <a:p>
                <a:pPr marL="0" indent="0">
                  <a:buNone/>
                </a:pPr>
                <a:endParaRPr lang="en-IN" sz="20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000" i="1">
                              <a:latin typeface="Cambria Math"/>
                            </a:rPr>
                            <m:t>c</m:t>
                          </m:r>
                        </m:num>
                        <m:den>
                          <m:r>
                            <a:rPr lang="en-IN" sz="2000" i="1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IN" sz="20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IN" sz="2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/>
                            </a:rPr>
                            <m:t>𝑄</m:t>
                          </m:r>
                        </m:e>
                        <m:sup>
                          <m:r>
                            <a:rPr lang="en-IN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IN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/>
                            </a:rPr>
                            <m:t>0.025</m:t>
                          </m:r>
                        </m:e>
                      </m:d>
                      <m:r>
                        <a:rPr lang="en-IN" sz="2000" i="1">
                          <a:latin typeface="Cambria Math"/>
                        </a:rPr>
                        <m:t>=1.96</m:t>
                      </m:r>
                    </m:oMath>
                  </m:oMathPara>
                </a14:m>
                <a:endParaRPr lang="en-I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/>
                        </a:rPr>
                        <m:t>𝑐</m:t>
                      </m:r>
                      <m:r>
                        <a:rPr lang="en-IN" sz="2000" i="1">
                          <a:latin typeface="Cambria Math"/>
                        </a:rPr>
                        <m:t>=10</m:t>
                      </m:r>
                    </m:oMath>
                  </m:oMathPara>
                </a14:m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This gives acceptance region ---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>
                            <a:latin typeface="Cambria Math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IN" sz="20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IN" sz="2000" i="1">
                                <a:latin typeface="Cambria Math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en-IN" sz="2000" i="1">
                            <a:latin typeface="Cambria Math"/>
                          </a:rPr>
                          <m:t>𝑐</m:t>
                        </m:r>
                      </m:sup>
                    </m:sSup>
                    <m:r>
                      <a:rPr lang="en-IN" sz="20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/>
                          </a:rPr>
                          <m:t>40,41,…50,51,…,60</m:t>
                        </m:r>
                      </m:e>
                    </m:d>
                  </m:oMath>
                </a14:m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And rejection region               ---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N" sz="2000" i="1">
                            <a:latin typeface="Cambria Math"/>
                          </a:rPr>
                        </m:ctrlPr>
                      </m:accPr>
                      <m:e>
                        <m:r>
                          <a:rPr lang="en-IN" sz="2000" i="1">
                            <a:latin typeface="Cambria Math"/>
                          </a:rPr>
                          <m:t>𝑅</m:t>
                        </m:r>
                      </m:e>
                    </m:acc>
                    <m:r>
                      <a:rPr lang="en-IN" sz="20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/>
                          </a:rPr>
                          <m:t>𝑘</m:t>
                        </m:r>
                        <m:r>
                          <a:rPr lang="en-IN" sz="2000" i="1">
                            <a:latin typeface="Cambria Math"/>
                          </a:rPr>
                          <m:t>: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/>
                              </a:rPr>
                              <m:t>𝑘</m:t>
                            </m:r>
                            <m:r>
                              <a:rPr lang="en-IN" sz="2000" i="1">
                                <a:latin typeface="Cambria Math"/>
                              </a:rPr>
                              <m:t>−50</m:t>
                            </m:r>
                          </m:e>
                        </m:d>
                        <m:r>
                          <a:rPr lang="en-IN" sz="2000" i="1">
                            <a:latin typeface="Cambria Math"/>
                          </a:rPr>
                          <m:t>&gt;10</m:t>
                        </m:r>
                      </m:e>
                    </m:d>
                  </m:oMath>
                </a14:m>
                <a:endParaRPr lang="en-IN" sz="2000" b="0" dirty="0" smtClean="0"/>
              </a:p>
              <a:p>
                <a:pPr marL="0" indent="0">
                  <a:buNone/>
                </a:pPr>
                <a:endParaRPr lang="en-IN" sz="2000" dirty="0" smtClean="0"/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533400"/>
                <a:ext cx="8229600" cy="6248400"/>
              </a:xfrm>
              <a:blipFill rotWithShape="1">
                <a:blip r:embed="rId2"/>
                <a:stretch>
                  <a:fillRect l="-815" t="-390" r="-1407" b="-54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38200" y="3156466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04800" y="3525798"/>
                <a:ext cx="20705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Substitute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𝛼</m:t>
                    </m:r>
                    <m:r>
                      <a:rPr lang="en-IN" i="1">
                        <a:latin typeface="Cambria Math"/>
                      </a:rPr>
                      <m:t>=0.05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525798"/>
                <a:ext cx="207056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353" t="-8197" r="-411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1866900" y="3947790"/>
            <a:ext cx="5410200" cy="650202"/>
            <a:chOff x="1676400" y="727572"/>
            <a:chExt cx="5410200" cy="650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1676400" y="727572"/>
                  <a:ext cx="1708352" cy="5821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>
                            <a:latin typeface="Cambria Math"/>
                          </a:rPr>
                          <m:t>2 </m:t>
                        </m:r>
                        <m:r>
                          <a:rPr lang="en-IN" i="1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en-IN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r>
                          <a:rPr lang="en-IN" i="1">
                            <a:latin typeface="Cambria Math"/>
                          </a:rPr>
                          <m:t>=0.05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727572"/>
                  <a:ext cx="1708352" cy="582147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428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4695368" y="753564"/>
                  <a:ext cx="2391232" cy="62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en-IN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r>
                          <a:rPr lang="en-IN" i="1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/>
                              </a:rPr>
                              <m:t>0.05</m:t>
                            </m:r>
                          </m:num>
                          <m:den>
                            <m:r>
                              <a:rPr lang="en-IN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IN" i="1">
                            <a:latin typeface="Cambria Math"/>
                          </a:rPr>
                          <m:t>=0.025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5368" y="753564"/>
                  <a:ext cx="2391232" cy="6242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r="-279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/>
            <p:cNvCxnSpPr/>
            <p:nvPr/>
          </p:nvCxnSpPr>
          <p:spPr>
            <a:xfrm>
              <a:off x="3505200" y="1065669"/>
              <a:ext cx="10668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1348200" y="1241280"/>
              <a:ext cx="5617440" cy="43318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8840" y="1231920"/>
                <a:ext cx="5636160" cy="435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788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one-tailed or </a:t>
            </a:r>
            <a:r>
              <a:rPr lang="en-US" sz="2800" dirty="0" smtClean="0">
                <a:solidFill>
                  <a:srgbClr val="FF0000"/>
                </a:solidFill>
              </a:rPr>
              <a:t>one-sided Test</a:t>
            </a:r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762000"/>
                <a:ext cx="8229600" cy="5029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000" dirty="0" smtClean="0"/>
                  <a:t>If we set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N" sz="2000" b="1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IN" sz="2000" b="1" i="1" smtClean="0">
                            <a:latin typeface="Cambria Math"/>
                          </a:rPr>
                          <m:t>𝑹</m:t>
                        </m:r>
                      </m:e>
                    </m:acc>
                    <m:r>
                      <a:rPr lang="en-IN" sz="2000" b="0" i="1" smtClean="0">
                        <a:latin typeface="Cambria Math"/>
                      </a:rPr>
                      <m:t>&gt;50+</m:t>
                    </m:r>
                    <m:r>
                      <a:rPr lang="en-IN" sz="2000" b="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IN" sz="2000" dirty="0" smtClean="0"/>
                  <a:t>, then it is on-tailed test</a:t>
                </a:r>
              </a:p>
              <a:p>
                <a:pPr marL="0" indent="0">
                  <a:buNone/>
                </a:pPr>
                <a:r>
                  <a:rPr lang="en-IN" sz="2000" dirty="0" smtClean="0"/>
                  <a:t>Similarly we can solve for this range as:</a:t>
                </a:r>
              </a:p>
              <a:p>
                <a:pPr marL="0" indent="0">
                  <a:buNone/>
                </a:pPr>
                <a:endParaRPr lang="en-IN" sz="1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/>
                        </a:rPr>
                        <m:t>𝛼</m:t>
                      </m:r>
                      <m:r>
                        <a:rPr lang="en-IN" sz="2000" i="1">
                          <a:latin typeface="Cambria Math"/>
                        </a:rPr>
                        <m:t>=0.05=</m:t>
                      </m:r>
                      <m:r>
                        <a:rPr lang="en-IN" sz="2000" i="1">
                          <a:latin typeface="Cambria Math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IN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latin typeface="Cambria Math"/>
                                    </a:rPr>
                                    <m:t>𝑁</m:t>
                                  </m:r>
                                  <m:r>
                                    <a:rPr lang="en-IN" sz="2000" b="0" i="1" smtClean="0">
                                      <a:latin typeface="Cambria Math"/>
                                    </a:rPr>
                                    <m:t>&gt; </m:t>
                                  </m:r>
                                  <m:r>
                                    <a:rPr lang="en-IN" sz="2000" i="1">
                                      <a:latin typeface="Cambria Math"/>
                                    </a:rPr>
                                    <m:t>50+</m:t>
                                  </m:r>
                                  <m:r>
                                    <a:rPr lang="en-IN" sz="2000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IN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/>
                        </a:rPr>
                        <m:t>=</m:t>
                      </m:r>
                      <m:r>
                        <a:rPr lang="en-IN" sz="2000" b="0" i="1" smtClean="0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n-IN" sz="20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 smtClean="0"/>
              </a:p>
              <a:p>
                <a:pPr marL="0" indent="0">
                  <a:buNone/>
                </a:pPr>
                <a:r>
                  <a:rPr lang="en-IN" sz="2000" dirty="0" smtClean="0"/>
                  <a:t>After solving this, 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/>
                        </a:rPr>
                        <m:t>𝑐</m:t>
                      </m:r>
                      <m:r>
                        <a:rPr lang="en-IN" sz="2000" b="0" i="1" smtClean="0">
                          <a:latin typeface="Cambria Math"/>
                        </a:rPr>
                        <m:t>=8</m:t>
                      </m:r>
                    </m:oMath>
                  </m:oMathPara>
                </a14:m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This gives acceptance region ---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>
                            <a:latin typeface="Cambria Math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IN" sz="20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IN" sz="2000" i="1">
                                <a:latin typeface="Cambria Math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en-IN" sz="2000" i="1">
                            <a:latin typeface="Cambria Math"/>
                          </a:rPr>
                          <m:t>𝑐</m:t>
                        </m:r>
                      </m:sup>
                    </m:sSup>
                    <m:r>
                      <a:rPr lang="en-IN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/>
                          </a:rPr>
                          <m:t>1, 2,..58</m:t>
                        </m:r>
                      </m:e>
                    </m:d>
                  </m:oMath>
                </a14:m>
                <a:endParaRPr lang="en-IN" sz="2000" dirty="0" smtClean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And rejection region               ---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N" sz="2000" i="1">
                            <a:latin typeface="Cambria Math"/>
                          </a:rPr>
                        </m:ctrlPr>
                      </m:accPr>
                      <m:e>
                        <m:r>
                          <a:rPr lang="en-IN" sz="2000" i="1">
                            <a:latin typeface="Cambria Math"/>
                          </a:rPr>
                          <m:t>𝑅</m:t>
                        </m:r>
                      </m:e>
                    </m:acc>
                    <m:r>
                      <a:rPr lang="en-IN" sz="20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IN" sz="2000" i="1" smtClean="0">
                            <a:latin typeface="Cambria Math"/>
                          </a:rPr>
                          <m:t>𝑘</m:t>
                        </m:r>
                        <m:r>
                          <a:rPr lang="en-IN" sz="2000" i="1">
                            <a:latin typeface="Cambria Math"/>
                          </a:rPr>
                          <m:t>:</m:t>
                        </m:r>
                        <m:r>
                          <a:rPr lang="en-IN" sz="2000" b="0" i="1" smtClean="0">
                            <a:latin typeface="Cambria Math"/>
                          </a:rPr>
                          <m:t>𝑘</m:t>
                        </m:r>
                        <m:r>
                          <a:rPr lang="en-IN" sz="2000" b="0" i="1" smtClean="0">
                            <a:latin typeface="Cambria Math"/>
                          </a:rPr>
                          <m:t>&gt;58</m:t>
                        </m:r>
                      </m:e>
                    </m:d>
                  </m:oMath>
                </a14:m>
                <a:r>
                  <a:rPr lang="en-IN" sz="2000" dirty="0"/>
                  <a:t> </a:t>
                </a:r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762000"/>
                <a:ext cx="8229600" cy="5029200"/>
              </a:xfrm>
              <a:blipFill rotWithShape="1">
                <a:blip r:embed="rId2"/>
                <a:stretch>
                  <a:fillRect l="-741" t="-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38200" y="3156466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294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5616" y="116632"/>
            <a:ext cx="6840760" cy="1224136"/>
          </a:xfrm>
        </p:spPr>
        <p:txBody>
          <a:bodyPr>
            <a:normAutofit/>
          </a:bodyPr>
          <a:lstStyle/>
          <a:p>
            <a:r>
              <a:rPr lang="en-IN" dirty="0"/>
              <a:t>Reference Book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17</a:t>
            </a:fld>
            <a:endParaRPr lang="en-IN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11560" y="1772816"/>
            <a:ext cx="7848872" cy="3528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i="0" u="none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Alberto Leon-Garcia, Probability, Statistics</a:t>
            </a:r>
            <a:r>
              <a:rPr lang="en-US" sz="2000" dirty="0" smtClean="0">
                <a:solidFill>
                  <a:schemeClr val="tx1"/>
                </a:solidFill>
              </a:rPr>
              <a:t>,  and </a:t>
            </a:r>
            <a:r>
              <a:rPr lang="en-US" sz="2000" dirty="0">
                <a:solidFill>
                  <a:schemeClr val="tx1"/>
                </a:solidFill>
              </a:rPr>
              <a:t>Random </a:t>
            </a:r>
            <a:r>
              <a:rPr lang="en-US" sz="2000" dirty="0" smtClean="0">
                <a:solidFill>
                  <a:schemeClr val="tx1"/>
                </a:solidFill>
              </a:rPr>
              <a:t>Processes for </a:t>
            </a:r>
            <a:r>
              <a:rPr lang="en-US" sz="2000" dirty="0">
                <a:solidFill>
                  <a:schemeClr val="tx1"/>
                </a:solidFill>
              </a:rPr>
              <a:t>Electrical </a:t>
            </a:r>
            <a:r>
              <a:rPr lang="en-US" sz="2000" dirty="0" smtClean="0">
                <a:solidFill>
                  <a:schemeClr val="tx1"/>
                </a:solidFill>
              </a:rPr>
              <a:t>Engineering, Third Edition, 2007,  Pearson India, 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Douglas C. Montgomery and George C. </a:t>
            </a:r>
            <a:r>
              <a:rPr lang="en-US" sz="2000" dirty="0" err="1" smtClean="0">
                <a:solidFill>
                  <a:schemeClr val="tx1"/>
                </a:solidFill>
              </a:rPr>
              <a:t>Runger</a:t>
            </a:r>
            <a:r>
              <a:rPr lang="en-US" sz="2000" dirty="0" smtClean="0">
                <a:solidFill>
                  <a:schemeClr val="tx1"/>
                </a:solidFill>
              </a:rPr>
              <a:t> (2010),  Applied Statistics and Probability for Engineers. Fifth Edition. John Wiley &amp; Sons.</a:t>
            </a:r>
          </a:p>
        </p:txBody>
      </p:sp>
    </p:spTree>
    <p:extLst>
      <p:ext uri="{BB962C8B-B14F-4D97-AF65-F5344CB8AC3E}">
        <p14:creationId xmlns:p14="http://schemas.microsoft.com/office/powerpoint/2010/main" val="257501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485&quot;&gt;&lt;object type=&quot;3&quot; unique_id=&quot;16228&quot;&gt;&lt;property id=&quot;20148&quot; value=&quot;5&quot;/&gt;&lt;property id=&quot;20300&quot; value=&quot;Slide 6 - &amp;quot;Types of Hypothesis Test&amp;quot;&quot;/&gt;&lt;property id=&quot;20307&quot; value=&quot;325&quot;/&gt;&lt;/object&gt;&lt;object type=&quot;3&quot; unique_id=&quot;16229&quot;&gt;&lt;property id=&quot;20148&quot; value=&quot;5&quot;/&gt;&lt;property id=&quot;20300&quot; value=&quot;Slide 14 - &amp;quot;Example&amp;quot;&quot;/&gt;&lt;property id=&quot;20307&quot; value=&quot;311&quot;/&gt;&lt;/object&gt;&lt;object type=&quot;3&quot; unique_id=&quot;16230&quot;&gt;&lt;property id=&quot;20148&quot; value=&quot;5&quot;/&gt;&lt;property id=&quot;20300&quot; value=&quot;Slide 15 - &amp;quot;two-tailed or two-sided Test&amp;quot;&quot;/&gt;&lt;property id=&quot;20307&quot; value=&quot;324&quot;/&gt;&lt;/object&gt;&lt;object type=&quot;3&quot; unique_id=&quot;16231&quot;&gt;&lt;property id=&quot;20148&quot; value=&quot;5&quot;/&gt;&lt;property id=&quot;20300&quot; value=&quot;Slide 16 - &amp;quot;one-tailed or one-sided Test&amp;quot;&quot;/&gt;&lt;property id=&quot;20307&quot; value=&quot;308&quot;/&gt;&lt;/object&gt;&lt;object type=&quot;3&quot; unique_id=&quot;16232&quot;&gt;&lt;property id=&quot;20148&quot; value=&quot;5&quot;/&gt;&lt;property id=&quot;20300&quot; value=&quot;Slide 4 - &amp;quot;The Probability Values (p-values) Approach of hypothesis testing&amp;quot;&quot;/&gt;&lt;property id=&quot;20307&quot; value=&quot;327&quot;/&gt;&lt;/object&gt;&lt;object type=&quot;3&quot; unique_id=&quot;16849&quot;&gt;&lt;property id=&quot;20148&quot; value=&quot;5&quot;/&gt;&lt;property id=&quot;20300&quot; value=&quot;Slide 8 - &amp;quot;Left-tailed Test&amp;quot;&quot;/&gt;&lt;property id=&quot;20307&quot; value=&quot;334&quot;/&gt;&lt;/object&gt;&lt;object type=&quot;3&quot; unique_id=&quot;16851&quot;&gt;&lt;property id=&quot;20148&quot; value=&quot;5&quot;/&gt;&lt;property id=&quot;20300&quot; value=&quot;Slide 10 - &amp;quot;Example of test&amp;quot;&quot;/&gt;&lt;property id=&quot;20307&quot; value=&quot;336&quot;/&gt;&lt;/object&gt;&lt;object type=&quot;3&quot; unique_id=&quot;16852&quot;&gt;&lt;property id=&quot;20148&quot; value=&quot;5&quot;/&gt;&lt;property id=&quot;20300&quot; value=&quot;Slide 13 - &amp;quot;Steps for Hypothesis Testing using significance level &amp;amp; p-value&amp;quot;&quot;/&gt;&lt;property id=&quot;20307&quot; value=&quot;337&quot;/&gt;&lt;/object&gt;&lt;object type=&quot;3&quot; unique_id=&quot;18080&quot;&gt;&lt;property id=&quot;20148&quot; value=&quot;5&quot;/&gt;&lt;property id=&quot;20300&quot; value=&quot;Slide 9 - &amp;quot;Two-tailed or Two-sided Test&amp;quot;&quot;/&gt;&lt;property id=&quot;20307&quot; value=&quot;346&quot;/&gt;&lt;/object&gt;&lt;object type=&quot;3&quot; unique_id=&quot;72631&quot;&gt;&lt;property id=&quot;20148&quot; value=&quot;5&quot;/&gt;&lt;property id=&quot;20300&quot; value=&quot;Slide 1&quot;/&gt;&lt;property id=&quot;20307&quot; value=&quot;348&quot;/&gt;&lt;/object&gt;&lt;object type=&quot;3&quot; unique_id=&quot;72632&quot;&gt;&lt;property id=&quot;20148&quot; value=&quot;5&quot;/&gt;&lt;property id=&quot;20300&quot; value=&quot;Slide 2 - &amp;quot;Lecture-6 One-Tailed and Two-Tailed Test&amp;quot;&quot;/&gt;&lt;property id=&quot;20307&quot; value=&quot;349&quot;/&gt;&lt;/object&gt;&lt;object type=&quot;3&quot; unique_id=&quot;72633&quot;&gt;&lt;property id=&quot;20148&quot; value=&quot;5&quot;/&gt;&lt;property id=&quot;20300&quot; value=&quot;Slide 3 - &amp;quot;Content of Lecture-6 Module – 4&amp;quot;&quot;/&gt;&lt;property id=&quot;20307&quot; value=&quot;350&quot;/&gt;&lt;/object&gt;&lt;object type=&quot;3&quot; unique_id=&quot;72634&quot;&gt;&lt;property id=&quot;20148&quot; value=&quot;5&quot;/&gt;&lt;property id=&quot;20300&quot; value=&quot;Slide 5 - &amp;quot;The Probability Values (p-values) Approach of hypothesis testing&amp;quot;&quot;/&gt;&lt;property id=&quot;20307&quot; value=&quot;352&quot;/&gt;&lt;/object&gt;&lt;object type=&quot;3&quot; unique_id=&quot;72635&quot;&gt;&lt;property id=&quot;20148&quot; value=&quot;5&quot;/&gt;&lt;property id=&quot;20300&quot; value=&quot;Slide 7 - &amp;quot;One-tailed or one-sided Test&amp;quot;&quot;/&gt;&lt;property id=&quot;20307&quot; value=&quot;351&quot;/&gt;&lt;/object&gt;&lt;object type=&quot;3&quot; unique_id=&quot;72840&quot;&gt;&lt;property id=&quot;20148&quot; value=&quot;5&quot;/&gt;&lt;property id=&quot;20300&quot; value=&quot;Slide 17 - &amp;quot;Reference Book&amp;quot;&quot;/&gt;&lt;property id=&quot;20307&quot; value=&quot;353&quot;/&gt;&lt;/object&gt;&lt;object type=&quot;3&quot; unique_id=&quot;73263&quot;&gt;&lt;property id=&quot;20148&quot; value=&quot;5&quot;/&gt;&lt;property id=&quot;20300&quot; value=&quot;Slide 11 - &amp;quot;Example of test&amp;quot;&quot;/&gt;&lt;property id=&quot;20307&quot; value=&quot;355&quot;/&gt;&lt;/object&gt;&lt;object type=&quot;3&quot; unique_id=&quot;73264&quot;&gt;&lt;property id=&quot;20148&quot; value=&quot;5&quot;/&gt;&lt;property id=&quot;20300&quot; value=&quot;Slide 12 - &amp;quot;Example of test&amp;quot;&quot;/&gt;&lt;property id=&quot;20307&quot; value=&quot;354&quot;/&gt;&lt;/object&gt;&lt;/object&gt;&lt;object type=&quot;8&quot; unique_id=&quot;10635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6036</TotalTime>
  <Words>1338</Words>
  <Application>Microsoft Office PowerPoint</Application>
  <PresentationFormat>On-screen Show (4:3)</PresentationFormat>
  <Paragraphs>210</Paragraphs>
  <Slides>17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Lecture-6 One-Tailed and Two-Tailed Test</vt:lpstr>
      <vt:lpstr>Content of Lecture-6 Module – 4</vt:lpstr>
      <vt:lpstr>The Probability Values (p-values) Approach of hypothesis testing</vt:lpstr>
      <vt:lpstr>The Probability Values (p-values) Approach of hypothesis testing</vt:lpstr>
      <vt:lpstr>Types of Hypothesis Test</vt:lpstr>
      <vt:lpstr>One-tailed or one-sided Test</vt:lpstr>
      <vt:lpstr>Left-tailed Test</vt:lpstr>
      <vt:lpstr>Two-tailed or Two-sided Test</vt:lpstr>
      <vt:lpstr>Example of test</vt:lpstr>
      <vt:lpstr>Example of test</vt:lpstr>
      <vt:lpstr>Example of test</vt:lpstr>
      <vt:lpstr>Steps for Hypothesis Testing using significance level &amp; p-value</vt:lpstr>
      <vt:lpstr>Example</vt:lpstr>
      <vt:lpstr>two-tailed or two-sided Test</vt:lpstr>
      <vt:lpstr>one-tailed or one-sided Test</vt:lpstr>
      <vt:lpstr>Reference Book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Hem Dutt Joshi</dc:creator>
  <cp:lastModifiedBy>Dr. Hem Dutt Joshi</cp:lastModifiedBy>
  <cp:revision>220</cp:revision>
  <dcterms:created xsi:type="dcterms:W3CDTF">2006-08-16T00:00:00Z</dcterms:created>
  <dcterms:modified xsi:type="dcterms:W3CDTF">2020-07-18T09:15:33Z</dcterms:modified>
</cp:coreProperties>
</file>