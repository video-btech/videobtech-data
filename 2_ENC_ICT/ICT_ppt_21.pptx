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66" r:id="rId4"/>
    <p:sldId id="268" r:id="rId5"/>
    <p:sldId id="270" r:id="rId6"/>
    <p:sldId id="271" r:id="rId7"/>
    <p:sldId id="272" r:id="rId8"/>
    <p:sldId id="273" r:id="rId9"/>
    <p:sldId id="274" r:id="rId10"/>
    <p:sldId id="267" r:id="rId11"/>
  </p:sldIdLst>
  <p:sldSz cx="9144000" cy="6858000" type="screen4x3"/>
  <p:notesSz cx="6858000" cy="91440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53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42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3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786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356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827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35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61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82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57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35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391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2BD3F-C398-4571-8FDB-3AB512FB80C5}" type="datetimeFigureOut">
              <a:rPr lang="en-US" smtClean="0"/>
              <a:t>7/13/2020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10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ocw.mit.edu/courses/mechanical-engineering/2-017j-design-of-electromechanical-robotic-systems-fall-2009/course-text/MIT2_017JF09_ch04.pdf" TargetMode="External"/><Relationship Id="rId2" Type="http://schemas.openxmlformats.org/officeDocument/2006/relationships/hyperlink" Target="https://www.probabilitycourse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Lecture-5 Module-3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534400" cy="1752600"/>
          </a:xfrm>
        </p:spPr>
        <p:txBody>
          <a:bodyPr>
            <a:normAutofit/>
          </a:bodyPr>
          <a:lstStyle/>
          <a:p>
            <a:r>
              <a:rPr lang="en-US" sz="4800" b="1" dirty="0"/>
              <a:t>Ergodicity and Noise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696562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Introduction </a:t>
            </a:r>
            <a:endParaRPr lang="en-US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990600"/>
                <a:ext cx="8839200" cy="5638800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In the event that the </a:t>
                </a:r>
                <a:r>
                  <a:rPr lang="en-US" sz="2000" i="1" dirty="0" smtClean="0">
                    <a:solidFill>
                      <a:srgbClr val="7030A0"/>
                    </a:solidFill>
                  </a:rPr>
                  <a:t>distributions and statistics are not available</a:t>
                </a:r>
                <a:r>
                  <a:rPr lang="en-US" sz="2000" dirty="0" smtClean="0"/>
                  <a:t>, the </a:t>
                </a:r>
                <a:r>
                  <a:rPr lang="en-US" sz="2000" i="1" dirty="0">
                    <a:solidFill>
                      <a:srgbClr val="00B050"/>
                    </a:solidFill>
                  </a:rPr>
                  <a:t>time averages </a:t>
                </a:r>
                <a:r>
                  <a:rPr lang="en-US" sz="2000" dirty="0"/>
                  <a:t>from the particular sample </a:t>
                </a:r>
                <a:r>
                  <a:rPr lang="en-US" sz="2000" dirty="0" smtClean="0"/>
                  <a:t>function plays an important role.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>
                    <a:solidFill>
                      <a:srgbClr val="FF0000"/>
                    </a:solidFill>
                  </a:rPr>
                  <a:t>Considering </a:t>
                </a:r>
                <a:r>
                  <a:rPr lang="en-US" sz="2000" i="1" dirty="0">
                    <a:solidFill>
                      <a:srgbClr val="FF0000"/>
                    </a:solidFill>
                  </a:rPr>
                  <a:t>time domain random signals</a:t>
                </a:r>
                <a:r>
                  <a:rPr lang="en-US" sz="2000" dirty="0">
                    <a:solidFill>
                      <a:srgbClr val="FF0000"/>
                    </a:solidFill>
                  </a:rPr>
                  <a:t>, assign to each random event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rgbClr val="FF0000"/>
                    </a:solidFill>
                  </a:rPr>
                  <a:t> a </a:t>
                </a:r>
                <a:r>
                  <a:rPr lang="en-US" sz="2000" dirty="0">
                    <a:solidFill>
                      <a:srgbClr val="FF0000"/>
                    </a:solidFill>
                  </a:rPr>
                  <a:t>complete signal, instead of a single scalar: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→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. The set of all the functions </a:t>
                </a:r>
                <a:r>
                  <a:rPr lang="en-US" sz="2000" dirty="0" smtClean="0">
                    <a:solidFill>
                      <a:srgbClr val="FF0000"/>
                    </a:solidFill>
                  </a:rPr>
                  <a:t>available is known as </a:t>
                </a:r>
                <a:r>
                  <a:rPr lang="en-US" sz="2000" dirty="0">
                    <a:solidFill>
                      <a:srgbClr val="FF0000"/>
                    </a:solidFill>
                  </a:rPr>
                  <a:t>the ensemble of the random process. An example case is to roll a die, generating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 = [1, 2, 3, 4, 5, 6]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and 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.</a:t>
                </a:r>
                <a:endParaRPr lang="en-US" sz="2000" dirty="0" smtClean="0">
                  <a:solidFill>
                    <a:srgbClr val="FF0000"/>
                  </a:solidFill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n-US" sz="2000" b="0" i="1" smtClean="0">
                  <a:solidFill>
                    <a:schemeClr val="tx1"/>
                  </a:solidFill>
                  <a:latin typeface="Cambria Math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taken at a specific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</a:rPr>
                  <a:t>but without specification of which event has occurred, is a random variable.</a:t>
                </a:r>
                <a:endParaRPr lang="en-US" sz="2000" dirty="0" smtClean="0">
                  <a:solidFill>
                    <a:schemeClr val="tx1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990600"/>
                <a:ext cx="8839200" cy="5638800"/>
              </a:xfrm>
              <a:blipFill rotWithShape="1">
                <a:blip r:embed="rId2"/>
                <a:stretch>
                  <a:fillRect l="-690" r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2688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/>
          </a:bodyPr>
          <a:lstStyle/>
          <a:p>
            <a:r>
              <a:rPr lang="en-US" sz="3200" b="1" dirty="0"/>
              <a:t>Time Averages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990600"/>
                <a:ext cx="8839200" cy="5638800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/>
                            </a:rPr>
                            <m:t>Mean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                                            </m:t>
                          </m:r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000" b="0" i="1" smtClean="0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/>
                                </a:rPr>
                                <m:t>𝑇</m:t>
                              </m:r>
                            </m:den>
                          </m:f>
                          <m:nary>
                            <m:naryPr>
                              <m:limLoc m:val="undOvr"/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/>
                                </a:rPr>
                                <m:t>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𝑑𝑡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/>
                        </a:rPr>
                        <m:t>Varience</m:t>
                      </m:r>
                      <m:r>
                        <a:rPr lang="en-US" sz="20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/>
                        </a:rPr>
                        <m:t>on</m:t>
                      </m:r>
                      <m:r>
                        <a:rPr lang="en-US" sz="20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/>
                        </a:rPr>
                        <m:t>time</m:t>
                      </m:r>
                      <m:r>
                        <a:rPr lang="en-US" sz="2000" b="0" i="1" smtClean="0">
                          <a:latin typeface="Cambria Math"/>
                        </a:rPr>
                        <m:t>              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 smtClean="0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2000" i="1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0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𝑇</m:t>
                              </m:r>
                            </m:den>
                          </m:f>
                          <m:nary>
                            <m:naryPr>
                              <m:limLoc m:val="undOvr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i="1">
                                  <a:latin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𝑇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00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00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en-US" sz="2000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/>
                                </a:rPr>
                                <m:t>  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𝑑𝑡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i="1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900" b="0" i="0" smtClean="0">
                              <a:latin typeface="Cambria Math"/>
                            </a:rPr>
                            <m:t>Autocorrelation</m:t>
                          </m:r>
                          <m:r>
                            <a:rPr lang="en-US" sz="1900" i="0">
                              <a:latin typeface="Cambria Math"/>
                            </a:rPr>
                            <m:t>        </m:t>
                          </m:r>
                          <m:r>
                            <a:rPr lang="en-US" sz="1900" b="0" i="1" smtClean="0">
                              <a:latin typeface="Cambria Math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US" sz="19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9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9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sz="190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900" i="1" smtClean="0"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</m:d>
                      <m:r>
                        <a:rPr lang="en-US" sz="19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1900" i="1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900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90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9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sz="1900" i="1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19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90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900" i="1">
                                  <a:latin typeface="Cambria Math"/>
                                </a:rPr>
                                <m:t>𝑇</m:t>
                              </m:r>
                            </m:den>
                          </m:f>
                          <m:nary>
                            <m:naryPr>
                              <m:limLoc m:val="undOvr"/>
                              <m:ctrlPr>
                                <a:rPr lang="en-US" sz="1900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1900" i="1">
                                  <a:latin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900" i="1">
                                  <a:latin typeface="Cambria Math"/>
                                </a:rPr>
                                <m:t>𝑇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90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9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9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900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900" i="1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900" i="1"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900" i="1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en-US" sz="1900" i="1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9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900" i="1">
                                              <a:latin typeface="Cambria Math"/>
                                              <a:ea typeface="Cambria Math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19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900" i="1"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900" i="1">
                                                  <a:latin typeface="Cambria Math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1900" i="1">
                                                  <a:latin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900" i="1">
                                                  <a:latin typeface="Cambria Math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90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9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9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900" i="1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900" i="1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1900" i="1"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900" i="1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1900" b="0" i="1" smtClean="0">
                                              <a:latin typeface="Cambria Math"/>
                                            </a:rPr>
                                            <m:t>+</m:t>
                                          </m:r>
                                          <m:r>
                                            <a:rPr lang="en-US" sz="19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  <m:r>
                                        <a:rPr lang="en-US" sz="1900" i="1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900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900" i="1">
                                              <a:latin typeface="Cambria Math"/>
                                              <a:ea typeface="Cambria Math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en-US" sz="1900" i="1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900" i="1"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900" i="1">
                                                  <a:latin typeface="Cambria Math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en-US" sz="1900" i="1">
                                                  <a:latin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900" i="1">
                                                  <a:latin typeface="Cambria Math"/>
                                                </a:rPr>
                                                <m:t>𝑡</m:t>
                                              </m:r>
                                            </m:e>
                                          </m:d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sz="1900" i="1">
                                  <a:latin typeface="Cambria Math"/>
                                </a:rPr>
                                <m:t>  </m:t>
                              </m:r>
                              <m:r>
                                <a:rPr lang="en-US" sz="1900" i="1">
                                  <a:latin typeface="Cambria Math"/>
                                </a:rPr>
                                <m:t>𝑑𝑡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1900" dirty="0" smtClean="0"/>
              </a:p>
              <a:p>
                <a:pPr marL="0" indent="0">
                  <a:buNone/>
                </a:pPr>
                <a:r>
                  <a:rPr lang="en-US" sz="1900" b="1" i="1" u="sng" dirty="0" smtClean="0"/>
                  <a:t>Consider the roll of a die and generation of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1" i="1" u="sng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900" b="1" i="1" u="sng">
                            <a:latin typeface="Cambria Math"/>
                          </a:rPr>
                          <m:t>𝒙</m:t>
                        </m:r>
                      </m:e>
                      <m:sub>
                        <m:r>
                          <a:rPr lang="en-US" sz="1900" b="1" i="1" u="sng">
                            <a:latin typeface="Cambria Math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US" sz="1900" b="1" i="1" u="sng">
                            <a:latin typeface="Cambria Math"/>
                          </a:rPr>
                        </m:ctrlPr>
                      </m:dPr>
                      <m:e>
                        <m:r>
                          <a:rPr lang="en-US" sz="1900" b="1" i="1" u="sng">
                            <a:latin typeface="Cambria Math"/>
                          </a:rPr>
                          <m:t>𝒕</m:t>
                        </m:r>
                      </m:e>
                    </m:d>
                    <m:r>
                      <a:rPr lang="en-US" sz="1900" b="1" i="1" u="sng" smtClean="0">
                        <a:latin typeface="Cambria Math"/>
                      </a:rPr>
                      <m:t>=</m:t>
                    </m:r>
                    <m:r>
                      <a:rPr lang="en-US" sz="1900" b="1" i="1" u="sng" smtClean="0">
                        <a:latin typeface="Cambria Math"/>
                      </a:rPr>
                      <m:t>𝒂</m:t>
                    </m:r>
                    <m:func>
                      <m:funcPr>
                        <m:ctrlPr>
                          <a:rPr lang="en-US" sz="1900" b="1" i="1" u="sng" smtClean="0">
                            <a:latin typeface="Cambria Math"/>
                          </a:rPr>
                        </m:ctrlPr>
                      </m:funcPr>
                      <m:fName>
                        <m:r>
                          <a:rPr lang="en-US" sz="1900" b="1" i="1" u="sng" smtClean="0">
                            <a:latin typeface="Cambria Math"/>
                          </a:rPr>
                          <m:t>𝒄𝒐𝒔</m:t>
                        </m:r>
                      </m:fName>
                      <m:e>
                        <m:d>
                          <m:dPr>
                            <m:ctrlPr>
                              <a:rPr lang="en-US" sz="1900" b="1" i="1" u="sng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900" b="1" i="1" u="sng" smtClean="0">
                                <a:latin typeface="Cambria Math"/>
                              </a:rPr>
                              <m:t>𝒊</m:t>
                            </m:r>
                            <m:r>
                              <a:rPr lang="en-US" sz="1900" b="1" i="1" u="sng" smtClean="0">
                                <a:latin typeface="Cambria Math"/>
                                <a:ea typeface="Cambria Math"/>
                              </a:rPr>
                              <m:t>𝝎</m:t>
                            </m:r>
                            <m:r>
                              <a:rPr lang="en-US" sz="1900" b="1" i="1" u="sng" smtClean="0">
                                <a:latin typeface="Cambria Math"/>
                                <a:ea typeface="Cambria Math"/>
                              </a:rPr>
                              <m:t>𝒕</m:t>
                            </m:r>
                          </m:e>
                        </m:d>
                      </m:e>
                    </m:func>
                  </m:oMath>
                </a14:m>
                <a:endParaRPr lang="en-US" sz="1900" b="1" i="1" u="sng" dirty="0" smtClean="0"/>
              </a:p>
              <a:p>
                <a:pPr marL="0" indent="0">
                  <a:buNone/>
                </a:pPr>
                <a:endParaRPr lang="en-US" sz="1900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sub>
                    </m:sSub>
                    <m:r>
                      <a:rPr lang="en-US" sz="1800" i="1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sz="1800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en-US" sz="1800" i="1">
                                <a:latin typeface="Cambria Math"/>
                              </a:rPr>
                              <m:t>𝑡</m:t>
                            </m:r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i="1">
                                <a:latin typeface="Cambria Math"/>
                              </a:rPr>
                              <m:t>𝑇</m:t>
                            </m:r>
                          </m:den>
                        </m:f>
                        <m:nary>
                          <m:naryPr>
                            <m:limLoc m:val="undOvr"/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sz="1800" i="1">
                                <a:latin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en-US" sz="1800" i="1">
                                <a:latin typeface="Cambria Math"/>
                              </a:rPr>
                              <m:t>𝑇</m:t>
                            </m:r>
                          </m:sup>
                          <m:e>
                            <m:r>
                              <a:rPr lang="en-US" sz="1800" i="1">
                                <a:latin typeface="Cambria Math"/>
                              </a:rPr>
                              <m:t>𝑎</m:t>
                            </m:r>
                            <m:func>
                              <m:funcPr>
                                <m:ctrlPr>
                                  <a:rPr lang="en-US" sz="1800" i="1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800">
                                    <a:latin typeface="Cambria Math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8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latin typeface="Cambria Math"/>
                                      </a:rPr>
                                      <m:t>𝑖</m:t>
                                    </m:r>
                                    <m:r>
                                      <a:rPr lang="en-US" sz="1800" i="1">
                                        <a:latin typeface="Cambria Math"/>
                                        <a:ea typeface="Cambria Math"/>
                                      </a:rPr>
                                      <m:t>𝜔</m:t>
                                    </m:r>
                                    <m:r>
                                      <a:rPr lang="en-US" sz="1800" i="1">
                                        <a:latin typeface="Cambria Math"/>
                                        <a:ea typeface="Cambria Math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func>
                            <m:r>
                              <a:rPr lang="en-US" sz="1800" i="1">
                                <a:latin typeface="Cambria Math"/>
                              </a:rPr>
                              <m:t>𝑑𝑡</m:t>
                            </m:r>
                          </m:e>
                        </m:nary>
                      </m:e>
                    </m:func>
                    <m:r>
                      <a:rPr lang="en-US" sz="1800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sz="1800" dirty="0" smtClean="0"/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p>
                            <m:r>
                              <a:rPr lang="en-US" sz="18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  <m:sub>
                        <m:sSub>
                          <m:sSub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</m:sub>
                    </m:sSub>
                    <m:r>
                      <a:rPr lang="en-US" sz="1800" i="1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sz="1800" i="1">
                            <a:latin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1800">
                                <a:latin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en-US" sz="1800" i="1">
                                <a:latin typeface="Cambria Math"/>
                              </a:rPr>
                              <m:t>𝑡</m:t>
                            </m:r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i="1">
                                <a:latin typeface="Cambria Math"/>
                              </a:rPr>
                              <m:t>𝑇</m:t>
                            </m:r>
                          </m:den>
                        </m:f>
                        <m:nary>
                          <m:naryPr>
                            <m:limLoc m:val="undOvr"/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sz="1800" i="1">
                                <a:latin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en-US" sz="1800" i="1">
                                <a:latin typeface="Cambria Math"/>
                              </a:rPr>
                              <m:t>𝑇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800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800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800" i="1">
                                        <a:latin typeface="Cambria Math"/>
                                      </a:rPr>
                                      <m:t>𝑎</m:t>
                                    </m:r>
                                    <m:func>
                                      <m:funcPr>
                                        <m:ctrlPr>
                                          <a:rPr lang="en-US" sz="1800" i="1">
                                            <a:latin typeface="Cambria Math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>
                                            <a:latin typeface="Cambria Math"/>
                                          </a:rPr>
                                          <m:t>cos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sz="1800" i="1">
                                                <a:latin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i="1">
                                                <a:latin typeface="Cambria Math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sz="1800" i="1">
                                                <a:latin typeface="Cambria Math"/>
                                                <a:ea typeface="Cambria Math"/>
                                              </a:rPr>
                                              <m:t>𝜔</m:t>
                                            </m:r>
                                            <m:r>
                                              <a:rPr lang="en-US" sz="1800" i="1">
                                                <a:latin typeface="Cambria Math"/>
                                                <a:ea typeface="Cambria Math"/>
                                              </a:rPr>
                                              <m:t>𝑡</m:t>
                                            </m:r>
                                          </m:e>
                                        </m:d>
                                      </m:e>
                                    </m:func>
                                  </m:e>
                                </m:d>
                              </m:e>
                              <m:sup>
                                <m:r>
                                  <a:rPr lang="en-US" sz="1800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800" i="1">
                                <a:latin typeface="Cambria Math"/>
                              </a:rPr>
                              <m:t>  </m:t>
                            </m:r>
                            <m:r>
                              <a:rPr lang="en-US" sz="1800" i="1">
                                <a:latin typeface="Cambria Math"/>
                              </a:rPr>
                              <m:t>𝑑𝑡</m:t>
                            </m:r>
                          </m:e>
                        </m:nary>
                      </m:e>
                    </m:func>
                    <m:r>
                      <a:rPr lang="en-US" sz="1800" i="1">
                        <a:latin typeface="Cambria Math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sz="1800" i="1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800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US" sz="1800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800" i="1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US" sz="1800" dirty="0"/>
              </a:p>
              <a:p>
                <a:pPr marL="0" indent="0" algn="ctr">
                  <a:buNone/>
                </a:pPr>
                <a:endParaRPr lang="en-US" sz="18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</m:d>
                      <m:r>
                        <a:rPr lang="en-US" sz="180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1800" i="1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8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/>
                                </a:rPr>
                                <m:t>𝑇</m:t>
                              </m:r>
                            </m:den>
                          </m:f>
                          <m:nary>
                            <m:naryPr>
                              <m:limLoc m:val="undOvr"/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1800" i="1">
                                  <a:latin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800" i="1">
                                  <a:latin typeface="Cambria Math"/>
                                </a:rPr>
                                <m:t>𝑇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80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latin typeface="Cambria Math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𝑖</m:t>
                                      </m:r>
                                      <m:r>
                                        <a:rPr lang="en-US" sz="1800" i="1">
                                          <a:latin typeface="Cambria Math"/>
                                          <a:ea typeface="Cambria Math"/>
                                        </a:rPr>
                                        <m:t>𝜔</m:t>
                                      </m:r>
                                      <m:r>
                                        <a:rPr lang="en-US" sz="1800" i="1">
                                          <a:latin typeface="Cambria Math"/>
                                          <a:ea typeface="Cambria Math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sz="1800" i="1">
                                  <a:latin typeface="Cambria Math"/>
                                </a:rPr>
                                <m:t>𝑎</m:t>
                              </m:r>
                              <m:func>
                                <m:func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latin typeface="Cambria Math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𝑖</m:t>
                                      </m:r>
                                      <m:r>
                                        <a:rPr lang="en-US" sz="1800" i="1">
                                          <a:latin typeface="Cambria Math"/>
                                          <a:ea typeface="Cambria Math"/>
                                        </a:rPr>
                                        <m:t>𝜔</m:t>
                                      </m:r>
                                      <m:d>
                                        <m:dPr>
                                          <m:ctrlPr>
                                            <a:rPr lang="en-US" sz="1800" i="1" smtClean="0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+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US" sz="1800" i="1">
                                  <a:latin typeface="Cambria Math"/>
                                </a:rPr>
                                <m:t>𝑑𝑡</m:t>
                              </m:r>
                            </m:e>
                          </m:nary>
                        </m:e>
                      </m:func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8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sz="18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1800" b="0" i="1" smtClean="0">
                                  <a:latin typeface="Cambria Math"/>
                                  <a:ea typeface="Cambria Math"/>
                                </a:rPr>
                                <m:t>𝜔𝜏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800" dirty="0" smtClean="0"/>
              </a:p>
              <a:p>
                <a:pPr marL="0" indent="0" algn="just">
                  <a:buNone/>
                </a:pPr>
                <a:endParaRPr lang="en-US" sz="19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990600"/>
                <a:ext cx="8839200" cy="5638800"/>
              </a:xfrm>
              <a:blipFill rotWithShape="1">
                <a:blip r:embed="rId2"/>
                <a:stretch>
                  <a:fillRect l="-621" r="-4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5718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Ensemble Averages 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990600"/>
                <a:ext cx="8839200" cy="5638800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2000" dirty="0" smtClean="0"/>
                  <a:t>The other set of statistics that can be computed across </a:t>
                </a:r>
                <a:r>
                  <a:rPr lang="en-US" sz="2000" dirty="0"/>
                  <a:t>the ensemble, but at a particular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time.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 smtClean="0">
                    <a:solidFill>
                      <a:schemeClr val="tx1"/>
                    </a:solidFill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a specific </a:t>
                </a:r>
                <a:r>
                  <a:rPr lang="en-US" sz="2000" dirty="0"/>
                  <a:t>time. Then, considering again the six harmonics</a:t>
                </a:r>
                <a:r>
                  <a:rPr lang="en-US" sz="2000" dirty="0" smtClean="0"/>
                  <a:t> of the die experiment </a:t>
                </a:r>
                <a:r>
                  <a:rPr lang="en-US" sz="2000" i="1" dirty="0" smtClean="0"/>
                  <a:t>and generation of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b="0" i="1">
                            <a:latin typeface="Cambria Math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𝑎</m:t>
                    </m:r>
                    <m:func>
                      <m:funcPr>
                        <m:ctrlPr>
                          <a:rPr lang="en-US" sz="200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a:rPr lang="en-US" sz="2000" b="0" i="1" smtClean="0">
                            <a:latin typeface="Cambria Math"/>
                          </a:rPr>
                          <m:t>𝑐𝑜𝑠</m:t>
                        </m:r>
                      </m:fName>
                      <m:e>
                        <m:d>
                          <m:dPr>
                            <m:ctrlPr>
                              <a:rPr lang="en-US" sz="200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𝜔</m:t>
                            </m:r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US" sz="2000" i="1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6</m:t>
                          </m:r>
                        </m:sup>
                        <m:e>
                          <m:f>
                            <m:f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6</m:t>
                              </m:r>
                            </m:den>
                          </m:f>
                        </m:e>
                      </m:nary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</a:rPr>
                        <m:t>𝑎</m:t>
                      </m:r>
                      <m:func>
                        <m:func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uncPr>
                        <m:fNam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𝑐𝑜𝑠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000" dirty="0" smtClean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6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6</m:t>
                              </m:r>
                            </m:den>
                          </m:f>
                        </m:e>
                      </m:nary>
                      <m:sSup>
                        <m:sSup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𝑐𝑜𝑠</m:t>
                          </m:r>
                        </m:e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𝜔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1900" dirty="0" smtClean="0"/>
              </a:p>
              <a:p>
                <a:pPr marL="0" indent="0" algn="ctr">
                  <a:buNone/>
                </a:pPr>
                <a:r>
                  <a:rPr lang="en-US" sz="2000" i="1" dirty="0" smtClean="0">
                    <a:solidFill>
                      <a:srgbClr val="C00000"/>
                    </a:solidFill>
                  </a:rPr>
                  <a:t>Thus, time </a:t>
                </a:r>
                <a:r>
                  <a:rPr lang="en-US" sz="2000" i="1" dirty="0">
                    <a:solidFill>
                      <a:srgbClr val="C00000"/>
                    </a:solidFill>
                  </a:rPr>
                  <a:t>averages (which are independent of time, but dependent on event) and ensemble statistics (which are independent of event, but dependent on time) are not the same.</a:t>
                </a:r>
                <a:endParaRPr lang="en-US" sz="1900" i="1" dirty="0" smtClean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990600"/>
                <a:ext cx="8839200" cy="5638800"/>
              </a:xfrm>
              <a:blipFill rotWithShape="1">
                <a:blip r:embed="rId2"/>
                <a:stretch>
                  <a:fillRect l="-690" t="-541" r="-1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8049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/>
              <a:t>Ergodic Process 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609600"/>
                <a:ext cx="8839200" cy="6019800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000" b="1" i="1" dirty="0" smtClean="0">
                    <a:solidFill>
                      <a:srgbClr val="FF0000"/>
                    </a:solidFill>
                  </a:rPr>
                  <a:t>When the ensemble statistics and the time averages are the same, then the </a:t>
                </a:r>
                <a:r>
                  <a:rPr lang="en-US" sz="2000" b="1" i="1" dirty="0">
                    <a:solidFill>
                      <a:srgbClr val="FF0000"/>
                    </a:solidFill>
                  </a:rPr>
                  <a:t>process is ergodic</a:t>
                </a:r>
                <a:r>
                  <a:rPr lang="en-US" sz="2000" b="1" i="1" dirty="0" smtClean="0">
                    <a:solidFill>
                      <a:srgbClr val="FF0000"/>
                    </a:solidFill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en-US" sz="2000" b="1" i="1" dirty="0" smtClean="0"/>
                  <a:t>Example</a:t>
                </a:r>
                <a:r>
                  <a:rPr lang="en-US" sz="2000" b="1" i="1" dirty="0"/>
                  <a:t>: </a:t>
                </a:r>
                <a:r>
                  <a:rPr lang="en-US" sz="2000" i="1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0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𝑎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  <m:func>
                      <m:func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𝜔</m:t>
                            </m:r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/>
                                <a:ea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/>
                                    <a:ea typeface="Cambria Math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/>
                                    <a:ea typeface="Cambria Math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sz="2000" dirty="0"/>
                  <a:t>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𝜃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﷮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 is a random variable, distributed uniformly in the range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[0, 2</m:t>
                    </m:r>
                    <m:r>
                      <a:rPr lang="en-US" sz="2000" i="1" dirty="0" smtClean="0">
                        <a:latin typeface="Cambria Math"/>
                      </a:rPr>
                      <m:t>𝜋</m:t>
                    </m:r>
                    <m:r>
                      <a:rPr lang="en-US" sz="2000" i="1" dirty="0" smtClean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.</a:t>
                </a:r>
                <a:endParaRPr lang="en-US" sz="2000" dirty="0" smtClean="0"/>
              </a:p>
              <a:p>
                <a:pPr marL="0" indent="0" algn="just">
                  <a:buNone/>
                </a:pPr>
                <a:r>
                  <a:rPr lang="en-US" sz="2000" b="1" i="1" u="sng" dirty="0" smtClean="0"/>
                  <a:t>Ensemble Average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𝑦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𝜋</m:t>
                          </m:r>
                        </m:sup>
                        <m:e>
                          <m:r>
                            <a:rPr lang="en-US" sz="2000" i="1">
                              <a:latin typeface="Cambria Math"/>
                            </a:rPr>
                            <m:t>𝑎</m:t>
                          </m:r>
                          <m:r>
                            <a:rPr lang="en-US" sz="2000" i="1">
                              <a:latin typeface="Cambria Math"/>
                            </a:rPr>
                            <m:t> </m:t>
                          </m:r>
                          <m:func>
                            <m:func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𝜔</m:t>
                                  </m:r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𝑡</m:t>
                                  </m:r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  <a:ea typeface="Cambria Math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sz="2000" b="0" i="1" dirty="0" smtClean="0">
                  <a:solidFill>
                    <a:schemeClr val="tx1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𝑅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800" i="1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/>
                            </a:rPr>
                            <m:t>𝑦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1800" i="1">
                              <a:latin typeface="Cambria Math"/>
                            </a:rPr>
                            <m:t>𝑦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sz="1800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1800" b="0" i="1" smtClean="0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</m:d>
                        </m:e>
                      </m:d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latin typeface="Cambria Math"/>
                            </a:rPr>
                            <m:t>2</m:t>
                          </m:r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en-US" sz="18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800" i="1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1800" i="1">
                              <a:latin typeface="Cambria Math"/>
                            </a:rPr>
                            <m:t>2</m:t>
                          </m:r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𝜋</m:t>
                          </m:r>
                        </m:sup>
                        <m:e>
                          <m:sSup>
                            <m:sSupPr>
                              <m:ctrlPr>
                                <a:rPr lang="en-US" sz="180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8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𝜔</m:t>
                                  </m:r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𝑡</m:t>
                                  </m:r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/>
                                          <a:ea typeface="Cambria Math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/>
                                          <a:ea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func>
                                <m:funcPr>
                                  <m:ctrlPr>
                                    <a:rPr lang="en-US" sz="180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1800" i="0" smtClean="0">
                                      <a:latin typeface="Cambria Math"/>
                                      <a:ea typeface="Cambria Math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i="1">
                                          <a:latin typeface="Cambria Math"/>
                                          <a:ea typeface="Cambria Math"/>
                                        </a:rPr>
                                        <m:t>𝜔</m:t>
                                      </m:r>
                                      <m:d>
                                        <m:dPr>
                                          <m:ctrlPr>
                                            <a:rPr lang="en-US" sz="1800" i="1" smtClean="0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8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𝑡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+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  <m:r>
                                        <a:rPr lang="en-US" sz="1800" i="1">
                                          <a:latin typeface="Cambria Math"/>
                                          <a:ea typeface="Cambria Math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/>
                                              <a:ea typeface="Cambria Math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/>
                                              <a:ea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  <m:r>
                        <a:rPr lang="en-US" sz="1800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sz="1800" b="0" i="1" smtClean="0">
                              <a:latin typeface="Cambria Math"/>
                              <a:ea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/>
                              <a:ea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8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/>
                                  <a:ea typeface="Cambria Math"/>
                                </a:rPr>
                                <m:t>𝜔𝜏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800" i="1" dirty="0" smtClean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i="1" u="sng" dirty="0" smtClean="0"/>
                  <a:t>Time Average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sub>
                      </m:sSub>
                      <m:r>
                        <a:rPr lang="en-US" sz="200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2000" i="1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0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𝑇</m:t>
                              </m:r>
                            </m:den>
                          </m:f>
                          <m:nary>
                            <m:naryPr>
                              <m:limLoc m:val="undOvr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i="1">
                                  <a:latin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𝑇</m:t>
                              </m:r>
                            </m:sup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𝑎</m:t>
                              </m:r>
                              <m:func>
                                <m:func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𝜔</m:t>
                                      </m:r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𝑡</m:t>
                                      </m:r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 </m:t>
                                  </m:r>
                                  <m:r>
                                    <a:rPr lang="en-US" sz="2000" b="0" i="1" smtClean="0">
                                      <a:latin typeface="Cambria Math"/>
                                      <a:ea typeface="Cambria Math"/>
                                    </a:rPr>
                                    <m:t>𝑑𝑡</m:t>
                                  </m:r>
                                </m:e>
                              </m:func>
                            </m:e>
                          </m:nary>
                        </m:e>
                      </m:func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2000" i="1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0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𝑇</m:t>
                              </m:r>
                            </m:den>
                          </m:f>
                          <m:f>
                            <m:f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sz="2000" i="1" smtClean="0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200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sSubSup>
                                <m:sSubSup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en-US" sz="2000" i="1">
                                              <a:latin typeface="Cambria Math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000">
                                              <a:latin typeface="Cambria Math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𝜔</m:t>
                                              </m:r>
                                              <m:r>
                                                <a:rPr lang="en-US" sz="2000" i="1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2000" i="1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+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2000" i="1">
                                                      <a:latin typeface="Cambria Math"/>
                                                      <a:ea typeface="Cambria Math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000" i="1">
                                                      <a:latin typeface="Cambria Math"/>
                                                      <a:ea typeface="Cambria Math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000" i="1">
                                                      <a:latin typeface="Cambria Math"/>
                                                      <a:ea typeface="Cambria Math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func>
                                    </m:e>
                                  </m:d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  <m:sup/>
                              </m:sSubSup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𝑇</m:t>
                              </m:r>
                            </m:sup>
                          </m:sSup>
                        </m:e>
                      </m:func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=0</m:t>
                      </m:r>
                    </m:oMath>
                  </m:oMathPara>
                </a14:m>
                <a:endParaRPr lang="en-US" sz="2000" i="1" dirty="0" smtClean="0">
                  <a:solidFill>
                    <a:srgbClr val="C00000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𝑅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2000" i="1">
                              <a:latin typeface="Cambria Math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0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𝑇</m:t>
                              </m:r>
                            </m:den>
                          </m:f>
                          <m:nary>
                            <m:naryPr>
                              <m:limLoc m:val="undOvr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i="1">
                                  <a:latin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𝑇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𝜔</m:t>
                                      </m:r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𝑡</m:t>
                                      </m:r>
                                      <m: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func>
                                    <m:funcPr>
                                      <m:ctrlPr>
                                        <a:rPr lang="en-US" sz="2000" i="1">
                                          <a:latin typeface="Cambria Math"/>
                                          <a:ea typeface="Cambria Math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2000">
                                          <a:latin typeface="Cambria Math"/>
                                          <a:ea typeface="Cambria Math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𝜔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2000" i="1">
                                                  <a:latin typeface="Cambria Math"/>
                                                  <a:ea typeface="Cambria Math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000" i="1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2000" i="1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sz="2000" i="1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𝜏</m:t>
                                              </m:r>
                                            </m:e>
                                          </m:d>
                                          <m:r>
                                            <a:rPr lang="en-US" sz="2000" i="1">
                                              <a:latin typeface="Cambria Math"/>
                                              <a:ea typeface="Cambria Math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/>
                                                  <a:ea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𝜃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func>
                              <m:r>
                                <a:rPr lang="en-US" sz="2000" i="1">
                                  <a:latin typeface="Cambria Math"/>
                                </a:rPr>
                                <m:t>𝑑𝑡</m:t>
                              </m:r>
                            </m:e>
                          </m:nary>
                        </m:e>
                      </m:func>
                      <m:r>
                        <a:rPr lang="en-US" sz="20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>
                              <a:latin typeface="Cambria Math"/>
                              <a:ea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𝜔𝜏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000" i="1" dirty="0" smtClean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609600"/>
                <a:ext cx="8839200" cy="6019800"/>
              </a:xfrm>
              <a:blipFill rotWithShape="1">
                <a:blip r:embed="rId2"/>
                <a:stretch>
                  <a:fillRect l="-690" t="-506" r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1037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txBody>
          <a:bodyPr>
            <a:noAutofit/>
          </a:bodyPr>
          <a:lstStyle/>
          <a:p>
            <a:r>
              <a:rPr lang="en-US" sz="3200" b="1" dirty="0"/>
              <a:t>White </a:t>
            </a:r>
            <a:r>
              <a:rPr lang="en-US" sz="3200" b="1" dirty="0" smtClean="0"/>
              <a:t>Noise 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609600"/>
                <a:ext cx="8839200" cy="6019800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900" dirty="0" smtClean="0"/>
                  <a:t>White noise is often used to model the thermal noise in electronic systems. </a:t>
                </a:r>
              </a:p>
              <a:p>
                <a:pPr marL="0" indent="0" algn="just">
                  <a:buNone/>
                </a:pPr>
                <a:r>
                  <a:rPr lang="en-US" sz="1900" dirty="0" smtClean="0"/>
                  <a:t>By </a:t>
                </a:r>
                <a:r>
                  <a:rPr lang="en-US" sz="1900" dirty="0"/>
                  <a:t>definition, the random process </a:t>
                </a:r>
                <a14:m>
                  <m:oMath xmlns:m="http://schemas.openxmlformats.org/officeDocument/2006/math">
                    <m:r>
                      <a:rPr lang="en-US" sz="1900" i="1" dirty="0" smtClean="0">
                        <a:latin typeface="Cambria Math"/>
                      </a:rPr>
                      <m:t>𝑋</m:t>
                    </m:r>
                    <m:r>
                      <a:rPr lang="en-US" sz="1900" i="1" dirty="0" smtClean="0">
                        <a:latin typeface="Cambria Math"/>
                      </a:rPr>
                      <m:t>(</m:t>
                    </m:r>
                    <m:r>
                      <a:rPr lang="en-US" sz="1900" i="1" dirty="0" smtClean="0">
                        <a:latin typeface="Cambria Math"/>
                      </a:rPr>
                      <m:t>𝑡</m:t>
                    </m:r>
                    <m:r>
                      <a:rPr lang="en-US" sz="19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900" dirty="0"/>
                  <a:t> is called white noise if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900" i="1" dirty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900" i="1" dirty="0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19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900" i="1" dirty="0">
                            <a:latin typeface="Cambria Math"/>
                            <a:ea typeface="Cambria Math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sz="1900" dirty="0"/>
                  <a:t> is constant for all frequencies. By convention, the constant is usually denoted by 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1900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90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900" b="0" i="1" smtClean="0">
                                <a:latin typeface="Cambria Math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900" b="0" i="1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sz="1900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900" i="1" dirty="0" smtClean="0">
                    <a:solidFill>
                      <a:srgbClr val="C00000"/>
                    </a:solidFill>
                  </a:rPr>
                  <a:t>. </a:t>
                </a:r>
                <a:r>
                  <a:rPr lang="en-US" sz="1900" dirty="0" smtClean="0"/>
                  <a:t>The </a:t>
                </a:r>
                <a:r>
                  <a:rPr lang="en-US" sz="1900" dirty="0"/>
                  <a:t>expected power </a:t>
                </a:r>
                <a:r>
                  <a:rPr lang="en-US" sz="1900" dirty="0" smtClean="0"/>
                  <a:t>in </a:t>
                </a:r>
                <a14:m>
                  <m:oMath xmlns:m="http://schemas.openxmlformats.org/officeDocument/2006/math">
                    <m:r>
                      <a:rPr lang="en-US" sz="1900" i="1" dirty="0">
                        <a:latin typeface="Cambria Math"/>
                      </a:rPr>
                      <m:t>𝑋</m:t>
                    </m:r>
                    <m:r>
                      <a:rPr lang="en-US" sz="1900" i="1" dirty="0">
                        <a:latin typeface="Cambria Math"/>
                      </a:rPr>
                      <m:t>(</m:t>
                    </m:r>
                    <m:r>
                      <a:rPr lang="en-US" sz="1900" i="1" dirty="0">
                        <a:latin typeface="Cambria Math"/>
                      </a:rPr>
                      <m:t>𝑡</m:t>
                    </m:r>
                    <m:r>
                      <a:rPr lang="en-US" sz="1900" i="1" dirty="0">
                        <a:latin typeface="Cambria Math"/>
                      </a:rPr>
                      <m:t>)</m:t>
                    </m:r>
                  </m:oMath>
                </a14:m>
                <a:endParaRPr lang="en-US" sz="1900" i="1" dirty="0" smtClean="0">
                  <a:solidFill>
                    <a:srgbClr val="C00000"/>
                  </a:solidFill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9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9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9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9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𝑋</m:t>
                              </m:r>
                              <m:r>
                                <a:rPr lang="en-US" sz="19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19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sz="19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9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9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19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9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9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9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900" i="1" dirty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900" i="1" dirty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𝑑𝑓</m:t>
                          </m:r>
                        </m:e>
                      </m:nary>
                      <m:r>
                        <a:rPr lang="en-US" sz="1900" b="0" i="1" dirty="0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=∞</m:t>
                      </m:r>
                    </m:oMath>
                  </m:oMathPara>
                </a14:m>
                <a:endParaRPr lang="en-US" sz="1900" i="1" dirty="0" smtClean="0">
                  <a:solidFill>
                    <a:schemeClr val="tx1"/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900" i="1" dirty="0">
                    <a:solidFill>
                      <a:srgbClr val="C00000"/>
                    </a:solidFill>
                  </a:rPr>
                  <a:t>Thus, white noise, as defined above, has infinite power! In reality, white noise is in fact an approximation to the noise that is observed in real systems</a:t>
                </a:r>
                <a:r>
                  <a:rPr lang="en-US" sz="1900" i="1" dirty="0" smtClean="0">
                    <a:solidFill>
                      <a:srgbClr val="C00000"/>
                    </a:solidFill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900" dirty="0"/>
                  <a:t>Since the PSD of a white noise process is given by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900" i="1" dirty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1900" i="1" dirty="0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19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1900" i="1" dirty="0">
                            <a:latin typeface="Cambria Math"/>
                            <a:ea typeface="Cambria Math"/>
                          </a:rPr>
                          <m:t>𝑓</m:t>
                        </m:r>
                      </m:e>
                    </m:d>
                    <m:r>
                      <a:rPr lang="en-US" sz="1900" b="0" i="1" dirty="0" smtClean="0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1900" i="1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9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900" i="1">
                                <a:latin typeface="Cambria Math"/>
                              </a:rPr>
                              <m:t>𝑁</m:t>
                            </m:r>
                          </m:e>
                          <m:sub>
                            <m:r>
                              <a:rPr lang="en-US" sz="19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sz="1900" i="1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900" dirty="0"/>
                  <a:t> , its autocorrelation function is given </a:t>
                </a:r>
                <a:r>
                  <a:rPr lang="en-US" sz="1900" dirty="0" smtClean="0"/>
                  <a:t>by</a:t>
                </a:r>
              </a:p>
              <a:p>
                <a:pPr marL="0" indent="0" algn="just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900" i="1" dirty="0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19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9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900" i="1" dirty="0"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</m:d>
                      <m:r>
                        <a:rPr lang="en-US" sz="1900" i="1" dirty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900" i="1" dirty="0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1900" i="1" dirty="0" smtClean="0">
                              <a:latin typeface="Cambria Math"/>
                              <a:ea typeface="Cambria Math"/>
                            </a:rPr>
                            <m:t>Ϝ</m:t>
                          </m:r>
                        </m:e>
                        <m:sup>
                          <m:r>
                            <a:rPr lang="en-US" sz="1900" b="0" i="1" dirty="0" smtClean="0">
                              <a:latin typeface="Cambria Math"/>
                              <a:ea typeface="Cambria Math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1900" i="1" dirty="0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9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900" i="1" dirty="0"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900" i="1" dirty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9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900" i="1" dirty="0"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</m:e>
                          </m:d>
                        </m:e>
                      </m:d>
                      <m:r>
                        <a:rPr lang="en-US" sz="1900" b="0" i="1" dirty="0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US" sz="1900" b="0" i="1" dirty="0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900" b="0" i="1" dirty="0" smtClean="0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1900" b="0" i="1" dirty="0" smtClean="0">
                                  <a:latin typeface="Cambria Math"/>
                                  <a:ea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900" b="0" i="1" dirty="0" smtClean="0">
                                  <a:latin typeface="Cambria Math"/>
                                  <a:ea typeface="Cambria Math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1900" b="0" i="1" dirty="0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den>
                      </m:f>
                      <m:r>
                        <a:rPr lang="en-US" sz="1900" b="0" i="1" dirty="0" smtClean="0">
                          <a:latin typeface="Cambria Math"/>
                          <a:ea typeface="Cambria Math"/>
                        </a:rPr>
                        <m:t>𝛿</m:t>
                      </m:r>
                      <m:d>
                        <m:dPr>
                          <m:ctrlPr>
                            <a:rPr lang="en-US" sz="1900" b="0" i="1" dirty="0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900" b="0" i="1" dirty="0" smtClean="0"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</m:d>
                      <m:r>
                        <a:rPr lang="en-US" sz="1900" b="0" i="1" dirty="0" smtClean="0">
                          <a:latin typeface="Cambria Math"/>
                          <a:ea typeface="Cambria Math"/>
                        </a:rPr>
                        <m:t>     </m:t>
                      </m:r>
                      <m:r>
                        <a:rPr lang="en-US" sz="1900" b="0" i="1" dirty="0" smtClean="0">
                          <a:latin typeface="Cambria Math"/>
                          <a:ea typeface="Cambria Math"/>
                        </a:rPr>
                        <m:t>𝑤h𝑒𝑟𝑒</m:t>
                      </m:r>
                      <m:r>
                        <a:rPr lang="en-US" sz="1900" b="0" i="1" dirty="0" smtClean="0">
                          <a:latin typeface="Cambria Math"/>
                          <a:ea typeface="Cambria Math"/>
                        </a:rPr>
                        <m:t>   </m:t>
                      </m:r>
                      <m:r>
                        <a:rPr lang="en-US" sz="1900" i="1" dirty="0">
                          <a:latin typeface="Cambria Math"/>
                          <a:ea typeface="Cambria Math"/>
                        </a:rPr>
                        <m:t>𝛿</m:t>
                      </m:r>
                      <m:d>
                        <m:dPr>
                          <m:ctrlPr>
                            <a:rPr lang="en-US" sz="1900" i="1" dirty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900" i="1" dirty="0"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</m:d>
                      <m:r>
                        <a:rPr lang="en-US" sz="1900" b="0" i="1" dirty="0" smtClean="0">
                          <a:latin typeface="Cambria Math"/>
                          <a:ea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900" b="0" i="1" dirty="0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900" b="0" i="1" dirty="0" smtClean="0">
                                  <a:latin typeface="Cambria Math"/>
                                  <a:ea typeface="Cambria Math"/>
                                </a:rPr>
                              </m:ctrlPr>
                            </m:eqArrPr>
                            <m:e>
                              <m:r>
                                <a:rPr lang="en-US" sz="1900" b="0" i="1" dirty="0" smtClean="0">
                                  <a:latin typeface="Cambria Math"/>
                                  <a:ea typeface="Cambria Math"/>
                                </a:rPr>
                                <m:t>∞; </m:t>
                              </m:r>
                              <m:r>
                                <a:rPr lang="en-US" sz="1900" b="0" i="1" dirty="0" smtClean="0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  <m:r>
                                <a:rPr lang="en-US" sz="1900" b="0" i="1" dirty="0" smtClean="0">
                                  <a:latin typeface="Cambria Math"/>
                                  <a:ea typeface="Cambria Math"/>
                                </a:rPr>
                                <m:t>=0</m:t>
                              </m:r>
                            </m:e>
                            <m:e>
                              <m:r>
                                <a:rPr lang="en-US" sz="1900" b="0" i="1" dirty="0" smtClean="0">
                                  <a:latin typeface="Cambria Math"/>
                                  <a:ea typeface="Cambria Math"/>
                                </a:rPr>
                                <m:t>0;  </m:t>
                              </m:r>
                              <m:r>
                                <a:rPr lang="en-US" sz="1900" b="0" i="1" dirty="0" smtClean="0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  <m:r>
                                <a:rPr lang="en-US" sz="1900" b="0" i="1" dirty="0" smtClean="0">
                                  <a:latin typeface="Cambria Math"/>
                                  <a:ea typeface="Cambria Math"/>
                                </a:rPr>
                                <m:t>≠0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1900" i="1" dirty="0" smtClean="0">
                  <a:solidFill>
                    <a:schemeClr val="tx1"/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900" i="1" dirty="0" smtClean="0">
                    <a:solidFill>
                      <a:srgbClr val="FF0000"/>
                    </a:solidFill>
                  </a:rPr>
                  <a:t>This again confirms that white noise has infinite power, </a:t>
                </a:r>
                <a14:m>
                  <m:oMath xmlns:m="http://schemas.openxmlformats.org/officeDocument/2006/math">
                    <m:r>
                      <a:rPr lang="en-US" sz="1900" i="1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1900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9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19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𝑋</m:t>
                            </m:r>
                            <m:r>
                              <a:rPr lang="en-US" sz="19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US" sz="19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𝑡</m:t>
                            </m:r>
                            <m:r>
                              <a:rPr lang="en-US" sz="19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US" sz="19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900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9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19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900" b="0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1900" i="1" dirty="0">
                    <a:solidFill>
                      <a:srgbClr val="FF0000"/>
                    </a:solidFill>
                  </a:rPr>
                  <a:t>. </a:t>
                </a:r>
                <a:endParaRPr lang="en-US" sz="1900" i="1" dirty="0" smtClean="0">
                  <a:solidFill>
                    <a:srgbClr val="FF0000"/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1800" i="1" dirty="0" smtClean="0">
                    <a:solidFill>
                      <a:srgbClr val="00B0F0"/>
                    </a:solidFill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00B0F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dirty="0">
                            <a:solidFill>
                              <a:srgbClr val="00B0F0"/>
                            </a:solidFill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en-US" sz="1800" b="0" i="1" dirty="0">
                            <a:solidFill>
                              <a:srgbClr val="00B0F0"/>
                            </a:solidFill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1800" i="1" dirty="0">
                            <a:solidFill>
                              <a:srgbClr val="00B0F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0" i="1" dirty="0">
                            <a:solidFill>
                              <a:srgbClr val="00B0F0"/>
                            </a:solidFill>
                            <a:latin typeface="Cambria Math"/>
                            <a:ea typeface="Cambria Math"/>
                          </a:rPr>
                          <m:t>𝜏</m:t>
                        </m:r>
                      </m:e>
                    </m:d>
                    <m:r>
                      <a:rPr lang="en-US" sz="1800" b="0" i="1" dirty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800" b="0" i="1" dirty="0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0 ∀</m:t>
                    </m:r>
                    <m:r>
                      <a:rPr lang="en-US" sz="1800" b="0" i="1" dirty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𝜏</m:t>
                    </m:r>
                    <m:r>
                      <a:rPr lang="en-US" sz="1800" b="0" i="1" dirty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≠0</m:t>
                    </m:r>
                  </m:oMath>
                </a14:m>
                <a:r>
                  <a:rPr lang="en-US" sz="1800" i="1" dirty="0" smtClean="0">
                    <a:solidFill>
                      <a:srgbClr val="00B0F0"/>
                    </a:solidFill>
                  </a:rPr>
                  <a:t>, this </a:t>
                </a:r>
                <a:r>
                  <a:rPr lang="en-US" sz="1800" i="1" dirty="0">
                    <a:solidFill>
                      <a:srgbClr val="00B0F0"/>
                    </a:solidFill>
                  </a:rPr>
                  <a:t>means that 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B0F0"/>
                        </a:solidFill>
                        <a:latin typeface="Cambria Math"/>
                      </a:rPr>
                      <m:t>𝑋</m:t>
                    </m:r>
                    <m:r>
                      <a:rPr lang="en-US" sz="1800" b="0" i="1" dirty="0" smtClean="0">
                        <a:solidFill>
                          <a:srgbClr val="00B0F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1800" i="1" dirty="0" smtClean="0">
                            <a:solidFill>
                              <a:srgbClr val="00B0F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800" b="0" i="1" dirty="0" smtClean="0">
                        <a:solidFill>
                          <a:srgbClr val="00B0F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i="1" dirty="0" smtClean="0">
                    <a:solidFill>
                      <a:srgbClr val="00B0F0"/>
                    </a:solidFill>
                  </a:rPr>
                  <a:t> </a:t>
                </a:r>
                <a:r>
                  <a:rPr lang="en-US" sz="1800" i="1" dirty="0">
                    <a:solidFill>
                      <a:srgbClr val="00B0F0"/>
                    </a:solidFill>
                  </a:rPr>
                  <a:t>and  </a:t>
                </a:r>
                <a14:m>
                  <m:oMath xmlns:m="http://schemas.openxmlformats.org/officeDocument/2006/math">
                    <m:r>
                      <a:rPr lang="en-US" sz="1800" b="0" i="1" dirty="0">
                        <a:solidFill>
                          <a:srgbClr val="00B0F0"/>
                        </a:solidFill>
                        <a:latin typeface="Cambria Math"/>
                      </a:rPr>
                      <m:t>𝑋</m:t>
                    </m:r>
                    <m:r>
                      <a:rPr lang="en-US" sz="1800" b="0" i="1" dirty="0">
                        <a:solidFill>
                          <a:srgbClr val="00B0F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00B0F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dirty="0">
                            <a:solidFill>
                              <a:srgbClr val="00B0F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800" b="0" i="1" dirty="0" smtClean="0">
                            <a:solidFill>
                              <a:srgbClr val="00B0F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1800" b="0" i="1" dirty="0">
                        <a:solidFill>
                          <a:srgbClr val="00B0F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800" i="1" dirty="0">
                    <a:solidFill>
                      <a:srgbClr val="00B0F0"/>
                    </a:solidFill>
                  </a:rPr>
                  <a:t>  are uncorrelated for any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00B0F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dirty="0">
                            <a:solidFill>
                              <a:srgbClr val="00B0F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800" b="0" i="1" dirty="0">
                            <a:solidFill>
                              <a:srgbClr val="00B0F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800" b="0" i="1" dirty="0" smtClean="0">
                        <a:solidFill>
                          <a:srgbClr val="00B0F0"/>
                        </a:solidFill>
                        <a:latin typeface="Cambria Math"/>
                        <a:ea typeface="Cambria Math"/>
                      </a:rPr>
                      <m:t>≠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00B0F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dirty="0">
                            <a:solidFill>
                              <a:srgbClr val="00B0F0"/>
                            </a:solidFill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1800" b="0" i="1" dirty="0">
                            <a:solidFill>
                              <a:srgbClr val="00B0F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i="1" dirty="0">
                    <a:solidFill>
                      <a:srgbClr val="00B0F0"/>
                    </a:solidFill>
                  </a:rPr>
                  <a:t>.</a:t>
                </a:r>
                <a:endParaRPr lang="en-US" sz="1800" i="1" dirty="0" smtClean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609600"/>
                <a:ext cx="8839200" cy="6019800"/>
              </a:xfrm>
              <a:blipFill rotWithShape="1">
                <a:blip r:embed="rId2"/>
                <a:stretch>
                  <a:fillRect l="-621" r="-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233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txBody>
          <a:bodyPr>
            <a:noAutofit/>
          </a:bodyPr>
          <a:lstStyle/>
          <a:p>
            <a:r>
              <a:rPr lang="en-US" sz="3200" b="1" dirty="0"/>
              <a:t>White Gaussian Noise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609600"/>
                <a:ext cx="8839200" cy="6019800"/>
              </a:xfrm>
            </p:spPr>
            <p:txBody>
              <a:bodyPr>
                <a:noAutofit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sz="2000" dirty="0" smtClean="0">
                    <a:solidFill>
                      <a:srgbClr val="FF0000"/>
                    </a:solidFill>
                  </a:rPr>
                  <a:t>The thermal noise in electronic systems is usually modeled as a white Gaussian noise process.</a:t>
                </a:r>
                <a:endParaRPr lang="en-US" sz="2000" b="1" i="1" dirty="0">
                  <a:solidFill>
                    <a:srgbClr val="FF0000"/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/>
                  <a:t>The random process 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𝑋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 is called a </a:t>
                </a:r>
                <a:r>
                  <a:rPr lang="en-US" sz="2000" b="1" dirty="0"/>
                  <a:t>white Gaussian noise</a:t>
                </a:r>
                <a:r>
                  <a:rPr lang="en-US" sz="2000" dirty="0"/>
                  <a:t> process if 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𝑋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 is a stationary Gaussian random process with zero mean,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en-US" sz="2000" dirty="0" smtClean="0"/>
                  <a:t>, </a:t>
                </a:r>
                <a:r>
                  <a:rPr lang="en-US" sz="2000" dirty="0"/>
                  <a:t>and flat power spectral density</a:t>
                </a:r>
                <a:r>
                  <a:rPr lang="en-US" sz="20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/>
                            <a:ea typeface="Cambria Math"/>
                          </a:rPr>
                          <m:t>𝑓</m:t>
                        </m:r>
                      </m:e>
                    </m:d>
                    <m:r>
                      <a:rPr lang="en-US" sz="2000" i="1" dirty="0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000" i="1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b="1" i="1" dirty="0" smtClean="0">
                    <a:solidFill>
                      <a:srgbClr val="00B0F0"/>
                    </a:solidFill>
                  </a:rPr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>
                    <a:solidFill>
                      <a:srgbClr val="00B0F0"/>
                    </a:solidFill>
                  </a:rPr>
                  <a:t>The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sz="2000" b="0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rgbClr val="00B0F0"/>
                    </a:solidFill>
                  </a:rPr>
                  <a:t> is usually referenced to the input stage of the receiver of a communication system. It may be expressed as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>
                              <a:latin typeface="Cambria Math"/>
                            </a:rPr>
                            <m:t>𝑁</m:t>
                          </m:r>
                        </m:e>
                        <m:sub>
                          <m:r>
                            <a:rPr lang="en-US" sz="2000" b="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𝑘</m:t>
                      </m:r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US" sz="2000" i="1" dirty="0" smtClean="0">
                  <a:solidFill>
                    <a:srgbClr val="00B0F0"/>
                  </a:solidFill>
                </a:endParaRP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>
                    <a:solidFill>
                      <a:srgbClr val="00B0F0"/>
                    </a:solidFill>
                  </a:rPr>
                  <a:t>Where, </a:t>
                </a:r>
                <a14:m>
                  <m:oMath xmlns:m="http://schemas.openxmlformats.org/officeDocument/2006/math">
                    <m:r>
                      <a:rPr lang="en-US" sz="2000" b="0" i="1">
                        <a:latin typeface="Cambria Math"/>
                      </a:rPr>
                      <m:t>𝑘</m:t>
                    </m:r>
                  </m:oMath>
                </a14:m>
                <a:r>
                  <a:rPr lang="en-US" sz="2000" dirty="0" smtClean="0">
                    <a:solidFill>
                      <a:srgbClr val="00B0F0"/>
                    </a:solidFill>
                  </a:rPr>
                  <a:t> is Boltzmann’s constant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000" b="0" i="1">
                            <a:latin typeface="Cambria Math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sz="2000" dirty="0" smtClean="0">
                    <a:solidFill>
                      <a:srgbClr val="00B0F0"/>
                    </a:solidFill>
                  </a:rPr>
                  <a:t> is the equivalent noise temperature of the receiver.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609600"/>
                <a:ext cx="8839200" cy="6019800"/>
              </a:xfrm>
              <a:blipFill rotWithShape="1">
                <a:blip r:embed="rId2"/>
                <a:stretch>
                  <a:fillRect l="-690" r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9790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Shot Noise 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609600"/>
                <a:ext cx="8839200" cy="6019800"/>
              </a:xfrm>
            </p:spPr>
            <p:txBody>
              <a:bodyPr>
                <a:noAutofit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:r>
                  <a:rPr lang="en-US" sz="2000" dirty="0" smtClean="0">
                    <a:solidFill>
                      <a:srgbClr val="FF0000"/>
                    </a:solidFill>
                  </a:rPr>
                  <a:t>Arise in active devices because of the discrete nature of current flow in these devices. 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i="1" u="sng" dirty="0" smtClean="0"/>
                  <a:t>E.g.</a:t>
                </a:r>
                <a:r>
                  <a:rPr lang="en-US" sz="2000" i="1" dirty="0" smtClean="0"/>
                  <a:t> In a photodetector circuit, a current pulse is generated every time an electron is emitted by the cathode due to incident light from a source of constant intensity.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Let electrons are naturally emitted at random times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 smtClean="0"/>
                  <a:t> and this random emission is continued for a long time. Thus total current flowing through the photodetector can be modelled as infinite sum of these current pulses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𝑋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=−∞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h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  <m:r>
                          <a:rPr lang="en-US" sz="2000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  <a:ea typeface="Cambria Math"/>
                              </a:rPr>
                              <m:t>𝜏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 smtClean="0"/>
                  <a:t> is the current pulse generated at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 smtClean="0"/>
                  <a:t>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i="1" dirty="0" smtClean="0">
                    <a:solidFill>
                      <a:srgbClr val="FF0000"/>
                    </a:solidFill>
                  </a:rPr>
                  <a:t>The process defined as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/>
                      </a:rPr>
                      <m:t>𝑿</m:t>
                    </m:r>
                    <m:d>
                      <m:dPr>
                        <m:ctrlP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sz="2000" b="1" i="1" dirty="0" smtClean="0">
                    <a:solidFill>
                      <a:srgbClr val="FF0000"/>
                    </a:solidFill>
                  </a:rPr>
                  <a:t> is a stationary process called Shot Noise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609600"/>
                <a:ext cx="8839200" cy="6019800"/>
              </a:xfrm>
              <a:blipFill rotWithShape="1">
                <a:blip r:embed="rId2"/>
                <a:stretch>
                  <a:fillRect l="-690" r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4875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4572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Shot Noise 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609600"/>
                <a:ext cx="8839200" cy="6019800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The number of electrons,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𝑁</m:t>
                    </m:r>
                    <m:d>
                      <m:dPr>
                        <m:ctrlPr>
                          <a:rPr lang="en-US" sz="20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000" i="1" dirty="0" smtClean="0"/>
                  <a:t>, </a:t>
                </a:r>
                <a:r>
                  <a:rPr lang="en-US" sz="2000" dirty="0" smtClean="0"/>
                  <a:t>emitted in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0, </m:t>
                        </m:r>
                        <m:r>
                          <a:rPr lang="en-US" sz="2000" b="0" i="1" smtClean="0">
                            <a:latin typeface="Cambria Math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2000" i="1" dirty="0" smtClean="0"/>
                  <a:t> </a:t>
                </a:r>
                <a:r>
                  <a:rPr lang="en-US" sz="2000" dirty="0" smtClean="0"/>
                  <a:t>constitute a discrete stochastic process, the value of which increases by one each time an electron is emitted.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Let the mean value of electron,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𝑣</m:t>
                    </m:r>
                  </m:oMath>
                </a14:m>
                <a:r>
                  <a:rPr lang="en-US" sz="2000" dirty="0" smtClean="0"/>
                  <a:t>,</a:t>
                </a:r>
                <a:r>
                  <a:rPr lang="en-US" sz="2000" dirty="0"/>
                  <a:t> </a:t>
                </a:r>
                <a:r>
                  <a:rPr lang="en-US" sz="2000" dirty="0" smtClean="0"/>
                  <a:t> emitted between times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𝑡</m:t>
                    </m:r>
                    <m:r>
                      <a:rPr lang="en-US" sz="2000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 smtClean="0"/>
                  <a:t> is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𝑣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𝜆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 smtClean="0"/>
                  <a:t>   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𝜆</m:t>
                    </m:r>
                  </m:oMath>
                </a14:m>
                <a:r>
                  <a:rPr lang="en-US" sz="2000" dirty="0" smtClean="0"/>
                  <a:t> is called “rate of process”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 smtClean="0"/>
                  <a:t>The total number of electrons emitted between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𝑡</m:t>
                    </m:r>
                    <m:r>
                      <a:rPr lang="en-US" sz="2000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 smtClean="0"/>
                  <a:t> is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𝑣</m:t>
                      </m:r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𝑁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𝑡</m:t>
                          </m:r>
                          <m:r>
                            <a:rPr lang="en-US" sz="20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−</m:t>
                      </m:r>
                      <m:r>
                        <a:rPr lang="en-US" sz="2000" b="0" i="1" smtClean="0">
                          <a:latin typeface="Cambria Math"/>
                        </a:rPr>
                        <m:t>𝑁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000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dirty="0" smtClean="0"/>
                  <a:t>Follows a poison distribution with a mean equal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𝜆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 smtClean="0"/>
                  <a:t>. So the probability that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sz="2000" dirty="0" smtClean="0"/>
                  <a:t> electron are emitted in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/>
                          </a:rPr>
                          <m:t>,</m:t>
                        </m:r>
                        <m:r>
                          <a:rPr lang="en-US" sz="2000" i="1">
                            <a:latin typeface="Cambria Math"/>
                          </a:rPr>
                          <m:t>𝑡</m:t>
                        </m:r>
                        <m:r>
                          <a:rPr lang="en-US" sz="2000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 smtClean="0"/>
                  <a:t> is defined by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𝑣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𝑘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𝜆</m:t>
                                  </m:r>
                                  <m:r>
                                    <a:rPr lang="en-US" sz="2000" i="1">
                                      <a:latin typeface="Cambria Math"/>
                                      <a:ea typeface="Cambria Math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en-US" sz="2000" b="0" i="1" smtClean="0">
                              <a:latin typeface="Cambria Math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𝜆</m:t>
                          </m:r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sup>
                      </m:sSup>
                      <m:r>
                        <a:rPr lang="en-US" sz="2000" b="0" i="1" smtClean="0">
                          <a:latin typeface="Cambria Math"/>
                        </a:rPr>
                        <m:t>               </m:t>
                      </m:r>
                      <m:r>
                        <a:rPr lang="en-US" sz="2000" b="0" i="1" smtClean="0">
                          <a:latin typeface="Cambria Math"/>
                        </a:rPr>
                        <m:t>𝑘</m:t>
                      </m:r>
                      <m:r>
                        <a:rPr lang="en-US" sz="2000" b="0" i="1" smtClean="0">
                          <a:latin typeface="Cambria Math"/>
                        </a:rPr>
                        <m:t>=0,1,…</m:t>
                      </m:r>
                    </m:oMath>
                  </m:oMathPara>
                </a14:m>
                <a:endParaRPr lang="en-US" sz="20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609600"/>
                <a:ext cx="8839200" cy="6019800"/>
              </a:xfrm>
              <a:blipFill rotWithShape="1">
                <a:blip r:embed="rId2"/>
                <a:stretch>
                  <a:fillRect l="-690" r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5685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/>
              <a:t>Athanasios Papoulis, “Probability, Random Variables, and Stochastic Processes,” 3</a:t>
            </a:r>
            <a:r>
              <a:rPr lang="en-US" sz="2000" baseline="30000" dirty="0" smtClean="0"/>
              <a:t>rd</a:t>
            </a:r>
            <a:r>
              <a:rPr lang="en-US" sz="2000" dirty="0" smtClean="0"/>
              <a:t> edition, McGraw Hill Publication.</a:t>
            </a:r>
          </a:p>
          <a:p>
            <a:pPr algn="just"/>
            <a:r>
              <a:rPr lang="en-US" sz="2000" dirty="0">
                <a:hlinkClick r:id="rId2"/>
              </a:rPr>
              <a:t>https://</a:t>
            </a:r>
            <a:r>
              <a:rPr lang="en-US" sz="2000" dirty="0" smtClean="0">
                <a:hlinkClick r:id="rId2"/>
              </a:rPr>
              <a:t>www.probabilitycourse.com</a:t>
            </a:r>
            <a:endParaRPr lang="en-US" sz="2000" dirty="0" smtClean="0"/>
          </a:p>
          <a:p>
            <a:pPr algn="just"/>
            <a:r>
              <a:rPr lang="en-US" sz="2000" dirty="0">
                <a:hlinkClick r:id="rId3"/>
              </a:rPr>
              <a:t>https://ocw.mit.edu/courses/mechanical-engineering/2-017j-design-of-electromechanical-robotic-systems-fall-2009/course-text/MIT2_017JF09_ch04.pdf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368387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8&quot; unique_id=&quot;10025&quot;&gt;&lt;/object&gt;&lt;object type=&quot;2&quot; unique_id=&quot;10026&quot;&gt;&lt;object type=&quot;3&quot; unique_id=&quot;10027&quot;&gt;&lt;property id=&quot;20148&quot; value=&quot;5&quot;/&gt;&lt;property id=&quot;20300&quot; value=&quot;Slide 1 - &amp;quot; Lecture-5 Module-3 &amp;quot;&quot;/&gt;&lt;property id=&quot;20307&quot; value=&quot;256&quot;/&gt;&lt;/object&gt;&lt;object type=&quot;3&quot; unique_id=&quot;10368&quot;&gt;&lt;property id=&quot;20148&quot; value=&quot;5&quot;/&gt;&lt;property id=&quot;20300&quot; value=&quot;Slide 3 - &amp;quot;Time Averages &amp;quot;&quot;/&gt;&lt;property id=&quot;20307&quot; value=&quot;266&quot;/&gt;&lt;/object&gt;&lt;object type=&quot;3&quot; unique_id=&quot;10951&quot;&gt;&lt;property id=&quot;20148&quot; value=&quot;5&quot;/&gt;&lt;property id=&quot;20300&quot; value=&quot;Slide 10 - &amp;quot;Reference&amp;quot;&quot;/&gt;&lt;property id=&quot;20307&quot; value=&quot;267&quot;/&gt;&lt;/object&gt;&lt;object type=&quot;3&quot; unique_id=&quot;10982&quot;&gt;&lt;property id=&quot;20148&quot; value=&quot;5&quot;/&gt;&lt;property id=&quot;20300&quot; value=&quot;Slide 4 - &amp;quot;Ensemble Averages &amp;quot;&quot;/&gt;&lt;property id=&quot;20307&quot; value=&quot;268&quot;/&gt;&lt;/object&gt;&lt;object type=&quot;3&quot; unique_id=&quot;11013&quot;&gt;&lt;property id=&quot;20148&quot; value=&quot;5&quot;/&gt;&lt;property id=&quot;20300&quot; value=&quot;Slide 2 - &amp;quot;Introduction &amp;quot;&quot;/&gt;&lt;property id=&quot;20307&quot; value=&quot;269&quot;/&gt;&lt;/object&gt;&lt;object type=&quot;3&quot; unique_id=&quot;11091&quot;&gt;&lt;property id=&quot;20148&quot; value=&quot;5&quot;/&gt;&lt;property id=&quot;20300&quot; value=&quot;Slide 5 - &amp;quot;Ergodic Process &amp;quot;&quot;/&gt;&lt;property id=&quot;20307&quot; value=&quot;270&quot;/&gt;&lt;/object&gt;&lt;object type=&quot;3&quot; unique_id=&quot;11580&quot;&gt;&lt;property id=&quot;20148&quot; value=&quot;5&quot;/&gt;&lt;property id=&quot;20300&quot; value=&quot;Slide 6 - &amp;quot;White Noise &amp;quot;&quot;/&gt;&lt;property id=&quot;20307&quot; value=&quot;271&quot;/&gt;&lt;/object&gt;&lt;object type=&quot;3&quot; unique_id=&quot;11617&quot;&gt;&lt;property id=&quot;20148&quot; value=&quot;5&quot;/&gt;&lt;property id=&quot;20300&quot; value=&quot;Slide 7 - &amp;quot;White Gaussian Noise &amp;quot;&quot;/&gt;&lt;property id=&quot;20307&quot; value=&quot;272&quot;/&gt;&lt;/object&gt;&lt;object type=&quot;3&quot; unique_id=&quot;11648&quot;&gt;&lt;property id=&quot;20148&quot; value=&quot;5&quot;/&gt;&lt;property id=&quot;20300&quot; value=&quot;Slide 8 - &amp;quot;Shot Noise &amp;quot;&quot;/&gt;&lt;property id=&quot;20307&quot; value=&quot;273&quot;/&gt;&lt;/object&gt;&lt;object type=&quot;3&quot; unique_id=&quot;11748&quot;&gt;&lt;property id=&quot;20148&quot; value=&quot;5&quot;/&gt;&lt;property id=&quot;20300&quot; value=&quot;Slide 9 - &amp;quot;Shot Noise &amp;quot;&quot;/&gt;&lt;property id=&quot;20307&quot; value=&quot;274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</TotalTime>
  <Words>1306</Words>
  <Application>Microsoft Office PowerPoint</Application>
  <PresentationFormat>On-screen Show (4:3)</PresentationFormat>
  <Paragraphs>65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 Lecture-5 Module-3 </vt:lpstr>
      <vt:lpstr>Introduction </vt:lpstr>
      <vt:lpstr>Time Averages </vt:lpstr>
      <vt:lpstr>Ensemble Averages </vt:lpstr>
      <vt:lpstr>Ergodic Process </vt:lpstr>
      <vt:lpstr>White Noise </vt:lpstr>
      <vt:lpstr>White Gaussian Noise </vt:lpstr>
      <vt:lpstr>Shot Noise </vt:lpstr>
      <vt:lpstr>Shot Noise </vt:lpstr>
      <vt:lpstr>Reference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Lecture-1 Module-5</dc:title>
  <dc:creator>ashutosh</dc:creator>
  <cp:lastModifiedBy>ashutosh</cp:lastModifiedBy>
  <cp:revision>134</cp:revision>
  <dcterms:created xsi:type="dcterms:W3CDTF">2020-07-03T13:58:45Z</dcterms:created>
  <dcterms:modified xsi:type="dcterms:W3CDTF">2020-07-13T05:31:50Z</dcterms:modified>
</cp:coreProperties>
</file>