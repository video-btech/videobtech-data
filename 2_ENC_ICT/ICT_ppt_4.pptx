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10" Type="http://schemas.openxmlformats.org/officeDocument/2006/relationships/image" Target="../media/image18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3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0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6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1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2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9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3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3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8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4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7264D-E19C-4FAD-88B5-41E81D072FC5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2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oleObject" Target="../embeddings/oleObject5.bin"/><Relationship Id="rId18" Type="http://schemas.openxmlformats.org/officeDocument/2006/relationships/image" Target="../media/image7.wmf"/><Relationship Id="rId3" Type="http://schemas.openxmlformats.org/officeDocument/2006/relationships/image" Target="../media/image14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4.wmf"/><Relationship Id="rId1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wmf"/><Relationship Id="rId20" Type="http://schemas.openxmlformats.org/officeDocument/2006/relationships/image" Target="../media/image8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3.wmf"/><Relationship Id="rId19" Type="http://schemas.openxmlformats.org/officeDocument/2006/relationships/oleObject" Target="../embeddings/oleObject8.bin"/><Relationship Id="rId4" Type="http://schemas.openxmlformats.org/officeDocument/2006/relationships/image" Target="../media/image15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5.wmf"/><Relationship Id="rId3" Type="http://schemas.openxmlformats.org/officeDocument/2006/relationships/image" Target="../media/image28.png"/><Relationship Id="rId21" Type="http://schemas.openxmlformats.org/officeDocument/2006/relationships/oleObject" Target="../embeddings/oleObject17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.wmf"/><Relationship Id="rId20" Type="http://schemas.openxmlformats.org/officeDocument/2006/relationships/image" Target="../media/image16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2.bin"/><Relationship Id="rId24" Type="http://schemas.openxmlformats.org/officeDocument/2006/relationships/image" Target="../media/image18.wmf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18.bin"/><Relationship Id="rId10" Type="http://schemas.openxmlformats.org/officeDocument/2006/relationships/image" Target="../media/image11.wmf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19.png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3.wmf"/><Relationship Id="rId22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3600" dirty="0" smtClean="0"/>
              <a:t>Lecture-5 </a:t>
            </a:r>
            <a:r>
              <a:rPr lang="en-US" sz="3600" dirty="0"/>
              <a:t>(</a:t>
            </a:r>
            <a:r>
              <a:rPr lang="en-US" sz="3600" i="1" dirty="0" smtClean="0"/>
              <a:t>Module-1</a:t>
            </a:r>
            <a:r>
              <a:rPr lang="en-US" sz="3600" dirty="0" smtClean="0"/>
              <a:t>)</a:t>
            </a:r>
            <a:br>
              <a:rPr lang="en-US" sz="3600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600" b="1" u="sng" dirty="0" smtClean="0">
                <a:solidFill>
                  <a:srgbClr val="00B050"/>
                </a:solidFill>
              </a:rPr>
              <a:t>FUNCTIONS OF ONE RANDOM VARIABLE</a:t>
            </a:r>
            <a:br>
              <a:rPr lang="en-US" sz="3600" b="1" u="sng" dirty="0" smtClean="0">
                <a:solidFill>
                  <a:srgbClr val="00B050"/>
                </a:solidFill>
              </a:rPr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78252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FUNCTION OF ONE RANDOM VARIABLE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 smtClean="0"/>
                  <a:t> be a random variable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𝒚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000" b="1" dirty="0" smtClean="0"/>
                  <a:t> </a:t>
                </a:r>
                <a:r>
                  <a:rPr lang="en-US" sz="2000" dirty="0" smtClean="0"/>
                  <a:t>is a function then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 smtClean="0"/>
                  <a:t> also represent a random variable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For a given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𝜉</m:t>
                    </m:r>
                  </m:oMath>
                </a14:m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𝒙</m:t>
                    </m:r>
                    <m:d>
                      <m:dPr>
                        <m:ctrlPr>
                          <a:rPr lang="en-US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</m:d>
                  </m:oMath>
                </a14:m>
                <a:r>
                  <a:rPr lang="en-US" sz="2000" dirty="0" smtClean="0"/>
                  <a:t> is a number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  <m:d>
                          <m:d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𝜉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 smtClean="0"/>
                  <a:t> is another number defined in terms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𝒙</m:t>
                    </m:r>
                    <m:d>
                      <m:dPr>
                        <m:ctrlPr>
                          <a:rPr lang="en-US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</m:d>
                  </m:oMath>
                </a14:m>
                <a:r>
                  <a:rPr lang="en-US" sz="2000" dirty="0" smtClean="0"/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This number is the value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𝒚</m:t>
                    </m:r>
                    <m:d>
                      <m:d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</m:d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  <m:d>
                          <m:d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𝜉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 smtClean="0"/>
                  <a:t> assigned to the random variable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000" b="1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For a specific </a:t>
                </a:r>
                <a:r>
                  <a:rPr lang="en-US" sz="2000" i="1" dirty="0" smtClean="0"/>
                  <a:t>y</a:t>
                </a:r>
                <a:r>
                  <a:rPr lang="en-US" sz="2000" dirty="0" smtClean="0"/>
                  <a:t>, the values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 smtClean="0"/>
                  <a:t> such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𝑦</m:t>
                    </m:r>
                  </m:oMath>
                </a14:m>
                <a:r>
                  <a:rPr lang="en-US" sz="2000" dirty="0" smtClean="0"/>
                  <a:t> forms a set on x-axis,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 smtClean="0"/>
                  <a:t>, i.e.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  <m:d>
                          <m:d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𝜉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𝑦</m:t>
                    </m:r>
                  </m:oMath>
                </a14:m>
                <a:r>
                  <a:rPr lang="en-US" sz="2000" dirty="0" smtClean="0"/>
                  <a:t> if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𝒙</m:t>
                    </m:r>
                    <m:d>
                      <m:d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</m:d>
                  </m:oMath>
                </a14:m>
                <a:r>
                  <a:rPr lang="en-US" sz="2000" dirty="0" smtClean="0"/>
                  <a:t> is a number in the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 smtClean="0"/>
                  <a:t>. Hence,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 rotWithShape="1">
                <a:blip r:embed="rId2"/>
                <a:stretch>
                  <a:fillRect l="-74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068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639762"/>
              </a:xfrm>
            </p:spPr>
            <p:txBody>
              <a:bodyPr>
                <a:normAutofit/>
              </a:bodyPr>
              <a:lstStyle/>
              <a:p>
                <a:r>
                  <a:rPr lang="en-US" sz="3200" b="1" dirty="0" smtClean="0"/>
                  <a:t>Constraint on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32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639762"/>
              </a:xfrm>
              <a:blipFill rotWithShape="1">
                <a:blip r:embed="rId2"/>
                <a:stretch>
                  <a:fillRect t="-6667" b="-2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000" dirty="0" smtClean="0"/>
                  <a:t> to be a random variable,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000" dirty="0" smtClean="0"/>
                  <a:t> must have following properties –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 smtClean="0"/>
                  <a:t>Its domain must include the range of random variable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𝒙</m:t>
                    </m:r>
                  </m:oMath>
                </a14:m>
                <a:endParaRPr lang="en-US" sz="2000" dirty="0" smtClean="0"/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/>
                    </m:d>
                  </m:oMath>
                </a14:m>
                <a:r>
                  <a:rPr lang="en-US" sz="2000" dirty="0" smtClean="0"/>
                  <a:t> is a </a:t>
                </a:r>
                <a:r>
                  <a:rPr lang="en-US" sz="2000" dirty="0" err="1" smtClean="0"/>
                  <a:t>Borel</a:t>
                </a:r>
                <a:r>
                  <a:rPr lang="en-US" sz="2000" dirty="0" smtClean="0"/>
                  <a:t> measurable function i.e.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/>
                    </m:d>
                  </m:oMath>
                </a14:m>
                <a:r>
                  <a:rPr lang="en-US" sz="2000" dirty="0" smtClean="0"/>
                  <a:t> is either a continuous function or piecewise continuous function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 smtClean="0"/>
                  <a:t>The event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/>
                              </a:rPr>
                              <m:t>𝒙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±∞</m:t>
                        </m:r>
                      </m:e>
                    </m:d>
                  </m:oMath>
                </a14:m>
                <a:r>
                  <a:rPr lang="en-US" sz="2000" dirty="0" smtClean="0"/>
                  <a:t> must have zero probabilities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 rotWithShape="1">
                <a:blip r:embed="rId3"/>
                <a:stretch>
                  <a:fillRect l="-74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8880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792162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𝒚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𝑎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𝒙</m:t>
                      </m:r>
                      <m:r>
                        <a:rPr lang="en-US" b="1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792162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000" b="1" i="1" u="sng" dirty="0" smtClean="0"/>
                  <a:t>Solution: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&gt;0</m:t>
                    </m:r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&lt;0</m:t>
                    </m:r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≥</m:t>
                          </m:r>
                          <m:f>
                            <m:fPr>
                              <m:ctrlP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1−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 smtClean="0"/>
                  <a:t>Thus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2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2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2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2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200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200" b="0" i="1" smtClean="0">
                                          <a:latin typeface="Cambria Math"/>
                                          <a:ea typeface="Cambria Math"/>
                                        </a:rPr>
                                        <m:t>𝑦</m:t>
                                      </m:r>
                                      <m:r>
                                        <a:rPr lang="en-US" sz="2200" b="0" i="1" smtClean="0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2200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en-US" sz="2200" b="0" i="1" smtClean="0">
                                          <a:latin typeface="Cambria Math"/>
                                          <a:ea typeface="Cambria Math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200" b="0" i="1" smtClean="0">
                                  <a:latin typeface="Cambria Math"/>
                                  <a:ea typeface="Cambria Math"/>
                                </a:rPr>
                                <m:t>;       </m:t>
                              </m:r>
                              <m:r>
                                <a:rPr lang="en-US" sz="22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  <m:r>
                                <a:rPr lang="en-US" sz="2200" b="0" i="1" smtClean="0">
                                  <a:latin typeface="Cambria Math"/>
                                  <a:ea typeface="Cambria Math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sz="2200" b="0" i="1" smtClean="0">
                                  <a:latin typeface="Cambria Math"/>
                                  <a:ea typeface="Cambria Math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2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2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200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200" b="0" i="1" smtClean="0">
                                          <a:latin typeface="Cambria Math"/>
                                          <a:ea typeface="Cambria Math"/>
                                        </a:rPr>
                                        <m:t>𝑦</m:t>
                                      </m:r>
                                      <m:r>
                                        <a:rPr lang="en-US" sz="2200" b="0" i="1" smtClean="0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2200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en-US" sz="2200" b="0" i="1" smtClean="0">
                                          <a:latin typeface="Cambria Math"/>
                                          <a:ea typeface="Cambria Math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200" b="0" i="1" smtClean="0">
                                  <a:latin typeface="Cambria Math"/>
                                  <a:ea typeface="Cambria Math"/>
                                </a:rPr>
                                <m:t>;  </m:t>
                              </m:r>
                              <m:r>
                                <a:rPr lang="en-US" sz="22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  <m:r>
                                <a:rPr lang="en-US" sz="2200" b="0" i="1" smtClean="0">
                                  <a:latin typeface="Cambria Math"/>
                                  <a:ea typeface="Cambria Math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  <a:blipFill rotWithShape="1">
                <a:blip r:embed="rId3"/>
                <a:stretch>
                  <a:fillRect l="-741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676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76200"/>
                <a:ext cx="8229600" cy="944562"/>
              </a:xfr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𝒚</m:t>
                      </m:r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1" i="1" smtClean="0"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2000" b="1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0" b="1" i="1" smtClean="0">
                                    <a:latin typeface="Cambria Math"/>
                                  </a:rPr>
                                  <m:t>𝒄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 ;</m:t>
                                </m:r>
                                <m:r>
                                  <a:rPr lang="en-US" sz="2000" b="1" i="1" smtClean="0">
                                    <a:latin typeface="Cambria Math"/>
                                  </a:rPr>
                                  <m:t>        </m:t>
                                </m:r>
                                <m:r>
                                  <a:rPr lang="en-US" sz="2000" b="1" i="1" smtClean="0"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&gt;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 ;</m:t>
                                </m:r>
                                <m:r>
                                  <a:rPr lang="en-US" sz="2000" b="1" i="1" smtClean="0">
                                    <a:latin typeface="Cambria Math"/>
                                  </a:rPr>
                                  <m:t>    −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𝑐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&lt;</m:t>
                                </m:r>
                                <m:r>
                                  <a:rPr lang="en-US" sz="2000" b="1" i="1" smtClean="0"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≤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1" smtClean="0"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𝑐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 ;</m:t>
                                </m:r>
                                <m:r>
                                  <a:rPr lang="en-US" sz="2000" b="1" i="1" smtClean="0">
                                    <a:latin typeface="Cambria Math"/>
                                  </a:rPr>
                                  <m:t>     </m:t>
                                </m:r>
                                <m:r>
                                  <a:rPr lang="en-US" sz="2000" b="1" i="1" smtClean="0"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2000" b="1" i="1" smtClean="0">
                                    <a:latin typeface="Cambria Math"/>
                                    <a:ea typeface="Cambria Math"/>
                                  </a:rPr>
                                  <m:t>≤−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76200"/>
                <a:ext cx="8229600" cy="944562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i="1" u="sng" dirty="0" smtClean="0"/>
                  <a:t>Solution: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In this 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𝒚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 smtClean="0"/>
                  <a:t> is discontinuous at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𝒚</m:t>
                    </m:r>
                    <m:r>
                      <a:rPr lang="en-US" sz="20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 smtClean="0"/>
                  <a:t>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=0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𝑐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&lt;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buNone/>
                </a:pPr>
                <a:r>
                  <a:rPr lang="en-US" sz="2000" b="0" dirty="0" smtClean="0"/>
                  <a:t>For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≥0</m:t>
                    </m:r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&lt;0</m:t>
                    </m:r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 smtClean="0"/>
                  <a:t>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/>
                                      </a:rPr>
                                      <m:t>𝒙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smtClean="0">
                                        <a:latin typeface="Cambria Math"/>
                                        <a:ea typeface="Cambria Math"/>
                                      </a:rPr>
                                      <m:t>𝑦</m:t>
                                    </m:r>
                                    <m:r>
                                      <a:rPr lang="en-US" sz="2000" b="0" i="1" smtClean="0">
                                        <a:latin typeface="Cambria Math"/>
                                        <a:ea typeface="Cambria Math"/>
                                      </a:rPr>
                                      <m:t>−</m:t>
                                    </m:r>
                                    <m:r>
                                      <a:rPr lang="en-US" sz="2000" b="0" i="1" smtClean="0">
                                        <a:latin typeface="Cambria Math"/>
                                        <a:ea typeface="Cambria Math"/>
                                      </a:rPr>
                                      <m:t>𝑐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 ;         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&lt;0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/>
                                      </a:rPr>
                                      <m:t>𝒙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smtClean="0">
                                        <a:latin typeface="Cambria Math"/>
                                        <a:ea typeface="Cambria Math"/>
                                      </a:rPr>
                                      <m:t>𝑦</m:t>
                                    </m:r>
                                    <m:r>
                                      <a:rPr lang="en-US" sz="2000" b="0" i="1" smtClean="0">
                                        <a:latin typeface="Cambria Math"/>
                                        <a:ea typeface="Cambria Math"/>
                                      </a:rPr>
                                      <m:t>+</m:t>
                                    </m:r>
                                    <m:r>
                                      <a:rPr lang="en-US" sz="2000" b="0" i="1" smtClean="0">
                                        <a:latin typeface="Cambria Math"/>
                                        <a:ea typeface="Cambria Math"/>
                                      </a:rPr>
                                      <m:t>𝑐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 ;         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≥0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  <a:blipFill rotWithShape="1">
                <a:blip r:embed="rId4"/>
                <a:stretch>
                  <a:fillRect l="-741" t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661988" y="5257800"/>
            <a:ext cx="2460625" cy="928676"/>
            <a:chOff x="192" y="3339"/>
            <a:chExt cx="1729" cy="706"/>
          </a:xfrm>
        </p:grpSpPr>
        <p:sp>
          <p:nvSpPr>
            <p:cNvPr id="5" name="Line 15"/>
            <p:cNvSpPr>
              <a:spLocks noChangeShapeType="1"/>
            </p:cNvSpPr>
            <p:nvPr/>
          </p:nvSpPr>
          <p:spPr bwMode="auto">
            <a:xfrm>
              <a:off x="192" y="3753"/>
              <a:ext cx="1587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16"/>
            <p:cNvSpPr>
              <a:spLocks noChangeShapeType="1"/>
            </p:cNvSpPr>
            <p:nvPr/>
          </p:nvSpPr>
          <p:spPr bwMode="auto">
            <a:xfrm flipV="1">
              <a:off x="920" y="3380"/>
              <a:ext cx="0" cy="6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17"/>
            <p:cNvSpPr>
              <a:spLocks noChangeShapeType="1"/>
            </p:cNvSpPr>
            <p:nvPr/>
          </p:nvSpPr>
          <p:spPr bwMode="auto">
            <a:xfrm flipV="1">
              <a:off x="594" y="3750"/>
              <a:ext cx="69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18"/>
            <p:cNvSpPr>
              <a:spLocks noChangeShapeType="1"/>
            </p:cNvSpPr>
            <p:nvPr/>
          </p:nvSpPr>
          <p:spPr bwMode="auto">
            <a:xfrm flipV="1">
              <a:off x="1272" y="3526"/>
              <a:ext cx="345" cy="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19"/>
            <p:cNvSpPr>
              <a:spLocks noChangeShapeType="1"/>
            </p:cNvSpPr>
            <p:nvPr/>
          </p:nvSpPr>
          <p:spPr bwMode="auto">
            <a:xfrm flipV="1">
              <a:off x="268" y="3743"/>
              <a:ext cx="345" cy="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0" name="Object 32"/>
            <p:cNvGraphicFramePr>
              <a:graphicFrameLocks noChangeAspect="1"/>
            </p:cNvGraphicFramePr>
            <p:nvPr/>
          </p:nvGraphicFramePr>
          <p:xfrm>
            <a:off x="981" y="3339"/>
            <a:ext cx="278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0" name="Equation" r:id="rId5" imgW="380880" imgH="203040" progId="Equation.3">
                    <p:embed/>
                  </p:oleObj>
                </mc:Choice>
                <mc:Fallback>
                  <p:oleObj name="Equation" r:id="rId5" imgW="3808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1" y="3339"/>
                          <a:ext cx="278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33"/>
            <p:cNvGraphicFramePr>
              <a:graphicFrameLocks noChangeAspect="1"/>
            </p:cNvGraphicFramePr>
            <p:nvPr/>
          </p:nvGraphicFramePr>
          <p:xfrm>
            <a:off x="1793" y="3699"/>
            <a:ext cx="128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" name="Equation" r:id="rId7" imgW="177480" imgH="152280" progId="Equation.3">
                    <p:embed/>
                  </p:oleObj>
                </mc:Choice>
                <mc:Fallback>
                  <p:oleObj name="Equation" r:id="rId7" imgW="177480" imgH="152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3" y="3699"/>
                          <a:ext cx="128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34"/>
            <p:cNvGraphicFramePr>
              <a:graphicFrameLocks noChangeAspect="1"/>
            </p:cNvGraphicFramePr>
            <p:nvPr/>
          </p:nvGraphicFramePr>
          <p:xfrm>
            <a:off x="512" y="3624"/>
            <a:ext cx="166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" name="Equation" r:id="rId9" imgW="228600" imgH="139680" progId="Equation.3">
                    <p:embed/>
                  </p:oleObj>
                </mc:Choice>
                <mc:Fallback>
                  <p:oleObj name="Equation" r:id="rId9" imgW="22860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" y="3624"/>
                          <a:ext cx="166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35"/>
            <p:cNvGraphicFramePr>
              <a:graphicFrameLocks noChangeAspect="1"/>
            </p:cNvGraphicFramePr>
            <p:nvPr/>
          </p:nvGraphicFramePr>
          <p:xfrm>
            <a:off x="1240" y="3777"/>
            <a:ext cx="81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" name="Equation" r:id="rId11" imgW="114120" imgH="139680" progId="Equation.3">
                    <p:embed/>
                  </p:oleObj>
                </mc:Choice>
                <mc:Fallback>
                  <p:oleObj name="Equation" r:id="rId11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0" y="3777"/>
                          <a:ext cx="81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200400" y="5105400"/>
            <a:ext cx="2422525" cy="961162"/>
            <a:chOff x="1823" y="3367"/>
            <a:chExt cx="1698" cy="752"/>
          </a:xfrm>
        </p:grpSpPr>
        <p:sp>
          <p:nvSpPr>
            <p:cNvPr id="15" name="Line 20"/>
            <p:cNvSpPr>
              <a:spLocks noChangeShapeType="1"/>
            </p:cNvSpPr>
            <p:nvPr/>
          </p:nvSpPr>
          <p:spPr bwMode="auto">
            <a:xfrm flipV="1">
              <a:off x="1823" y="4055"/>
              <a:ext cx="15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 flipV="1">
              <a:off x="2539" y="3395"/>
              <a:ext cx="0" cy="6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23"/>
            <p:cNvSpPr>
              <a:spLocks/>
            </p:cNvSpPr>
            <p:nvPr/>
          </p:nvSpPr>
          <p:spPr bwMode="auto">
            <a:xfrm>
              <a:off x="1847" y="3598"/>
              <a:ext cx="1504" cy="431"/>
            </a:xfrm>
            <a:custGeom>
              <a:avLst/>
              <a:gdLst>
                <a:gd name="T0" fmla="*/ 0 w 1504"/>
                <a:gd name="T1" fmla="*/ 309 h 309"/>
                <a:gd name="T2" fmla="*/ 135 w 1504"/>
                <a:gd name="T3" fmla="*/ 302 h 309"/>
                <a:gd name="T4" fmla="*/ 314 w 1504"/>
                <a:gd name="T5" fmla="*/ 270 h 309"/>
                <a:gd name="T6" fmla="*/ 499 w 1504"/>
                <a:gd name="T7" fmla="*/ 200 h 309"/>
                <a:gd name="T8" fmla="*/ 621 w 1504"/>
                <a:gd name="T9" fmla="*/ 130 h 309"/>
                <a:gd name="T10" fmla="*/ 730 w 1504"/>
                <a:gd name="T11" fmla="*/ 123 h 309"/>
                <a:gd name="T12" fmla="*/ 903 w 1504"/>
                <a:gd name="T13" fmla="*/ 85 h 309"/>
                <a:gd name="T14" fmla="*/ 1088 w 1504"/>
                <a:gd name="T15" fmla="*/ 14 h 309"/>
                <a:gd name="T16" fmla="*/ 1280 w 1504"/>
                <a:gd name="T17" fmla="*/ 2 h 309"/>
                <a:gd name="T18" fmla="*/ 1504 w 1504"/>
                <a:gd name="T19" fmla="*/ 2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4" h="309">
                  <a:moveTo>
                    <a:pt x="0" y="309"/>
                  </a:moveTo>
                  <a:cubicBezTo>
                    <a:pt x="41" y="308"/>
                    <a:pt x="83" y="308"/>
                    <a:pt x="135" y="302"/>
                  </a:cubicBezTo>
                  <a:cubicBezTo>
                    <a:pt x="187" y="296"/>
                    <a:pt x="253" y="287"/>
                    <a:pt x="314" y="270"/>
                  </a:cubicBezTo>
                  <a:cubicBezTo>
                    <a:pt x="375" y="253"/>
                    <a:pt x="448" y="223"/>
                    <a:pt x="499" y="200"/>
                  </a:cubicBezTo>
                  <a:cubicBezTo>
                    <a:pt x="550" y="177"/>
                    <a:pt x="583" y="143"/>
                    <a:pt x="621" y="130"/>
                  </a:cubicBezTo>
                  <a:cubicBezTo>
                    <a:pt x="659" y="117"/>
                    <a:pt x="683" y="130"/>
                    <a:pt x="730" y="123"/>
                  </a:cubicBezTo>
                  <a:cubicBezTo>
                    <a:pt x="777" y="116"/>
                    <a:pt x="843" y="103"/>
                    <a:pt x="903" y="85"/>
                  </a:cubicBezTo>
                  <a:cubicBezTo>
                    <a:pt x="963" y="67"/>
                    <a:pt x="1025" y="28"/>
                    <a:pt x="1088" y="14"/>
                  </a:cubicBezTo>
                  <a:cubicBezTo>
                    <a:pt x="1151" y="0"/>
                    <a:pt x="1211" y="4"/>
                    <a:pt x="1280" y="2"/>
                  </a:cubicBezTo>
                  <a:cubicBezTo>
                    <a:pt x="1349" y="0"/>
                    <a:pt x="1426" y="1"/>
                    <a:pt x="1504" y="2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8" name="Object 39"/>
            <p:cNvGraphicFramePr>
              <a:graphicFrameLocks noChangeAspect="1"/>
            </p:cNvGraphicFramePr>
            <p:nvPr/>
          </p:nvGraphicFramePr>
          <p:xfrm>
            <a:off x="3430" y="4004"/>
            <a:ext cx="91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4" name="Equation" r:id="rId13" imgW="126720" imgH="139680" progId="Equation.3">
                    <p:embed/>
                  </p:oleObj>
                </mc:Choice>
                <mc:Fallback>
                  <p:oleObj name="Equation" r:id="rId13" imgW="1267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0" y="4004"/>
                          <a:ext cx="91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40"/>
            <p:cNvGraphicFramePr>
              <a:graphicFrameLocks noChangeAspect="1"/>
            </p:cNvGraphicFramePr>
            <p:nvPr/>
          </p:nvGraphicFramePr>
          <p:xfrm>
            <a:off x="2578" y="3367"/>
            <a:ext cx="30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5" name="Equation" r:id="rId15" imgW="419040" imgH="215640" progId="Equation.3">
                    <p:embed/>
                  </p:oleObj>
                </mc:Choice>
                <mc:Fallback>
                  <p:oleObj name="Equation" r:id="rId15" imgW="419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8" y="3367"/>
                          <a:ext cx="30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Group 40"/>
          <p:cNvGrpSpPr/>
          <p:nvPr/>
        </p:nvGrpSpPr>
        <p:grpSpPr>
          <a:xfrm>
            <a:off x="5918200" y="5105400"/>
            <a:ext cx="2692400" cy="960437"/>
            <a:chOff x="5918200" y="5029200"/>
            <a:chExt cx="2692400" cy="960437"/>
          </a:xfrm>
        </p:grpSpPr>
        <p:sp>
          <p:nvSpPr>
            <p:cNvPr id="32" name="Line 25"/>
            <p:cNvSpPr>
              <a:spLocks noChangeShapeType="1"/>
            </p:cNvSpPr>
            <p:nvPr/>
          </p:nvSpPr>
          <p:spPr bwMode="auto">
            <a:xfrm flipV="1">
              <a:off x="7051675" y="5064125"/>
              <a:ext cx="0" cy="814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5918200" y="5029200"/>
              <a:ext cx="2692400" cy="960437"/>
              <a:chOff x="5918200" y="5029200"/>
              <a:chExt cx="2692400" cy="960437"/>
            </a:xfrm>
          </p:grpSpPr>
          <p:graphicFrame>
            <p:nvGraphicFramePr>
              <p:cNvPr id="37" name="Object 4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15397075"/>
                  </p:ext>
                </p:extLst>
              </p:nvPr>
            </p:nvGraphicFramePr>
            <p:xfrm>
              <a:off x="7094538" y="5029200"/>
              <a:ext cx="460375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6" name="Equation" r:id="rId17" imgW="406080" imgH="228600" progId="Equation.DSMT4">
                      <p:embed/>
                    </p:oleObj>
                  </mc:Choice>
                  <mc:Fallback>
                    <p:oleObj name="Equation" r:id="rId17" imgW="40608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94538" y="5029200"/>
                            <a:ext cx="460375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9" name="Group 38"/>
              <p:cNvGrpSpPr/>
              <p:nvPr/>
            </p:nvGrpSpPr>
            <p:grpSpPr>
              <a:xfrm>
                <a:off x="5918200" y="5257800"/>
                <a:ext cx="2692400" cy="731837"/>
                <a:chOff x="5918200" y="5237163"/>
                <a:chExt cx="2692400" cy="731837"/>
              </a:xfrm>
            </p:grpSpPr>
            <p:sp>
              <p:nvSpPr>
                <p:cNvPr id="31" name="Line 24"/>
                <p:cNvSpPr>
                  <a:spLocks noChangeShapeType="1"/>
                </p:cNvSpPr>
                <p:nvPr/>
              </p:nvSpPr>
              <p:spPr bwMode="auto">
                <a:xfrm flipV="1">
                  <a:off x="5930900" y="5872163"/>
                  <a:ext cx="24733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3" name="Group 31"/>
                <p:cNvGrpSpPr>
                  <a:grpSpLocks/>
                </p:cNvGrpSpPr>
                <p:nvPr/>
              </p:nvGrpSpPr>
              <p:grpSpPr bwMode="auto">
                <a:xfrm>
                  <a:off x="5918200" y="5237163"/>
                  <a:ext cx="2406650" cy="608012"/>
                  <a:chOff x="3500" y="2825"/>
                  <a:chExt cx="1550" cy="618"/>
                </a:xfrm>
              </p:grpSpPr>
              <p:sp>
                <p:nvSpPr>
                  <p:cNvPr id="34" name="Freeform 28"/>
                  <p:cNvSpPr>
                    <a:spLocks/>
                  </p:cNvSpPr>
                  <p:nvPr/>
                </p:nvSpPr>
                <p:spPr bwMode="auto">
                  <a:xfrm>
                    <a:off x="3500" y="3219"/>
                    <a:ext cx="736" cy="224"/>
                  </a:xfrm>
                  <a:custGeom>
                    <a:avLst/>
                    <a:gdLst>
                      <a:gd name="T0" fmla="*/ 0 w 736"/>
                      <a:gd name="T1" fmla="*/ 224 h 224"/>
                      <a:gd name="T2" fmla="*/ 314 w 736"/>
                      <a:gd name="T3" fmla="*/ 192 h 224"/>
                      <a:gd name="T4" fmla="*/ 544 w 736"/>
                      <a:gd name="T5" fmla="*/ 96 h 224"/>
                      <a:gd name="T6" fmla="*/ 647 w 736"/>
                      <a:gd name="T7" fmla="*/ 25 h 224"/>
                      <a:gd name="T8" fmla="*/ 736 w 736"/>
                      <a:gd name="T9" fmla="*/ 0 h 2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36" h="224">
                        <a:moveTo>
                          <a:pt x="0" y="224"/>
                        </a:moveTo>
                        <a:cubicBezTo>
                          <a:pt x="112" y="218"/>
                          <a:pt x="224" y="213"/>
                          <a:pt x="314" y="192"/>
                        </a:cubicBezTo>
                        <a:cubicBezTo>
                          <a:pt x="404" y="171"/>
                          <a:pt x="489" y="124"/>
                          <a:pt x="544" y="96"/>
                        </a:cubicBezTo>
                        <a:cubicBezTo>
                          <a:pt x="599" y="68"/>
                          <a:pt x="615" y="41"/>
                          <a:pt x="647" y="25"/>
                        </a:cubicBezTo>
                        <a:cubicBezTo>
                          <a:pt x="679" y="9"/>
                          <a:pt x="721" y="4"/>
                          <a:pt x="736" y="0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5" name="Freeform 29"/>
                  <p:cNvSpPr>
                    <a:spLocks/>
                  </p:cNvSpPr>
                  <p:nvPr/>
                </p:nvSpPr>
                <p:spPr bwMode="auto">
                  <a:xfrm>
                    <a:off x="4237" y="2825"/>
                    <a:ext cx="813" cy="156"/>
                  </a:xfrm>
                  <a:custGeom>
                    <a:avLst/>
                    <a:gdLst>
                      <a:gd name="T0" fmla="*/ 0 w 813"/>
                      <a:gd name="T1" fmla="*/ 156 h 156"/>
                      <a:gd name="T2" fmla="*/ 141 w 813"/>
                      <a:gd name="T3" fmla="*/ 144 h 156"/>
                      <a:gd name="T4" fmla="*/ 288 w 813"/>
                      <a:gd name="T5" fmla="*/ 99 h 156"/>
                      <a:gd name="T6" fmla="*/ 435 w 813"/>
                      <a:gd name="T7" fmla="*/ 22 h 156"/>
                      <a:gd name="T8" fmla="*/ 563 w 813"/>
                      <a:gd name="T9" fmla="*/ 3 h 156"/>
                      <a:gd name="T10" fmla="*/ 813 w 813"/>
                      <a:gd name="T11" fmla="*/ 3 h 1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813" h="156">
                        <a:moveTo>
                          <a:pt x="0" y="156"/>
                        </a:moveTo>
                        <a:cubicBezTo>
                          <a:pt x="46" y="154"/>
                          <a:pt x="93" y="153"/>
                          <a:pt x="141" y="144"/>
                        </a:cubicBezTo>
                        <a:cubicBezTo>
                          <a:pt x="189" y="135"/>
                          <a:pt x="239" y="119"/>
                          <a:pt x="288" y="99"/>
                        </a:cubicBezTo>
                        <a:cubicBezTo>
                          <a:pt x="337" y="79"/>
                          <a:pt x="389" y="38"/>
                          <a:pt x="435" y="22"/>
                        </a:cubicBezTo>
                        <a:cubicBezTo>
                          <a:pt x="481" y="6"/>
                          <a:pt x="500" y="6"/>
                          <a:pt x="563" y="3"/>
                        </a:cubicBezTo>
                        <a:cubicBezTo>
                          <a:pt x="626" y="0"/>
                          <a:pt x="719" y="1"/>
                          <a:pt x="813" y="3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6" name="Line 3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30" y="2982"/>
                    <a:ext cx="0" cy="2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aphicFrame>
              <p:nvGraphicFramePr>
                <p:cNvPr id="38" name="Object 4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94107125"/>
                    </p:ext>
                  </p:extLst>
                </p:nvPr>
              </p:nvGraphicFramePr>
              <p:xfrm>
                <a:off x="8450263" y="5802313"/>
                <a:ext cx="160337" cy="16668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37" name="Equation" r:id="rId19" imgW="139680" imgH="164880" progId="Equation.3">
                        <p:embed/>
                      </p:oleObj>
                    </mc:Choice>
                    <mc:Fallback>
                      <p:oleObj name="Equation" r:id="rId19" imgW="13968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450263" y="5802313"/>
                              <a:ext cx="160337" cy="16668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</p:spTree>
    <p:extLst>
      <p:ext uri="{BB962C8B-B14F-4D97-AF65-F5344CB8AC3E}">
        <p14:creationId xmlns:p14="http://schemas.microsoft.com/office/powerpoint/2010/main" val="237315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715962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 smtClean="0"/>
                  <a:t>For discrete random variable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/>
                      </a:rPr>
                      <m:t>𝒙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715962"/>
              </a:xfrm>
              <a:blipFill rotWithShape="1">
                <a:blip r:embed="rId2"/>
                <a:stretch>
                  <a:fillRect t="-847" b="-18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 smtClean="0"/>
                  <a:t>If random variable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 smtClean="0"/>
                  <a:t> is of discrete type taking the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 smtClean="0"/>
                  <a:t> 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 smtClean="0"/>
                  <a:t> then random variable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𝒚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000" dirty="0" smtClean="0"/>
                  <a:t> is also of discrete type taking the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2000" b="1" dirty="0" smtClean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000" dirty="0" smtClean="0"/>
                  <a:t> for only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 smtClean="0"/>
                  <a:t>, then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sz="2000" dirty="0" smtClean="0"/>
                  <a:t>If, however,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000" dirty="0" smtClean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2000" dirty="0" smtClean="0"/>
                  <a:t>, then</a:t>
                </a:r>
              </a:p>
              <a:p>
                <a:pPr marL="0" indent="0" algn="ctr">
                  <a:lnSpc>
                    <a:spcPct val="200000"/>
                  </a:lnSpc>
                  <a:buNone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𝒚</m:t>
                        </m:r>
                        <m:r>
                          <a:rPr lang="en-US" sz="2000" b="0" i="1" smtClean="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  <m:r>
                          <a:rPr lang="en-US" sz="2000" b="0" i="1" smtClean="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000" b="1" i="1" smtClean="0">
                        <a:latin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  <m:r>
                          <a:rPr lang="en-US" sz="2000" b="0" i="1" smtClean="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endParaRPr lang="en-US" sz="2000" dirty="0" smtClean="0"/>
              </a:p>
              <a:p>
                <a:pPr marL="0" indent="0" algn="ctr">
                  <a:lnSpc>
                    <a:spcPct val="200000"/>
                  </a:lnSpc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  <a:blipFill rotWithShape="1">
                <a:blip r:embed="rId3"/>
                <a:stretch>
                  <a:fillRect l="-741" t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368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715962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 smtClean="0"/>
                  <a:t>Determination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3200" b="1" i="1" smtClean="0">
                            <a:latin typeface="Cambria Math"/>
                          </a:rPr>
                          <m:t>𝒚</m:t>
                        </m:r>
                      </m:sub>
                    </m:sSub>
                    <m:d>
                      <m:dPr>
                        <m:ctrlPr>
                          <a:rPr lang="en-US" sz="32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715962"/>
              </a:xfrm>
              <a:blipFill rotWithShape="1">
                <a:blip r:embed="rId3"/>
                <a:stretch>
                  <a:fillRect t="-3390" b="-16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en-US" sz="2000" dirty="0" smtClean="0"/>
                  <a:t>Consider a specific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altLang="en-US" sz="2000" dirty="0" smtClean="0"/>
                  <a:t> on the </a:t>
                </a:r>
                <a:r>
                  <a:rPr lang="en-US" altLang="en-US" sz="2000" i="1" dirty="0" smtClean="0"/>
                  <a:t>y</a:t>
                </a:r>
                <a:r>
                  <a:rPr lang="en-US" altLang="en-US" sz="2000" dirty="0" smtClean="0"/>
                  <a:t>-axis, and a positive  increment  </a:t>
                </a:r>
                <a14:m>
                  <m:oMath xmlns:m="http://schemas.openxmlformats.org/officeDocument/2006/math">
                    <m:r>
                      <a:rPr lang="en-US" altLang="en-US" sz="2000" i="1" smtClean="0">
                        <a:latin typeface="Cambria Math"/>
                        <a:ea typeface="Cambria Math"/>
                      </a:rPr>
                      <m:t>∆</m:t>
                    </m:r>
                    <m:r>
                      <a:rPr lang="en-US" altLang="en-US" sz="2000" b="0" i="1" smtClean="0">
                        <a:latin typeface="Cambria Math"/>
                        <a:ea typeface="Cambria Math"/>
                      </a:rPr>
                      <m:t>𝑦</m:t>
                    </m:r>
                  </m:oMath>
                </a14:m>
                <a:r>
                  <a:rPr lang="en-US" altLang="en-US" sz="2000" dirty="0" smtClean="0"/>
                  <a:t>     as shown in Figure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𝑦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&lt;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𝒚</m:t>
                        </m:r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+∆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</m:d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nary>
                      <m:nary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/>
                          </a:rPr>
                          <m:t>𝑦</m:t>
                        </m:r>
                      </m:sub>
                      <m:sup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+∆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</m:sup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/>
                              </a:rPr>
                              <m:t>𝒚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𝑢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𝑑𝑢</m:t>
                        </m:r>
                      </m:e>
                    </m:nary>
                    <m:r>
                      <a:rPr lang="en-US" sz="2000" b="1" i="1" smtClean="0">
                        <a:latin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≈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𝒚</m:t>
                        </m:r>
                      </m:sub>
                    </m:sSub>
                    <m:d>
                      <m:dPr>
                        <m:ctrlPr>
                          <a:rPr lang="en-US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∆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𝑦</m:t>
                    </m:r>
                  </m:oMath>
                </a14:m>
                <a:r>
                  <a:rPr lang="en-US" sz="2000" b="1" dirty="0" smtClean="0"/>
                  <a:t> 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𝒚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000" dirty="0" smtClean="0"/>
                  <a:t> has three solutions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 smtClean="0"/>
                  <a:t> thus as a result when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𝑦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𝒚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+∆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𝑦</m:t>
                    </m:r>
                  </m:oMath>
                </a14:m>
                <a:r>
                  <a:rPr lang="en-US" sz="2000" dirty="0" smtClean="0"/>
                  <a:t> the random variable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 smtClean="0"/>
                  <a:t> could be in any one in three mutually exclusive intervals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&lt;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𝒙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+∆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&lt;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𝒙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&lt;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𝒙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+∆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  <a:blipFill rotWithShape="1">
                <a:blip r:embed="rId4"/>
                <a:stretch>
                  <a:fillRect l="-741" t="-556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2644775" y="1905000"/>
            <a:ext cx="5508625" cy="2185988"/>
            <a:chOff x="878" y="151"/>
            <a:chExt cx="3470" cy="1377"/>
          </a:xfrm>
        </p:grpSpPr>
        <p:sp>
          <p:nvSpPr>
            <p:cNvPr id="5" name="Line 2"/>
            <p:cNvSpPr>
              <a:spLocks noChangeShapeType="1"/>
            </p:cNvSpPr>
            <p:nvPr/>
          </p:nvSpPr>
          <p:spPr bwMode="auto">
            <a:xfrm>
              <a:off x="878" y="1114"/>
              <a:ext cx="33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3"/>
            <p:cNvSpPr>
              <a:spLocks noChangeShapeType="1"/>
            </p:cNvSpPr>
            <p:nvPr/>
          </p:nvSpPr>
          <p:spPr bwMode="auto">
            <a:xfrm flipV="1">
              <a:off x="2453" y="186"/>
              <a:ext cx="0" cy="1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Freeform 4"/>
            <p:cNvSpPr>
              <a:spLocks/>
            </p:cNvSpPr>
            <p:nvPr/>
          </p:nvSpPr>
          <p:spPr bwMode="auto">
            <a:xfrm>
              <a:off x="1019" y="406"/>
              <a:ext cx="2906" cy="857"/>
            </a:xfrm>
            <a:custGeom>
              <a:avLst/>
              <a:gdLst>
                <a:gd name="T0" fmla="*/ 0 w 2906"/>
                <a:gd name="T1" fmla="*/ 857 h 857"/>
                <a:gd name="T2" fmla="*/ 154 w 2906"/>
                <a:gd name="T3" fmla="*/ 518 h 857"/>
                <a:gd name="T4" fmla="*/ 314 w 2906"/>
                <a:gd name="T5" fmla="*/ 345 h 857"/>
                <a:gd name="T6" fmla="*/ 531 w 2906"/>
                <a:gd name="T7" fmla="*/ 230 h 857"/>
                <a:gd name="T8" fmla="*/ 749 w 2906"/>
                <a:gd name="T9" fmla="*/ 224 h 857"/>
                <a:gd name="T10" fmla="*/ 1018 w 2906"/>
                <a:gd name="T11" fmla="*/ 460 h 857"/>
                <a:gd name="T12" fmla="*/ 1357 w 2906"/>
                <a:gd name="T13" fmla="*/ 550 h 857"/>
                <a:gd name="T14" fmla="*/ 1831 w 2906"/>
                <a:gd name="T15" fmla="*/ 486 h 857"/>
                <a:gd name="T16" fmla="*/ 2227 w 2906"/>
                <a:gd name="T17" fmla="*/ 224 h 857"/>
                <a:gd name="T18" fmla="*/ 2643 w 2906"/>
                <a:gd name="T19" fmla="*/ 44 h 857"/>
                <a:gd name="T20" fmla="*/ 2906 w 2906"/>
                <a:gd name="T21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06" h="857">
                  <a:moveTo>
                    <a:pt x="0" y="857"/>
                  </a:moveTo>
                  <a:cubicBezTo>
                    <a:pt x="51" y="730"/>
                    <a:pt x="102" y="603"/>
                    <a:pt x="154" y="518"/>
                  </a:cubicBezTo>
                  <a:cubicBezTo>
                    <a:pt x="206" y="433"/>
                    <a:pt x="251" y="393"/>
                    <a:pt x="314" y="345"/>
                  </a:cubicBezTo>
                  <a:cubicBezTo>
                    <a:pt x="377" y="297"/>
                    <a:pt x="459" y="250"/>
                    <a:pt x="531" y="230"/>
                  </a:cubicBezTo>
                  <a:cubicBezTo>
                    <a:pt x="603" y="210"/>
                    <a:pt x="668" y="186"/>
                    <a:pt x="749" y="224"/>
                  </a:cubicBezTo>
                  <a:cubicBezTo>
                    <a:pt x="830" y="262"/>
                    <a:pt x="917" y="406"/>
                    <a:pt x="1018" y="460"/>
                  </a:cubicBezTo>
                  <a:cubicBezTo>
                    <a:pt x="1119" y="514"/>
                    <a:pt x="1222" y="546"/>
                    <a:pt x="1357" y="550"/>
                  </a:cubicBezTo>
                  <a:cubicBezTo>
                    <a:pt x="1492" y="554"/>
                    <a:pt x="1686" y="540"/>
                    <a:pt x="1831" y="486"/>
                  </a:cubicBezTo>
                  <a:cubicBezTo>
                    <a:pt x="1976" y="432"/>
                    <a:pt x="2092" y="298"/>
                    <a:pt x="2227" y="224"/>
                  </a:cubicBezTo>
                  <a:cubicBezTo>
                    <a:pt x="2362" y="150"/>
                    <a:pt x="2530" y="81"/>
                    <a:pt x="2643" y="44"/>
                  </a:cubicBezTo>
                  <a:cubicBezTo>
                    <a:pt x="2756" y="7"/>
                    <a:pt x="2831" y="3"/>
                    <a:pt x="2906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1461" y="666"/>
              <a:ext cx="17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1352" y="743"/>
              <a:ext cx="17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1346" y="743"/>
              <a:ext cx="0" cy="3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1462" y="672"/>
              <a:ext cx="0" cy="4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1814" y="653"/>
              <a:ext cx="0" cy="4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1890" y="749"/>
              <a:ext cx="0" cy="3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3067" y="749"/>
              <a:ext cx="0" cy="3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89" y="672"/>
              <a:ext cx="0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6" name="Object 14"/>
            <p:cNvGraphicFramePr>
              <a:graphicFrameLocks noChangeAspect="1"/>
            </p:cNvGraphicFramePr>
            <p:nvPr/>
          </p:nvGraphicFramePr>
          <p:xfrm>
            <a:off x="4205" y="1049"/>
            <a:ext cx="143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0" name="Equation" r:id="rId5" imgW="126720" imgH="139680" progId="Equation.3">
                    <p:embed/>
                  </p:oleObj>
                </mc:Choice>
                <mc:Fallback>
                  <p:oleObj name="Equation" r:id="rId5" imgW="1267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5" y="1049"/>
                          <a:ext cx="143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5"/>
            <p:cNvGraphicFramePr>
              <a:graphicFrameLocks noChangeAspect="1"/>
            </p:cNvGraphicFramePr>
            <p:nvPr/>
          </p:nvGraphicFramePr>
          <p:xfrm>
            <a:off x="2505" y="151"/>
            <a:ext cx="306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" name="Equation" r:id="rId7" imgW="330120" imgH="203040" progId="Equation.3">
                    <p:embed/>
                  </p:oleObj>
                </mc:Choice>
                <mc:Fallback>
                  <p:oleObj name="Equation" r:id="rId7" imgW="33012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5" y="151"/>
                          <a:ext cx="306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6"/>
            <p:cNvGraphicFramePr>
              <a:graphicFrameLocks noChangeAspect="1"/>
            </p:cNvGraphicFramePr>
            <p:nvPr/>
          </p:nvGraphicFramePr>
          <p:xfrm>
            <a:off x="1132" y="1188"/>
            <a:ext cx="170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" name="Equation" r:id="rId9" imgW="152280" imgH="215640" progId="Equation.3">
                    <p:embed/>
                  </p:oleObj>
                </mc:Choice>
                <mc:Fallback>
                  <p:oleObj name="Equation" r:id="rId9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2" y="1188"/>
                          <a:ext cx="170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7"/>
            <p:cNvGraphicFramePr>
              <a:graphicFrameLocks noChangeAspect="1"/>
            </p:cNvGraphicFramePr>
            <p:nvPr/>
          </p:nvGraphicFramePr>
          <p:xfrm>
            <a:off x="1322" y="1215"/>
            <a:ext cx="422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3" name="Equation" r:id="rId11" imgW="507960" imgH="215640" progId="Equation.3">
                    <p:embed/>
                  </p:oleObj>
                </mc:Choice>
                <mc:Fallback>
                  <p:oleObj name="Equation" r:id="rId11" imgW="5079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2" y="1215"/>
                          <a:ext cx="422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8"/>
            <p:cNvGraphicFramePr>
              <a:graphicFrameLocks noChangeAspect="1"/>
            </p:cNvGraphicFramePr>
            <p:nvPr/>
          </p:nvGraphicFramePr>
          <p:xfrm>
            <a:off x="2471" y="765"/>
            <a:ext cx="157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4" name="Equation" r:id="rId13" imgW="139680" imgH="164880" progId="Equation.3">
                    <p:embed/>
                  </p:oleObj>
                </mc:Choice>
                <mc:Fallback>
                  <p:oleObj name="Equation" r:id="rId13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1" y="765"/>
                          <a:ext cx="157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19"/>
            <p:cNvGraphicFramePr>
              <a:graphicFrameLocks noChangeAspect="1"/>
            </p:cNvGraphicFramePr>
            <p:nvPr/>
          </p:nvGraphicFramePr>
          <p:xfrm>
            <a:off x="1618" y="1349"/>
            <a:ext cx="442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5" name="Equation" r:id="rId15" imgW="533160" imgH="215640" progId="Equation.3">
                    <p:embed/>
                  </p:oleObj>
                </mc:Choice>
                <mc:Fallback>
                  <p:oleObj name="Equation" r:id="rId15" imgW="5331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8" y="1349"/>
                          <a:ext cx="442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0"/>
            <p:cNvGraphicFramePr>
              <a:graphicFrameLocks noChangeAspect="1"/>
            </p:cNvGraphicFramePr>
            <p:nvPr/>
          </p:nvGraphicFramePr>
          <p:xfrm>
            <a:off x="3193" y="1204"/>
            <a:ext cx="432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6" name="Equation" r:id="rId17" imgW="520560" imgH="228600" progId="Equation.3">
                    <p:embed/>
                  </p:oleObj>
                </mc:Choice>
                <mc:Fallback>
                  <p:oleObj name="Equation" r:id="rId17" imgW="5205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3" y="1204"/>
                          <a:ext cx="432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1"/>
            <p:cNvGraphicFramePr>
              <a:graphicFrameLocks noChangeAspect="1"/>
            </p:cNvGraphicFramePr>
            <p:nvPr/>
          </p:nvGraphicFramePr>
          <p:xfrm>
            <a:off x="2988" y="1189"/>
            <a:ext cx="18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7" name="Equation" r:id="rId19" imgW="164880" imgH="228600" progId="Equation.3">
                    <p:embed/>
                  </p:oleObj>
                </mc:Choice>
                <mc:Fallback>
                  <p:oleObj name="Equation" r:id="rId19" imgW="1648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8" y="1189"/>
                          <a:ext cx="18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2"/>
            <p:cNvGraphicFramePr>
              <a:graphicFrameLocks noChangeAspect="1"/>
            </p:cNvGraphicFramePr>
            <p:nvPr/>
          </p:nvGraphicFramePr>
          <p:xfrm>
            <a:off x="2477" y="407"/>
            <a:ext cx="497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8" name="Equation" r:id="rId21" imgW="444240" imgH="203040" progId="Equation.3">
                    <p:embed/>
                  </p:oleObj>
                </mc:Choice>
                <mc:Fallback>
                  <p:oleObj name="Equation" r:id="rId21" imgW="44424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7" y="407"/>
                          <a:ext cx="497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4"/>
            <p:cNvGraphicFramePr>
              <a:graphicFrameLocks noChangeAspect="1"/>
            </p:cNvGraphicFramePr>
            <p:nvPr/>
          </p:nvGraphicFramePr>
          <p:xfrm>
            <a:off x="2116" y="1328"/>
            <a:ext cx="199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9" name="Equation" r:id="rId23" imgW="177480" imgH="215640" progId="Equation.3">
                    <p:embed/>
                  </p:oleObj>
                </mc:Choice>
                <mc:Fallback>
                  <p:oleObj name="Equation" r:id="rId23" imgW="1774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6" y="1328"/>
                          <a:ext cx="199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Line 25"/>
            <p:cNvSpPr>
              <a:spLocks noChangeShapeType="1"/>
            </p:cNvSpPr>
            <p:nvPr/>
          </p:nvSpPr>
          <p:spPr bwMode="auto">
            <a:xfrm flipV="1">
              <a:off x="1813" y="1140"/>
              <a:ext cx="0" cy="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 flipH="1" flipV="1">
              <a:off x="1902" y="1140"/>
              <a:ext cx="212" cy="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40"/>
            <p:cNvSpPr>
              <a:spLocks noChangeShapeType="1"/>
            </p:cNvSpPr>
            <p:nvPr/>
          </p:nvSpPr>
          <p:spPr bwMode="auto">
            <a:xfrm flipV="1">
              <a:off x="1222" y="1120"/>
              <a:ext cx="109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41"/>
            <p:cNvSpPr>
              <a:spLocks noChangeShapeType="1"/>
            </p:cNvSpPr>
            <p:nvPr/>
          </p:nvSpPr>
          <p:spPr bwMode="auto">
            <a:xfrm flipH="1" flipV="1">
              <a:off x="1459" y="1114"/>
              <a:ext cx="39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42"/>
            <p:cNvSpPr>
              <a:spLocks noChangeShapeType="1"/>
            </p:cNvSpPr>
            <p:nvPr/>
          </p:nvSpPr>
          <p:spPr bwMode="auto">
            <a:xfrm flipH="1">
              <a:off x="2464" y="538"/>
              <a:ext cx="186" cy="1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43"/>
            <p:cNvSpPr>
              <a:spLocks noChangeShapeType="1"/>
            </p:cNvSpPr>
            <p:nvPr/>
          </p:nvSpPr>
          <p:spPr bwMode="auto">
            <a:xfrm flipV="1">
              <a:off x="3053" y="1120"/>
              <a:ext cx="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45"/>
            <p:cNvSpPr>
              <a:spLocks noChangeShapeType="1"/>
            </p:cNvSpPr>
            <p:nvPr/>
          </p:nvSpPr>
          <p:spPr bwMode="auto">
            <a:xfrm flipH="1" flipV="1">
              <a:off x="3194" y="1120"/>
              <a:ext cx="102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761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76200"/>
                <a:ext cx="8229600" cy="715962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 smtClean="0"/>
                  <a:t>Determination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3200" b="1" i="1" smtClean="0">
                            <a:latin typeface="Cambria Math"/>
                          </a:rPr>
                          <m:t>𝒚</m:t>
                        </m:r>
                      </m:sub>
                    </m:sSub>
                    <m:d>
                      <m:dPr>
                        <m:ctrlPr>
                          <a:rPr lang="en-US" sz="32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76200"/>
                <a:ext cx="8229600" cy="715962"/>
              </a:xfrm>
              <a:blipFill rotWithShape="1">
                <a:blip r:embed="rId2"/>
                <a:stretch>
                  <a:fillRect t="-4274" b="-16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229600" cy="5791200"/>
              </a:xfrm>
            </p:spPr>
            <p:txBody>
              <a:bodyPr>
                <a:normAutofit fontScale="92500"/>
              </a:bodyPr>
              <a:lstStyle/>
              <a:p>
                <a:pPr marL="0" indent="0" algn="just">
                  <a:spcBef>
                    <a:spcPct val="50000"/>
                  </a:spcBef>
                  <a:buNone/>
                </a:pPr>
                <a:r>
                  <a:rPr lang="en-US" altLang="en-US" sz="2000" dirty="0" smtClean="0"/>
                  <a:t>Hence the probability of the event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en-US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𝑦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&lt;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𝒚</m:t>
                        </m:r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+∆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en-US" sz="2000" dirty="0" smtClean="0"/>
                  <a:t> is the sum of the probability of the above three events, i.e.,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&lt;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𝒚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+∆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&lt;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𝒙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+∆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&lt;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𝒙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&lt;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𝒙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+∆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 smtClean="0"/>
                  <a:t>For small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∆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𝑦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∆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∆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∆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 smtClean="0"/>
                  <a:t>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∆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∆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 smtClean="0"/>
                  <a:t> are positive but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∆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 is negative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>
                            <m:f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∆</m:t>
                                  </m:r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den>
                          </m:f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∆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∆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den>
                          </m:f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spcBef>
                    <a:spcPct val="50000"/>
                  </a:spcBef>
                  <a:buNone/>
                </a:pPr>
                <a:r>
                  <a:rPr lang="en-US" altLang="en-US" sz="2000" dirty="0" smtClean="0"/>
                  <a:t>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∆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→0</m:t>
                    </m:r>
                  </m:oMath>
                </a14:m>
                <a:endParaRPr lang="en-US" alt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sz="2000" b="0" i="1" smtClean="0"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𝑑𝑦</m:t>
                                          </m:r>
                                        </m:num>
                                        <m:den>
                                          <m:r>
                                            <a:rPr lang="en-US" sz="20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𝑑𝑥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𝑔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′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den>
                          </m:f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229600" cy="5791200"/>
              </a:xfrm>
              <a:blipFill rotWithShape="1">
                <a:blip r:embed="rId3"/>
                <a:stretch>
                  <a:fillRect l="-667" t="-526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86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792162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𝒚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𝑎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𝒙</m:t>
                      </m:r>
                      <m:r>
                        <a:rPr lang="en-US" b="1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792162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i="1" u="sng" dirty="0" smtClean="0"/>
                  <a:t>Solution: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𝑦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;      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𝑦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; 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buNone/>
                </a:pPr>
                <a:r>
                  <a:rPr lang="en-US" sz="2000" b="1" dirty="0" smtClean="0"/>
                  <a:t>Method-1: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𝑑𝑦</m:t>
                          </m:r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𝑎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𝑦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;      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sz="200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𝑎</m:t>
                                      </m:r>
                                    </m:den>
                                  </m:f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𝑦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; 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buNone/>
                </a:pPr>
                <a:endParaRPr lang="en-US" sz="2000" b="1" dirty="0" smtClean="0"/>
              </a:p>
              <a:p>
                <a:pPr marL="0" indent="0">
                  <a:buNone/>
                </a:pPr>
                <a:r>
                  <a:rPr lang="en-US" sz="2000" b="1" dirty="0" smtClean="0"/>
                  <a:t>Method-2: </a:t>
                </a:r>
                <a:r>
                  <a:rPr lang="en-US" sz="2000" dirty="0" smtClean="0"/>
                  <a:t> Equation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𝒚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sz="2000" dirty="0" smtClean="0"/>
                  <a:t> has a single solution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/>
                              </a:rPr>
                              <m:t>𝒚</m:t>
                            </m:r>
                            <m:r>
                              <a:rPr lang="en-US" sz="2000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/>
                              </a:rPr>
                              <m:t>𝑏</m:t>
                            </m:r>
                          </m:e>
                        </m:d>
                      </m:num>
                      <m:den>
                        <m:r>
                          <a:rPr lang="en-US" sz="2000" b="1" i="1" smtClean="0">
                            <a:latin typeface="Cambria Math"/>
                          </a:rPr>
                          <m:t>𝒂</m:t>
                        </m:r>
                      </m:den>
                    </m:f>
                  </m:oMath>
                </a14:m>
                <a:endParaRPr lang="en-US" sz="2000" b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2000" b="1" dirty="0" smtClean="0"/>
              </a:p>
              <a:p>
                <a:pPr marL="0" indent="0">
                  <a:buNone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  <a:blipFill rotWithShape="1">
                <a:blip r:embed="rId3"/>
                <a:stretch>
                  <a:fillRect l="-741" t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314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Athanasios Papoulis, “Probability, Random Variables, and Stochastic Processes,” 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edition, McGraw Hill Publication.</a:t>
            </a:r>
          </a:p>
        </p:txBody>
      </p:sp>
    </p:spTree>
    <p:extLst>
      <p:ext uri="{BB962C8B-B14F-4D97-AF65-F5344CB8AC3E}">
        <p14:creationId xmlns:p14="http://schemas.microsoft.com/office/powerpoint/2010/main" val="8664214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Lecture-5 (Module-1)  FUNCTIONS OF ONE RANDOM VARIABLE &amp;quot;&quot;/&gt;&lt;property id=&quot;20307&quot; value=&quot;256&quot;/&gt;&lt;/object&gt;&lt;object type=&quot;3&quot; unique_id=&quot;10004&quot;&gt;&lt;property id=&quot;20148&quot; value=&quot;5&quot;/&gt;&lt;property id=&quot;20300&quot; value=&quot;Slide 2 - &amp;quot;FUNCTION OF ONE RANDOM VARIABLE&amp;quot;&quot;/&gt;&lt;property id=&quot;20307&quot; value=&quot;257&quot;/&gt;&lt;/object&gt;&lt;object type=&quot;3&quot; unique_id=&quot;10005&quot;&gt;&lt;property id=&quot;20148&quot; value=&quot;5&quot;/&gt;&lt;property id=&quot;20300&quot; value=&quot;Slide 3 - &amp;quot;Constraint on 𝑔 𝒙 &amp;quot;&quot;/&gt;&lt;property id=&quot;20307&quot; value=&quot;258&quot;/&gt;&lt;/object&gt;&lt;object type=&quot;3&quot; unique_id=&quot;10006&quot;&gt;&lt;property id=&quot;20148&quot; value=&quot;5&quot;/&gt;&lt;property id=&quot;20300&quot; value=&quot;Slide 4 - &amp;quot;𝒚=𝑔 𝒙 =𝑎 𝒙+𝑏&amp;quot;&quot;/&gt;&lt;property id=&quot;20307&quot; value=&quot;259&quot;/&gt;&lt;/object&gt;&lt;object type=&quot;3&quot; unique_id=&quot;10007&quot;&gt;&lt;property id=&quot;20148&quot; value=&quot;5&quot;/&gt;&lt;property id=&quot;20300&quot; value=&quot;Slide 5 - &amp;quot;𝒚=𝑔 𝒙 =  𝒙−𝒄 ;        𝒙&amp;gt;𝑐 0 ;    −𝑐&amp;lt;𝒙≤𝑐 𝒙+𝑐 ;     𝒙≤−𝑐  &amp;quot;&quot;/&gt;&lt;property id=&quot;20307&quot; value=&quot;260&quot;/&gt;&lt;/object&gt;&lt;object type=&quot;3&quot; unique_id=&quot;10008&quot;&gt;&lt;property id=&quot;20148&quot; value=&quot;5&quot;/&gt;&lt;property id=&quot;20300&quot; value=&quot;Slide 6 - &amp;quot;For discrete random variable 𝒙&amp;quot;&quot;/&gt;&lt;property id=&quot;20307&quot; value=&quot;261&quot;/&gt;&lt;/object&gt;&lt;object type=&quot;3&quot; unique_id=&quot;10009&quot;&gt;&lt;property id=&quot;20148&quot; value=&quot;5&quot;/&gt;&lt;property id=&quot;20300&quot; value=&quot;Slide 7 - &amp;quot;Determination of  𝑓 𝒚  𝑦 &amp;quot;&quot;/&gt;&lt;property id=&quot;20307&quot; value=&quot;262&quot;/&gt;&lt;/object&gt;&lt;object type=&quot;3&quot; unique_id=&quot;10010&quot;&gt;&lt;property id=&quot;20148&quot; value=&quot;5&quot;/&gt;&lt;property id=&quot;20300&quot; value=&quot;Slide 8 - &amp;quot;Determination of  𝑓 𝒚  𝑦 &amp;quot;&quot;/&gt;&lt;property id=&quot;20307&quot; value=&quot;263&quot;/&gt;&lt;/object&gt;&lt;object type=&quot;3&quot; unique_id=&quot;10011&quot;&gt;&lt;property id=&quot;20148&quot; value=&quot;5&quot;/&gt;&lt;property id=&quot;20300&quot; value=&quot;Slide 9 - &amp;quot;𝒚=𝑔 𝒙 =𝑎 𝒙+𝑏&amp;quot;&quot;/&gt;&lt;property id=&quot;20307&quot; value=&quot;265&quot;/&gt;&lt;/object&gt;&lt;object type=&quot;3&quot; unique_id=&quot;10012&quot;&gt;&lt;property id=&quot;20148&quot; value=&quot;5&quot;/&gt;&lt;property id=&quot;20300&quot; value=&quot;Slide 10 - &amp;quot;Reference&amp;quot;&quot;/&gt;&lt;property id=&quot;20307&quot; value=&quot;266&quot;/&gt;&lt;/object&gt;&lt;/object&gt;&lt;object type=&quot;8&quot; unique_id=&quot;10024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1393</Words>
  <Application>Microsoft Office PowerPoint</Application>
  <PresentationFormat>On-screen Show (4:3)</PresentationFormat>
  <Paragraphs>77</Paragraphs>
  <Slides>10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Equation</vt:lpstr>
      <vt:lpstr>Lecture-5 (Module-1)  FUNCTIONS OF ONE RANDOM VARIABLE </vt:lpstr>
      <vt:lpstr>FUNCTION OF ONE RANDOM VARIABLE</vt:lpstr>
      <vt:lpstr>Constraint on g(x)</vt:lpstr>
      <vt:lpstr>y=g(x)=a x+b</vt:lpstr>
      <vt:lpstr>y=g(x)={■8(x-c ;        x&gt;c@0 ;    -c&lt;x≤c@x+c ;     x≤-c)┤</vt:lpstr>
      <vt:lpstr>For discrete random variable x</vt:lpstr>
      <vt:lpstr>Determination of f_y (y)</vt:lpstr>
      <vt:lpstr>Determination of f_y (y)</vt:lpstr>
      <vt:lpstr>y=g(x)=a x+b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Lecture-5  FUNCTIONS OF ONE RANDOM VARIABLE</dc:title>
  <dc:creator>ashutosh</dc:creator>
  <cp:lastModifiedBy>ashutosh</cp:lastModifiedBy>
  <cp:revision>25</cp:revision>
  <dcterms:created xsi:type="dcterms:W3CDTF">2020-06-13T16:57:58Z</dcterms:created>
  <dcterms:modified xsi:type="dcterms:W3CDTF">2020-06-30T15:00:30Z</dcterms:modified>
</cp:coreProperties>
</file>