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74" r:id="rId4"/>
    <p:sldId id="267" r:id="rId5"/>
    <p:sldId id="268" r:id="rId6"/>
    <p:sldId id="269" r:id="rId7"/>
    <p:sldId id="270" r:id="rId8"/>
    <p:sldId id="272" r:id="rId9"/>
    <p:sldId id="271" r:id="rId10"/>
    <p:sldId id="273" r:id="rId11"/>
    <p:sldId id="266" r:id="rId12"/>
  </p:sldIdLst>
  <p:sldSz cx="9144000" cy="6858000" type="screen4x3"/>
  <p:notesSz cx="6858000" cy="9144000"/>
  <p:custDataLst>
    <p:tags r:id="rId1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53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42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3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786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35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827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3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56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68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57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33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39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42BD3F-C398-4571-8FDB-3AB512FB80C5}" type="datetimeFigureOut">
              <a:rPr lang="en-US" smtClean="0"/>
              <a:t>7/12/2020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ECD82-C35E-4ACD-8F50-982B9EF8D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10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Lecture-4 </a:t>
            </a:r>
            <a:r>
              <a:rPr lang="en-US" dirty="0" smtClean="0"/>
              <a:t>Module-3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534400" cy="1752600"/>
          </a:xfrm>
        </p:spPr>
        <p:txBody>
          <a:bodyPr>
            <a:normAutofit/>
          </a:bodyPr>
          <a:lstStyle/>
          <a:p>
            <a:r>
              <a:rPr lang="en-US" sz="4800" b="1" dirty="0"/>
              <a:t>LTI Systems with Random Inputs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96562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Systems with Stochastic Inputs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If each sample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0" i="1" dirty="0">
                            <a:latin typeface="Cambria Math"/>
                          </a:rPr>
                          <m:t>𝑡</m:t>
                        </m:r>
                        <m:r>
                          <a:rPr lang="en-US" sz="2000" b="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of a stochastic process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 is assigned some function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𝑌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according to some rule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/>
                          </a:rPr>
                        </m:ctrlPr>
                      </m:dPr>
                      <m:e/>
                    </m:d>
                  </m:oMath>
                </a14:m>
                <a:r>
                  <a:rPr lang="en-US" sz="2000" dirty="0" smtClean="0"/>
                  <a:t>, then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𝑌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sz="2000" dirty="0" smtClean="0"/>
                  <a:t> will be another stochastic process, given as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/>
                        </a:rPr>
                        <m:t>𝑌</m:t>
                      </m:r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System is deterministic if it operates only on variable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 treating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/>
                      <m:t>ξ</m:t>
                    </m:r>
                  </m:oMath>
                </a14:m>
                <a:r>
                  <a:rPr lang="en-US" sz="2000" dirty="0" smtClean="0"/>
                  <a:t> as parameter i.e.</a:t>
                </a:r>
              </a:p>
              <a:p>
                <a:pPr marL="0" indent="0" algn="just">
                  <a:buNone/>
                </a:pPr>
                <a:r>
                  <a:rPr lang="en-US" sz="2000" dirty="0" smtClean="0"/>
                  <a:t>If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𝑖</m:t>
                    </m:r>
                    <m:r>
                      <a:rPr lang="en-US" sz="2000" i="1" dirty="0" smtClean="0">
                        <a:latin typeface="Cambria Math"/>
                      </a:rPr>
                      <m:t>/</m:t>
                    </m:r>
                    <m:r>
                      <a:rPr lang="en-US" sz="20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 smtClean="0"/>
                  <a:t> are identical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𝑜</m:t>
                    </m:r>
                    <m:r>
                      <a:rPr lang="en-US" sz="2000" i="1" dirty="0" smtClean="0">
                        <a:latin typeface="Cambria Math"/>
                      </a:rPr>
                      <m:t>/</m:t>
                    </m:r>
                    <m:r>
                      <a:rPr lang="en-US" sz="2000" i="1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 smtClean="0"/>
                  <a:t> are also identical.</a:t>
                </a:r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/>
                  <a:t>System is </a:t>
                </a:r>
                <a:r>
                  <a:rPr lang="en-US" sz="2000" dirty="0" smtClean="0"/>
                  <a:t>stochastic </a:t>
                </a:r>
                <a:r>
                  <a:rPr lang="en-US" sz="2000" dirty="0"/>
                  <a:t>if it operates </a:t>
                </a:r>
                <a:r>
                  <a:rPr lang="en-US" sz="2000" dirty="0" smtClean="0"/>
                  <a:t>on both variables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 sz="2000" dirty="0"/>
                      <m:t>ξ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i.e</a:t>
                </a:r>
                <a:r>
                  <a:rPr lang="en-US" sz="2000" dirty="0"/>
                  <a:t>.</a:t>
                </a:r>
              </a:p>
              <a:p>
                <a:pPr marL="0" indent="0" algn="just">
                  <a:buNone/>
                </a:pPr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 smtClean="0"/>
                  <a:t>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𝑖</m:t>
                    </m:r>
                    <m:r>
                      <a:rPr lang="en-US" sz="2000" i="1" dirty="0">
                        <a:latin typeface="Cambria Math"/>
                      </a:rPr>
                      <m:t>/</m:t>
                    </m:r>
                    <m:r>
                      <a:rPr lang="en-US" sz="2000" i="1" dirty="0"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/>
                  <a:t> are </a:t>
                </a:r>
                <a:r>
                  <a:rPr lang="en-US" sz="2000" dirty="0" smtClean="0"/>
                  <a:t>identical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i="1" dirty="0" smtClean="0">
                        <a:latin typeface="Cambria Math"/>
                        <a:ea typeface="Cambria Math"/>
                      </a:rPr>
                      <m:t>≠</m:t>
                    </m:r>
                    <m:r>
                      <a:rPr lang="en-US" sz="2000" i="1" dirty="0">
                        <a:latin typeface="Cambria Math"/>
                      </a:rPr>
                      <m:t>𝑦</m:t>
                    </m:r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 dirty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000" dirty="0"/>
                              <m:t>ξ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dirty="0" smtClean="0"/>
                  <a:t>at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𝑜</m:t>
                    </m:r>
                    <m:r>
                      <a:rPr lang="en-US" sz="2000" i="1" dirty="0">
                        <a:latin typeface="Cambria Math"/>
                      </a:rPr>
                      <m:t>/</m:t>
                    </m:r>
                    <m:r>
                      <a:rPr lang="en-US" sz="2000" i="1" dirty="0">
                        <a:latin typeface="Cambria Math"/>
                      </a:rPr>
                      <m:t>𝑝</m:t>
                    </m:r>
                  </m:oMath>
                </a14:m>
                <a:r>
                  <a:rPr lang="en-US" sz="2000" dirty="0" smtClean="0"/>
                  <a:t>.</a:t>
                </a: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2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884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Linear </a:t>
            </a:r>
            <a:r>
              <a:rPr lang="en-US" b="1" dirty="0"/>
              <a:t>Time-Invariant (LTI) </a:t>
            </a:r>
            <a:r>
              <a:rPr lang="en-US" b="1" dirty="0" smtClean="0"/>
              <a:t>Systems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 lnSpcReduction="10000"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b="1" dirty="0" smtClean="0"/>
                  <a:t>Linear time-invariant systems (LTI systems)</a:t>
                </a:r>
                <a:r>
                  <a:rPr lang="en-US" sz="2000" dirty="0"/>
                  <a:t> are a class of systems used in signals and systems that are both linear and time-invariant. </a:t>
                </a:r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i="1" dirty="0" smtClean="0">
                    <a:solidFill>
                      <a:srgbClr val="FF0000"/>
                    </a:solidFill>
                  </a:rPr>
                  <a:t>Linear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systems are systems whose outputs for a linear combination of inputs are the same as a linear combination of individual responses to those inputs</a:t>
                </a:r>
                <a:r>
                  <a:rPr lang="en-US" sz="2000" dirty="0" smtClean="0"/>
                  <a:t>. </a:t>
                </a:r>
                <a:r>
                  <a:rPr lang="en-US" sz="2000" dirty="0"/>
                  <a:t>In other words, for a system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</m:t>
                    </m:r>
                  </m:oMath>
                </a14:m>
                <a:r>
                  <a:rPr lang="en-US" sz="2000" dirty="0"/>
                  <a:t> over time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</m:oMath>
                </a14:m>
                <a:r>
                  <a:rPr lang="en-US" sz="2000" dirty="0"/>
                  <a:t>, composed of signals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and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𝑋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 </m:t>
                    </m:r>
                  </m:oMath>
                </a14:m>
                <a:r>
                  <a:rPr lang="en-US" sz="2000" dirty="0"/>
                  <a:t> with outputs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and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𝑌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dirty="0" smtClean="0"/>
                  <a:t> </a:t>
                </a:r>
              </a:p>
              <a:p>
                <a:pPr marL="0" indent="0" algn="just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(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sz="2000" b="0" i="0" dirty="0" smtClean="0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 dirty="0"/>
                            <m:t> 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(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(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𝑇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(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)</m:t>
                          </m:r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r>
                        <a:rPr lang="en-US" sz="2000" i="1" dirty="0">
                          <a:latin typeface="Cambria Math"/>
                        </a:rPr>
                        <m:t>𝑡</m:t>
                      </m:r>
                      <m:r>
                        <a:rPr lang="en-US" sz="2000" i="1" dirty="0">
                          <a:latin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000" dirty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dirty="0"/>
                        <m:t> 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𝑌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r>
                        <a:rPr lang="en-US" sz="2000" i="1" dirty="0">
                          <a:latin typeface="Cambria Math"/>
                        </a:rPr>
                        <m:t>𝑡</m:t>
                      </m:r>
                      <m:r>
                        <a:rPr lang="en-US" sz="2000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i="1" dirty="0" smtClean="0">
                    <a:solidFill>
                      <a:srgbClr val="FF0000"/>
                    </a:solidFill>
                  </a:rPr>
                  <a:t>Time-invariant</a:t>
                </a:r>
                <a:r>
                  <a:rPr lang="en-US" sz="2000" dirty="0" smtClean="0"/>
                  <a:t> </a:t>
                </a:r>
                <a:r>
                  <a:rPr lang="en-US" sz="2000" dirty="0"/>
                  <a:t>systems are systems where the output does not depend on </a:t>
                </a:r>
                <a:r>
                  <a:rPr lang="en-US" sz="2000" i="1" dirty="0"/>
                  <a:t>when</a:t>
                </a:r>
                <a:r>
                  <a:rPr lang="en-US" sz="2000" dirty="0"/>
                  <a:t> an input was </a:t>
                </a:r>
                <a:r>
                  <a:rPr lang="en-US" sz="2000" dirty="0" smtClean="0"/>
                  <a:t>applied i.e.</a:t>
                </a:r>
              </a:p>
              <a:p>
                <a:pPr marL="0" indent="0" algn="just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𝑋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𝑌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     ⇒     </m:t>
                      </m:r>
                      <m:r>
                        <a:rPr lang="en-US" sz="2000" b="0" i="1" smtClean="0">
                          <a:latin typeface="Cambria Math"/>
                        </a:rPr>
                        <m:t>𝑋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2000" i="1">
                          <a:latin typeface="Cambria Math"/>
                          <a:ea typeface="Cambria Math"/>
                        </a:rPr>
                        <m:t>→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𝑌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sz="20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𝜏</m:t>
                    </m:r>
                  </m:oMath>
                </a14:m>
                <a:r>
                  <a:rPr lang="en-US" sz="2000" dirty="0" smtClean="0"/>
                  <a:t> is some delay.</a:t>
                </a:r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2"/>
                <a:stretch>
                  <a:fillRect l="-741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144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Linear </a:t>
            </a:r>
            <a:r>
              <a:rPr lang="en-US" b="1" dirty="0"/>
              <a:t>Time-Invariant (LTI) </a:t>
            </a:r>
            <a:r>
              <a:rPr lang="en-US" b="1" dirty="0" smtClean="0"/>
              <a:t>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𝑌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)=</m:t>
                    </m:r>
                    <m:nary>
                      <m:naryPr>
                        <m:limLoc m:val="undOvr"/>
                        <m:ctrlPr>
                          <a:rPr lang="en-US" sz="2000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000" b="0" i="1" dirty="0" smtClean="0">
                            <a:latin typeface="Cambria Math"/>
                          </a:rPr>
                          <m:t>−</m:t>
                        </m:r>
                        <m:r>
                          <a:rPr lang="en-US" sz="2000" b="0" i="1" dirty="0" smtClean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n-US" sz="2000" i="1" dirty="0" smtClean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sz="2000" i="1" dirty="0">
                            <a:latin typeface="Cambria Math"/>
                          </a:rPr>
                          <m:t>h</m:t>
                        </m:r>
                        <m:r>
                          <a:rPr lang="en-US" sz="2000" i="1" dirty="0">
                            <a:latin typeface="Cambria Math"/>
                          </a:rPr>
                          <m:t>(</m:t>
                        </m:r>
                        <m:r>
                          <a:rPr lang="el-GR" sz="2000" i="1" dirty="0">
                            <a:latin typeface="Cambria Math"/>
                          </a:rPr>
                          <m:t>𝛼</m:t>
                        </m:r>
                        <m:r>
                          <a:rPr lang="el-GR" sz="2000" i="1" dirty="0">
                            <a:latin typeface="Cambria Math"/>
                          </a:rPr>
                          <m:t>)</m:t>
                        </m:r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  <m:r>
                          <a:rPr lang="en-US" sz="2000" i="1" dirty="0">
                            <a:latin typeface="Cambria Math"/>
                          </a:rPr>
                          <m:t>(</m:t>
                        </m:r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−</m:t>
                        </m:r>
                        <m:r>
                          <a:rPr lang="el-GR" sz="2000" i="1" dirty="0">
                            <a:latin typeface="Cambria Math"/>
                          </a:rPr>
                          <m:t>𝛼</m:t>
                        </m:r>
                        <m:r>
                          <a:rPr lang="el-GR" sz="2000" i="1" dirty="0">
                            <a:latin typeface="Cambria Math"/>
                          </a:rPr>
                          <m:t>)</m:t>
                        </m:r>
                        <m:r>
                          <a:rPr lang="en-US" sz="2000" i="1" dirty="0">
                            <a:latin typeface="Cambria Math"/>
                          </a:rPr>
                          <m:t>𝑑</m:t>
                        </m:r>
                        <m:r>
                          <a:rPr lang="el-GR" sz="2000" i="1" dirty="0">
                            <a:latin typeface="Cambria Math"/>
                          </a:rPr>
                          <m:t>𝛼</m:t>
                        </m:r>
                      </m:e>
                    </m:nary>
                    <m:r>
                      <a:rPr lang="el-GR" sz="2000" i="1" dirty="0">
                        <a:latin typeface="Cambria Math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2000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000" i="1" dirty="0">
                            <a:latin typeface="Cambria Math"/>
                          </a:rPr>
                          <m:t>−</m:t>
                        </m:r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  <m:r>
                          <a:rPr lang="en-US" sz="2000" i="1" dirty="0">
                            <a:latin typeface="Cambria Math"/>
                          </a:rPr>
                          <m:t>(</m:t>
                        </m:r>
                        <m:r>
                          <a:rPr lang="el-GR" sz="2000" i="1" dirty="0">
                            <a:latin typeface="Cambria Math"/>
                          </a:rPr>
                          <m:t>𝛼</m:t>
                        </m:r>
                        <m:r>
                          <a:rPr lang="el-GR" sz="2000" i="1" dirty="0">
                            <a:latin typeface="Cambria Math"/>
                          </a:rPr>
                          <m:t>)</m:t>
                        </m:r>
                        <m:r>
                          <a:rPr lang="en-US" sz="2000" i="1" dirty="0">
                            <a:latin typeface="Cambria Math"/>
                          </a:rPr>
                          <m:t>h</m:t>
                        </m:r>
                        <m:r>
                          <a:rPr lang="en-US" sz="2000" i="1" dirty="0">
                            <a:latin typeface="Cambria Math"/>
                          </a:rPr>
                          <m:t>(</m:t>
                        </m:r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  <m:r>
                          <a:rPr lang="en-US" sz="2000" i="1" dirty="0">
                            <a:latin typeface="Cambria Math"/>
                          </a:rPr>
                          <m:t>−</m:t>
                        </m:r>
                        <m:r>
                          <a:rPr lang="el-GR" sz="2000" i="1" dirty="0">
                            <a:latin typeface="Cambria Math"/>
                          </a:rPr>
                          <m:t>𝛼</m:t>
                        </m:r>
                        <m:r>
                          <a:rPr lang="el-GR" sz="2000" i="1" dirty="0">
                            <a:latin typeface="Cambria Math"/>
                          </a:rPr>
                          <m:t>)</m:t>
                        </m:r>
                        <m:r>
                          <a:rPr lang="en-US" sz="2000" i="1" dirty="0">
                            <a:latin typeface="Cambria Math"/>
                          </a:rPr>
                          <m:t>𝑑</m:t>
                        </m:r>
                        <m:r>
                          <a:rPr lang="el-GR" sz="2000" i="1" dirty="0">
                            <a:latin typeface="Cambria Math"/>
                          </a:rPr>
                          <m:t>𝛼</m:t>
                        </m:r>
                      </m:e>
                    </m:nary>
                  </m:oMath>
                </a14:m>
                <a:r>
                  <a:rPr lang="el-GR" sz="2000" dirty="0"/>
                  <a:t>.</a:t>
                </a:r>
                <a:br>
                  <a:rPr lang="el-GR" sz="2000" dirty="0"/>
                </a:br>
                <a:endParaRPr lang="en-US" sz="200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𝑌</m:t>
                      </m:r>
                      <m:d>
                        <m:d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b="0" i="1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∗</m:t>
                      </m:r>
                      <m:r>
                        <a:rPr lang="en-US" sz="1800" b="0" i="1" smtClean="0">
                          <a:latin typeface="Cambria Math"/>
                        </a:rPr>
                        <m:t>𝑋</m:t>
                      </m:r>
                      <m:d>
                        <m:d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𝑋</m:t>
                      </m:r>
                      <m:d>
                        <m:dPr>
                          <m:ctrlPr>
                            <a:rPr lang="en-US" sz="1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i="1" smtClean="0">
                          <a:latin typeface="Cambria Math"/>
                          <a:ea typeface="Cambria Math"/>
                        </a:rPr>
                        <m:t>∗</m:t>
                      </m:r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h</m:t>
                      </m:r>
                      <m:d>
                        <m:dPr>
                          <m:ctrlPr>
                            <a:rPr lang="en-US" sz="18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e>
                      </m:d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b="0" i="1" smtClean="0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𝑘</m:t>
                          </m:r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1800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800" i="1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800" i="1">
                              <a:latin typeface="Cambria Math"/>
                              <a:ea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800" i="1">
                              <a:latin typeface="Cambria Math"/>
                              <a:ea typeface="Cambria Math"/>
                            </a:rPr>
                            <m:t>𝑘</m:t>
                          </m:r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n-US" sz="1800" i="1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1800" b="0" i="1" smtClean="0">
                              <a:latin typeface="Cambria Math"/>
                            </a:rPr>
                            <m:t>𝑋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3" y="990600"/>
            <a:ext cx="5705475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798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11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Mean of output of LTI Systems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dirty="0" smtClean="0"/>
                  <a:t>Consider an LTI system with impulse response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h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. </a:t>
                </a:r>
                <a:r>
                  <a:rPr lang="en-US" sz="2000" dirty="0"/>
                  <a:t>Let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𝑋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be a WSS random process. If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𝑋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is the input of the system, then the output, 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𝑌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smtClean="0">
                        <a:latin typeface="Cambria Math"/>
                      </a:rPr>
                      <m:t>𝑡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 smtClean="0"/>
                  <a:t>, </a:t>
                </a:r>
                <a:r>
                  <a:rPr lang="en-US" sz="2000" dirty="0"/>
                  <a:t>is also a random process.</a:t>
                </a:r>
                <a:endParaRPr lang="en-US" sz="20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𝑌</m:t>
                      </m:r>
                      <m:r>
                        <a:rPr lang="en-US" sz="2000" i="1" dirty="0">
                          <a:latin typeface="Cambria Math"/>
                        </a:rPr>
                        <m:t>(</m:t>
                      </m:r>
                      <m:r>
                        <a:rPr lang="en-US" sz="2000" i="1" dirty="0">
                          <a:latin typeface="Cambria Math"/>
                        </a:rPr>
                        <m:t>𝑡</m:t>
                      </m:r>
                      <m:r>
                        <a:rPr lang="en-US" sz="2000" i="1" dirty="0">
                          <a:latin typeface="Cambria Math"/>
                        </a:rPr>
                        <m:t>)=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h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(</m:t>
                          </m:r>
                          <m:r>
                            <a:rPr lang="el-GR" sz="2000" i="1" dirty="0">
                              <a:latin typeface="Cambria Math"/>
                            </a:rPr>
                            <m:t>𝛼</m:t>
                          </m:r>
                          <m:r>
                            <a:rPr lang="el-GR" sz="2000" i="1" dirty="0">
                              <a:latin typeface="Cambria Math"/>
                            </a:rPr>
                            <m:t>)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(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𝑡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l-GR" sz="2000" i="1" dirty="0">
                              <a:latin typeface="Cambria Math"/>
                            </a:rPr>
                            <m:t>𝛼</m:t>
                          </m:r>
                          <m:r>
                            <a:rPr lang="el-GR" sz="2000" i="1" dirty="0">
                              <a:latin typeface="Cambria Math"/>
                            </a:rPr>
                            <m:t>)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r>
                            <a:rPr lang="el-GR" sz="2000" i="1" dirty="0">
                              <a:latin typeface="Cambria Math"/>
                            </a:rPr>
                            <m:t>𝛼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</m:nary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r>
                            <a:rPr lang="el-GR" sz="2000" i="1" dirty="0">
                              <a:latin typeface="Cambria Math"/>
                            </a:rPr>
                            <m:t>𝛼</m:t>
                          </m:r>
                        </m:e>
                      </m:nary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r>
                            <a:rPr lang="el-GR" sz="2000" i="1" dirty="0">
                              <a:latin typeface="Cambria Math"/>
                            </a:rPr>
                            <m:t>𝛼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r>
                  <a:rPr lang="en-US" sz="2000" dirty="0" smtClean="0"/>
                  <a:t>So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r>
                            <a:rPr lang="el-GR" sz="2000" i="1" dirty="0">
                              <a:latin typeface="Cambria Math"/>
                            </a:rPr>
                            <m:t>𝛼</m:t>
                          </m:r>
                        </m:e>
                      </m:nary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 </m:t>
                      </m:r>
                      <m:r>
                        <a:rPr lang="en-US" sz="2000" b="0" i="1" smtClean="0">
                          <a:latin typeface="Cambria Math"/>
                        </a:rPr>
                        <m:t>𝐻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sz="2000" dirty="0" smtClean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ctr">
                  <a:buNone/>
                </a:pPr>
                <a:endParaRPr lang="en-US" sz="2000" i="1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229600" cy="5486400"/>
              </a:xfrm>
              <a:blipFill rotWithShape="1">
                <a:blip r:embed="rId2"/>
                <a:stretch>
                  <a:fillRect l="-741" t="-556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543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11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Cross-correlation Function of output of LTI Systems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6019800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i="1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b="0" i="1" dirty="0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r>
                        <a:rPr lang="en-US" sz="2000" b="0" i="1" dirty="0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h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l-GR" sz="2000" i="1" dirty="0">
                              <a:latin typeface="Cambria Math"/>
                            </a:rPr>
                            <m:t>)</m:t>
                          </m:r>
                          <m:r>
                            <a:rPr lang="en-US" sz="200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dirty="0" smtClean="0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</m:e>
                          </m:d>
                          <m:r>
                            <a:rPr lang="en-US" sz="200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h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l-GR" sz="2000" i="1" dirty="0">
                              <a:latin typeface="Cambria Math"/>
                            </a:rPr>
                            <m:t>)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:r>
                  <a:rPr lang="en-US" sz="2000" dirty="0" smtClean="0"/>
                  <a:t>Since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𝑋</m:t>
                    </m:r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latin typeface="Cambria Math"/>
                      </a:rPr>
                      <m:t>𝑡</m:t>
                    </m:r>
                    <m:r>
                      <a:rPr lang="en-US" sz="20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 be a WSS random </a:t>
                </a:r>
                <a:r>
                  <a:rPr lang="en-US" sz="2000" dirty="0" smtClean="0"/>
                  <a:t>process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𝜏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𝜏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000" b="0" i="1" dirty="0" smtClean="0">
                                      <a:latin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b="0" i="1" dirty="0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r>
                        <a:rPr lang="en-US" sz="2000" b="0" i="1" dirty="0" smtClean="0">
                          <a:latin typeface="Cambria Math"/>
                        </a:rPr>
                        <m:t>𝑐𝑜𝑛𝑡𝑎𝑛𝑡</m:t>
                      </m:r>
                    </m:oMath>
                  </m:oMathPara>
                </a14:m>
                <a:endParaRPr lang="en-US" sz="2000" i="1" dirty="0">
                  <a:latin typeface="Cambria Math"/>
                </a:endParaRPr>
              </a:p>
              <a:p>
                <a:pPr marL="0" indent="0" algn="just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 smtClean="0"/>
              </a:p>
              <a:p>
                <a:pPr marL="0" indent="0" algn="ctr">
                  <a:buNone/>
                </a:pPr>
                <a:endParaRPr lang="en-US" sz="2000" i="1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6019800"/>
              </a:xfrm>
              <a:blipFill rotWithShape="1"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6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11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Power Spectral Density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5867400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l-GR" sz="2000" i="1" dirty="0">
                                  <a:latin typeface="Cambria Math"/>
                                </a:rPr>
                                <m:t>)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i="1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h</m:t>
                      </m:r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dirty="0" smtClean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b="0" i="1" dirty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b="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000" b="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sz="2000" b="0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000" i="1" dirty="0" smtClean="0">
                                      <a:latin typeface="Cambria Math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limLoc m:val="undOvr"/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4"/>
                                        </m:rPr>
                                        <a:rPr lang="en-US" sz="2000" i="1" dirty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i="1" dirty="0">
                                          <a:latin typeface="Cambria Math"/>
                                          <a:ea typeface="Cambria Math"/>
                                        </a:rPr>
                                        <m:t>∞</m:t>
                                      </m:r>
                                    </m:sub>
                                    <m:sup>
                                      <m:r>
                                        <a:rPr lang="en-US" sz="2000" i="1" dirty="0">
                                          <a:latin typeface="Cambria Math"/>
                                          <a:ea typeface="Cambria Math"/>
                                        </a:rPr>
                                        <m:t>∞</m:t>
                                      </m:r>
                                    </m:sup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𝐻</m:t>
                                      </m:r>
                                      <m:d>
                                        <m:dPr>
                                          <m:ctrlPr>
                                            <a:rPr lang="en-US" sz="2000" i="1" dirty="0">
                                              <a:latin typeface="Cambria Math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𝑓</m:t>
                                          </m:r>
                                        </m:e>
                                      </m:d>
                                      <m:sSup>
                                        <m:sSupPr>
                                          <m:ctrlPr>
                                            <a:rPr lang="en-US" sz="2000" i="1" dirty="0">
                                              <a:latin typeface="Cambria Math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  <m:r>
                                            <a:rPr lang="en-US" sz="2000" i="1" dirty="0">
                                              <a:latin typeface="Cambria Math"/>
                                              <a:ea typeface="Cambria Math"/>
                                            </a:rPr>
                                            <m:t>𝜋</m:t>
                                          </m:r>
                                          <m:r>
                                            <a:rPr lang="en-US" sz="2000" i="1" dirty="0">
                                              <a:latin typeface="Cambria Math"/>
                                              <a:ea typeface="Cambria Math"/>
                                            </a:rPr>
                                            <m:t>𝑓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 dirty="0">
                                                  <a:latin typeface="Cambria Math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l-GR" sz="2000" i="1" dirty="0">
                                                  <a:latin typeface="Cambria Math"/>
                                                </a:rPr>
                                                <m:t>𝛼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 dirty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sup>
                                      </m:sSup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 </m:t>
                                      </m:r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𝑑𝑓</m:t>
                                      </m:r>
                                    </m:e>
                                  </m:nary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𝑑𝑓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nary>
                                <m:naryPr>
                                  <m:limLoc m:val="undOvr"/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2000" i="1" dirty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sz="2000" i="1" dirty="0">
                                              <a:latin typeface="Cambria Math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sz="2000" i="1" dirty="0">
                                              <a:latin typeface="Cambria Math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𝑗</m:t>
                                      </m:r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en-US" sz="2000" i="1" dirty="0">
                                          <a:latin typeface="Cambria Math"/>
                                          <a:ea typeface="Cambria Math"/>
                                        </a:rPr>
                                        <m:t>𝜋</m:t>
                                      </m:r>
                                      <m:r>
                                        <a:rPr lang="en-US" sz="2000" i="1" dirty="0">
                                          <a:latin typeface="Cambria Math"/>
                                          <a:ea typeface="Cambria Math"/>
                                        </a:rPr>
                                        <m:t>𝑓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 dirty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l-GR" sz="2000" i="1" dirty="0">
                                              <a:latin typeface="Cambria Math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sz="2000" i="1" dirty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nary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l-GR" sz="2000" i="1" dirty="0">
                                  <a:latin typeface="Cambria Math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dirty="0" smtClean="0">
                    <a:latin typeface="Cambria Math"/>
                  </a:rPr>
                  <a:t>Substituting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l-GR" sz="2000" i="1" dirty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l-GR" sz="2000" i="1" dirty="0">
                            <a:latin typeface="Cambria Math"/>
                          </a:rPr>
                          <m:t>𝛼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=</m:t>
                    </m:r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endParaRPr lang="en-US" sz="2000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𝑑𝑓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𝐻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𝑓</m:t>
                              </m:r>
                            </m:e>
                          </m:d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l-GR" sz="2000" i="1" dirty="0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i="1" dirty="0">
                                  <a:latin typeface="Cambria Math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𝑓</m:t>
                                  </m:r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l-GR" sz="2000" i="1" dirty="0">
                                          <a:latin typeface="Cambria Math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000" b="0" i="1" dirty="0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  <m:nary>
                                <m:naryPr>
                                  <m:limLoc m:val="undOvr"/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4"/>
                                    </m:rPr>
                                    <a:rPr lang="en-US" sz="2000" i="1" dirty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 dirty="0" smtClean="0">
                                          <a:latin typeface="Cambria Math"/>
                                          <a:ea typeface="Cambria Math"/>
                                        </a:rPr>
                                        <m:t>𝛼</m:t>
                                      </m:r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𝑗</m:t>
                                      </m:r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2</m:t>
                                      </m:r>
                                      <m:r>
                                        <a:rPr lang="en-US" sz="2000" i="1" dirty="0">
                                          <a:latin typeface="Cambria Math"/>
                                          <a:ea typeface="Cambria Math"/>
                                        </a:rPr>
                                        <m:t>𝜋</m:t>
                                      </m:r>
                                      <m:r>
                                        <a:rPr lang="en-US" sz="2000" i="1" dirty="0">
                                          <a:latin typeface="Cambria Math"/>
                                          <a:ea typeface="Cambria Math"/>
                                        </a:rPr>
                                        <m:t>𝑓</m:t>
                                      </m:r>
                                      <m:r>
                                        <a:rPr lang="en-US" sz="2000" i="1" dirty="0" smtClean="0">
                                          <a:latin typeface="Cambria Math"/>
                                          <a:ea typeface="Cambria Math"/>
                                        </a:rPr>
                                        <m:t>𝛼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</m:t>
                          </m:r>
                          <m:r>
                            <a:rPr lang="en-US" sz="2000" i="1" dirty="0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</m:nary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𝑑𝑓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dirty="0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𝑓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 algn="ctr">
                  <a:buNone/>
                </a:pPr>
                <a:endParaRPr lang="en-US" sz="2000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5867400"/>
              </a:xfrm>
              <a:blipFill rotWithShape="1"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596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11162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Power Spectral Density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762000"/>
                <a:ext cx="8229600" cy="579120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sz="2000" i="1" dirty="0">
                              <a:latin typeface="Cambria Math"/>
                            </a:rPr>
                            <m:t>𝑑𝑓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 dirty="0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dirty="0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𝑗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𝑓</m:t>
                                  </m:r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𝛼</m:t>
                                  </m:r>
                                </m:sup>
                              </m:sSup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𝑑</m:t>
                              </m:r>
                              <m:r>
                                <a:rPr lang="en-US" sz="2000" b="0" i="1" dirty="0" smtClean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dirty="0" smtClean="0">
                    <a:latin typeface="Cambria Math"/>
                  </a:rPr>
                  <a:t>Let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sup>
                          </m:s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𝛼</m:t>
                          </m:r>
                        </m:e>
                      </m:nary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𝑌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 dirty="0">
                                          <a:latin typeface="Cambria Math"/>
                                        </a:rPr>
                                        <m:t>𝑓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dirty="0" smtClean="0">
                              <a:latin typeface="Cambria Math"/>
                            </a:rPr>
                            <m:t> 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𝑑𝑓</m:t>
                          </m:r>
                        </m:e>
                      </m:nary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𝑌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𝒀</m:t>
                          </m:r>
                        </m:sub>
                      </m:sSub>
                      <m:d>
                        <m:d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𝒇</m:t>
                          </m:r>
                        </m:e>
                      </m:d>
                      <m:r>
                        <a:rPr lang="en-US" sz="2000" b="1" i="1" dirty="0" smtClean="0">
                          <a:solidFill>
                            <a:srgbClr val="FF0000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𝑺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𝒇</m:t>
                          </m:r>
                        </m:e>
                      </m:d>
                      <m:sSup>
                        <m:sSupPr>
                          <m:ctrlP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b="1" i="1" dirty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𝑯</m:t>
                              </m:r>
                              <m:d>
                                <m:dPr>
                                  <m:ctrlPr>
                                    <a:rPr lang="en-US" sz="2000" b="1" i="1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1" dirty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𝒇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1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000" b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i="1" dirty="0" smtClean="0">
                    <a:latin typeface="Cambria Math"/>
                  </a:rPr>
                  <a:t>Einstein-Wiener-Khintchine relation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2000" i="1" dirty="0" smtClean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2000" i="1" dirty="0" smtClean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 algn="ctr">
                  <a:buNone/>
                </a:pPr>
                <a:endParaRPr lang="en-US" sz="2000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762000"/>
                <a:ext cx="8229600" cy="5791200"/>
              </a:xfrm>
              <a:blipFill rotWithShape="1"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1133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11162"/>
          </a:xfrm>
        </p:spPr>
        <p:txBody>
          <a:bodyPr>
            <a:noAutofit/>
          </a:bodyPr>
          <a:lstStyle/>
          <a:p>
            <a:r>
              <a:rPr lang="en-US" sz="3200" b="1" dirty="0"/>
              <a:t>Properties of </a:t>
            </a:r>
            <a:r>
              <a:rPr lang="en-US" sz="3200" b="1" dirty="0" smtClean="0"/>
              <a:t>Power Spectral Density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562600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en-US" sz="2000" b="1" i="1" dirty="0" smtClean="0"/>
                  <a:t>Property-1</a:t>
                </a:r>
                <a:r>
                  <a:rPr lang="en-US" sz="2000" dirty="0" smtClean="0"/>
                  <a:t>: The zero-frequency value of PSD of a stationary process equals the total area under the graph of auto-correlation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i="1" dirty="0" smtClean="0"/>
                  <a:t>Property-2</a:t>
                </a:r>
                <a:r>
                  <a:rPr lang="en-US" sz="2000" dirty="0" smtClean="0"/>
                  <a:t>: </a:t>
                </a:r>
                <a:r>
                  <a:rPr lang="en-US" sz="2000" dirty="0"/>
                  <a:t>The </a:t>
                </a:r>
                <a:r>
                  <a:rPr lang="en-US" sz="2000" dirty="0" smtClean="0"/>
                  <a:t>mean-square value of stationary process is equal to the total area under the graph of PSD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18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8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8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sz="1800" i="1" dirty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</m:d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=</m:t>
                        </m:r>
                        <m:r>
                          <a:rPr lang="en-US" sz="1800" i="1" dirty="0">
                            <a:solidFill>
                              <a:srgbClr val="FF0000"/>
                            </a:solidFill>
                            <a:latin typeface="Cambria Math"/>
                            <a:ea typeface="Cambria Math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8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8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800" i="1" dirty="0">
                                <a:solidFill>
                                  <a:srgbClr val="FF0000"/>
                                </a:solidFill>
                                <a:latin typeface="Cambria Math"/>
                                <a:ea typeface="Cambria Math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1800" i="1" dirty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sz="1800" i="1" dirty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𝑡</m:t>
                                </m:r>
                                <m:r>
                                  <a:rPr lang="en-US" sz="1800" i="1" dirty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  <m:r>
                                  <a:rPr lang="en-US" sz="1800" i="1" dirty="0">
                                    <a:solidFill>
                                      <a:srgbClr val="FF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𝜏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-US" sz="1800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𝑅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</m:d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2000" i="1" dirty="0">
                          <a:latin typeface="Cambria Math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sz="2000" i="1" dirty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sz="2000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0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𝑑𝑓</m:t>
                          </m:r>
                        </m:e>
                      </m:nary>
                    </m:oMath>
                  </m:oMathPara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 </a:t>
                </a:r>
                <a:r>
                  <a:rPr lang="en-US" sz="2000" b="1" i="1" dirty="0" smtClean="0"/>
                  <a:t>Property-3</a:t>
                </a:r>
                <a:r>
                  <a:rPr lang="en-US" sz="2000" dirty="0" smtClean="0"/>
                  <a:t>: The PSD of a stationary process is always non-negative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r>
                        <a:rPr lang="en-US" sz="2000" i="1" dirty="0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0     ∀</m:t>
                      </m:r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𝑓</m:t>
                      </m:r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 algn="just">
                  <a:buNone/>
                </a:pPr>
                <a:r>
                  <a:rPr lang="en-US" sz="2000" b="1" i="1" dirty="0" smtClean="0"/>
                  <a:t>Property-4</a:t>
                </a:r>
                <a:r>
                  <a:rPr lang="en-US" sz="2000" dirty="0" smtClean="0"/>
                  <a:t>: </a:t>
                </a:r>
                <a:r>
                  <a:rPr lang="en-US" sz="2000" dirty="0"/>
                  <a:t>The PSD of </a:t>
                </a:r>
                <a:r>
                  <a:rPr lang="en-US" sz="2000" dirty="0" smtClean="0"/>
                  <a:t>a real-valued random process is an even function of frequency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r>
                        <a:rPr lang="en-US" sz="2000" b="0" i="1" dirty="0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0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2000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19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900" b="0" i="1" dirty="0" smtClean="0">
                              <a:latin typeface="Cambria Math"/>
                            </a:rPr>
                            <m:t>−</m:t>
                          </m:r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r>
                        <a:rPr lang="en-US" sz="1900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9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9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9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9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9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9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900" i="1" dirty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900" i="1" dirty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1900" i="1" dirty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  <m:groupChr>
                        <m:groupChrPr>
                          <m:chr m:val="⇒"/>
                          <m:pos m:val="top"/>
                          <m:ctrlPr>
                            <a:rPr lang="en-US" sz="1900" i="1" dirty="0" smtClean="0">
                              <a:latin typeface="Cambria Math"/>
                              <a:ea typeface="Cambria Math"/>
                            </a:rPr>
                          </m:ctrlPr>
                        </m:groupChrPr>
                        <m:e>
                          <m:eqArr>
                            <m:eqArrPr>
                              <m:ctrlP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</m:ctrlPr>
                            </m:eqArrPr>
                            <m:e>
                              <m:r>
                                <m:rPr>
                                  <m:brk m:alnAt="7"/>
                                </m:rP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=−</m:t>
                              </m:r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900" i="1" dirty="0">
                                      <a:latin typeface="Cambria Math"/>
                                      <a:ea typeface="Cambria Math"/>
                                    </a:rPr>
                                    <m:t>𝜏</m:t>
                                  </m:r>
                                </m:e>
                              </m:d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9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900" i="1" dirty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sz="1900" i="1" dirty="0">
                                      <a:latin typeface="Cambria Math"/>
                                      <a:ea typeface="Cambria Math"/>
                                    </a:rPr>
                                    <m:t>𝜏</m:t>
                                  </m:r>
                                </m:e>
                              </m:d>
                            </m:e>
                          </m:eqArr>
                        </m:e>
                      </m:groupChr>
                      <m:sSub>
                        <m:sSubPr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19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9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  <m:r>
                        <a:rPr lang="en-US" sz="1900" i="1" dirty="0">
                          <a:latin typeface="Cambria Math"/>
                          <a:ea typeface="Cambria Math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900" i="1" dirty="0">
                              <a:latin typeface="Cambria Math"/>
                            </a:rPr>
                            <m:t>−</m:t>
                          </m:r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sz="19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9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9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9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1900" i="1" dirty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900" i="1" dirty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900" b="0" i="1" dirty="0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900" i="1" dirty="0">
                                  <a:latin typeface="Cambria Math"/>
                                </a:rPr>
                                <m:t>𝑗</m:t>
                              </m:r>
                              <m:r>
                                <a:rPr lang="en-US" sz="1900" i="1" dirty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𝜋</m:t>
                              </m:r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  <m:r>
                                <a:rPr lang="en-US" sz="1900" i="1" dirty="0"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𝑑</m:t>
                          </m:r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𝜏</m:t>
                          </m:r>
                        </m:e>
                      </m:nary>
                      <m:r>
                        <a:rPr lang="en-US" sz="1900" b="0" i="1" dirty="0" smtClean="0">
                          <a:latin typeface="Cambria Math"/>
                          <a:ea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1900" i="1" dirty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1900" i="1" dirty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900" i="1" dirty="0"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</m:d>
                    </m:oMath>
                  </m:oMathPara>
                </a14:m>
                <a:endParaRPr lang="en-US" sz="1900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 smtClean="0">
                  <a:latin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562600"/>
              </a:xfrm>
              <a:blipFill rotWithShape="1">
                <a:blip r:embed="rId2"/>
                <a:stretch>
                  <a:fillRect l="-667" t="-548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2255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11162"/>
          </a:xfrm>
        </p:spPr>
        <p:txBody>
          <a:bodyPr>
            <a:noAutofit/>
          </a:bodyPr>
          <a:lstStyle/>
          <a:p>
            <a:r>
              <a:rPr lang="en-US" sz="3200" b="1" dirty="0"/>
              <a:t>Properties of </a:t>
            </a:r>
            <a:r>
              <a:rPr lang="en-US" sz="3200" b="1" dirty="0" smtClean="0"/>
              <a:t>Power Spectral Density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562600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n-US" sz="2000" b="1" i="1" dirty="0" smtClean="0"/>
                  <a:t>Property-5</a:t>
                </a:r>
                <a:r>
                  <a:rPr lang="en-US" sz="2000" dirty="0" smtClean="0"/>
                  <a:t>: </a:t>
                </a:r>
                <a:r>
                  <a:rPr lang="en-US" sz="2000" dirty="0"/>
                  <a:t>The </a:t>
                </a:r>
                <a:r>
                  <a:rPr lang="en-US" sz="2000" dirty="0" smtClean="0"/>
                  <a:t>PSD, appropriately normalized, has the properties usually associated with a probability density function.</a:t>
                </a:r>
              </a:p>
              <a:p>
                <a:pPr marL="0" indent="0">
                  <a:buNone/>
                </a:pPr>
                <a:r>
                  <a:rPr lang="en-US" sz="2000" i="1" dirty="0" smtClean="0">
                    <a:latin typeface="Cambria Math"/>
                  </a:rPr>
                  <a:t>Defining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𝑝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sz="200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0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  <a:ea typeface="Cambria Math"/>
                            </a:rPr>
                            <m:t>=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000" i="1" dirty="0">
                                  <a:latin typeface="Cambria Math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𝑓</m:t>
                              </m:r>
                            </m:e>
                          </m:d>
                        </m:num>
                        <m:den>
                          <m:nary>
                            <m:naryPr>
                              <m:limLoc m:val="undOvr"/>
                              <m:ctrlPr>
                                <a:rPr lang="en-US" sz="2000" i="1" dirty="0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sz="2000" i="1" dirty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  <a:ea typeface="Cambria Math"/>
                                    </a:rPr>
                                    <m:t>𝑓</m:t>
                                  </m:r>
                                </m:e>
                              </m:d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 </m:t>
                              </m:r>
                              <m:r>
                                <a:rPr lang="en-US" sz="2000" i="1" dirty="0">
                                  <a:latin typeface="Cambria Math"/>
                                  <a:ea typeface="Cambria Math"/>
                                </a:rPr>
                                <m:t>𝑑𝑓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sz="2000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i="1" dirty="0" smtClean="0">
                    <a:latin typeface="Cambria Math"/>
                  </a:rPr>
                  <a:t>For this  function</a:t>
                </a:r>
              </a:p>
              <a:p>
                <a:pPr marL="0" indent="0">
                  <a:buNone/>
                </a:pPr>
                <a:endParaRPr lang="en-US" sz="200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𝑓</m:t>
                        </m:r>
                      </m:e>
                    </m:d>
                    <m:r>
                      <a:rPr lang="en-US" sz="2000" i="1" smtClean="0"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2000" b="0" i="1" smtClean="0">
                        <a:latin typeface="Cambria Math"/>
                        <a:ea typeface="Cambria Math"/>
                      </a:rPr>
                      <m:t>0       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∀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𝑓</m:t>
                    </m:r>
                  </m:oMath>
                </a14:m>
                <a:r>
                  <a:rPr lang="en-US" sz="2000" i="1" dirty="0" smtClean="0">
                    <a:latin typeface="Cambria Math"/>
                  </a:rPr>
                  <a:t>       as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</m:d>
                    <m:r>
                      <a:rPr lang="en-US" sz="2000" i="1" dirty="0">
                        <a:latin typeface="Cambria Math"/>
                        <a:ea typeface="Cambria Math"/>
                      </a:rPr>
                      <m:t>≥0     ∀</m:t>
                    </m:r>
                    <m:r>
                      <a:rPr lang="en-US" sz="2000" i="1" dirty="0">
                        <a:latin typeface="Cambria Math"/>
                        <a:ea typeface="Cambria Math"/>
                      </a:rPr>
                      <m:t>𝑓</m:t>
                    </m:r>
                  </m:oMath>
                </a14:m>
                <a:endParaRPr lang="en-US" sz="2000" dirty="0" smtClean="0">
                  <a:latin typeface="Cambria Math"/>
                </a:endParaRPr>
              </a:p>
              <a:p>
                <a:endParaRPr lang="en-US" sz="2000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nary>
                      <m:naryPr>
                        <m:limLoc m:val="undOvr"/>
                        <m:ctrlPr>
                          <a:rPr lang="en-US" sz="2000" i="1" dirty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2000" i="1" dirty="0">
                            <a:latin typeface="Cambria Math"/>
                          </a:rPr>
                          <m:t>−</m:t>
                        </m:r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∞</m:t>
                        </m:r>
                      </m:sub>
                      <m:sup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000" i="1">
                                <a:latin typeface="Cambria Math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𝑓</m:t>
                            </m:r>
                          </m:e>
                        </m:d>
                        <m:r>
                          <a:rPr lang="en-US" sz="2000" i="1" dirty="0">
                            <a:latin typeface="Cambria Math"/>
                            <a:ea typeface="Cambria Math"/>
                          </a:rPr>
                          <m:t>𝑑𝑓</m:t>
                        </m:r>
                      </m:e>
                    </m:nary>
                    <m:r>
                      <a:rPr lang="en-US" sz="2000" b="0" i="1" dirty="0" smtClean="0">
                        <a:latin typeface="Cambria Math"/>
                        <a:ea typeface="Cambria Math"/>
                      </a:rPr>
                      <m:t>=1</m:t>
                    </m:r>
                  </m:oMath>
                </a14:m>
                <a:endParaRPr lang="en-US" sz="2000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sz="1900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 smtClean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562600"/>
              </a:xfrm>
              <a:blipFill rotWithShape="1">
                <a:blip r:embed="rId2"/>
                <a:stretch>
                  <a:fillRect l="-1556" t="-548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2164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 smtClean="0"/>
              <a:t>Athanasios Papoulis, “Probability, Random Variables, and Stochastic Processes,” 3</a:t>
            </a:r>
            <a:r>
              <a:rPr lang="en-US" sz="2000" baseline="30000" dirty="0" smtClean="0"/>
              <a:t>rd</a:t>
            </a:r>
            <a:r>
              <a:rPr lang="en-US" sz="2000" dirty="0" smtClean="0"/>
              <a:t> edition, McGraw Hill Publication.</a:t>
            </a:r>
          </a:p>
          <a:p>
            <a:pPr algn="just"/>
            <a:r>
              <a:rPr lang="en-US" sz="2000" dirty="0"/>
              <a:t>https://</a:t>
            </a:r>
            <a:r>
              <a:rPr lang="en-US" sz="2000" dirty="0" smtClean="0"/>
              <a:t>www.probabilitycourse.com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157180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1.0&quot;&gt;&lt;object type=&quot;1&quot; unique_id=&quot;10001&quot;&gt;&lt;object type=&quot;8&quot; unique_id=&quot;10025&quot;&gt;&lt;/object&gt;&lt;object type=&quot;2&quot; unique_id=&quot;10026&quot;&gt;&lt;object type=&quot;3&quot; unique_id=&quot;10027&quot;&gt;&lt;property id=&quot;20148&quot; value=&quot;5&quot;/&gt;&lt;property id=&quot;20300&quot; value=&quot;Slide 1 - &amp;quot; Lecture-4 Module-3 &amp;quot;&quot;/&gt;&lt;property id=&quot;20307&quot; value=&quot;256&quot;/&gt;&lt;/object&gt;&lt;object type=&quot;3&quot; unique_id=&quot;10355&quot;&gt;&lt;property id=&quot;20148&quot; value=&quot;5&quot;/&gt;&lt;property id=&quot;20300&quot; value=&quot;Slide 2 - &amp;quot;Systems with Stochastic Inputs&amp;quot;&quot;/&gt;&lt;property id=&quot;20307&quot; value=&quot;265&quot;/&gt;&lt;/object&gt;&lt;object type=&quot;3&quot; unique_id=&quot;10368&quot;&gt;&lt;property id=&quot;20148&quot; value=&quot;5&quot;/&gt;&lt;property id=&quot;20300&quot; value=&quot;Slide 11 - &amp;quot;Reference&amp;quot;&quot;/&gt;&lt;property id=&quot;20307&quot; value=&quot;266&quot;/&gt;&lt;/object&gt;&lt;object type=&quot;3&quot; unique_id=&quot;10389&quot;&gt;&lt;property id=&quot;20148&quot; value=&quot;5&quot;/&gt;&lt;property id=&quot;20300&quot; value=&quot;Slide 4 - &amp;quot;Linear Time-Invariant (LTI) Systems&amp;quot;&quot;/&gt;&lt;property id=&quot;20307&quot; value=&quot;267&quot;/&gt;&lt;/object&gt;&lt;object type=&quot;3&quot; unique_id=&quot;10420&quot;&gt;&lt;property id=&quot;20148&quot; value=&quot;5&quot;/&gt;&lt;property id=&quot;20300&quot; value=&quot;Slide 5 - &amp;quot;Mean of output of LTI Systems&amp;quot;&quot;/&gt;&lt;property id=&quot;20307&quot; value=&quot;268&quot;/&gt;&lt;/object&gt;&lt;object type=&quot;3&quot; unique_id=&quot;10442&quot;&gt;&lt;property id=&quot;20148&quot; value=&quot;5&quot;/&gt;&lt;property id=&quot;20300&quot; value=&quot;Slide 6 - &amp;quot;Cross-correlation Function of output of LTI Systems&amp;quot;&quot;/&gt;&lt;property id=&quot;20307&quot; value=&quot;269&quot;/&gt;&lt;/object&gt;&lt;object type=&quot;3&quot; unique_id=&quot;11277&quot;&gt;&lt;property id=&quot;20148&quot; value=&quot;5&quot;/&gt;&lt;property id=&quot;20300&quot; value=&quot;Slide 7 - &amp;quot;Power Spectral Density&amp;quot;&quot;/&gt;&lt;property id=&quot;20307&quot; value=&quot;270&quot;/&gt;&lt;/object&gt;&lt;object type=&quot;3&quot; unique_id=&quot;11377&quot;&gt;&lt;property id=&quot;20148&quot; value=&quot;5&quot;/&gt;&lt;property id=&quot;20300&quot; value=&quot;Slide 9 - &amp;quot;Properties of Power Spectral Density&amp;quot;&quot;/&gt;&lt;property id=&quot;20307&quot; value=&quot;271&quot;/&gt;&lt;/object&gt;&lt;object type=&quot;3&quot; unique_id=&quot;11448&quot;&gt;&lt;property id=&quot;20148&quot; value=&quot;5&quot;/&gt;&lt;property id=&quot;20300&quot; value=&quot;Slide 8 - &amp;quot;Power Spectral Density&amp;quot;&quot;/&gt;&lt;property id=&quot;20307&quot; value=&quot;272&quot;/&gt;&lt;/object&gt;&lt;object type=&quot;3&quot; unique_id=&quot;11559&quot;&gt;&lt;property id=&quot;20148&quot; value=&quot;5&quot;/&gt;&lt;property id=&quot;20300&quot; value=&quot;Slide 10 - &amp;quot;Properties of Power Spectral Density&amp;quot;&quot;/&gt;&lt;property id=&quot;20307&quot; value=&quot;273&quot;/&gt;&lt;/object&gt;&lt;object type=&quot;3&quot; unique_id=&quot;12406&quot;&gt;&lt;property id=&quot;20148&quot; value=&quot;5&quot;/&gt;&lt;property id=&quot;20300&quot; value=&quot;Slide 3 - &amp;quot;Linear Time-Invariant (LTI) Systems&amp;quot;&quot;/&gt;&lt;property id=&quot;20307&quot; value=&quot;27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1440</Words>
  <Application>Microsoft Office PowerPoint</Application>
  <PresentationFormat>On-screen Show (4:3)</PresentationFormat>
  <Paragraphs>100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Lecture-4 Module-3 </vt:lpstr>
      <vt:lpstr>Systems with Stochastic Inputs</vt:lpstr>
      <vt:lpstr>Linear Time-Invariant (LTI) Systems</vt:lpstr>
      <vt:lpstr>Linear Time-Invariant (LTI) Systems</vt:lpstr>
      <vt:lpstr>Mean of output of LTI Systems</vt:lpstr>
      <vt:lpstr>Cross-correlation Function of output of LTI Systems</vt:lpstr>
      <vt:lpstr>Power Spectral Density</vt:lpstr>
      <vt:lpstr>Power Spectral Density</vt:lpstr>
      <vt:lpstr>Properties of Power Spectral Density</vt:lpstr>
      <vt:lpstr>Properties of Power Spectral Density</vt:lpstr>
      <vt:lpstr>Reference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Lecture-1 Module-5</dc:title>
  <dc:creator>ashutosh</dc:creator>
  <cp:lastModifiedBy>ashutosh</cp:lastModifiedBy>
  <cp:revision>112</cp:revision>
  <dcterms:created xsi:type="dcterms:W3CDTF">2020-07-03T13:58:45Z</dcterms:created>
  <dcterms:modified xsi:type="dcterms:W3CDTF">2020-07-12T18:40:27Z</dcterms:modified>
</cp:coreProperties>
</file>