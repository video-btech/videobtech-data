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48" r:id="rId2"/>
    <p:sldId id="349" r:id="rId3"/>
    <p:sldId id="350" r:id="rId4"/>
    <p:sldId id="315" r:id="rId5"/>
    <p:sldId id="316" r:id="rId6"/>
    <p:sldId id="305" r:id="rId7"/>
    <p:sldId id="318" r:id="rId8"/>
    <p:sldId id="317" r:id="rId9"/>
    <p:sldId id="320" r:id="rId10"/>
    <p:sldId id="351" r:id="rId11"/>
  </p:sldIdLst>
  <p:sldSz cx="9144000" cy="6858000" type="screen4x3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86408" autoAdjust="0"/>
  </p:normalViewPr>
  <p:slideViewPr>
    <p:cSldViewPr>
      <p:cViewPr>
        <p:scale>
          <a:sx n="50" d="100"/>
          <a:sy n="50" d="100"/>
        </p:scale>
        <p:origin x="-126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AAA789-524D-4684-863F-5B8C863AC3CF}" type="datetimeFigureOut">
              <a:rPr lang="en-IN" smtClean="0"/>
              <a:t>17-07-2020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974BAE-09B5-4D55-9C03-078FBA72F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920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974BAE-09B5-4D55-9C03-078FBA72F76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4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974BAE-09B5-4D55-9C03-078FBA72F76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800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 PPT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898"/>
            <a:ext cx="9144000" cy="68798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0EB0F514-78C8-42E7-AA37-B041CBCFE9C4}"/>
              </a:ext>
            </a:extLst>
          </p:cNvPr>
          <p:cNvSpPr/>
          <p:nvPr/>
        </p:nvSpPr>
        <p:spPr>
          <a:xfrm>
            <a:off x="3211016" y="244204"/>
            <a:ext cx="3063741" cy="773008"/>
          </a:xfrm>
          <a:prstGeom prst="rect">
            <a:avLst/>
          </a:prstGeom>
        </p:spPr>
        <p:txBody>
          <a:bodyPr wrap="none" lIns="64493" tIns="32246" rIns="64493" bIns="32246">
            <a:spAutoFit/>
          </a:bodyPr>
          <a:lstStyle/>
          <a:p>
            <a:pPr algn="ctr"/>
            <a:r>
              <a:rPr lang="en-GB" sz="2300" b="1" dirty="0" smtClean="0"/>
              <a:t>Information </a:t>
            </a:r>
            <a:r>
              <a:rPr lang="en-GB" sz="2300" b="1" dirty="0"/>
              <a:t>and</a:t>
            </a:r>
            <a:br>
              <a:rPr lang="en-GB" sz="2300" b="1" dirty="0"/>
            </a:br>
            <a:r>
              <a:rPr lang="en-GB" sz="2300" b="1" dirty="0"/>
              <a:t> Communication Theory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627784" y="5445224"/>
            <a:ext cx="4176464" cy="141277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1800" dirty="0" smtClean="0"/>
              <a:t>By </a:t>
            </a:r>
          </a:p>
          <a:p>
            <a:pPr marL="0" indent="0" algn="ctr">
              <a:buNone/>
            </a:pPr>
            <a:r>
              <a:rPr lang="en-IN" sz="1800" dirty="0" err="1" smtClean="0"/>
              <a:t>Dr.</a:t>
            </a:r>
            <a:r>
              <a:rPr lang="en-IN" sz="1800" dirty="0" smtClean="0"/>
              <a:t> Hem </a:t>
            </a:r>
            <a:r>
              <a:rPr lang="en-IN" sz="1800" dirty="0" err="1" smtClean="0"/>
              <a:t>Dutt</a:t>
            </a:r>
            <a:r>
              <a:rPr lang="en-IN" sz="1800" dirty="0" smtClean="0"/>
              <a:t> Joshi</a:t>
            </a:r>
          </a:p>
          <a:p>
            <a:pPr marL="0" indent="0" algn="ctr">
              <a:buNone/>
            </a:pPr>
            <a:r>
              <a:rPr lang="en-IN" sz="1800" dirty="0" smtClean="0"/>
              <a:t>Associate Professor, ECED, </a:t>
            </a:r>
          </a:p>
          <a:p>
            <a:pPr marL="0" indent="0" algn="ctr">
              <a:buNone/>
            </a:pPr>
            <a:r>
              <a:rPr lang="en-IN" sz="1800" dirty="0" smtClean="0"/>
              <a:t>TIET, Patiala</a:t>
            </a:r>
            <a:endParaRPr lang="en-IN" sz="1800" dirty="0"/>
          </a:p>
        </p:txBody>
      </p:sp>
      <p:pic>
        <p:nvPicPr>
          <p:cNvPr id="1026" name="Picture 2" descr="C:\Users\Dr. Hem Dutt Joshi\Desktop\UEC607\for website\for website\hemdutt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5431200"/>
            <a:ext cx="1238160" cy="123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9372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Lecture-4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Introduction to Hypothesis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95800"/>
            <a:ext cx="6400800" cy="1752600"/>
          </a:xfrm>
        </p:spPr>
        <p:txBody>
          <a:bodyPr/>
          <a:lstStyle/>
          <a:p>
            <a:r>
              <a:rPr lang="en-IN" dirty="0"/>
              <a:t>Module – 4</a:t>
            </a:r>
            <a:br>
              <a:rPr lang="en-IN" dirty="0"/>
            </a:br>
            <a:r>
              <a:rPr lang="en-US" b="1" dirty="0" smtClean="0"/>
              <a:t>Estimation </a:t>
            </a:r>
            <a:r>
              <a:rPr lang="en-US" b="1" dirty="0"/>
              <a:t>&amp; Hypothesis Testing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4460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Autofit/>
          </a:bodyPr>
          <a:lstStyle/>
          <a:p>
            <a:r>
              <a:rPr lang="en-IN" sz="2800" dirty="0" smtClean="0"/>
              <a:t>Content of </a:t>
            </a:r>
            <a:r>
              <a:rPr lang="en-IN" sz="2800" dirty="0" smtClean="0"/>
              <a:t>Lecture-4</a:t>
            </a: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smtClean="0"/>
              <a:t>Module – 4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Autofit/>
          </a:bodyPr>
          <a:lstStyle/>
          <a:p>
            <a:pPr algn="just"/>
            <a:r>
              <a:rPr lang="en-US" sz="2800" dirty="0" smtClean="0"/>
              <a:t>Introduction to Hypothesis</a:t>
            </a:r>
            <a:endParaRPr lang="en-US" sz="2800" dirty="0" smtClean="0"/>
          </a:p>
          <a:p>
            <a:pPr algn="just"/>
            <a:r>
              <a:rPr lang="en-US" sz="2800" dirty="0" smtClean="0"/>
              <a:t>Types of Hypothesis</a:t>
            </a:r>
          </a:p>
          <a:p>
            <a:pPr lvl="1" algn="just"/>
            <a:r>
              <a:rPr lang="en-US" dirty="0" smtClean="0"/>
              <a:t>Null Hypothesis </a:t>
            </a:r>
          </a:p>
          <a:p>
            <a:pPr lvl="1" algn="just"/>
            <a:r>
              <a:rPr lang="en-US" dirty="0" smtClean="0"/>
              <a:t>Alternate Hypothesis</a:t>
            </a:r>
          </a:p>
          <a:p>
            <a:pPr algn="just"/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535303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sz="2800" dirty="0" smtClean="0"/>
              <a:t>Introduction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Scientific method is composed of the following key elements</a:t>
            </a:r>
          </a:p>
          <a:p>
            <a:r>
              <a:rPr lang="en-US" sz="2400" dirty="0" smtClean="0"/>
              <a:t>An empirical approach,</a:t>
            </a:r>
          </a:p>
          <a:p>
            <a:r>
              <a:rPr lang="en-US" sz="2400" dirty="0" smtClean="0"/>
              <a:t>Observations,</a:t>
            </a:r>
          </a:p>
          <a:p>
            <a:r>
              <a:rPr lang="en-US" sz="2400" dirty="0" smtClean="0"/>
              <a:t>Questions,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Hypothesis,</a:t>
            </a:r>
          </a:p>
          <a:p>
            <a:r>
              <a:rPr lang="en-US" sz="2400" dirty="0" smtClean="0"/>
              <a:t>Experiments,</a:t>
            </a:r>
          </a:p>
          <a:p>
            <a:r>
              <a:rPr lang="en-US" sz="2400" dirty="0" smtClean="0"/>
              <a:t>Analyses,</a:t>
            </a:r>
          </a:p>
          <a:p>
            <a:r>
              <a:rPr lang="en-US" sz="2400" dirty="0" smtClean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770213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Difference between </a:t>
            </a:r>
            <a:r>
              <a:rPr lang="en-US" sz="2800" dirty="0" smtClean="0">
                <a:solidFill>
                  <a:srgbClr val="FF0000"/>
                </a:solidFill>
              </a:rPr>
              <a:t>Hypothesis and Theory</a:t>
            </a:r>
            <a:endParaRPr lang="en-US" sz="2800" dirty="0" smtClean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3178628" y="7467600"/>
            <a:ext cx="27432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/>
            <a:endParaRPr lang="en-US" sz="1600" dirty="0"/>
          </a:p>
          <a:p>
            <a:pPr algn="just"/>
            <a:endParaRPr lang="en-US" sz="1600" dirty="0" smtClean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981101"/>
              </p:ext>
            </p:extLst>
          </p:nvPr>
        </p:nvGraphicFramePr>
        <p:xfrm>
          <a:off x="381000" y="1051560"/>
          <a:ext cx="8305800" cy="557784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4065671"/>
                <a:gridCol w="424012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chemeClr val="tx1"/>
                          </a:solidFill>
                        </a:rPr>
                        <a:t>Hypothesis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chemeClr val="tx1"/>
                          </a:solidFill>
                        </a:rPr>
                        <a:t>Theory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A specific, testable prediction about what is expected to happen in a </a:t>
                      </a:r>
                      <a:r>
                        <a:rPr lang="en-US" sz="2400" dirty="0" smtClean="0"/>
                        <a:t>study</a:t>
                      </a:r>
                      <a:endParaRPr lang="en-US" sz="2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Well established principle which </a:t>
                      </a:r>
                      <a:r>
                        <a:rPr lang="en-US" sz="2400" dirty="0" smtClean="0"/>
                        <a:t>predicts </a:t>
                      </a:r>
                      <a:r>
                        <a:rPr lang="en-US" sz="2400" dirty="0" smtClean="0"/>
                        <a:t>events in general </a:t>
                      </a:r>
                      <a:r>
                        <a:rPr lang="en-US" sz="2400" dirty="0" smtClean="0"/>
                        <a:t>terms</a:t>
                      </a:r>
                      <a:endParaRPr lang="en-US" sz="2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Makes a specific prediction about a specified set of </a:t>
                      </a:r>
                      <a:r>
                        <a:rPr lang="en-US" sz="2400" dirty="0" smtClean="0"/>
                        <a:t>circumstances</a:t>
                      </a:r>
                      <a:endParaRPr lang="en-US" sz="2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Arises from repeated observation and testing</a:t>
                      </a:r>
                    </a:p>
                    <a:p>
                      <a:pPr algn="ctr"/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A speculative guess that has yet to be tested</a:t>
                      </a:r>
                    </a:p>
                    <a:p>
                      <a:pPr algn="ctr"/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Incorporates facts, laws, predictions, and tested hypothesis that are widely </a:t>
                      </a:r>
                      <a:r>
                        <a:rPr lang="en-US" sz="2400" dirty="0" smtClean="0"/>
                        <a:t>accepted</a:t>
                      </a:r>
                      <a:endParaRPr lang="en-US" sz="2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Is new and relatively untested</a:t>
                      </a:r>
                    </a:p>
                    <a:p>
                      <a:pPr algn="ctr"/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Extensively tested and is generally accepted </a:t>
                      </a:r>
                    </a:p>
                    <a:p>
                      <a:pPr algn="ctr"/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967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42096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What is Hypothesis?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686800" cy="5943600"/>
          </a:xfrm>
        </p:spPr>
        <p:txBody>
          <a:bodyPr>
            <a:noAutofit/>
          </a:bodyPr>
          <a:lstStyle/>
          <a:p>
            <a:pPr marL="342900" lvl="1" indent="-342900" algn="just">
              <a:buFont typeface="Arial" pitchFamily="34" charset="0"/>
              <a:buChar char="•"/>
            </a:pPr>
            <a:r>
              <a:rPr lang="en-US" sz="2400" dirty="0" smtClean="0"/>
              <a:t>Hypothesis is defined </a:t>
            </a:r>
            <a:r>
              <a:rPr lang="en-US" sz="2400" dirty="0"/>
              <a:t>as a </a:t>
            </a:r>
            <a:r>
              <a:rPr lang="en-US" sz="2400" dirty="0" smtClean="0"/>
              <a:t>proposed </a:t>
            </a:r>
            <a:r>
              <a:rPr lang="en-US" sz="2400" dirty="0"/>
              <a:t>explanation or a preliminary </a:t>
            </a:r>
            <a:r>
              <a:rPr lang="en-US" sz="2400" dirty="0" smtClean="0"/>
              <a:t>Postulate </a:t>
            </a:r>
            <a:r>
              <a:rPr lang="en-US" sz="2400" dirty="0"/>
              <a:t>made on the basis of limited evidence as a starting  point for further </a:t>
            </a:r>
            <a:r>
              <a:rPr lang="en-US" sz="2400" dirty="0" smtClean="0"/>
              <a:t>investigation.</a:t>
            </a:r>
          </a:p>
          <a:p>
            <a:pPr marL="342900" lvl="1" indent="-342900" algn="just">
              <a:buFont typeface="Arial" pitchFamily="34" charset="0"/>
              <a:buChar char="•"/>
            </a:pPr>
            <a:endParaRPr lang="en-US" sz="2400" dirty="0" smtClean="0"/>
          </a:p>
          <a:p>
            <a:pPr marL="342900" lvl="1" indent="-342900" algn="just">
              <a:buFont typeface="Arial" pitchFamily="34" charset="0"/>
              <a:buChar char="•"/>
            </a:pPr>
            <a:r>
              <a:rPr lang="en-US" sz="2400" dirty="0" smtClean="0"/>
              <a:t>It can also be defined as an </a:t>
            </a:r>
            <a:r>
              <a:rPr lang="en-US" sz="2400" dirty="0"/>
              <a:t>educated guess or a tentative point of view or a proposition which is not yet tested. </a:t>
            </a:r>
            <a:endParaRPr lang="en-US" sz="2400" dirty="0" smtClean="0"/>
          </a:p>
          <a:p>
            <a:pPr marL="342900" lvl="1" indent="-342900" algn="just">
              <a:buFont typeface="Arial" pitchFamily="34" charset="0"/>
              <a:buChar char="•"/>
            </a:pPr>
            <a:endParaRPr lang="en-US" sz="2400" b="1" dirty="0" smtClean="0"/>
          </a:p>
          <a:p>
            <a:pPr marL="342900" lvl="1" indent="-342900" algn="just">
              <a:buFont typeface="Arial" pitchFamily="34" charset="0"/>
              <a:buChar char="•"/>
            </a:pPr>
            <a:r>
              <a:rPr lang="en-US" sz="2400" b="1" dirty="0" smtClean="0"/>
              <a:t>Characteristics </a:t>
            </a:r>
            <a:r>
              <a:rPr lang="en-US" sz="2400" b="1" dirty="0"/>
              <a:t>of a hypothesis</a:t>
            </a:r>
            <a:endParaRPr lang="en-US" sz="2400" dirty="0"/>
          </a:p>
          <a:p>
            <a:pPr marL="0" lvl="1" indent="0" algn="just">
              <a:buNone/>
            </a:pPr>
            <a:r>
              <a:rPr lang="en-US" sz="2400" dirty="0" smtClean="0"/>
              <a:t>Hypothesis </a:t>
            </a:r>
            <a:r>
              <a:rPr lang="en-US" sz="2400" dirty="0"/>
              <a:t>should be</a:t>
            </a:r>
          </a:p>
          <a:p>
            <a:pPr lvl="1"/>
            <a:r>
              <a:rPr lang="en-US" sz="2400" dirty="0"/>
              <a:t>clearly defined and precise or specific,</a:t>
            </a:r>
          </a:p>
          <a:p>
            <a:pPr lvl="1"/>
            <a:r>
              <a:rPr lang="en-US" sz="2400" dirty="0"/>
              <a:t>capable of being tested,</a:t>
            </a:r>
          </a:p>
          <a:p>
            <a:pPr lvl="1"/>
            <a:r>
              <a:rPr lang="en-US" sz="2400" dirty="0"/>
              <a:t>able to relate to a variable of sample space (i.e., mean, variance etc.)</a:t>
            </a:r>
          </a:p>
          <a:p>
            <a:pPr lvl="1"/>
            <a:r>
              <a:rPr lang="en-US" sz="2400" dirty="0"/>
              <a:t>related to available techniques of research</a:t>
            </a:r>
          </a:p>
          <a:p>
            <a:pPr marL="457200" lvl="1" indent="-457200" algn="just"/>
            <a:endParaRPr lang="en-US" sz="2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7D51-F628-409F-B77F-935E8C8C351E}" type="datetime1">
              <a:rPr lang="en-IN" smtClean="0"/>
              <a:t>17-07-2020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346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sz="2800" b="1" dirty="0" smtClean="0"/>
              <a:t>Example of Hypothesis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229600" cy="4525963"/>
          </a:xfrm>
        </p:spPr>
        <p:txBody>
          <a:bodyPr>
            <a:noAutofit/>
          </a:bodyPr>
          <a:lstStyle/>
          <a:p>
            <a:pPr algn="just"/>
            <a:r>
              <a:rPr lang="en-US" sz="2800" dirty="0" smtClean="0">
                <a:solidFill>
                  <a:srgbClr val="0070C0"/>
                </a:solidFill>
              </a:rPr>
              <a:t>Example </a:t>
            </a:r>
            <a:r>
              <a:rPr lang="en-US" sz="2800" dirty="0">
                <a:solidFill>
                  <a:srgbClr val="0070C0"/>
                </a:solidFill>
              </a:rPr>
              <a:t>of Hypothesis are:</a:t>
            </a:r>
            <a:endParaRPr lang="en-IN" sz="2800" dirty="0">
              <a:solidFill>
                <a:srgbClr val="0070C0"/>
              </a:solidFill>
            </a:endParaRPr>
          </a:p>
          <a:p>
            <a:pPr lvl="1" algn="just"/>
            <a:r>
              <a:rPr lang="en-IN" dirty="0"/>
              <a:t>The mileage of Car- A is better than Car-B</a:t>
            </a:r>
          </a:p>
          <a:p>
            <a:pPr lvl="1" algn="just"/>
            <a:r>
              <a:rPr lang="en-IN" dirty="0"/>
              <a:t>The performance of Class-A is better than B</a:t>
            </a:r>
          </a:p>
          <a:p>
            <a:pPr lvl="1" algn="just"/>
            <a:r>
              <a:rPr lang="en-IN" dirty="0"/>
              <a:t>The new manufacturing process produce less defected peace than previous process.</a:t>
            </a:r>
          </a:p>
          <a:p>
            <a:pPr lvl="1" algn="just"/>
            <a:r>
              <a:rPr lang="en-US" dirty="0"/>
              <a:t>A given coin is fair.</a:t>
            </a:r>
          </a:p>
          <a:p>
            <a:pPr lvl="1" algn="just"/>
            <a:r>
              <a:rPr lang="en-US" dirty="0"/>
              <a:t>A new manufacturing process produces “new and improved” batteries that last </a:t>
            </a:r>
            <a:r>
              <a:rPr lang="en-IN" dirty="0"/>
              <a:t>longer.</a:t>
            </a:r>
          </a:p>
          <a:p>
            <a:pPr lvl="1" algn="just"/>
            <a:r>
              <a:rPr lang="en-US" dirty="0"/>
              <a:t>Two random noise signals have the same mean.</a:t>
            </a:r>
          </a:p>
          <a:p>
            <a:pPr lvl="1" algn="just"/>
            <a:r>
              <a:rPr lang="en-US" dirty="0"/>
              <a:t>The current bit received at receiver is correct one</a:t>
            </a:r>
          </a:p>
          <a:p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452122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Autofit/>
          </a:bodyPr>
          <a:lstStyle/>
          <a:p>
            <a:r>
              <a:rPr lang="en-IN" sz="2800" dirty="0" smtClean="0"/>
              <a:t>Null and Alternate Hypothesis</a:t>
            </a:r>
            <a:endParaRPr lang="en-US" sz="2800" dirty="0" smtClean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534400" cy="5943600"/>
          </a:xfrm>
        </p:spPr>
        <p:txBody>
          <a:bodyPr>
            <a:noAutofit/>
          </a:bodyPr>
          <a:lstStyle/>
          <a:p>
            <a:pPr algn="just"/>
            <a:r>
              <a:rPr lang="en-US" sz="2600" dirty="0" smtClean="0"/>
              <a:t>Null Hypothesis</a:t>
            </a:r>
          </a:p>
          <a:p>
            <a:pPr lvl="1" algn="just"/>
            <a:r>
              <a:rPr lang="en-US" sz="2200" dirty="0"/>
              <a:t>The null hypothesis represent a theory that has been put forward either because it is believed to be true or because it is used as a basis for an argument and has not been proven</a:t>
            </a:r>
            <a:r>
              <a:rPr lang="en-US" sz="2200" dirty="0" smtClean="0"/>
              <a:t>.</a:t>
            </a:r>
          </a:p>
          <a:p>
            <a:pPr lvl="1" algn="just"/>
            <a:r>
              <a:rPr lang="en-US" altLang="en-US" sz="2200" dirty="0"/>
              <a:t>A </a:t>
            </a:r>
            <a:r>
              <a:rPr lang="en-US" altLang="en-US" sz="2200" b="1" dirty="0">
                <a:solidFill>
                  <a:srgbClr val="FF0000"/>
                </a:solidFill>
              </a:rPr>
              <a:t>null hypothesis H</a:t>
            </a:r>
            <a:r>
              <a:rPr lang="en-US" altLang="en-US" sz="2200" b="1" baseline="-25000" dirty="0">
                <a:solidFill>
                  <a:srgbClr val="FF0000"/>
                </a:solidFill>
              </a:rPr>
              <a:t>0</a:t>
            </a:r>
            <a:r>
              <a:rPr lang="en-US" altLang="en-US" sz="2200" b="1" dirty="0">
                <a:solidFill>
                  <a:srgbClr val="FF0000"/>
                </a:solidFill>
              </a:rPr>
              <a:t> </a:t>
            </a:r>
            <a:r>
              <a:rPr lang="en-US" altLang="en-US" sz="2200" dirty="0"/>
              <a:t>is a statistical hypothesis that contains a statement of equality such as </a:t>
            </a:r>
            <a:r>
              <a:rPr lang="en-US" altLang="en-US" sz="2200" dirty="0">
                <a:sym typeface="Symbol" pitchFamily="18" charset="2"/>
              </a:rPr>
              <a:t>, =, or </a:t>
            </a:r>
            <a:endParaRPr lang="en-US" sz="2200" dirty="0"/>
          </a:p>
          <a:p>
            <a:pPr algn="just"/>
            <a:endParaRPr lang="en-US" sz="2400" dirty="0" smtClean="0"/>
          </a:p>
          <a:p>
            <a:pPr algn="just"/>
            <a:r>
              <a:rPr lang="en-US" sz="2600" dirty="0" smtClean="0"/>
              <a:t>Alternate Hypothesis</a:t>
            </a:r>
            <a:endParaRPr lang="en-US" sz="2600" dirty="0"/>
          </a:p>
          <a:p>
            <a:pPr lvl="1" algn="just"/>
            <a:r>
              <a:rPr lang="en-US" sz="2200" dirty="0"/>
              <a:t>The alternative hypothesis is a statement of what a statistical hypothesis test is set up to establish. </a:t>
            </a:r>
            <a:endParaRPr lang="en-US" sz="2200" dirty="0" smtClean="0"/>
          </a:p>
          <a:p>
            <a:pPr lvl="1" algn="just"/>
            <a:r>
              <a:rPr lang="en-US" altLang="en-US" sz="2200" dirty="0"/>
              <a:t>A </a:t>
            </a:r>
            <a:r>
              <a:rPr lang="en-US" altLang="en-US" sz="2200" b="1" dirty="0">
                <a:solidFill>
                  <a:srgbClr val="FF0000"/>
                </a:solidFill>
              </a:rPr>
              <a:t>alternative hypothesis </a:t>
            </a:r>
            <a:r>
              <a:rPr lang="en-US" altLang="en-US" sz="2200" b="1" dirty="0" smtClean="0">
                <a:solidFill>
                  <a:srgbClr val="FF0000"/>
                </a:solidFill>
              </a:rPr>
              <a:t>H</a:t>
            </a:r>
            <a:r>
              <a:rPr lang="en-US" altLang="en-US" sz="2200" b="1" baseline="-25000" dirty="0" smtClean="0">
                <a:solidFill>
                  <a:srgbClr val="FF0000"/>
                </a:solidFill>
              </a:rPr>
              <a:t>1</a:t>
            </a:r>
            <a:r>
              <a:rPr lang="en-US" altLang="en-US" sz="2200" b="1" dirty="0" smtClean="0">
                <a:solidFill>
                  <a:schemeClr val="folHlink"/>
                </a:solidFill>
              </a:rPr>
              <a:t> </a:t>
            </a:r>
            <a:r>
              <a:rPr lang="en-US" altLang="en-US" sz="2200" dirty="0"/>
              <a:t>is the complement of the null  hypothesis. </a:t>
            </a:r>
            <a:endParaRPr lang="en-US" altLang="en-US" sz="2200" dirty="0" smtClean="0"/>
          </a:p>
          <a:p>
            <a:pPr lvl="1" algn="just"/>
            <a:r>
              <a:rPr lang="en-US" altLang="en-US" sz="2200" dirty="0" smtClean="0"/>
              <a:t>It </a:t>
            </a:r>
            <a:r>
              <a:rPr lang="en-US" altLang="en-US" sz="2200" dirty="0"/>
              <a:t>is a statement that must be true if </a:t>
            </a:r>
            <a:r>
              <a:rPr lang="en-US" altLang="en-US" sz="2200" i="1" dirty="0"/>
              <a:t>H</a:t>
            </a:r>
            <a:r>
              <a:rPr lang="en-US" altLang="en-US" sz="2200" baseline="-25000" dirty="0"/>
              <a:t>0</a:t>
            </a:r>
            <a:r>
              <a:rPr lang="en-US" altLang="en-US" sz="2200" dirty="0"/>
              <a:t> is false and contains a statement of inequality such as &gt;, </a:t>
            </a:r>
            <a:r>
              <a:rPr lang="en-US" altLang="en-US" sz="2200" dirty="0">
                <a:sym typeface="Symbol" pitchFamily="18" charset="2"/>
              </a:rPr>
              <a:t>, or &lt;.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3173723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Autofit/>
          </a:bodyPr>
          <a:lstStyle/>
          <a:p>
            <a:r>
              <a:rPr lang="en-IN" sz="2800" dirty="0" smtClean="0"/>
              <a:t>Example of Null and Alternate Hypothesis</a:t>
            </a:r>
            <a:endParaRPr lang="en-US" sz="2800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066800"/>
                <a:ext cx="8534400" cy="5486400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400" dirty="0" smtClean="0"/>
                  <a:t>A mobile manufacturer claims that the </a:t>
                </a:r>
                <a:r>
                  <a:rPr lang="en-US" sz="2400" dirty="0"/>
                  <a:t>battery </a:t>
                </a:r>
                <a:r>
                  <a:rPr lang="en-US" sz="2400" dirty="0" smtClean="0"/>
                  <a:t>of its smart </a:t>
                </a:r>
                <a:r>
                  <a:rPr lang="en-US" sz="2400" dirty="0"/>
                  <a:t>phone has an average life of </a:t>
                </a:r>
                <a:r>
                  <a:rPr lang="en-US" sz="2400" dirty="0" smtClean="0"/>
                  <a:t>at least 3 year.</a:t>
                </a:r>
              </a:p>
              <a:p>
                <a:pPr lvl="1" algn="just"/>
                <a:r>
                  <a:rPr lang="en-US" sz="2400" dirty="0" smtClean="0"/>
                  <a:t>The Null hypothesis is H0; 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/>
                      </a:rPr>
                      <m:t>𝜇</m:t>
                    </m:r>
                    <m:r>
                      <a:rPr lang="en-IN" sz="2400" b="0" i="1" smtClean="0">
                        <a:latin typeface="Cambria Math"/>
                      </a:rPr>
                      <m:t>≥3</m:t>
                    </m:r>
                  </m:oMath>
                </a14:m>
                <a:r>
                  <a:rPr lang="en-US" sz="2400" dirty="0" smtClean="0"/>
                  <a:t>  (Claim) ,</a:t>
                </a:r>
              </a:p>
              <a:p>
                <a:pPr lvl="1" algn="just"/>
                <a:r>
                  <a:rPr lang="en-US" sz="2400" dirty="0" smtClean="0"/>
                  <a:t>Alternative Hypothesis is H1;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/>
                      </a:rPr>
                      <m:t>𝜇</m:t>
                    </m:r>
                    <m:r>
                      <a:rPr lang="en-IN" sz="2400" b="0" i="1" smtClean="0">
                        <a:latin typeface="Cambria Math"/>
                      </a:rPr>
                      <m:t>&lt;</m:t>
                    </m:r>
                    <m:r>
                      <a:rPr lang="en-IN" sz="2400" i="1">
                        <a:latin typeface="Cambria Math"/>
                      </a:rPr>
                      <m:t>3 </m:t>
                    </m:r>
                  </m:oMath>
                </a14:m>
                <a:endParaRPr lang="en-IN" sz="2400" dirty="0" smtClean="0"/>
              </a:p>
              <a:p>
                <a:pPr marL="342900" lvl="2" indent="-342900" algn="just"/>
                <a:endParaRPr lang="en-US" altLang="en-US" dirty="0" smtClean="0"/>
              </a:p>
              <a:p>
                <a:pPr marL="342900" lvl="2" indent="-342900" algn="just"/>
                <a:r>
                  <a:rPr lang="en-US" altLang="en-US" dirty="0" smtClean="0"/>
                  <a:t>A premier institute of north India claims </a:t>
                </a:r>
                <a:r>
                  <a:rPr lang="en-US" altLang="en-US" dirty="0"/>
                  <a:t>that </a:t>
                </a:r>
                <a:r>
                  <a:rPr lang="en-US" altLang="en-US" dirty="0" smtClean="0"/>
                  <a:t>90% </a:t>
                </a:r>
                <a:r>
                  <a:rPr lang="en-US" altLang="en-US" dirty="0"/>
                  <a:t>of their graduates find employment within six months of graduation</a:t>
                </a:r>
                <a:r>
                  <a:rPr lang="en-US" altLang="en-US" dirty="0" smtClean="0"/>
                  <a:t>.</a:t>
                </a:r>
              </a:p>
              <a:p>
                <a:pPr lvl="1" algn="just"/>
                <a:r>
                  <a:rPr lang="en-US" sz="2400" dirty="0"/>
                  <a:t>The Null hypothesis is H0; 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/>
                      </a:rPr>
                      <m:t>𝑝</m:t>
                    </m:r>
                    <m:r>
                      <a:rPr lang="en-IN" sz="2400" b="0" i="1" smtClean="0">
                        <a:latin typeface="Cambria Math"/>
                      </a:rPr>
                      <m:t>=0.9</m:t>
                    </m:r>
                  </m:oMath>
                </a14:m>
                <a:r>
                  <a:rPr lang="en-US" sz="2400" dirty="0" smtClean="0"/>
                  <a:t>  (Claim), </a:t>
                </a:r>
                <a:endParaRPr lang="en-US" sz="2400" dirty="0"/>
              </a:p>
              <a:p>
                <a:pPr lvl="1" algn="just"/>
                <a:r>
                  <a:rPr lang="en-US" sz="2400" dirty="0"/>
                  <a:t>Alternative Hypothesis is H1;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 b="0" i="0" smtClean="0">
                        <a:latin typeface="Cambria Math"/>
                      </a:rPr>
                      <m:t>p</m:t>
                    </m:r>
                    <m:r>
                      <a:rPr lang="en-IN" sz="2400" b="0" i="1" smtClean="0">
                        <a:latin typeface="Cambria Math"/>
                      </a:rPr>
                      <m:t>≠0.9</m:t>
                    </m:r>
                    <m:r>
                      <a:rPr lang="en-IN" sz="2400" i="1">
                        <a:latin typeface="Cambria Math"/>
                      </a:rPr>
                      <m:t> </m:t>
                    </m:r>
                  </m:oMath>
                </a14:m>
                <a:endParaRPr lang="en-IN" sz="2400" dirty="0"/>
              </a:p>
              <a:p>
                <a:pPr marL="342900" lvl="2" indent="-342900" algn="just"/>
                <a:endParaRPr lang="en-US" altLang="en-US" dirty="0"/>
              </a:p>
              <a:p>
                <a:pPr marL="342900" lvl="2" indent="-342900" algn="just"/>
                <a:endParaRPr lang="en-US" dirty="0"/>
              </a:p>
              <a:p>
                <a:pPr algn="just"/>
                <a:endParaRPr lang="en-US" sz="2400" dirty="0"/>
              </a:p>
              <a:p>
                <a:endParaRPr lang="en-US" sz="2400" dirty="0"/>
              </a:p>
              <a:p>
                <a:pPr lvl="2" algn="just"/>
                <a:endParaRPr lang="en-US" dirty="0"/>
              </a:p>
              <a:p>
                <a:pPr algn="just"/>
                <a:endParaRPr lang="en-US" sz="2400" dirty="0" smtClean="0"/>
              </a:p>
            </p:txBody>
          </p:sp>
        </mc:Choice>
        <mc:Fallback xmlns="">
          <p:sp>
            <p:nvSpPr>
              <p:cNvPr id="1843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066800"/>
                <a:ext cx="8534400" cy="5486400"/>
              </a:xfrm>
              <a:blipFill rotWithShape="1">
                <a:blip r:embed="rId2"/>
                <a:stretch>
                  <a:fillRect l="-929" t="-889" r="-1929" b="-20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54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5616" y="116632"/>
            <a:ext cx="6840760" cy="1224136"/>
          </a:xfrm>
        </p:spPr>
        <p:txBody>
          <a:bodyPr>
            <a:normAutofit/>
          </a:bodyPr>
          <a:lstStyle/>
          <a:p>
            <a:r>
              <a:rPr lang="en-IN" dirty="0"/>
              <a:t>Reference Book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10</a:t>
            </a:fld>
            <a:endParaRPr lang="en-IN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611560" y="1772816"/>
            <a:ext cx="7848872" cy="35283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0" i="0" u="none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Alberto Leon-Garcia, Probability, Statistics</a:t>
            </a:r>
            <a:r>
              <a:rPr lang="en-US" sz="2000" dirty="0" smtClean="0">
                <a:solidFill>
                  <a:schemeClr val="tx1"/>
                </a:solidFill>
              </a:rPr>
              <a:t>,  and </a:t>
            </a:r>
            <a:r>
              <a:rPr lang="en-US" sz="2000" dirty="0">
                <a:solidFill>
                  <a:schemeClr val="tx1"/>
                </a:solidFill>
              </a:rPr>
              <a:t>Random </a:t>
            </a:r>
            <a:r>
              <a:rPr lang="en-US" sz="2000" dirty="0" smtClean="0">
                <a:solidFill>
                  <a:schemeClr val="tx1"/>
                </a:solidFill>
              </a:rPr>
              <a:t>Processes for </a:t>
            </a:r>
            <a:r>
              <a:rPr lang="en-US" sz="2000" dirty="0">
                <a:solidFill>
                  <a:schemeClr val="tx1"/>
                </a:solidFill>
              </a:rPr>
              <a:t>Electrical </a:t>
            </a:r>
            <a:r>
              <a:rPr lang="en-US" sz="2000" dirty="0" smtClean="0">
                <a:solidFill>
                  <a:schemeClr val="tx1"/>
                </a:solidFill>
              </a:rPr>
              <a:t>Engineering, Third Edition, 2007,  Pearson India, 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Douglas C. Montgomery and George C. </a:t>
            </a:r>
            <a:r>
              <a:rPr lang="en-US" sz="2000" dirty="0" err="1" smtClean="0">
                <a:solidFill>
                  <a:schemeClr val="tx1"/>
                </a:solidFill>
              </a:rPr>
              <a:t>Runger</a:t>
            </a:r>
            <a:r>
              <a:rPr lang="en-US" sz="2000" dirty="0" smtClean="0">
                <a:solidFill>
                  <a:schemeClr val="tx1"/>
                </a:solidFill>
              </a:rPr>
              <a:t> (2010),  Applied Statistics and Probability for Engineers. Fifth Edition. John Wiley &amp; Sons.</a:t>
            </a:r>
          </a:p>
        </p:txBody>
      </p:sp>
    </p:spTree>
    <p:extLst>
      <p:ext uri="{BB962C8B-B14F-4D97-AF65-F5344CB8AC3E}">
        <p14:creationId xmlns:p14="http://schemas.microsoft.com/office/powerpoint/2010/main" val="407259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485&quot;&gt;&lt;object type=&quot;3&quot; unique_id=&quot;10517&quot;&gt;&lt;property id=&quot;20148&quot; value=&quot;5&quot;/&gt;&lt;property id=&quot;20300&quot; value=&quot;Slide 6 - &amp;quot;What is Hypothesis?&amp;quot;&quot;/&gt;&lt;property id=&quot;20307&quot; value=&quot;305&quot;/&gt;&lt;/object&gt;&lt;object type=&quot;3&quot; unique_id=&quot;16215&quot;&gt;&lt;property id=&quot;20148&quot; value=&quot;5&quot;/&gt;&lt;property id=&quot;20300&quot; value=&quot;Slide 4 - &amp;quot;Introduction&amp;quot;&quot;/&gt;&lt;property id=&quot;20307&quot; value=&quot;315&quot;/&gt;&lt;/object&gt;&lt;object type=&quot;3&quot; unique_id=&quot;16216&quot;&gt;&lt;property id=&quot;20148&quot; value=&quot;5&quot;/&gt;&lt;property id=&quot;20300&quot; value=&quot;Slide 5 - &amp;quot;Difference between Hypothesis and Theory&amp;quot;&quot;/&gt;&lt;property id=&quot;20307&quot; value=&quot;316&quot;/&gt;&lt;/object&gt;&lt;object type=&quot;3&quot; unique_id=&quot;16217&quot;&gt;&lt;property id=&quot;20148&quot; value=&quot;5&quot;/&gt;&lt;property id=&quot;20300&quot; value=&quot;Slide 7 - &amp;quot;Example of Hypothesis&amp;quot;&quot;/&gt;&lt;property id=&quot;20307&quot; value=&quot;318&quot;/&gt;&lt;/object&gt;&lt;object type=&quot;3&quot; unique_id=&quot;16218&quot;&gt;&lt;property id=&quot;20148&quot; value=&quot;5&quot;/&gt;&lt;property id=&quot;20300&quot; value=&quot;Slide 8 - &amp;quot;Null and Alternate Hypothesis&amp;quot;&quot;/&gt;&lt;property id=&quot;20307&quot; value=&quot;317&quot;/&gt;&lt;/object&gt;&lt;object type=&quot;3&quot; unique_id=&quot;16221&quot;&gt;&lt;property id=&quot;20148&quot; value=&quot;5&quot;/&gt;&lt;property id=&quot;20300&quot; value=&quot;Slide 9 - &amp;quot;Example of Null and Alternate Hypothesis&amp;quot;&quot;/&gt;&lt;property id=&quot;20307&quot; value=&quot;320&quot;/&gt;&lt;/object&gt;&lt;object type=&quot;3&quot; unique_id=&quot;71192&quot;&gt;&lt;property id=&quot;20148&quot; value=&quot;5&quot;/&gt;&lt;property id=&quot;20300&quot; value=&quot;Slide 1&quot;/&gt;&lt;property id=&quot;20307&quot; value=&quot;348&quot;/&gt;&lt;/object&gt;&lt;object type=&quot;3&quot; unique_id=&quot;71193&quot;&gt;&lt;property id=&quot;20148&quot; value=&quot;5&quot;/&gt;&lt;property id=&quot;20300&quot; value=&quot;Slide 2 - &amp;quot;Lecture-4 Introduction to Hypothesis&amp;quot;&quot;/&gt;&lt;property id=&quot;20307&quot; value=&quot;349&quot;/&gt;&lt;/object&gt;&lt;object type=&quot;3&quot; unique_id=&quot;71194&quot;&gt;&lt;property id=&quot;20148&quot; value=&quot;5&quot;/&gt;&lt;property id=&quot;20300&quot; value=&quot;Slide 3 - &amp;quot;Content of Lecture-4 Module – 4&amp;quot;&quot;/&gt;&lt;property id=&quot;20307&quot; value=&quot;350&quot;/&gt;&lt;/object&gt;&lt;object type=&quot;3&quot; unique_id=&quot;71633&quot;&gt;&lt;property id=&quot;20148&quot; value=&quot;5&quot;/&gt;&lt;property id=&quot;20300&quot; value=&quot;Slide 10 - &amp;quot;Reference Book&amp;quot;&quot;/&gt;&lt;property id=&quot;20307&quot; value=&quot;351&quot;/&gt;&lt;/object&gt;&lt;/object&gt;&lt;object type=&quot;8&quot; unique_id=&quot;10635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5827</TotalTime>
  <Words>580</Words>
  <Application>Microsoft Office PowerPoint</Application>
  <PresentationFormat>On-screen Show (4:3)</PresentationFormat>
  <Paragraphs>82</Paragraphs>
  <Slides>10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Lecture-4 Introduction to Hypothesis</vt:lpstr>
      <vt:lpstr>Content of Lecture-4 Module – 4</vt:lpstr>
      <vt:lpstr>Introduction</vt:lpstr>
      <vt:lpstr>Difference between Hypothesis and Theory</vt:lpstr>
      <vt:lpstr>What is Hypothesis?</vt:lpstr>
      <vt:lpstr>Example of Hypothesis</vt:lpstr>
      <vt:lpstr>Null and Alternate Hypothesis</vt:lpstr>
      <vt:lpstr>Example of Null and Alternate Hypothesis</vt:lpstr>
      <vt:lpstr>Reference Book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Hem Dutt Joshi</dc:creator>
  <cp:lastModifiedBy>Dr. Hem Dutt Joshi</cp:lastModifiedBy>
  <cp:revision>213</cp:revision>
  <dcterms:created xsi:type="dcterms:W3CDTF">2006-08-16T00:00:00Z</dcterms:created>
  <dcterms:modified xsi:type="dcterms:W3CDTF">2020-07-17T10:47:04Z</dcterms:modified>
</cp:coreProperties>
</file>