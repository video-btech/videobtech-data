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84" r:id="rId4"/>
    <p:sldId id="273" r:id="rId5"/>
    <p:sldId id="274" r:id="rId6"/>
    <p:sldId id="275" r:id="rId7"/>
    <p:sldId id="276" r:id="rId8"/>
    <p:sldId id="277" r:id="rId9"/>
    <p:sldId id="279" r:id="rId10"/>
    <p:sldId id="278" r:id="rId11"/>
    <p:sldId id="285" r:id="rId12"/>
    <p:sldId id="280" r:id="rId13"/>
    <p:sldId id="281" r:id="rId14"/>
    <p:sldId id="283" r:id="rId15"/>
  </p:sldIdLst>
  <p:sldSz cx="9144000" cy="6858000" type="screen4x3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2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0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2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264D-E19C-4FAD-88B5-41E81D072FC5}" type="datetimeFigureOut">
              <a:rPr lang="en-US" smtClean="0"/>
              <a:t>7/7/2020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EB974-35ED-4DA0-8C4C-57DD0BC0B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babilitycourse.com/chapter7/7_1_2_central_limit_theorem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84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Lecture-7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Moments</a:t>
            </a:r>
            <a:r>
              <a:rPr lang="en-US" dirty="0"/>
              <a:t>, Characteristic Functions </a:t>
            </a:r>
            <a:r>
              <a:rPr lang="en-US" dirty="0" smtClean="0"/>
              <a:t>of Functions of Random Variable</a:t>
            </a:r>
            <a:r>
              <a:rPr lang="en-US" b="1" u="sng" dirty="0" smtClean="0">
                <a:solidFill>
                  <a:srgbClr val="00B050"/>
                </a:solidFill>
              </a:rPr>
              <a:t/>
            </a:r>
            <a:br>
              <a:rPr lang="en-US" b="1" u="sng" dirty="0" smtClean="0">
                <a:solidFill>
                  <a:srgbClr val="00B050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Moments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The shape of any distribution can be described by its various ‘</a:t>
            </a:r>
            <a:r>
              <a:rPr lang="en-US" sz="2000" b="1" i="1" dirty="0">
                <a:solidFill>
                  <a:srgbClr val="C00000"/>
                </a:solidFill>
              </a:rPr>
              <a:t>moments</a:t>
            </a:r>
            <a:r>
              <a:rPr lang="en-US" sz="2000" dirty="0"/>
              <a:t>’. The first four are: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The </a:t>
            </a:r>
            <a:r>
              <a:rPr lang="en-US" sz="2000" dirty="0">
                <a:solidFill>
                  <a:srgbClr val="FF0000"/>
                </a:solidFill>
              </a:rPr>
              <a:t>mean</a:t>
            </a:r>
            <a:r>
              <a:rPr lang="en-US" sz="2000" dirty="0"/>
              <a:t>, which indicates the </a:t>
            </a:r>
            <a:r>
              <a:rPr lang="en-US" sz="2000" dirty="0">
                <a:solidFill>
                  <a:srgbClr val="FF0000"/>
                </a:solidFill>
              </a:rPr>
              <a:t>central tendency of a distribution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second moment is the </a:t>
            </a:r>
            <a:r>
              <a:rPr lang="en-US" sz="2000" dirty="0">
                <a:solidFill>
                  <a:srgbClr val="00B050"/>
                </a:solidFill>
              </a:rPr>
              <a:t>variance</a:t>
            </a:r>
            <a:r>
              <a:rPr lang="en-US" sz="2000" dirty="0"/>
              <a:t>, which indicates the </a:t>
            </a:r>
            <a:r>
              <a:rPr lang="en-US" sz="2000" dirty="0">
                <a:solidFill>
                  <a:srgbClr val="00B050"/>
                </a:solidFill>
              </a:rPr>
              <a:t>width or deviation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third moment is the </a:t>
            </a:r>
            <a:r>
              <a:rPr lang="en-US" sz="2000" dirty="0">
                <a:solidFill>
                  <a:srgbClr val="C00000"/>
                </a:solidFill>
              </a:rPr>
              <a:t>skewness</a:t>
            </a:r>
            <a:r>
              <a:rPr lang="en-US" sz="2000" dirty="0"/>
              <a:t>, which indicates </a:t>
            </a:r>
            <a:r>
              <a:rPr lang="en-US" sz="2000" dirty="0">
                <a:solidFill>
                  <a:srgbClr val="C00000"/>
                </a:solidFill>
              </a:rPr>
              <a:t>lack of symmetry</a:t>
            </a:r>
            <a:r>
              <a:rPr lang="en-US" sz="20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 smtClean="0"/>
              <a:t>normal </a:t>
            </a:r>
            <a:r>
              <a:rPr lang="en-US" sz="1800" dirty="0"/>
              <a:t>distribution has a skew of zero, while a </a:t>
            </a:r>
            <a:r>
              <a:rPr lang="en-US" sz="1800" i="1" u="sng" dirty="0" smtClean="0"/>
              <a:t>lognormal distribution</a:t>
            </a:r>
            <a:r>
              <a:rPr lang="en-US" sz="1800" dirty="0" smtClean="0"/>
              <a:t>, </a:t>
            </a:r>
            <a:r>
              <a:rPr lang="en-US" sz="1800" dirty="0"/>
              <a:t>for example, would exhibit some degree of right-skew.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fourth moment is the </a:t>
            </a:r>
            <a:r>
              <a:rPr lang="en-US" sz="2000" dirty="0">
                <a:solidFill>
                  <a:srgbClr val="0070C0"/>
                </a:solidFill>
              </a:rPr>
              <a:t>Kurtosis</a:t>
            </a:r>
            <a:r>
              <a:rPr lang="en-US" sz="2000" dirty="0"/>
              <a:t>, which indicates </a:t>
            </a:r>
            <a:r>
              <a:rPr lang="en-US" sz="2000" dirty="0">
                <a:solidFill>
                  <a:srgbClr val="0070C0"/>
                </a:solidFill>
              </a:rPr>
              <a:t>how heavily the tails of a distribution differ from the tails of a normal distribution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665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Moments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b="1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Central moment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𝜂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1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𝜂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𝜂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5257800"/>
              </a:xfrm>
              <a:blipFill rotWithShape="1">
                <a:blip r:embed="rId2"/>
                <a:stretch>
                  <a:fillRect l="-741" b="-4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94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Moments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763000" cy="5257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 smtClean="0">
                    <a:latin typeface="Cambria Math"/>
                  </a:rPr>
                  <a:t>Similarly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1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1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1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800" b="0" i="1" smtClean="0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sz="1800" i="1" smtClean="0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18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18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sz="1800" i="1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1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/>
                            </a:rPr>
                            <m:t>𝑘</m:t>
                          </m:r>
                          <m:r>
                            <a:rPr lang="en-US" sz="18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8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r>
                            <a:rPr lang="en-US" sz="18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1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𝜂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b="1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dirty="0" smtClean="0"/>
                  <a:t>In particular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 smtClean="0"/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sz="2000" dirty="0" smtClean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dirty="0" smtClean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−3 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+2 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 smtClean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3 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+2 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𝜂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763000" cy="5257800"/>
              </a:xfrm>
              <a:blipFill rotWithShape="1">
                <a:blip r:embed="rId2"/>
                <a:stretch>
                  <a:fillRect l="-765" t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Characteristic Function of a Random Variable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7630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l-GR" sz="200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                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=1     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  <a:ea typeface="Cambria Math"/>
                            </a:rPr>
                            <m:t>Φ</m:t>
                          </m:r>
                          <m:d>
                            <m:dPr>
                              <m:ctrlPr>
                                <a:rPr lang="el-GR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l-GR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en-US" sz="2000" dirty="0" smtClean="0"/>
                  <a:t> then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 smtClean="0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                    </m:t>
                      </m:r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sz="2000" i="1">
                        <a:latin typeface="Cambria Math"/>
                        <a:ea typeface="Cambria Math"/>
                      </a:rPr>
                      <m:t>𝜙</m:t>
                    </m:r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 is known as </a:t>
                </a:r>
                <a:r>
                  <a:rPr lang="en-US" sz="2000" b="1" dirty="0" smtClean="0"/>
                  <a:t>Moment Generating Function of random variable ‘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 smtClean="0"/>
                  <a:t>’</a:t>
                </a:r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b="1" i="1" u="sng" dirty="0" smtClean="0"/>
                  <a:t>Utility of MGF</a:t>
                </a:r>
              </a:p>
              <a:p>
                <a:pPr algn="just"/>
                <a:r>
                  <a:rPr lang="en-US" sz="1800" dirty="0"/>
                  <a:t>T</a:t>
                </a:r>
                <a:r>
                  <a:rPr lang="en-US" sz="1800" dirty="0" smtClean="0"/>
                  <a:t>he </a:t>
                </a:r>
                <a:r>
                  <a:rPr lang="en-US" sz="1800" dirty="0"/>
                  <a:t>MGF of 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𝒙</m:t>
                    </m:r>
                    <m:r>
                      <a:rPr lang="en-US" sz="1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 gives </a:t>
                </a:r>
                <a:r>
                  <a:rPr lang="en-US" sz="1800" dirty="0" smtClean="0"/>
                  <a:t>all </a:t>
                </a:r>
                <a:r>
                  <a:rPr lang="en-US" sz="1800" dirty="0"/>
                  <a:t>moments of 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. That is why it is called the moment generating </a:t>
                </a:r>
                <a:r>
                  <a:rPr lang="en-US" sz="1800" dirty="0" smtClean="0"/>
                  <a:t>function.</a:t>
                </a:r>
              </a:p>
              <a:p>
                <a:pPr algn="just"/>
                <a:r>
                  <a:rPr lang="en-US" sz="1800" dirty="0"/>
                  <a:t>T</a:t>
                </a:r>
                <a:r>
                  <a:rPr lang="en-US" sz="1800" dirty="0" smtClean="0"/>
                  <a:t>he </a:t>
                </a:r>
                <a:r>
                  <a:rPr lang="en-US" sz="1800" dirty="0"/>
                  <a:t>MGF (if it exists) uniquely determines the distribution. That is, if two random variables have the same MGF, then they must have the same distribution. Thus, </a:t>
                </a:r>
                <a:r>
                  <a:rPr lang="en-US" sz="1800" dirty="0" smtClean="0"/>
                  <a:t>finding </a:t>
                </a:r>
                <a:r>
                  <a:rPr lang="en-US" sz="1800" dirty="0"/>
                  <a:t>the MGF of a random </a:t>
                </a:r>
                <a:r>
                  <a:rPr lang="en-US" sz="1800" dirty="0" smtClean="0"/>
                  <a:t>variable confirms that its distribution is </a:t>
                </a:r>
                <a:r>
                  <a:rPr lang="en-US" sz="1800" dirty="0"/>
                  <a:t>determined</a:t>
                </a:r>
                <a:r>
                  <a:rPr lang="en-US" sz="1800" dirty="0" smtClean="0"/>
                  <a:t>.</a:t>
                </a:r>
              </a:p>
              <a:p>
                <a:pPr algn="just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763000" cy="5715000"/>
              </a:xfrm>
              <a:blipFill rotWithShape="1">
                <a:blip r:embed="rId2"/>
                <a:stretch>
                  <a:fillRect l="-765" r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55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/>
              <a:t>Moment Generating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7630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b="1" u="sng" dirty="0" smtClean="0"/>
                  <a:t>Ex-1:</a:t>
                </a:r>
                <a:r>
                  <a:rPr lang="en-US" sz="2000" dirty="0" smtClean="0"/>
                  <a:t> Determine MGF if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 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sz="2000" i="1">
                        <a:latin typeface="Cambria Math"/>
                        <a:ea typeface="Cambria Math"/>
                      </a:rPr>
                      <m:t>𝜙</m:t>
                    </m:r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ea typeface="Cambria Math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2000" dirty="0" smtClean="0"/>
                  <a:t>             which is well defined for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b="1" u="sng" dirty="0" smtClean="0"/>
                  <a:t>Ex-2: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Determine MGF if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/>
                  <a:t> is Uniform (0, 1) random variable</a:t>
                </a:r>
                <a:endParaRPr lang="en-US" sz="2000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l-GR" sz="2000" i="1">
                        <a:latin typeface="Cambria Math"/>
                        <a:ea typeface="Cambria Math"/>
                      </a:rPr>
                      <m:t>𝜙</m:t>
                    </m:r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sup>
                        </m:sSup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𝑑𝑥</m:t>
                        </m:r>
                      </m:e>
                    </m:nary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2000" dirty="0" smtClean="0"/>
                  <a:t>     </a:t>
                </a:r>
                <a:r>
                  <a:rPr lang="en-US" sz="2000" dirty="0"/>
                  <a:t>which is well defined for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∈ 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r>
                  <a:rPr lang="en-US" sz="2000" dirty="0" smtClean="0"/>
                  <a:t>  as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∗ 0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763000" cy="5715000"/>
              </a:xfrm>
              <a:blipFill rotWithShape="1">
                <a:blip r:embed="rId2"/>
                <a:stretch>
                  <a:fillRect l="-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08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Finding Moment from MGF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763000" cy="57150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sz="2000" dirty="0" smtClean="0"/>
                  <a:t>Using the Taylor series expansion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=1+</m:t>
                      </m:r>
                      <m:r>
                        <a:rPr lang="en-US" sz="2000" b="0" i="1" smtClean="0">
                          <a:latin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!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US" sz="2000" i="1">
                              <a:latin typeface="Cambria Math"/>
                            </a:rPr>
                            <m:t>!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+…=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𝑠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𝒕𝒉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moment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is the coefficient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in the Taylor series of MGF </a:t>
                </a:r>
                <a14:m>
                  <m:oMath xmlns:m="http://schemas.openxmlformats.org/officeDocument/2006/math">
                    <m:r>
                      <a:rPr lang="el-GR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𝝓</m:t>
                    </m:r>
                    <m:d>
                      <m:dPr>
                        <m:ctrlPr>
                          <a:rPr lang="el-GR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𝒔</m:t>
                        </m:r>
                      </m:e>
                    </m:d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.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763000" cy="5715000"/>
              </a:xfrm>
              <a:blipFill rotWithShape="1">
                <a:blip r:embed="rId2"/>
                <a:stretch>
                  <a:fillRect l="-765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17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Finding Moment from MGF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09600"/>
                <a:ext cx="8763000" cy="57150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From calculus, the </a:t>
                </a:r>
                <a:r>
                  <a:rPr lang="en-US" sz="2000" dirty="0"/>
                  <a:t>coefficient of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 smtClean="0"/>
                  <a:t>in </a:t>
                </a:r>
                <a:r>
                  <a:rPr lang="en-US" sz="2000" dirty="0"/>
                  <a:t>the Taylor series of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MGF </a:t>
                </a:r>
                <a14:m>
                  <m:oMath xmlns:m="http://schemas.openxmlformats.org/officeDocument/2006/math">
                    <m:r>
                      <a:rPr lang="el-GR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𝝓</m:t>
                    </m:r>
                    <m:d>
                      <m:dPr>
                        <m:ctrlPr>
                          <a:rPr lang="el-GR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𝒔</m:t>
                        </m:r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is obtained by taking the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𝒕𝒉</m:t>
                    </m:r>
                  </m:oMath>
                </a14:m>
                <a:r>
                  <a:rPr lang="en-US" sz="2000" dirty="0"/>
                  <a:t> derivative of </a:t>
                </a:r>
                <a:r>
                  <a:rPr lang="el-GR" sz="2000" b="1" dirty="0">
                    <a:solidFill>
                      <a:srgbClr val="FF0000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l-GR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𝝓</m:t>
                    </m:r>
                    <m:d>
                      <m:dPr>
                        <m:ctrlPr>
                          <a:rPr lang="el-GR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𝒔</m:t>
                        </m:r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and evaluating it at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𝑠</m:t>
                    </m:r>
                    <m:r>
                      <a:rPr lang="en-US" sz="2000" i="1" dirty="0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i.e.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l-GR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l-GR" sz="20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𝑠</m:t>
                                      </m:r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𝑑𝑠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b="1" u="sng" dirty="0" smtClean="0"/>
                  <a:t>Ex-3:</a:t>
                </a:r>
                <a:r>
                  <a:rPr lang="en-US" sz="2000" dirty="0" smtClean="0"/>
                  <a:t> Determine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 from MGF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smtClean="0"/>
                  <a:t>if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/>
                  <a:t> is Uniform (0, 1) random variable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den>
                      </m:f>
                      <m:r>
                        <a:rPr lang="en-US" sz="2000" b="0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  <m:r>
                            <a:rPr lang="en-US" sz="20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den>
                      </m:f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+1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𝒕𝒉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moment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is the coefficient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in the Taylor series of MGF </a:t>
                </a:r>
                <a14:m>
                  <m:oMath xmlns:m="http://schemas.openxmlformats.org/officeDocument/2006/math">
                    <m:r>
                      <a:rPr lang="el-GR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𝝓</m:t>
                    </m:r>
                    <m:d>
                      <m:dPr>
                        <m:ctrlPr>
                          <a:rPr lang="el-GR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𝒔</m:t>
                        </m:r>
                      </m:e>
                    </m:d>
                  </m:oMath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09600"/>
                <a:ext cx="8763000" cy="5715000"/>
              </a:xfrm>
              <a:blipFill rotWithShape="1">
                <a:blip r:embed="rId2"/>
                <a:stretch>
                  <a:fillRect l="-765" t="-7783" r="-696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36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Finding Moment from MGF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09600"/>
                <a:ext cx="8763000" cy="57150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000" b="1" u="sng" dirty="0" smtClean="0"/>
                  <a:t>Ex-4:</a:t>
                </a:r>
                <a:r>
                  <a:rPr lang="en-US" sz="2000" dirty="0" smtClean="0"/>
                  <a:t> Determine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 smtClean="0"/>
                  <a:t> and MGF of a random variable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smtClean="0"/>
                  <a:t> which is exponentially distributed, given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𝜆</m:t>
                    </m:r>
                    <m:sSup>
                      <m:sSupPr>
                        <m:ctrlPr>
                          <a:rPr lang="en-US" sz="20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𝜆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𝑈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𝜆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𝑠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𝜆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𝑠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  <m:sup/>
                          </m:sSubSup>
                        </m:e>
                        <m:sup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  <a:ea typeface="Cambria Math"/>
                        </a:rPr>
                        <m:t>for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𝜆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𝒕𝒉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moment of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is the coefficient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in the Taylor series of MGF </a:t>
                </a:r>
                <a14:m>
                  <m:oMath xmlns:m="http://schemas.openxmlformats.org/officeDocument/2006/math">
                    <m:r>
                      <a:rPr lang="el-GR" sz="20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𝝓</m:t>
                    </m:r>
                    <m:d>
                      <m:dPr>
                        <m:ctrlPr>
                          <a:rPr lang="el-GR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𝒔</m:t>
                        </m:r>
                      </m:e>
                    </m:d>
                  </m:oMath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den>
                      </m:f>
                      <m:r>
                        <a:rPr lang="en-US" sz="2000" b="1" i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f>
                            <m:fPr>
                              <m:type m:val="skw"/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</m:den>
                          </m:f>
                        </m:den>
                      </m:f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𝑠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𝜆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,        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𝑓𝑜𝑟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&lt;1</m:t>
                          </m:r>
                        </m:e>
                      </m:nary>
                    </m:oMath>
                  </m:oMathPara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i="1">
                          <a:latin typeface="Cambria Math"/>
                          <a:ea typeface="Cambria Math"/>
                        </a:rPr>
                        <m:t>𝜙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  <m:r>
                            <a:rPr lang="en-US" sz="2000" i="1">
                              <a:latin typeface="Cambria Math"/>
                            </a:rPr>
                            <m:t>!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09600"/>
                <a:ext cx="8763000" cy="5715000"/>
              </a:xfrm>
              <a:blipFill rotWithShape="1">
                <a:blip r:embed="rId2"/>
                <a:stretch>
                  <a:fillRect l="-765" t="-426" r="-696" b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3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6397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Finding </a:t>
            </a:r>
            <a:r>
              <a:rPr lang="en-US" sz="3200" b="1" dirty="0" smtClean="0"/>
              <a:t>Distribution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457200"/>
                <a:ext cx="8763000" cy="62484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Find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of a RV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where RV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∽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0, 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The characteristic function is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  <a:ea typeface="Cambria Math"/>
                            </a:rPr>
                            <m:t>Φ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𝜎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type m:val="lin"/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</m:e>
                          </m:d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  <a:ea typeface="Cambria Math"/>
                            </a:rPr>
                            <m:t>Φ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Now as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increases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0 </m:t>
                    </m:r>
                    <m:r>
                      <a:rPr lang="en-US" sz="2000" i="1">
                        <a:latin typeface="Cambria Math"/>
                      </a:rPr>
                      <m:t>𝑡𝑜</m:t>
                    </m:r>
                    <m:r>
                      <a:rPr lang="en-US" sz="2000" i="1">
                        <a:latin typeface="Cambria Math"/>
                      </a:rPr>
                      <m:t> ∞</m:t>
                    </m:r>
                  </m:oMath>
                </a14:m>
                <a:r>
                  <a:rPr lang="en-US" sz="2000" dirty="0"/>
                  <a:t> the transformation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𝒚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will be one-to-one.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Substituting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𝒚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𝑎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   i.e.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𝑑𝑦</m:t>
                    </m:r>
                    <m:r>
                      <a:rPr lang="en-US" sz="2000" i="1">
                        <a:latin typeface="Cambria Math"/>
                      </a:rPr>
                      <m:t>=2</m:t>
                    </m:r>
                    <m:r>
                      <a:rPr lang="en-US" sz="2000" i="1">
                        <a:latin typeface="Cambria Math"/>
                      </a:rPr>
                      <m:t>𝑎𝑥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𝑑𝑥</m:t>
                    </m:r>
                    <m:r>
                      <a:rPr lang="en-US" sz="2000" i="1">
                        <a:latin typeface="Cambria Math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</m:rad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𝑑𝑥</m:t>
                    </m:r>
                  </m:oMath>
                </a14:m>
                <a:endParaRPr lang="en-US" sz="2000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  <a:ea typeface="Cambria Math"/>
                            </a:rPr>
                            <m:t>Φ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𝑎𝑦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2000" b="1" i="1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𝒆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𝒚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𝟐</m:t>
                                  </m:r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𝒂</m:t>
                                  </m:r>
                                  <m:r>
                                    <a:rPr lang="en-US" sz="2000" b="1" i="1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en-US" sz="2000" b="1" i="1">
                                          <a:solidFill>
                                            <a:srgbClr val="C00000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US" sz="2000" b="1" i="1">
                              <a:solidFill>
                                <a:srgbClr val="C00000"/>
                              </a:solidFill>
                              <a:latin typeface="Cambria Math"/>
                              <a:ea typeface="Cambria Math"/>
                            </a:rPr>
                            <m:t>𝝈</m:t>
                          </m:r>
                          <m:rad>
                            <m:radPr>
                              <m:degHide m:val="on"/>
                              <m:ctrlP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𝟐</m:t>
                              </m:r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𝝅</m:t>
                              </m:r>
                              <m:r>
                                <a:rPr lang="en-US" sz="2000" b="1" i="1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𝒂𝒚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 algn="just">
                  <a:buNone/>
                </a:pPr>
                <a:endParaRPr lang="en-US" sz="2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457200"/>
                <a:ext cx="8763000" cy="6248400"/>
              </a:xfrm>
              <a:blipFill rotWithShape="1">
                <a:blip r:embed="rId2"/>
                <a:stretch>
                  <a:fillRect l="-765" t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34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MGF of Function of Random Variables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762000"/>
                <a:ext cx="8763000" cy="5257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Theorem-1: </a:t>
                </a:r>
                <a:r>
                  <a:rPr lang="en-US" sz="2000" dirty="0"/>
                  <a:t>Consider two random variables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and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. Suppose that there exists a positive constant </a:t>
                </a:r>
                <a:r>
                  <a:rPr lang="en-US" sz="2000" dirty="0" smtClean="0"/>
                  <a:t>c</a:t>
                </a:r>
                <a:r>
                  <a:rPr lang="en-US" sz="2000" dirty="0"/>
                  <a:t> such that MGFs of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and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are finite and identical for all values of </a:t>
                </a:r>
                <a:r>
                  <a:rPr lang="en-US" sz="2000" dirty="0" smtClean="0"/>
                  <a:t>s</a:t>
                </a:r>
                <a:r>
                  <a:rPr lang="en-US" sz="2000" dirty="0"/>
                  <a:t> in [−c</a:t>
                </a:r>
                <a:r>
                  <a:rPr lang="en-US" sz="2000" dirty="0" smtClean="0"/>
                  <a:t>, c]. Then,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</m:sub>
                      </m:sSub>
                      <m:d>
                        <m:d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sub>
                      </m:sSub>
                      <m:d>
                        <m:dPr>
                          <m:ctrlPr>
                            <a:rPr lang="en-US" sz="20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      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∀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ℝ</m:t>
                      </m:r>
                    </m:oMath>
                  </m:oMathPara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000" dirty="0"/>
                      <m:t>,……, 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/>
                  <a:t> are n independent random variable and an another RV is defined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000" b="0" i="0" smtClean="0">
                        <a:latin typeface="Cambria Math"/>
                      </a:rPr>
                      <m:t>+</m:t>
                    </m:r>
                    <m:r>
                      <m:rPr>
                        <m:nor/>
                      </m:rPr>
                      <a:rPr lang="en-US" sz="2000" dirty="0"/>
                      <m:t>……</m:t>
                    </m:r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000" i="1">
                            <a:latin typeface="Cambria Math"/>
                            <a:ea typeface="Cambria Math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000" i="1">
                            <a:latin typeface="Cambria Math"/>
                            <a:ea typeface="Cambria Math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el-GR" sz="2000" i="1">
                            <a:latin typeface="Cambria Math"/>
                            <a:ea typeface="Cambria Math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 ……</m:t>
                    </m:r>
                    <m:sSub>
                      <m:sSub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l-GR" sz="2000" i="1">
                            <a:latin typeface="Cambria Math"/>
                            <a:ea typeface="Cambria Math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l-GR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200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/>
                                    <m:t>……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 </m:t>
                          </m:r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  ……</m:t>
                      </m:r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762000"/>
                <a:ext cx="8763000" cy="5257800"/>
              </a:xfrm>
              <a:blipFill rotWithShape="1">
                <a:blip r:embed="rId2"/>
                <a:stretch>
                  <a:fillRect l="-765" t="-579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619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Importance of Characteristic Function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762000"/>
                <a:ext cx="8763000" cy="5257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There are random variables for which the moment generating function does not exist on any real interval with positive length</a:t>
                </a:r>
                <a:r>
                  <a:rPr lang="en-US" sz="2000" dirty="0" smtClean="0"/>
                  <a:t>. For example, consider the random variable 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that has a </a:t>
                </a:r>
                <a:r>
                  <a:rPr lang="en-US" sz="2000" b="1" i="1" dirty="0"/>
                  <a:t>Cauchy</a:t>
                </a:r>
                <a:r>
                  <a:rPr lang="en-US" sz="2000" b="1" dirty="0"/>
                  <a:t> </a:t>
                </a:r>
                <a:r>
                  <a:rPr lang="en-US" sz="2000" b="1" dirty="0" smtClean="0"/>
                  <a:t>distribution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den>
                          </m:f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             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∀ 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ℝ</m:t>
                      </m:r>
                    </m:oMath>
                  </m:oMathPara>
                </a14:m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It can easily be shown that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type m:val="lin"/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=∞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Therefore, the moment generating function does not exist for this random variable on any real interval with positive length. If a random variable does not have a well-defined MGF, </a:t>
                </a:r>
                <a:r>
                  <a:rPr lang="en-US" sz="2000" dirty="0" smtClean="0"/>
                  <a:t>then characteristic function can be used to find the distribution.</a:t>
                </a:r>
                <a:endParaRPr lang="en-US" sz="2000" dirty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000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762000"/>
                <a:ext cx="8763000" cy="5257800"/>
              </a:xfrm>
              <a:blipFill rotWithShape="1">
                <a:blip r:embed="rId2"/>
                <a:stretch>
                  <a:fillRect l="-765" r="-696" b="-2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9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Inversion Formula from Characteristic Function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762000"/>
                <a:ext cx="8763000" cy="5257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 characteristic function is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/>
                          <a:ea typeface="Cambria Math"/>
                        </a:rPr>
                        <m:t>Φ</m:t>
                      </m:r>
                      <m:d>
                        <m:dPr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l-GR" sz="2000" i="1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Thus, the PDF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/>
                  <a:t> can be written as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Cambria Math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latin typeface="Cambria Math"/>
                              <a:ea typeface="Cambria Math"/>
                            </a:rPr>
                            <m:t>Φ</m:t>
                          </m:r>
                          <m:d>
                            <m:dPr>
                              <m:ctrlPr>
                                <a:rPr lang="el-GR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l-GR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sz="2000" i="1" dirty="0" smtClean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762000"/>
                <a:ext cx="8763000" cy="5257800"/>
              </a:xfrm>
              <a:blipFill rotWithShape="1">
                <a:blip r:embed="rId2"/>
                <a:stretch>
                  <a:fillRect l="-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7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  <a:p>
            <a:pPr algn="just"/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www.probabilitycourse.com/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3190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25&quot;&gt;&lt;object type=&quot;3&quot; unique_id=&quot;10026&quot;&gt;&lt;property id=&quot;20148&quot; value=&quot;5&quot;/&gt;&lt;property id=&quot;20300&quot; value=&quot;Slide 1 - &amp;quot;Lecture-7  Moments, Characteristic Functions of Functions of Random Variable &amp;quot;&quot;/&gt;&lt;property id=&quot;20307&quot; value=&quot;256&quot;/&gt;&lt;/object&gt;&lt;object type=&quot;3&quot; unique_id=&quot;10027&quot;&gt;&lt;property id=&quot;20148&quot; value=&quot;5&quot;/&gt;&lt;property id=&quot;20300&quot; value=&quot;Slide 2 - &amp;quot;Moments&amp;quot;&quot;/&gt;&lt;property id=&quot;20307&quot; value=&quot;272&quot;/&gt;&lt;/object&gt;&lt;object type=&quot;3&quot; unique_id=&quot;10028&quot;&gt;&lt;property id=&quot;20148&quot; value=&quot;5&quot;/&gt;&lt;property id=&quot;20300&quot; value=&quot;Slide 4 - &amp;quot;Moments&amp;quot;&quot;/&gt;&lt;property id=&quot;20307&quot; value=&quot;273&quot;/&gt;&lt;/object&gt;&lt;object type=&quot;3&quot; unique_id=&quot;10029&quot;&gt;&lt;property id=&quot;20148&quot; value=&quot;5&quot;/&gt;&lt;property id=&quot;20300&quot; value=&quot;Slide 5 - &amp;quot;Characteristic Function of a Random Variable&amp;quot;&quot;/&gt;&lt;property id=&quot;20307&quot; value=&quot;274&quot;/&gt;&lt;/object&gt;&lt;object type=&quot;3&quot; unique_id=&quot;10030&quot;&gt;&lt;property id=&quot;20148&quot; value=&quot;5&quot;/&gt;&lt;property id=&quot;20300&quot; value=&quot;Slide 6 - &amp;quot;Moment Generating Function&amp;quot;&quot;/&gt;&lt;property id=&quot;20307&quot; value=&quot;275&quot;/&gt;&lt;/object&gt;&lt;object type=&quot;3&quot; unique_id=&quot;10031&quot;&gt;&lt;property id=&quot;20148&quot; value=&quot;5&quot;/&gt;&lt;property id=&quot;20300&quot; value=&quot;Slide 7 - &amp;quot;Finding Moment from MGF&amp;quot;&quot;/&gt;&lt;property id=&quot;20307&quot; value=&quot;276&quot;/&gt;&lt;/object&gt;&lt;object type=&quot;3&quot; unique_id=&quot;10032&quot;&gt;&lt;property id=&quot;20148&quot; value=&quot;5&quot;/&gt;&lt;property id=&quot;20300&quot; value=&quot;Slide 8 - &amp;quot;Finding Moment from MGF&amp;quot;&quot;/&gt;&lt;property id=&quot;20307&quot; value=&quot;277&quot;/&gt;&lt;/object&gt;&lt;object type=&quot;3&quot; unique_id=&quot;10033&quot;&gt;&lt;property id=&quot;20148&quot; value=&quot;5&quot;/&gt;&lt;property id=&quot;20300&quot; value=&quot;Slide 9 - &amp;quot;Finding Moment from MGF&amp;quot;&quot;/&gt;&lt;property id=&quot;20307&quot; value=&quot;279&quot;/&gt;&lt;/object&gt;&lt;object type=&quot;3&quot; unique_id=&quot;10034&quot;&gt;&lt;property id=&quot;20148&quot; value=&quot;5&quot;/&gt;&lt;property id=&quot;20300&quot; value=&quot;Slide 10 - &amp;quot;Finding Distribution&amp;quot;&quot;/&gt;&lt;property id=&quot;20307&quot; value=&quot;278&quot;/&gt;&lt;/object&gt;&lt;object type=&quot;3&quot; unique_id=&quot;10035&quot;&gt;&lt;property id=&quot;20148&quot; value=&quot;5&quot;/&gt;&lt;property id=&quot;20300&quot; value=&quot;Slide 12 - &amp;quot;Importance of Characteristic Function&amp;quot;&quot;/&gt;&lt;property id=&quot;20307&quot; value=&quot;280&quot;/&gt;&lt;/object&gt;&lt;object type=&quot;3&quot; unique_id=&quot;10036&quot;&gt;&lt;property id=&quot;20148&quot; value=&quot;5&quot;/&gt;&lt;property id=&quot;20300&quot; value=&quot;Slide 13 - &amp;quot;Inversion Formula from Characteristic Function&amp;quot;&quot;/&gt;&lt;property id=&quot;20307&quot; value=&quot;281&quot;/&gt;&lt;/object&gt;&lt;object type=&quot;3&quot; unique_id=&quot;10038&quot;&gt;&lt;property id=&quot;20148&quot; value=&quot;5&quot;/&gt;&lt;property id=&quot;20300&quot; value=&quot;Slide 14 - &amp;quot;Reference&amp;quot;&quot;/&gt;&lt;property id=&quot;20307&quot; value=&quot;283&quot;/&gt;&lt;/object&gt;&lt;object type=&quot;3&quot; unique_id=&quot;10114&quot;&gt;&lt;property id=&quot;20148&quot; value=&quot;5&quot;/&gt;&lt;property id=&quot;20300&quot; value=&quot;Slide 3 - &amp;quot;Moments&amp;quot;&quot;/&gt;&lt;property id=&quot;20307&quot; value=&quot;284&quot;/&gt;&lt;/object&gt;&lt;object type=&quot;3&quot; unique_id=&quot;10371&quot;&gt;&lt;property id=&quot;20148&quot; value=&quot;5&quot;/&gt;&lt;property id=&quot;20300&quot; value=&quot;Slide 11 - &amp;quot;MGF of Function of Random Variables&amp;quot;&quot;/&gt;&lt;property id=&quot;20307&quot; value=&quot;285&quot;/&gt;&lt;/object&gt;&lt;/object&gt;&lt;object type=&quot;8&quot; unique_id=&quot;10053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1416</Words>
  <Application>Microsoft Office PowerPoint</Application>
  <PresentationFormat>On-screen Show (4:3)</PresentationFormat>
  <Paragraphs>87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Lecture-7  Moments, Characteristic Functions of Functions of Random Variable </vt:lpstr>
      <vt:lpstr>Moments</vt:lpstr>
      <vt:lpstr>Moments</vt:lpstr>
      <vt:lpstr>Moments</vt:lpstr>
      <vt:lpstr>Characteristic Function of a Random Variable</vt:lpstr>
      <vt:lpstr>Moment Generating Function</vt:lpstr>
      <vt:lpstr>Finding Moment from MGF</vt:lpstr>
      <vt:lpstr>Finding Moment from MGF</vt:lpstr>
      <vt:lpstr>Finding Moment from MGF</vt:lpstr>
      <vt:lpstr>Finding Distribution</vt:lpstr>
      <vt:lpstr>MGF of Function of Random Variables</vt:lpstr>
      <vt:lpstr>Importance of Characteristic Function</vt:lpstr>
      <vt:lpstr>Inversion Formula from Characteristic Function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Lecture-5  FUNCTIONS OF ONE RANDOM VARIABLE</dc:title>
  <dc:creator>ashutosh</dc:creator>
  <cp:lastModifiedBy>ashutosh</cp:lastModifiedBy>
  <cp:revision>79</cp:revision>
  <dcterms:created xsi:type="dcterms:W3CDTF">2020-06-13T16:57:58Z</dcterms:created>
  <dcterms:modified xsi:type="dcterms:W3CDTF">2020-07-07T04:59:46Z</dcterms:modified>
</cp:coreProperties>
</file>