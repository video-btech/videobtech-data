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48" r:id="rId2"/>
    <p:sldId id="349" r:id="rId3"/>
    <p:sldId id="350" r:id="rId4"/>
    <p:sldId id="319" r:id="rId5"/>
    <p:sldId id="352" r:id="rId6"/>
    <p:sldId id="290" r:id="rId7"/>
    <p:sldId id="323" r:id="rId8"/>
    <p:sldId id="306" r:id="rId9"/>
    <p:sldId id="322" r:id="rId10"/>
    <p:sldId id="333" r:id="rId11"/>
    <p:sldId id="351" r:id="rId12"/>
  </p:sldIdLst>
  <p:sldSz cx="9144000" cy="6858000" type="screen4x3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86408" autoAdjust="0"/>
  </p:normalViewPr>
  <p:slideViewPr>
    <p:cSldViewPr>
      <p:cViewPr>
        <p:scale>
          <a:sx n="50" d="100"/>
          <a:sy n="50" d="100"/>
        </p:scale>
        <p:origin x="-1267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AAA789-524D-4684-863F-5B8C863AC3CF}" type="datetimeFigureOut">
              <a:rPr lang="en-IN" smtClean="0"/>
              <a:t>17-07-2020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974BAE-09B5-4D55-9C03-078FBA72F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920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974BAE-09B5-4D55-9C03-078FBA72F76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045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smtClean="0"/>
              <a:t>Suppose we want to test the hypothesis that a given coin is fair.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974BAE-09B5-4D55-9C03-078FBA72F76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698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FDFBAB-1AC3-4E0E-937E-036F832862DC}" type="slidenum">
              <a:rPr lang="en-US"/>
              <a:pPr/>
              <a:t>10</a:t>
            </a:fld>
            <a:endParaRPr lang="en-US"/>
          </a:p>
        </p:txBody>
      </p:sp>
      <p:sp>
        <p:nvSpPr>
          <p:cNvPr id="1199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9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4267623"/>
            <a:ext cx="5029200" cy="4114246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 PPT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1898"/>
            <a:ext cx="9144000" cy="68798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EB0F514-78C8-42E7-AA37-B041CBCFE9C4}"/>
              </a:ext>
            </a:extLst>
          </p:cNvPr>
          <p:cNvSpPr/>
          <p:nvPr/>
        </p:nvSpPr>
        <p:spPr>
          <a:xfrm>
            <a:off x="3211016" y="244204"/>
            <a:ext cx="3063741" cy="773008"/>
          </a:xfrm>
          <a:prstGeom prst="rect">
            <a:avLst/>
          </a:prstGeom>
        </p:spPr>
        <p:txBody>
          <a:bodyPr wrap="none" lIns="64493" tIns="32246" rIns="64493" bIns="32246">
            <a:spAutoFit/>
          </a:bodyPr>
          <a:lstStyle/>
          <a:p>
            <a:pPr algn="ctr"/>
            <a:r>
              <a:rPr lang="en-GB" sz="2300" b="1" dirty="0" smtClean="0"/>
              <a:t>Information </a:t>
            </a:r>
            <a:r>
              <a:rPr lang="en-GB" sz="2300" b="1" dirty="0"/>
              <a:t>and</a:t>
            </a:r>
            <a:br>
              <a:rPr lang="en-GB" sz="2300" b="1" dirty="0"/>
            </a:br>
            <a:r>
              <a:rPr lang="en-GB" sz="2300" b="1" dirty="0"/>
              <a:t> Communication Theory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627784" y="5445224"/>
            <a:ext cx="4176464" cy="141277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1800" dirty="0" smtClean="0"/>
              <a:t>By </a:t>
            </a:r>
          </a:p>
          <a:p>
            <a:pPr marL="0" indent="0" algn="ctr">
              <a:buNone/>
            </a:pPr>
            <a:r>
              <a:rPr lang="en-IN" sz="1800" dirty="0" err="1" smtClean="0"/>
              <a:t>Dr.</a:t>
            </a:r>
            <a:r>
              <a:rPr lang="en-IN" sz="1800" dirty="0" smtClean="0"/>
              <a:t> Hem </a:t>
            </a:r>
            <a:r>
              <a:rPr lang="en-IN" sz="1800" dirty="0" err="1" smtClean="0"/>
              <a:t>Dutt</a:t>
            </a:r>
            <a:r>
              <a:rPr lang="en-IN" sz="1800" dirty="0" smtClean="0"/>
              <a:t> Joshi</a:t>
            </a:r>
          </a:p>
          <a:p>
            <a:pPr marL="0" indent="0" algn="ctr">
              <a:buNone/>
            </a:pPr>
            <a:r>
              <a:rPr lang="en-IN" sz="1800" dirty="0" smtClean="0"/>
              <a:t>Associate Professor, ECED, </a:t>
            </a:r>
          </a:p>
          <a:p>
            <a:pPr marL="0" indent="0" algn="ctr">
              <a:buNone/>
            </a:pPr>
            <a:r>
              <a:rPr lang="en-IN" sz="1800" dirty="0" smtClean="0"/>
              <a:t>TIET, Patiala</a:t>
            </a:r>
            <a:endParaRPr lang="en-IN" sz="1800" dirty="0"/>
          </a:p>
        </p:txBody>
      </p:sp>
      <p:pic>
        <p:nvPicPr>
          <p:cNvPr id="1026" name="Picture 2" descr="C:\Users\Dr. Hem Dutt Joshi\Desktop\UEC607\for website\for website\hemdutt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5431200"/>
            <a:ext cx="1238160" cy="1238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4238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Lecture-5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Hypothesis Testing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495800"/>
            <a:ext cx="6400800" cy="1752600"/>
          </a:xfrm>
        </p:spPr>
        <p:txBody>
          <a:bodyPr/>
          <a:lstStyle/>
          <a:p>
            <a:r>
              <a:rPr lang="en-IN" dirty="0"/>
              <a:t>Module – 4</a:t>
            </a:r>
            <a:br>
              <a:rPr lang="en-IN" dirty="0"/>
            </a:br>
            <a:r>
              <a:rPr lang="en-US" b="1" dirty="0" smtClean="0"/>
              <a:t>Estimation </a:t>
            </a:r>
            <a:r>
              <a:rPr lang="en-US" b="1" dirty="0"/>
              <a:t>&amp; Hypothesis Testing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7918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Autofit/>
          </a:bodyPr>
          <a:lstStyle/>
          <a:p>
            <a:r>
              <a:rPr lang="en-IN" sz="2800" dirty="0" smtClean="0"/>
              <a:t>Content of </a:t>
            </a:r>
            <a:r>
              <a:rPr lang="en-IN" sz="2800" dirty="0" smtClean="0"/>
              <a:t>Lecture-5</a:t>
            </a:r>
            <a:r>
              <a:rPr lang="en-IN" sz="2800" dirty="0" smtClean="0"/>
              <a:t/>
            </a:r>
            <a:br>
              <a:rPr lang="en-IN" sz="2800" dirty="0" smtClean="0"/>
            </a:br>
            <a:r>
              <a:rPr lang="en-IN" sz="2800" dirty="0" smtClean="0"/>
              <a:t>Module – 4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Autofit/>
          </a:bodyPr>
          <a:lstStyle/>
          <a:p>
            <a:pPr algn="just"/>
            <a:r>
              <a:rPr lang="en-US" sz="2800" dirty="0" smtClean="0"/>
              <a:t>Hypothesis Testing</a:t>
            </a:r>
            <a:endParaRPr lang="en-US" sz="2800" dirty="0" smtClean="0"/>
          </a:p>
          <a:p>
            <a:pPr algn="just"/>
            <a:r>
              <a:rPr lang="en-US" sz="2800" dirty="0" smtClean="0"/>
              <a:t>Types of </a:t>
            </a:r>
            <a:r>
              <a:rPr lang="en-US" sz="2800" dirty="0" smtClean="0"/>
              <a:t>Error in Hypothesis Testing</a:t>
            </a:r>
            <a:endParaRPr lang="en-US" sz="2800" dirty="0" smtClean="0"/>
          </a:p>
          <a:p>
            <a:pPr algn="just"/>
            <a:r>
              <a:rPr lang="en-IN" sz="2800" dirty="0"/>
              <a:t>Significance Testing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059546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096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</a:rPr>
              <a:t>Hypothesis Testing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381000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Hypothesis testing refers to</a:t>
            </a:r>
          </a:p>
          <a:p>
            <a:pPr lvl="1"/>
            <a:r>
              <a:rPr lang="en-US" dirty="0"/>
              <a:t>Making an assumption about a population parameter (called as hypothesis)</a:t>
            </a:r>
          </a:p>
          <a:p>
            <a:pPr lvl="1"/>
            <a:r>
              <a:rPr lang="en-US" dirty="0"/>
              <a:t>Collect sample data and calculate a sample statistics</a:t>
            </a:r>
          </a:p>
          <a:p>
            <a:pPr lvl="1"/>
            <a:r>
              <a:rPr lang="en-US" dirty="0"/>
              <a:t>Use this sample statistic to evaluate the hypothesis (i.e., correct or wrong)</a:t>
            </a:r>
          </a:p>
          <a:p>
            <a:endParaRPr lang="en-US" sz="2800" dirty="0" smtClean="0"/>
          </a:p>
          <a:p>
            <a:pPr lvl="1">
              <a:buFont typeface="Arial" pitchFamily="34" charset="0"/>
              <a:buChar char="•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98942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381000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solidFill>
                  <a:srgbClr val="FF0000"/>
                </a:solidFill>
              </a:rPr>
              <a:t>Steps of Hypothesis </a:t>
            </a:r>
            <a:r>
              <a:rPr lang="en-US" sz="2800" dirty="0" smtClean="0">
                <a:solidFill>
                  <a:srgbClr val="FF0000"/>
                </a:solidFill>
              </a:rPr>
              <a:t>Testing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763000" cy="5791200"/>
          </a:xfrm>
        </p:spPr>
        <p:txBody>
          <a:bodyPr>
            <a:noAutofit/>
          </a:bodyPr>
          <a:lstStyle/>
          <a:p>
            <a:r>
              <a:rPr lang="en-US" sz="2200" b="1" dirty="0" smtClean="0">
                <a:solidFill>
                  <a:srgbClr val="00B0F0"/>
                </a:solidFill>
              </a:rPr>
              <a:t>Steps </a:t>
            </a:r>
            <a:r>
              <a:rPr lang="en-US" sz="2200" b="1" dirty="0" smtClean="0">
                <a:solidFill>
                  <a:srgbClr val="00B0F0"/>
                </a:solidFill>
              </a:rPr>
              <a:t>of Hypothesis Testing</a:t>
            </a:r>
          </a:p>
          <a:p>
            <a:pPr lvl="1"/>
            <a:r>
              <a:rPr lang="en-US" sz="2200" dirty="0" smtClean="0"/>
              <a:t>Problem Definition</a:t>
            </a:r>
          </a:p>
          <a:p>
            <a:pPr lvl="1"/>
            <a:r>
              <a:rPr lang="en-US" sz="2200" dirty="0" smtClean="0"/>
              <a:t>Clearly state the null and alternate hypothesis</a:t>
            </a:r>
          </a:p>
          <a:p>
            <a:pPr lvl="1"/>
            <a:r>
              <a:rPr lang="en-US" sz="2200" dirty="0" smtClean="0"/>
              <a:t>Choose the relevant test and the appropriate probability density function</a:t>
            </a:r>
          </a:p>
          <a:p>
            <a:pPr lvl="1"/>
            <a:r>
              <a:rPr lang="en-US" sz="2200" dirty="0" smtClean="0"/>
              <a:t>Choose the critical vale</a:t>
            </a:r>
          </a:p>
          <a:p>
            <a:pPr lvl="2"/>
            <a:r>
              <a:rPr lang="en-US" sz="2200" dirty="0" smtClean="0"/>
              <a:t>Determine significance level</a:t>
            </a:r>
          </a:p>
          <a:p>
            <a:pPr lvl="2"/>
            <a:r>
              <a:rPr lang="en-US" sz="2200" dirty="0" smtClean="0"/>
              <a:t>Determine degree of freedom</a:t>
            </a:r>
          </a:p>
          <a:p>
            <a:pPr lvl="2"/>
            <a:r>
              <a:rPr lang="en-US" sz="2200" dirty="0" smtClean="0"/>
              <a:t>Decide if one or two tailed test</a:t>
            </a:r>
            <a:endParaRPr lang="en-US" sz="2200" dirty="0"/>
          </a:p>
          <a:p>
            <a:pPr lvl="1"/>
            <a:r>
              <a:rPr lang="en-US" sz="2200" dirty="0"/>
              <a:t>Compare the test statistic and critical region</a:t>
            </a:r>
          </a:p>
          <a:p>
            <a:pPr lvl="1"/>
            <a:r>
              <a:rPr lang="en-US" sz="2200" dirty="0"/>
              <a:t>Does the test statistic fall in the critical region?</a:t>
            </a:r>
          </a:p>
          <a:p>
            <a:pPr lvl="2"/>
            <a:r>
              <a:rPr lang="en-US" sz="2200" dirty="0"/>
              <a:t>Yes – Reject </a:t>
            </a:r>
            <a:r>
              <a:rPr lang="en-US" sz="2200" dirty="0" smtClean="0"/>
              <a:t>null hypothesis</a:t>
            </a:r>
            <a:endParaRPr lang="en-US" sz="2200" dirty="0"/>
          </a:p>
          <a:p>
            <a:pPr lvl="2"/>
            <a:r>
              <a:rPr lang="en-US" sz="2200" dirty="0" smtClean="0"/>
              <a:t>No – Do not reject null hypothesis</a:t>
            </a:r>
          </a:p>
          <a:p>
            <a:pPr lvl="1">
              <a:buFont typeface="Arial" pitchFamily="34" charset="0"/>
              <a:buChar char="•"/>
            </a:pPr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4138742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8229600" cy="792162"/>
          </a:xfrm>
        </p:spPr>
        <p:txBody>
          <a:bodyPr>
            <a:noAutofit/>
          </a:bodyPr>
          <a:lstStyle/>
          <a:p>
            <a:r>
              <a:rPr lang="en-IN" sz="2800" dirty="0" smtClean="0"/>
              <a:t>Hypothesis </a:t>
            </a:r>
            <a:r>
              <a:rPr lang="en-IN" sz="2800" dirty="0" smtClean="0"/>
              <a:t>Testing</a:t>
            </a:r>
            <a:br>
              <a:rPr lang="en-IN" sz="2800" dirty="0" smtClean="0"/>
            </a:br>
            <a:r>
              <a:rPr lang="en-IN" sz="2800" dirty="0" smtClean="0"/>
              <a:t>Example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Autofit/>
          </a:bodyPr>
          <a:lstStyle/>
          <a:p>
            <a:pPr algn="just"/>
            <a:r>
              <a:rPr lang="en-US" sz="2000" dirty="0" smtClean="0"/>
              <a:t>Hypothesis </a:t>
            </a:r>
            <a:r>
              <a:rPr lang="en-US" sz="2000" dirty="0" smtClean="0"/>
              <a:t>to test: </a:t>
            </a:r>
            <a:r>
              <a:rPr lang="en-US" sz="2000" b="1" dirty="0" smtClean="0">
                <a:solidFill>
                  <a:srgbClr val="FF0000"/>
                </a:solidFill>
              </a:rPr>
              <a:t>A given coin is fair.</a:t>
            </a:r>
          </a:p>
          <a:p>
            <a:pPr algn="just"/>
            <a:r>
              <a:rPr lang="en-US" sz="2000" dirty="0" smtClean="0"/>
              <a:t>Experiment perform to test this hypothesis </a:t>
            </a:r>
          </a:p>
          <a:p>
            <a:pPr lvl="1" algn="just"/>
            <a:r>
              <a:rPr lang="en-US" sz="2000" b="1" dirty="0" smtClean="0">
                <a:solidFill>
                  <a:srgbClr val="FF0000"/>
                </a:solidFill>
              </a:rPr>
              <a:t>Flip </a:t>
            </a:r>
            <a:r>
              <a:rPr lang="en-US" sz="2000" b="1" dirty="0" smtClean="0">
                <a:solidFill>
                  <a:srgbClr val="FF0000"/>
                </a:solidFill>
              </a:rPr>
              <a:t>or toss the coin 100 times and observe </a:t>
            </a:r>
            <a:r>
              <a:rPr lang="en-US" sz="2000" b="1" dirty="0">
                <a:solidFill>
                  <a:srgbClr val="FF0000"/>
                </a:solidFill>
              </a:rPr>
              <a:t>the number of heads </a:t>
            </a:r>
            <a:r>
              <a:rPr lang="en-US" sz="2000" b="1" i="1" dirty="0">
                <a:solidFill>
                  <a:srgbClr val="FF0000"/>
                </a:solidFill>
              </a:rPr>
              <a:t>N</a:t>
            </a:r>
            <a:r>
              <a:rPr lang="en-US" sz="2000" b="1" dirty="0" smtClean="0">
                <a:solidFill>
                  <a:srgbClr val="FF0000"/>
                </a:solidFill>
              </a:rPr>
              <a:t>.</a:t>
            </a:r>
            <a:endParaRPr lang="en-US" sz="1600" b="1" dirty="0" smtClean="0">
              <a:solidFill>
                <a:srgbClr val="FF0000"/>
              </a:solidFill>
            </a:endParaRPr>
          </a:p>
          <a:p>
            <a:pPr algn="just"/>
            <a:r>
              <a:rPr lang="en-US" sz="2000" dirty="0" smtClean="0"/>
              <a:t>The </a:t>
            </a:r>
            <a:r>
              <a:rPr lang="en-US" sz="2000" dirty="0"/>
              <a:t>value of </a:t>
            </a:r>
            <a:r>
              <a:rPr lang="en-US" sz="2000" i="1" dirty="0"/>
              <a:t>N </a:t>
            </a:r>
            <a:r>
              <a:rPr lang="en-US" sz="2000" dirty="0" smtClean="0"/>
              <a:t>decides whether </a:t>
            </a:r>
            <a:r>
              <a:rPr lang="en-US" sz="2000" dirty="0"/>
              <a:t>to accept or reject the hypothesis. </a:t>
            </a:r>
            <a:endParaRPr lang="en-US" sz="2000" dirty="0" smtClean="0"/>
          </a:p>
          <a:p>
            <a:pPr algn="just"/>
            <a:r>
              <a:rPr lang="en-US" sz="2000" dirty="0" smtClean="0"/>
              <a:t>Divide </a:t>
            </a:r>
            <a:r>
              <a:rPr lang="en-US" sz="2000" dirty="0"/>
              <a:t>the set of </a:t>
            </a:r>
            <a:r>
              <a:rPr lang="en-US" sz="2000" dirty="0" smtClean="0"/>
              <a:t>possible outcomes </a:t>
            </a:r>
            <a:r>
              <a:rPr lang="en-US" sz="2000" dirty="0"/>
              <a:t>of the coin </a:t>
            </a:r>
            <a:r>
              <a:rPr lang="en-US" sz="2000" dirty="0" smtClean="0"/>
              <a:t>flips (0,1,…, 100)  </a:t>
            </a:r>
            <a:r>
              <a:rPr lang="en-US" sz="2000" dirty="0"/>
              <a:t>into </a:t>
            </a:r>
            <a:r>
              <a:rPr lang="en-US" sz="2000" dirty="0" smtClean="0"/>
              <a:t>two set </a:t>
            </a:r>
          </a:p>
          <a:p>
            <a:pPr lvl="1" algn="just"/>
            <a:r>
              <a:rPr lang="en-US" sz="2000" dirty="0" smtClean="0"/>
              <a:t>Set of values for accept the </a:t>
            </a:r>
            <a:r>
              <a:rPr lang="en-US" sz="2000" dirty="0"/>
              <a:t>hypothesis </a:t>
            </a:r>
            <a:endParaRPr lang="en-US" sz="2000" dirty="0" smtClean="0"/>
          </a:p>
          <a:p>
            <a:pPr lvl="1" algn="just"/>
            <a:r>
              <a:rPr lang="en-US" sz="2000" dirty="0" smtClean="0"/>
              <a:t>Set of values to reject the hypothesis. </a:t>
            </a:r>
          </a:p>
          <a:p>
            <a:pPr algn="just"/>
            <a:r>
              <a:rPr lang="en-US" sz="2000" dirty="0" smtClean="0"/>
              <a:t>If </a:t>
            </a:r>
            <a:r>
              <a:rPr lang="en-US" sz="2000" dirty="0"/>
              <a:t>the coin is fair </a:t>
            </a:r>
            <a:r>
              <a:rPr lang="en-US" sz="2000" dirty="0" smtClean="0"/>
              <a:t>then the value of </a:t>
            </a:r>
            <a:r>
              <a:rPr lang="en-US" sz="2000" i="1" dirty="0" smtClean="0"/>
              <a:t>N should be equal to </a:t>
            </a:r>
            <a:r>
              <a:rPr lang="en-US" sz="2000" dirty="0" smtClean="0"/>
              <a:t>50 or close to </a:t>
            </a:r>
            <a:r>
              <a:rPr lang="en-US" sz="2000" dirty="0" smtClean="0"/>
              <a:t>50. </a:t>
            </a:r>
            <a:r>
              <a:rPr lang="en-US" sz="2000" dirty="0" smtClean="0"/>
              <a:t>(numbers </a:t>
            </a:r>
            <a:r>
              <a:rPr lang="en-US" sz="2000" dirty="0"/>
              <a:t>close to 50 </a:t>
            </a:r>
            <a:r>
              <a:rPr lang="en-US" sz="2000" dirty="0" smtClean="0"/>
              <a:t>should be included in </a:t>
            </a:r>
            <a:r>
              <a:rPr lang="en-US" sz="2000" dirty="0"/>
              <a:t>the </a:t>
            </a:r>
            <a:r>
              <a:rPr lang="en-US" sz="2000" dirty="0" smtClean="0"/>
              <a:t>set that </a:t>
            </a:r>
            <a:r>
              <a:rPr lang="en-US" sz="2000" dirty="0"/>
              <a:t>accept the </a:t>
            </a:r>
            <a:r>
              <a:rPr lang="en-US" sz="2000" dirty="0" smtClean="0"/>
              <a:t>hypothesis</a:t>
            </a:r>
            <a:r>
              <a:rPr lang="en-US" sz="2000" dirty="0"/>
              <a:t>)</a:t>
            </a:r>
            <a:endParaRPr lang="en-US" sz="2000" dirty="0" smtClean="0"/>
          </a:p>
          <a:p>
            <a:pPr algn="just"/>
            <a:r>
              <a:rPr lang="en-US" sz="2000" dirty="0" smtClean="0"/>
              <a:t>But </a:t>
            </a:r>
            <a:r>
              <a:rPr lang="en-US" sz="2000" dirty="0"/>
              <a:t>exactly at what values do we start rejecting the hypothesis?</a:t>
            </a:r>
          </a:p>
          <a:p>
            <a:pPr algn="just"/>
            <a:r>
              <a:rPr lang="en-US" sz="2000" dirty="0"/>
              <a:t>There are many ways of partitioning the observation space into two regions, </a:t>
            </a:r>
            <a:r>
              <a:rPr lang="en-US" sz="2000" dirty="0" smtClean="0"/>
              <a:t>and clearly </a:t>
            </a:r>
            <a:r>
              <a:rPr lang="en-US" sz="2000" dirty="0"/>
              <a:t>we need some criterion to guide us in making this choice.</a:t>
            </a:r>
          </a:p>
          <a:p>
            <a:pPr algn="just"/>
            <a:endParaRPr lang="en-US" sz="2000" dirty="0" smtClean="0"/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63715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38200"/>
          </a:xfrm>
        </p:spPr>
        <p:txBody>
          <a:bodyPr>
            <a:noAutofit/>
          </a:bodyPr>
          <a:lstStyle/>
          <a:p>
            <a:r>
              <a:rPr lang="en-IN" sz="2800" dirty="0" smtClean="0"/>
              <a:t>Error in Hypothesis Testing</a:t>
            </a:r>
            <a:endParaRPr lang="en-IN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7000" y="1143000"/>
                <a:ext cx="8991600" cy="5410200"/>
              </a:xfrm>
            </p:spPr>
            <p:txBody>
              <a:bodyPr>
                <a:noAutofit/>
              </a:bodyPr>
              <a:lstStyle/>
              <a:p>
                <a:r>
                  <a:rPr lang="en-IN" sz="2000" dirty="0" smtClean="0"/>
                  <a:t>Two kinds of errors can occur when executing this decision rule:</a:t>
                </a:r>
              </a:p>
              <a:p>
                <a:pPr marL="0" indent="0">
                  <a:buNone/>
                </a:pPr>
                <a:endParaRPr lang="en-IN" sz="1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𝑇𝑦𝑝𝑒</m:t>
                      </m:r>
                      <m:r>
                        <a:rPr lang="en-IN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IN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𝐼</m:t>
                      </m:r>
                      <m:r>
                        <a:rPr lang="en-IN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IN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𝑒𝑟𝑟𝑜𝑟</m:t>
                      </m:r>
                      <m:r>
                        <a:rPr lang="en-IN" sz="2000" i="1">
                          <a:latin typeface="Cambria Math"/>
                        </a:rPr>
                        <m:t>:</m:t>
                      </m:r>
                      <m:r>
                        <a:rPr lang="en-IN" sz="2000" b="0" i="1" smtClean="0">
                          <a:latin typeface="Cambria Math"/>
                        </a:rPr>
                        <m:t>  </m:t>
                      </m:r>
                      <m:r>
                        <a:rPr lang="en-IN" sz="2000" i="1">
                          <a:latin typeface="Cambria Math"/>
                        </a:rPr>
                        <m:t>𝑅𝑒𝑗𝑒𝑐𝑡</m:t>
                      </m:r>
                      <m:r>
                        <a:rPr lang="en-IN" sz="2000" i="1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IN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IN" sz="20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IN" sz="2000" i="1">
                          <a:latin typeface="Cambria Math"/>
                        </a:rPr>
                        <m:t> </m:t>
                      </m:r>
                      <m:r>
                        <a:rPr lang="en-IN" sz="2000" i="1">
                          <a:latin typeface="Cambria Math"/>
                        </a:rPr>
                        <m:t>𝑤h𝑒𝑛</m:t>
                      </m:r>
                      <m:r>
                        <a:rPr lang="en-IN" sz="2000" i="1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IN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IN" sz="20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IN" sz="2000" i="1">
                          <a:latin typeface="Cambria Math"/>
                        </a:rPr>
                        <m:t> </m:t>
                      </m:r>
                      <m:r>
                        <a:rPr lang="en-IN" sz="2000" i="1">
                          <a:latin typeface="Cambria Math"/>
                        </a:rPr>
                        <m:t>𝑖𝑠</m:t>
                      </m:r>
                      <m:r>
                        <a:rPr lang="en-IN" sz="2000" i="1">
                          <a:latin typeface="Cambria Math"/>
                        </a:rPr>
                        <m:t> </m:t>
                      </m:r>
                      <m:r>
                        <a:rPr lang="en-IN" sz="2000" i="1">
                          <a:latin typeface="Cambria Math"/>
                        </a:rPr>
                        <m:t>𝑡𝑟𝑢𝑒</m:t>
                      </m:r>
                      <m:r>
                        <a:rPr lang="en-IN" sz="2000" i="1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IN" sz="2000" i="1" dirty="0" smtClean="0">
                  <a:latin typeface="Cambria Math"/>
                </a:endParaRPr>
              </a:p>
              <a:p>
                <a:pPr marL="0" indent="0">
                  <a:buNone/>
                </a:pPr>
                <a:endParaRPr lang="en-IN" sz="1000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𝑇𝑦𝑝𝑒</m:t>
                      </m:r>
                      <m:r>
                        <a:rPr lang="en-IN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IN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𝐼𝐼</m:t>
                      </m:r>
                      <m:r>
                        <a:rPr lang="en-IN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IN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𝑒𝑟𝑟𝑜𝑟</m:t>
                      </m:r>
                      <m:r>
                        <a:rPr lang="en-IN" sz="2000" i="1">
                          <a:latin typeface="Cambria Math"/>
                        </a:rPr>
                        <m:t>:</m:t>
                      </m:r>
                      <m:r>
                        <a:rPr lang="en-IN" sz="2000" b="0" i="1" smtClean="0">
                          <a:latin typeface="Cambria Math"/>
                        </a:rPr>
                        <m:t>   </m:t>
                      </m:r>
                      <m:r>
                        <a:rPr lang="en-IN" sz="2000" i="1">
                          <a:latin typeface="Cambria Math"/>
                        </a:rPr>
                        <m:t>𝐴𝑐𝑐𝑒𝑝𝑡</m:t>
                      </m:r>
                      <m:r>
                        <a:rPr lang="en-IN" sz="2000" i="1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IN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IN" sz="20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IN" sz="2000" i="1">
                          <a:latin typeface="Cambria Math"/>
                        </a:rPr>
                        <m:t> </m:t>
                      </m:r>
                      <m:r>
                        <a:rPr lang="en-IN" sz="2000" i="1">
                          <a:latin typeface="Cambria Math"/>
                        </a:rPr>
                        <m:t>𝑤h𝑒𝑛</m:t>
                      </m:r>
                      <m:r>
                        <a:rPr lang="en-IN" sz="2000" i="1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IN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IN" sz="20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IN" sz="2000" i="1">
                          <a:latin typeface="Cambria Math"/>
                        </a:rPr>
                        <m:t> </m:t>
                      </m:r>
                      <m:r>
                        <a:rPr lang="en-IN" sz="2000" i="1">
                          <a:latin typeface="Cambria Math"/>
                        </a:rPr>
                        <m:t>𝑖𝑠</m:t>
                      </m:r>
                      <m:r>
                        <a:rPr lang="en-IN" sz="2000" i="1">
                          <a:latin typeface="Cambria Math"/>
                        </a:rPr>
                        <m:t> </m:t>
                      </m:r>
                      <m:r>
                        <a:rPr lang="en-IN" sz="2000" i="1">
                          <a:latin typeface="Cambria Math"/>
                        </a:rPr>
                        <m:t>𝑓𝑎𝑙𝑠𝑒</m:t>
                      </m:r>
                      <m:r>
                        <a:rPr lang="en-IN" sz="2000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:endParaRPr lang="en-US" sz="1000" dirty="0" smtClean="0"/>
              </a:p>
              <a:p>
                <a:endParaRPr lang="en-IN" sz="2000" b="1" dirty="0"/>
              </a:p>
              <a:p>
                <a:pPr marL="0" indent="0">
                  <a:buNone/>
                </a:pPr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7000" y="1143000"/>
                <a:ext cx="8991600" cy="5410200"/>
              </a:xfrm>
              <a:blipFill rotWithShape="1">
                <a:blip r:embed="rId2"/>
                <a:stretch>
                  <a:fillRect l="-746" t="-5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609600" y="3009899"/>
            <a:ext cx="7797800" cy="2590801"/>
            <a:chOff x="416" y="1392"/>
            <a:chExt cx="4912" cy="1632"/>
          </a:xfrm>
        </p:grpSpPr>
        <p:sp>
          <p:nvSpPr>
            <p:cNvPr id="5" name="Rectangle 8"/>
            <p:cNvSpPr>
              <a:spLocks noChangeArrowheads="1"/>
            </p:cNvSpPr>
            <p:nvPr/>
          </p:nvSpPr>
          <p:spPr bwMode="auto">
            <a:xfrm>
              <a:off x="416" y="2256"/>
              <a:ext cx="4864" cy="768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" name="Rectangle 9"/>
            <p:cNvSpPr>
              <a:spLocks noChangeArrowheads="1"/>
            </p:cNvSpPr>
            <p:nvPr/>
          </p:nvSpPr>
          <p:spPr bwMode="auto">
            <a:xfrm>
              <a:off x="1995" y="1392"/>
              <a:ext cx="3284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en-US" sz="2400" b="1" dirty="0"/>
                <a:t>Actual Truth of H</a:t>
              </a:r>
              <a:r>
                <a:rPr lang="en-US" altLang="en-US" sz="2400" b="1" baseline="-25000" dirty="0"/>
                <a:t>0</a:t>
              </a:r>
              <a:endParaRPr lang="en-US" altLang="en-US" b="1" baseline="-25000" dirty="0"/>
            </a:p>
          </p:txBody>
        </p:sp>
        <p:sp>
          <p:nvSpPr>
            <p:cNvPr id="7" name="Text Box 10"/>
            <p:cNvSpPr txBox="1">
              <a:spLocks noChangeArrowheads="1"/>
            </p:cNvSpPr>
            <p:nvPr/>
          </p:nvSpPr>
          <p:spPr bwMode="auto">
            <a:xfrm>
              <a:off x="2491" y="1909"/>
              <a:ext cx="68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CC66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latinLnBrk="1" hangingPunct="0">
                <a:spcBef>
                  <a:spcPct val="0"/>
                </a:spcBef>
                <a:buFont typeface="Arial" charset="0"/>
                <a:buNone/>
              </a:pPr>
              <a:r>
                <a:rPr lang="en-US" altLang="en-US" b="1" dirty="0">
                  <a:solidFill>
                    <a:srgbClr val="FF0000"/>
                  </a:solidFill>
                </a:rPr>
                <a:t>H</a:t>
              </a:r>
              <a:r>
                <a:rPr lang="en-US" altLang="en-US" b="1" baseline="-25000" dirty="0">
                  <a:solidFill>
                    <a:srgbClr val="FF0000"/>
                  </a:solidFill>
                </a:rPr>
                <a:t>0  </a:t>
              </a:r>
              <a:r>
                <a:rPr lang="en-US" altLang="en-US" b="1" dirty="0">
                  <a:solidFill>
                    <a:srgbClr val="FF0000"/>
                  </a:solidFill>
                </a:rPr>
                <a:t>is true</a:t>
              </a:r>
            </a:p>
          </p:txBody>
        </p:sp>
        <p:sp>
          <p:nvSpPr>
            <p:cNvPr id="8" name="Text Box 11"/>
            <p:cNvSpPr txBox="1">
              <a:spLocks noChangeArrowheads="1"/>
            </p:cNvSpPr>
            <p:nvPr/>
          </p:nvSpPr>
          <p:spPr bwMode="auto">
            <a:xfrm>
              <a:off x="3968" y="1923"/>
              <a:ext cx="71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CC66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latinLnBrk="1" hangingPunct="0">
                <a:spcBef>
                  <a:spcPct val="0"/>
                </a:spcBef>
                <a:buFont typeface="Arial" charset="0"/>
                <a:buNone/>
              </a:pPr>
              <a:r>
                <a:rPr lang="en-US" altLang="en-US" b="1" dirty="0">
                  <a:solidFill>
                    <a:srgbClr val="FF0000"/>
                  </a:solidFill>
                </a:rPr>
                <a:t>H</a:t>
              </a:r>
              <a:r>
                <a:rPr lang="en-US" altLang="en-US" b="1" baseline="-25000" dirty="0">
                  <a:solidFill>
                    <a:srgbClr val="FF0000"/>
                  </a:solidFill>
                </a:rPr>
                <a:t>0  </a:t>
              </a:r>
              <a:r>
                <a:rPr lang="en-US" altLang="en-US" b="1" dirty="0">
                  <a:solidFill>
                    <a:srgbClr val="FF0000"/>
                  </a:solidFill>
                </a:rPr>
                <a:t>is false</a:t>
              </a:r>
            </a:p>
          </p:txBody>
        </p:sp>
        <p:sp>
          <p:nvSpPr>
            <p:cNvPr id="9" name="Text Box 12"/>
            <p:cNvSpPr txBox="1">
              <a:spLocks noChangeArrowheads="1"/>
            </p:cNvSpPr>
            <p:nvPr/>
          </p:nvSpPr>
          <p:spPr bwMode="auto">
            <a:xfrm>
              <a:off x="480" y="2304"/>
              <a:ext cx="164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CC66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latinLnBrk="1" hangingPunct="0">
                <a:spcBef>
                  <a:spcPct val="0"/>
                </a:spcBef>
                <a:buFont typeface="Arial" charset="0"/>
                <a:buNone/>
              </a:pPr>
              <a:r>
                <a:rPr lang="en-US" altLang="en-US" b="1" dirty="0"/>
                <a:t>Do not reject H</a:t>
              </a:r>
              <a:r>
                <a:rPr lang="en-US" altLang="en-US" b="1" baseline="-25000" dirty="0"/>
                <a:t>0</a:t>
              </a:r>
              <a:endParaRPr lang="en-US" altLang="en-US" b="1" dirty="0"/>
            </a:p>
          </p:txBody>
        </p:sp>
        <p:sp>
          <p:nvSpPr>
            <p:cNvPr id="10" name="Text Box 13"/>
            <p:cNvSpPr txBox="1">
              <a:spLocks noChangeArrowheads="1"/>
            </p:cNvSpPr>
            <p:nvPr/>
          </p:nvSpPr>
          <p:spPr bwMode="auto">
            <a:xfrm>
              <a:off x="480" y="2616"/>
              <a:ext cx="66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CC66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latinLnBrk="1" hangingPunct="0">
                <a:spcBef>
                  <a:spcPct val="0"/>
                </a:spcBef>
                <a:buFont typeface="Arial" charset="0"/>
                <a:buNone/>
              </a:pPr>
              <a:r>
                <a:rPr lang="en-US" altLang="en-US" b="1"/>
                <a:t>Reject H</a:t>
              </a:r>
              <a:r>
                <a:rPr lang="en-US" altLang="en-US" b="1" baseline="-25000"/>
                <a:t>0</a:t>
              </a:r>
              <a:endParaRPr lang="en-US" altLang="en-US" b="1"/>
            </a:p>
          </p:txBody>
        </p:sp>
        <p:sp>
          <p:nvSpPr>
            <p:cNvPr id="11" name="Text Box 15"/>
            <p:cNvSpPr txBox="1">
              <a:spLocks noChangeArrowheads="1"/>
            </p:cNvSpPr>
            <p:nvPr/>
          </p:nvSpPr>
          <p:spPr bwMode="auto">
            <a:xfrm>
              <a:off x="2016" y="2304"/>
              <a:ext cx="163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accent2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latinLnBrk="1" hangingPunct="0">
                <a:spcBef>
                  <a:spcPct val="0"/>
                </a:spcBef>
                <a:buFont typeface="Arial" charset="0"/>
                <a:buNone/>
              </a:pPr>
              <a:r>
                <a:rPr lang="en-US" altLang="en-US" b="1" dirty="0"/>
                <a:t>Correct Decision</a:t>
              </a:r>
            </a:p>
          </p:txBody>
        </p:sp>
        <p:sp>
          <p:nvSpPr>
            <p:cNvPr id="12" name="Text Box 16"/>
            <p:cNvSpPr txBox="1">
              <a:spLocks noChangeArrowheads="1"/>
            </p:cNvSpPr>
            <p:nvPr/>
          </p:nvSpPr>
          <p:spPr bwMode="auto">
            <a:xfrm>
              <a:off x="3696" y="2711"/>
              <a:ext cx="1632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accent2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latinLnBrk="1" hangingPunct="0">
                <a:lnSpc>
                  <a:spcPct val="90000"/>
                </a:lnSpc>
                <a:spcBef>
                  <a:spcPct val="0"/>
                </a:spcBef>
                <a:buFont typeface="Arial" charset="0"/>
                <a:buNone/>
              </a:pPr>
              <a:r>
                <a:rPr lang="en-US" altLang="en-US" b="1"/>
                <a:t>Correct Decision</a:t>
              </a:r>
            </a:p>
          </p:txBody>
        </p:sp>
        <p:sp>
          <p:nvSpPr>
            <p:cNvPr id="13" name="Text Box 17"/>
            <p:cNvSpPr txBox="1">
              <a:spLocks noChangeArrowheads="1"/>
            </p:cNvSpPr>
            <p:nvPr/>
          </p:nvSpPr>
          <p:spPr bwMode="auto">
            <a:xfrm>
              <a:off x="3696" y="2304"/>
              <a:ext cx="158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CC66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latinLnBrk="1" hangingPunct="0">
                <a:spcBef>
                  <a:spcPct val="0"/>
                </a:spcBef>
                <a:buFont typeface="Arial" charset="0"/>
                <a:buNone/>
              </a:pPr>
              <a:r>
                <a:rPr lang="en-US" altLang="en-US" b="1">
                  <a:solidFill>
                    <a:srgbClr val="CC0000"/>
                  </a:solidFill>
                </a:rPr>
                <a:t>Type II Error</a:t>
              </a:r>
            </a:p>
          </p:txBody>
        </p:sp>
        <p:sp>
          <p:nvSpPr>
            <p:cNvPr id="14" name="Text Box 18"/>
            <p:cNvSpPr txBox="1">
              <a:spLocks noChangeArrowheads="1"/>
            </p:cNvSpPr>
            <p:nvPr/>
          </p:nvSpPr>
          <p:spPr bwMode="auto">
            <a:xfrm>
              <a:off x="2043" y="2688"/>
              <a:ext cx="153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CC66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latinLnBrk="1" hangingPunct="0">
                <a:spcBef>
                  <a:spcPct val="0"/>
                </a:spcBef>
                <a:buFont typeface="Arial" charset="0"/>
                <a:buNone/>
              </a:pPr>
              <a:r>
                <a:rPr lang="en-US" altLang="en-US" b="1" dirty="0">
                  <a:solidFill>
                    <a:srgbClr val="CC0000"/>
                  </a:solidFill>
                </a:rPr>
                <a:t>Type I Error</a:t>
              </a:r>
              <a:endParaRPr lang="en-US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5" name="Rectangle 19"/>
            <p:cNvSpPr>
              <a:spLocks noChangeArrowheads="1"/>
            </p:cNvSpPr>
            <p:nvPr/>
          </p:nvSpPr>
          <p:spPr bwMode="auto">
            <a:xfrm rot="21600000">
              <a:off x="423" y="1824"/>
              <a:ext cx="1565" cy="43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en-US" b="1" dirty="0" smtClean="0"/>
                <a:t>Decision of Test</a:t>
              </a:r>
              <a:endParaRPr lang="en-US" altLang="en-US" b="1" dirty="0"/>
            </a:p>
          </p:txBody>
        </p:sp>
        <p:sp>
          <p:nvSpPr>
            <p:cNvPr id="16" name="Line 20"/>
            <p:cNvSpPr>
              <a:spLocks noChangeShapeType="1"/>
            </p:cNvSpPr>
            <p:nvPr/>
          </p:nvSpPr>
          <p:spPr bwMode="auto">
            <a:xfrm flipH="1" flipV="1">
              <a:off x="3644" y="1821"/>
              <a:ext cx="4" cy="12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" name="Line 25"/>
            <p:cNvSpPr>
              <a:spLocks noChangeShapeType="1"/>
            </p:cNvSpPr>
            <p:nvPr/>
          </p:nvSpPr>
          <p:spPr bwMode="auto">
            <a:xfrm>
              <a:off x="1986" y="225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IN"/>
            </a:p>
          </p:txBody>
        </p:sp>
        <p:sp>
          <p:nvSpPr>
            <p:cNvPr id="18" name="Line 27"/>
            <p:cNvSpPr>
              <a:spLocks noChangeShapeType="1"/>
            </p:cNvSpPr>
            <p:nvPr/>
          </p:nvSpPr>
          <p:spPr bwMode="auto">
            <a:xfrm>
              <a:off x="5280" y="182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602396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11162"/>
          </a:xfrm>
        </p:spPr>
        <p:txBody>
          <a:bodyPr>
            <a:noAutofit/>
          </a:bodyPr>
          <a:lstStyle/>
          <a:p>
            <a:r>
              <a:rPr lang="en-IN" sz="2800" dirty="0"/>
              <a:t>Significance </a:t>
            </a:r>
            <a:r>
              <a:rPr lang="en-IN" sz="2800" dirty="0" smtClean="0"/>
              <a:t>Testing</a:t>
            </a:r>
            <a:endParaRPr lang="en-IN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685800"/>
                <a:ext cx="8991600" cy="5867400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000" dirty="0" smtClean="0"/>
                  <a:t>Define a hypothesis to test about </a:t>
                </a:r>
                <a:r>
                  <a:rPr lang="en-US" sz="2000" dirty="0"/>
                  <a:t>a parameter of </a:t>
                </a:r>
                <a:r>
                  <a:rPr lang="en-US" sz="2000" dirty="0" smtClean="0"/>
                  <a:t>the random </a:t>
                </a:r>
                <a:r>
                  <a:rPr lang="en-US" sz="2000" dirty="0"/>
                  <a:t>variable </a:t>
                </a:r>
                <a:r>
                  <a:rPr lang="en-US" sz="2000" i="1" dirty="0"/>
                  <a:t>X</a:t>
                </a:r>
                <a:r>
                  <a:rPr lang="en-US" sz="2000" dirty="0" smtClean="0"/>
                  <a:t>.</a:t>
                </a:r>
              </a:p>
              <a:p>
                <a:pPr algn="just"/>
                <a:endParaRPr lang="en-US" sz="1100" dirty="0" smtClean="0"/>
              </a:p>
              <a:p>
                <a:pPr algn="just"/>
                <a:r>
                  <a:rPr lang="en-US" sz="2000" dirty="0" smtClean="0"/>
                  <a:t>This hypothesis is called as </a:t>
                </a:r>
                <a:r>
                  <a:rPr lang="en-US" sz="2000" b="1" dirty="0" smtClean="0"/>
                  <a:t>null </a:t>
                </a:r>
                <a:r>
                  <a:rPr lang="en-US" sz="2000" b="1" dirty="0"/>
                  <a:t>hypothesis</a:t>
                </a:r>
                <a:r>
                  <a:rPr lang="en-US" sz="2000" dirty="0" smtClean="0"/>
                  <a:t>. Represented by H0</a:t>
                </a:r>
              </a:p>
              <a:p>
                <a:pPr algn="just"/>
                <a:endParaRPr lang="en-US" sz="1200" dirty="0"/>
              </a:p>
              <a:p>
                <a:pPr algn="just"/>
                <a:r>
                  <a:rPr lang="en-US" sz="2000" dirty="0" smtClean="0"/>
                  <a:t>The </a:t>
                </a:r>
                <a:r>
                  <a:rPr lang="en-US" sz="2000" dirty="0"/>
                  <a:t>objective of a </a:t>
                </a:r>
                <a:r>
                  <a:rPr lang="en-US" sz="2000" b="1" dirty="0"/>
                  <a:t>significance </a:t>
                </a:r>
                <a:r>
                  <a:rPr lang="en-US" sz="2000" b="1" dirty="0" smtClean="0"/>
                  <a:t>test </a:t>
                </a:r>
                <a:r>
                  <a:rPr lang="en-US" sz="2000" dirty="0" smtClean="0"/>
                  <a:t>is </a:t>
                </a:r>
                <a:r>
                  <a:rPr lang="en-US" sz="2000" dirty="0"/>
                  <a:t>to accept or reject the null hypothesis based on a random </a:t>
                </a:r>
                <a:r>
                  <a:rPr lang="en-US" sz="2000" dirty="0" smtClean="0"/>
                  <a:t>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IN" sz="20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IN" sz="2000" b="1" i="1" smtClean="0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IN" sz="20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IN" sz="200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/>
                          </a:rPr>
                          <m:t>,…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r>
                  <a:rPr lang="en-US" sz="2000" dirty="0" smtClean="0"/>
                  <a:t>Specify </a:t>
                </a:r>
                <a:r>
                  <a:rPr lang="en-US" sz="2000" dirty="0"/>
                  <a:t>a decision rule </a:t>
                </a:r>
                <a:r>
                  <a:rPr lang="en-US" sz="2000" dirty="0" smtClean="0"/>
                  <a:t>and partition </a:t>
                </a:r>
                <a:r>
                  <a:rPr lang="en-US" sz="2000" dirty="0"/>
                  <a:t>the observation space into </a:t>
                </a:r>
                <a:r>
                  <a:rPr lang="en-US" sz="2000" dirty="0" smtClean="0"/>
                  <a:t>two region</a:t>
                </a:r>
              </a:p>
              <a:p>
                <a:pPr lvl="1"/>
                <a:r>
                  <a:rPr lang="en-US" sz="2000" b="1" dirty="0"/>
                  <a:t>R</a:t>
                </a:r>
                <a:r>
                  <a:rPr lang="en-US" sz="2000" b="1" dirty="0" smtClean="0"/>
                  <a:t>ejection </a:t>
                </a:r>
                <a:r>
                  <a:rPr lang="en-US" sz="2000" b="1" dirty="0"/>
                  <a:t>or </a:t>
                </a:r>
                <a:r>
                  <a:rPr lang="en-US" sz="2000" b="1" dirty="0" smtClean="0"/>
                  <a:t>critical </a:t>
                </a:r>
                <a:r>
                  <a:rPr lang="en-IN" sz="2000" b="1" dirty="0" smtClean="0"/>
                  <a:t>region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b="1" i="1" smtClean="0">
                            <a:latin typeface="Cambria Math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IN" sz="2000" b="1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IN" sz="2000" b="1" i="1">
                                <a:latin typeface="Cambria Math"/>
                              </a:rPr>
                              <m:t>𝑹</m:t>
                            </m:r>
                          </m:e>
                        </m:acc>
                      </m:e>
                    </m:d>
                  </m:oMath>
                </a14:m>
                <a:r>
                  <a:rPr lang="en-IN" sz="2000" i="1" dirty="0" smtClean="0"/>
                  <a:t> ---</a:t>
                </a:r>
              </a:p>
              <a:p>
                <a:pPr lvl="2"/>
                <a:r>
                  <a:rPr lang="en-IN" sz="2000" i="1" dirty="0" smtClean="0"/>
                  <a:t> if value find in this region then reject the hypothesis.</a:t>
                </a:r>
                <a:endParaRPr lang="en-IN" sz="1600" i="1" dirty="0" smtClean="0"/>
              </a:p>
              <a:p>
                <a:pPr lvl="1"/>
                <a:r>
                  <a:rPr lang="en-US" sz="2000" b="1" dirty="0" smtClean="0"/>
                  <a:t>Acceptance </a:t>
                </a:r>
                <a:r>
                  <a:rPr lang="en-IN" sz="2000" b="1" dirty="0" smtClean="0"/>
                  <a:t>region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b="1" i="1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sz="2000" b="1" i="1" smtClean="0">
                                <a:latin typeface="Cambria Math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IN" sz="2000" b="1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IN" sz="2000" b="1" i="1">
                                    <a:latin typeface="Cambria Math"/>
                                  </a:rPr>
                                  <m:t>𝑹</m:t>
                                </m:r>
                              </m:e>
                            </m:acc>
                          </m:e>
                          <m:sup>
                            <m:r>
                              <a:rPr lang="en-IN" sz="2000" b="1" i="1" smtClean="0">
                                <a:latin typeface="Cambria Math"/>
                              </a:rPr>
                              <m:t>𝒄</m:t>
                            </m:r>
                          </m:sup>
                        </m:sSup>
                      </m:e>
                    </m:d>
                  </m:oMath>
                </a14:m>
                <a:r>
                  <a:rPr lang="en-IN" sz="2000" i="1" dirty="0" smtClean="0"/>
                  <a:t>  ---</a:t>
                </a:r>
              </a:p>
              <a:p>
                <a:pPr lvl="2"/>
                <a:r>
                  <a:rPr lang="en-IN" sz="2000" i="1" dirty="0" smtClean="0"/>
                  <a:t>if value find in this region then accept the hypothesis</a:t>
                </a:r>
                <a:r>
                  <a:rPr lang="en-IN" sz="1600" i="1" dirty="0" smtClean="0"/>
                  <a:t>.</a:t>
                </a:r>
                <a:endParaRPr lang="en-IN" sz="1600" i="1" dirty="0"/>
              </a:p>
              <a:p>
                <a:endParaRPr lang="en-US" sz="1100" dirty="0" smtClean="0"/>
              </a:p>
              <a:p>
                <a:r>
                  <a:rPr lang="en-US" sz="2000" dirty="0" smtClean="0"/>
                  <a:t>The </a:t>
                </a:r>
                <a:r>
                  <a:rPr lang="en-US" sz="2000" b="1" dirty="0"/>
                  <a:t>decision rule </a:t>
                </a:r>
                <a:r>
                  <a:rPr lang="en-US" sz="2000" dirty="0"/>
                  <a:t>is </a:t>
                </a:r>
                <a:r>
                  <a:rPr lang="en-US" sz="2000" dirty="0" smtClean="0"/>
                  <a:t>defined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b="0" i="1" smtClean="0">
                          <a:latin typeface="Cambria Math"/>
                        </a:rPr>
                        <m:t>𝐴𝑐𝑐𝑒𝑝𝑡</m:t>
                      </m:r>
                      <m:r>
                        <a:rPr lang="en-IN" sz="1800" b="0" i="1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IN" sz="1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1800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IN" sz="1800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IN" sz="1800" b="0" i="1" smtClean="0">
                          <a:latin typeface="Cambria Math"/>
                        </a:rPr>
                        <m:t>  </m:t>
                      </m:r>
                      <m:r>
                        <a:rPr lang="en-IN" sz="1800" b="0" i="1" smtClean="0">
                          <a:latin typeface="Cambria Math"/>
                        </a:rPr>
                        <m:t>𝑖𝑓</m:t>
                      </m:r>
                      <m:r>
                        <a:rPr lang="en-IN" sz="1800" b="0" i="1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IN" sz="18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1800" b="1" i="1" smtClean="0"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lang="en-IN" sz="1800" b="1" i="1" smtClean="0">
                              <a:latin typeface="Cambria Math"/>
                            </a:rPr>
                            <m:t>𝒏</m:t>
                          </m:r>
                        </m:sub>
                      </m:sSub>
                      <m:r>
                        <a:rPr lang="en-IN" sz="1800" b="1" i="1" smtClean="0">
                          <a:latin typeface="Cambria Math"/>
                        </a:rPr>
                        <m:t>∈ </m:t>
                      </m:r>
                      <m:sSup>
                        <m:sSupPr>
                          <m:ctrlPr>
                            <a:rPr lang="en-IN" sz="1800" b="0" i="1" smtClean="0">
                              <a:latin typeface="Cambria Math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IN" sz="1800" b="1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IN" sz="1800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</m:acc>
                        </m:e>
                        <m:sup>
                          <m:r>
                            <a:rPr lang="en-IN" sz="1800" b="0" i="1" smtClean="0">
                              <a:latin typeface="Cambria Math"/>
                            </a:rPr>
                            <m:t>𝑐</m:t>
                          </m:r>
                        </m:sup>
                      </m:sSup>
                      <m:r>
                        <a:rPr lang="en-IN" sz="1800" b="0" i="1" smtClean="0">
                          <a:latin typeface="Cambria Math"/>
                        </a:rPr>
                        <m:t>   (</m:t>
                      </m:r>
                      <m:r>
                        <a:rPr lang="en-IN" sz="1800" b="0" i="1" smtClean="0">
                          <a:latin typeface="Cambria Math"/>
                        </a:rPr>
                        <m:t>𝐴𝑐𝑐𝑒𝑝𝑡𝑎𝑛𝑐𝑒</m:t>
                      </m:r>
                      <m:r>
                        <a:rPr lang="en-IN" sz="1800" b="0" i="1" smtClean="0">
                          <a:latin typeface="Cambria Math"/>
                        </a:rPr>
                        <m:t> </m:t>
                      </m:r>
                      <m:r>
                        <a:rPr lang="en-IN" sz="1800" b="0" i="1" smtClean="0">
                          <a:latin typeface="Cambria Math"/>
                        </a:rPr>
                        <m:t>𝑅𝑒𝑔𝑖𝑜𝑛</m:t>
                      </m:r>
                      <m:r>
                        <a:rPr lang="en-IN" sz="18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IN" sz="1800" dirty="0" smtClean="0"/>
              </a:p>
              <a:p>
                <a:pPr marL="0" indent="0">
                  <a:buNone/>
                </a:pPr>
                <a:endParaRPr lang="en-IN" sz="12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b="0" i="1" smtClean="0">
                          <a:latin typeface="Cambria Math"/>
                        </a:rPr>
                        <m:t>𝑅𝑒𝑗𝑒𝑐𝑡</m:t>
                      </m:r>
                      <m:r>
                        <a:rPr lang="en-IN" sz="1800" i="1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IN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1800" i="1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IN" sz="18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IN" sz="1800" i="1">
                          <a:latin typeface="Cambria Math"/>
                        </a:rPr>
                        <m:t>  </m:t>
                      </m:r>
                      <m:r>
                        <a:rPr lang="en-IN" sz="1800" i="1">
                          <a:latin typeface="Cambria Math"/>
                        </a:rPr>
                        <m:t>𝑖𝑓</m:t>
                      </m:r>
                      <m:r>
                        <a:rPr lang="en-IN" sz="1800" i="1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IN" sz="18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1800" b="1" i="1"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lang="en-IN" sz="1800" b="1" i="1">
                              <a:latin typeface="Cambria Math"/>
                            </a:rPr>
                            <m:t>𝒏</m:t>
                          </m:r>
                        </m:sub>
                      </m:sSub>
                      <m:r>
                        <a:rPr lang="en-IN" sz="1800" b="1" i="1">
                          <a:latin typeface="Cambria Math"/>
                        </a:rPr>
                        <m:t>∈</m:t>
                      </m:r>
                      <m:acc>
                        <m:accPr>
                          <m:chr m:val="̃"/>
                          <m:ctrlPr>
                            <a:rPr lang="en-IN" sz="1800" b="1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IN" sz="1800" i="1">
                              <a:latin typeface="Cambria Math"/>
                            </a:rPr>
                            <m:t>𝑅</m:t>
                          </m:r>
                        </m:e>
                      </m:acc>
                      <m:r>
                        <a:rPr lang="en-IN" sz="1800" b="1" i="1" smtClean="0">
                          <a:latin typeface="Cambria Math"/>
                        </a:rPr>
                        <m:t> (</m:t>
                      </m:r>
                      <m:r>
                        <a:rPr lang="en-IN" sz="1800" b="1" i="1" smtClean="0">
                          <a:latin typeface="Cambria Math"/>
                        </a:rPr>
                        <m:t>𝑪𝒓𝒊𝒕𝒊𝒄𝒂𝒍</m:t>
                      </m:r>
                      <m:r>
                        <a:rPr lang="en-IN" sz="1800" b="1" i="1" smtClean="0">
                          <a:latin typeface="Cambria Math"/>
                        </a:rPr>
                        <m:t> </m:t>
                      </m:r>
                      <m:r>
                        <a:rPr lang="en-IN" sz="1800" b="1" i="1" smtClean="0">
                          <a:latin typeface="Cambria Math"/>
                        </a:rPr>
                        <m:t>𝑹𝒆𝒈𝒊𝒐𝒏</m:t>
                      </m:r>
                      <m:r>
                        <a:rPr lang="en-IN" sz="18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IN" sz="1800" dirty="0"/>
              </a:p>
              <a:p>
                <a:pPr marL="0" indent="0">
                  <a:buNone/>
                </a:pPr>
                <a:endParaRPr lang="en-IN" sz="2000" b="1" dirty="0"/>
              </a:p>
              <a:p>
                <a:pPr marL="0" indent="0">
                  <a:buNone/>
                </a:pPr>
                <a:endParaRPr lang="en-IN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685800"/>
                <a:ext cx="8991600" cy="5867400"/>
              </a:xfrm>
              <a:blipFill rotWithShape="1">
                <a:blip r:embed="rId2"/>
                <a:stretch>
                  <a:fillRect l="-678" t="-520" r="-1288" b="-77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24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11162"/>
          </a:xfrm>
        </p:spPr>
        <p:txBody>
          <a:bodyPr>
            <a:noAutofit/>
          </a:bodyPr>
          <a:lstStyle/>
          <a:p>
            <a:r>
              <a:rPr lang="en-IN" sz="2800" dirty="0"/>
              <a:t>Significance Testing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609600"/>
                <a:ext cx="8991600" cy="5943600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IN" sz="2200" b="1" dirty="0" smtClean="0">
                    <a:solidFill>
                      <a:srgbClr val="0070C0"/>
                    </a:solidFill>
                    <a:latin typeface="+mj-lt"/>
                  </a:rPr>
                  <a:t>Significance level</a:t>
                </a:r>
                <a:r>
                  <a:rPr lang="en-IN" sz="2200" dirty="0" smtClean="0">
                    <a:latin typeface="+mj-lt"/>
                  </a:rPr>
                  <a:t> of a hypothesis test </a:t>
                </a:r>
                <a:r>
                  <a:rPr lang="en-US" sz="2200" dirty="0" smtClean="0"/>
                  <a:t>represents </a:t>
                </a:r>
                <a:r>
                  <a:rPr lang="en-US" sz="2200" dirty="0"/>
                  <a:t>tolerance level  or </a:t>
                </a:r>
                <a:r>
                  <a:rPr lang="en-US" altLang="en-US" sz="2200" dirty="0"/>
                  <a:t>maximum </a:t>
                </a:r>
                <a:r>
                  <a:rPr lang="en-US" altLang="en-US" sz="2200" dirty="0" smtClean="0"/>
                  <a:t>probability </a:t>
                </a:r>
                <a:r>
                  <a:rPr lang="en-US" altLang="en-US" sz="2200" dirty="0"/>
                  <a:t>of making a </a:t>
                </a:r>
                <a:r>
                  <a:rPr lang="en-US" altLang="en-US" sz="2200" dirty="0" smtClean="0">
                    <a:solidFill>
                      <a:srgbClr val="FF0000"/>
                    </a:solidFill>
                  </a:rPr>
                  <a:t>Type-I </a:t>
                </a:r>
                <a:r>
                  <a:rPr lang="en-US" altLang="en-US" sz="2200" dirty="0">
                    <a:solidFill>
                      <a:srgbClr val="FF0000"/>
                    </a:solidFill>
                  </a:rPr>
                  <a:t>error</a:t>
                </a:r>
                <a:r>
                  <a:rPr lang="en-US" altLang="en-US" sz="2200" dirty="0"/>
                  <a:t>. </a:t>
                </a:r>
              </a:p>
              <a:p>
                <a:endParaRPr lang="en-US" sz="1000" dirty="0" smtClean="0"/>
              </a:p>
              <a:p>
                <a:r>
                  <a:rPr lang="en-US" sz="2200" dirty="0" smtClean="0"/>
                  <a:t>Type-I error occur when we </a:t>
                </a:r>
                <a14:m>
                  <m:oMath xmlns:m="http://schemas.openxmlformats.org/officeDocument/2006/math">
                    <m:r>
                      <a:rPr lang="en-IN" sz="2200" b="1" i="1">
                        <a:solidFill>
                          <a:srgbClr val="FF0000"/>
                        </a:solidFill>
                        <a:latin typeface="Cambria Math"/>
                      </a:rPr>
                      <m:t>𝑹𝒆𝒋𝒆𝒄𝒕</m:t>
                    </m:r>
                    <m:r>
                      <a:rPr lang="en-IN" sz="2200" b="1" i="1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IN" sz="22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IN" sz="22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IN" sz="22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IN" sz="2200" b="1" i="1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IN" sz="2200" b="1" i="1" smtClean="0">
                        <a:solidFill>
                          <a:srgbClr val="FF0000"/>
                        </a:solidFill>
                        <a:latin typeface="Cambria Math"/>
                      </a:rPr>
                      <m:t>𝑩𝒖𝒕</m:t>
                    </m:r>
                    <m:r>
                      <a:rPr lang="en-IN" sz="2200" b="1" i="1" smtClean="0">
                        <a:solidFill>
                          <a:srgbClr val="FF0000"/>
                        </a:solidFill>
                        <a:latin typeface="Cambria Math"/>
                      </a:rPr>
                      <m:t>  </m:t>
                    </m:r>
                    <m:r>
                      <a:rPr lang="en-IN" sz="2200" b="1" i="1" smtClean="0">
                        <a:solidFill>
                          <a:srgbClr val="FF0000"/>
                        </a:solidFill>
                        <a:latin typeface="Cambria Math"/>
                      </a:rPr>
                      <m:t>𝒂𝒄𝒕𝒖𝒂𝒍𝒍𝒚</m:t>
                    </m:r>
                    <m:r>
                      <a:rPr lang="en-IN" sz="2200" b="1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IN" sz="22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IN" sz="22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IN" sz="22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IN" sz="2200" b="1" i="1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IN" sz="2200" b="1" i="1">
                        <a:solidFill>
                          <a:srgbClr val="FF0000"/>
                        </a:solidFill>
                        <a:latin typeface="Cambria Math"/>
                      </a:rPr>
                      <m:t>𝒊𝒔</m:t>
                    </m:r>
                    <m:r>
                      <a:rPr lang="en-IN" sz="2200" b="1" i="1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IN" sz="2200" b="1" i="1">
                        <a:solidFill>
                          <a:srgbClr val="FF0000"/>
                        </a:solidFill>
                        <a:latin typeface="Cambria Math"/>
                      </a:rPr>
                      <m:t>𝒕𝒓𝒖𝒆</m:t>
                    </m:r>
                    <m:r>
                      <a:rPr lang="en-IN" sz="2200" b="1" i="1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200" dirty="0" smtClean="0"/>
                  <a:t>:</a:t>
                </a:r>
                <a:endParaRPr lang="en-US" sz="22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2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𝜶</m:t>
                      </m:r>
                      <m:r>
                        <a:rPr lang="en-IN" sz="2200" b="1" i="1">
                          <a:solidFill>
                            <a:srgbClr val="0070C0"/>
                          </a:solidFill>
                          <a:latin typeface="Cambria Math"/>
                        </a:rPr>
                        <m:t>≜</m:t>
                      </m:r>
                      <m:r>
                        <a:rPr lang="en-IN" sz="2200" b="1" i="1">
                          <a:solidFill>
                            <a:srgbClr val="0070C0"/>
                          </a:solidFill>
                          <a:latin typeface="Cambria Math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2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IN" sz="22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𝑻𝒚𝒑𝒆</m:t>
                          </m:r>
                          <m:r>
                            <a:rPr lang="en-IN" sz="22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IN" sz="22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𝑰</m:t>
                          </m:r>
                          <m:r>
                            <a:rPr lang="en-IN" sz="22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IN" sz="22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𝒆𝒓𝒓𝒐𝒓</m:t>
                          </m:r>
                        </m:e>
                      </m:d>
                      <m:r>
                        <a:rPr lang="en-IN" sz="2200" b="1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IN" sz="22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IN" sz="22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4"/>
                                </m:rPr>
                                <a:rPr lang="en-IN" sz="22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𝐱</m:t>
                              </m:r>
                            </m:e>
                            <m:sub>
                              <m:r>
                                <m:rPr>
                                  <m:brk m:alnAt="24"/>
                                </m:rPr>
                                <a:rPr lang="en-IN" sz="22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𝐧</m:t>
                              </m:r>
                            </m:sub>
                          </m:sSub>
                          <m:r>
                            <a:rPr lang="en-IN" sz="22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∈</m:t>
                          </m:r>
                          <m:acc>
                            <m:accPr>
                              <m:chr m:val="̃"/>
                              <m:ctrlPr>
                                <a:rPr lang="en-IN" sz="22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IN" sz="22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𝑹</m:t>
                              </m:r>
                            </m:e>
                          </m:acc>
                        </m:sub>
                        <m:sup/>
                        <m:e>
                          <m:sSub>
                            <m:sSubPr>
                              <m:ctrlPr>
                                <a:rPr lang="en-IN" sz="22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IN" sz="22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IN" sz="22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𝑿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22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2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IN" sz="22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IN" sz="22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-IN" sz="2200" b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IN" sz="22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IN" sz="22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en-IN" sz="22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IN" sz="22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  </m:t>
                          </m:r>
                          <m:r>
                            <a:rPr lang="en-IN" sz="22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𝒅</m:t>
                          </m:r>
                          <m:sSub>
                            <m:sSubPr>
                              <m:ctrlPr>
                                <a:rPr lang="en-IN" sz="22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IN" sz="22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IN" sz="22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200" b="1" dirty="0" smtClean="0">
                  <a:latin typeface="+mj-lt"/>
                </a:endParaRPr>
              </a:p>
              <a:p>
                <a:r>
                  <a:rPr lang="en-IN" sz="2200" dirty="0" smtClean="0">
                    <a:latin typeface="+mj-lt"/>
                  </a:rPr>
                  <a:t>The level of significance of a test provides an important design criterion for testing.</a:t>
                </a:r>
              </a:p>
              <a:p>
                <a:endParaRPr lang="en-IN" sz="1000" dirty="0" smtClean="0">
                  <a:latin typeface="+mj-lt"/>
                </a:endParaRPr>
              </a:p>
              <a:p>
                <a:r>
                  <a:rPr lang="en-IN" sz="2200" dirty="0" smtClean="0">
                    <a:latin typeface="+mj-lt"/>
                  </a:rPr>
                  <a:t>Rejection region is chosen according to this level so that probability of error not increases</a:t>
                </a:r>
                <a:r>
                  <a:rPr lang="en-US" sz="2200" dirty="0" smtClean="0">
                    <a:latin typeface="+mj-lt"/>
                  </a:rPr>
                  <a:t>:</a:t>
                </a:r>
              </a:p>
              <a:p>
                <a:endParaRPr lang="en-US" sz="1000" b="1" dirty="0" smtClean="0">
                  <a:latin typeface="+mj-lt"/>
                </a:endParaRPr>
              </a:p>
              <a:p>
                <a:r>
                  <a:rPr lang="en-US" sz="2200" b="1" dirty="0" smtClean="0">
                    <a:latin typeface="+mj-lt"/>
                  </a:rPr>
                  <a:t>Typical values of </a:t>
                </a:r>
                <a14:m>
                  <m:oMath xmlns:m="http://schemas.openxmlformats.org/officeDocument/2006/math">
                    <m:r>
                      <a:rPr lang="en-IN" sz="2200" b="1" i="1" smtClean="0">
                        <a:latin typeface="Cambria Math"/>
                      </a:rPr>
                      <m:t>𝜶</m:t>
                    </m:r>
                    <m:r>
                      <a:rPr lang="en-IN" sz="2200" b="1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IN" sz="2200" b="1" dirty="0" smtClean="0">
                    <a:latin typeface="+mj-lt"/>
                  </a:rPr>
                  <a:t>are 1%   and   5%.</a:t>
                </a:r>
              </a:p>
              <a:p>
                <a:endParaRPr lang="en-US" sz="1000" dirty="0" smtClean="0">
                  <a:latin typeface="+mj-lt"/>
                </a:endParaRPr>
              </a:p>
              <a:p>
                <a:r>
                  <a:rPr lang="en-US" sz="2200" dirty="0" smtClean="0">
                    <a:latin typeface="+mj-lt"/>
                  </a:rPr>
                  <a:t>The </a:t>
                </a:r>
                <a:r>
                  <a:rPr lang="en-US" sz="2200" dirty="0">
                    <a:latin typeface="+mj-lt"/>
                  </a:rPr>
                  <a:t>higher the significance level (alpha) used for testing a hypothesis, the higher the probability of rejecting a null hypothesis when it is true (Type-I error)</a:t>
                </a:r>
              </a:p>
              <a:p>
                <a:endParaRPr lang="en-IN" sz="2200" b="1" dirty="0">
                  <a:latin typeface="+mj-lt"/>
                </a:endParaRPr>
              </a:p>
              <a:p>
                <a:pPr marL="0" indent="0">
                  <a:buNone/>
                </a:pPr>
                <a:endParaRPr lang="en-IN" sz="2200" dirty="0">
                  <a:latin typeface="+mj-lt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609600"/>
                <a:ext cx="8991600" cy="5943600"/>
              </a:xfrm>
              <a:blipFill rotWithShape="1">
                <a:blip r:embed="rId2"/>
                <a:stretch>
                  <a:fillRect l="-881" t="-615" r="-1559" b="-156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2949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IN" altLang="en-US" sz="2800" i="1" dirty="0" smtClean="0">
                <a:solidFill>
                  <a:srgbClr val="FF0000"/>
                </a:solidFill>
              </a:rPr>
              <a:t>Test Statistic</a:t>
            </a:r>
            <a:endParaRPr lang="el-GR" altLang="en-US" sz="2800" i="1" dirty="0">
              <a:solidFill>
                <a:srgbClr val="FF0000"/>
              </a:solidFill>
            </a:endParaRPr>
          </a:p>
        </p:txBody>
      </p:sp>
      <p:sp>
        <p:nvSpPr>
          <p:cNvPr id="1198087" name="Text Box 7"/>
          <p:cNvSpPr txBox="1">
            <a:spLocks noChangeArrowheads="1"/>
          </p:cNvSpPr>
          <p:nvPr/>
        </p:nvSpPr>
        <p:spPr bwMode="auto">
          <a:xfrm>
            <a:off x="228600" y="2438400"/>
            <a:ext cx="79248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just" eaLnBrk="0" hangingPunct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en-US" sz="2400" dirty="0"/>
              <a:t>The statistic that is compared with the parameter in the null hypothesis is called the </a:t>
            </a:r>
            <a:r>
              <a:rPr lang="en-US" altLang="en-US" sz="2400" b="1" dirty="0">
                <a:solidFill>
                  <a:schemeClr val="folHlink"/>
                </a:solidFill>
              </a:rPr>
              <a:t>test statistic</a:t>
            </a:r>
            <a:r>
              <a:rPr lang="en-US" altLang="en-US" sz="2400" dirty="0"/>
              <a:t>.</a:t>
            </a:r>
            <a:endParaRPr lang="en-US" altLang="en-US" sz="2400" i="1" dirty="0">
              <a:sym typeface="Symbol" pitchFamily="18" charset="2"/>
            </a:endParaRPr>
          </a:p>
        </p:txBody>
      </p:sp>
      <p:sp>
        <p:nvSpPr>
          <p:cNvPr id="1198085" name="Text Box 5"/>
          <p:cNvSpPr txBox="1">
            <a:spLocks noChangeArrowheads="1"/>
          </p:cNvSpPr>
          <p:nvPr/>
        </p:nvSpPr>
        <p:spPr bwMode="auto">
          <a:xfrm>
            <a:off x="228600" y="990600"/>
            <a:ext cx="84582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just" eaLnBrk="0" hangingPunct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en-US" sz="2400" dirty="0"/>
              <a:t>After stating the null and alternative hypotheses and specifying the level of significance, a random sample is taken from the population and sample statistics are calculated.</a:t>
            </a:r>
            <a:endParaRPr lang="en-US" altLang="en-US" sz="2400" i="1" dirty="0">
              <a:sym typeface="Symbol" pitchFamily="18" charset="2"/>
            </a:endParaRPr>
          </a:p>
        </p:txBody>
      </p:sp>
      <p:grpSp>
        <p:nvGrpSpPr>
          <p:cNvPr id="1198211" name="Group 131"/>
          <p:cNvGrpSpPr>
            <a:grpSpLocks/>
          </p:cNvGrpSpPr>
          <p:nvPr/>
        </p:nvGrpSpPr>
        <p:grpSpPr bwMode="auto">
          <a:xfrm>
            <a:off x="859971" y="3960495"/>
            <a:ext cx="6705600" cy="2190750"/>
            <a:chOff x="318" y="2532"/>
            <a:chExt cx="4224" cy="1380"/>
          </a:xfrm>
        </p:grpSpPr>
        <p:grpSp>
          <p:nvGrpSpPr>
            <p:cNvPr id="1198210" name="Group 130"/>
            <p:cNvGrpSpPr>
              <a:grpSpLocks/>
            </p:cNvGrpSpPr>
            <p:nvPr/>
          </p:nvGrpSpPr>
          <p:grpSpPr bwMode="auto">
            <a:xfrm>
              <a:off x="318" y="2532"/>
              <a:ext cx="4224" cy="1380"/>
              <a:chOff x="318" y="2532"/>
              <a:chExt cx="4224" cy="1380"/>
            </a:xfrm>
          </p:grpSpPr>
          <p:sp>
            <p:nvSpPr>
              <p:cNvPr id="1198110" name="Rectangle 30"/>
              <p:cNvSpPr>
                <a:spLocks noChangeArrowheads="1"/>
              </p:cNvSpPr>
              <p:nvPr/>
            </p:nvSpPr>
            <p:spPr bwMode="auto">
              <a:xfrm>
                <a:off x="2670" y="3682"/>
                <a:ext cx="1872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20" tIns="0" rIns="45720" bIns="0"/>
              <a:lstStyle/>
              <a:p>
                <a:pPr algn="ctr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None/>
                </a:pPr>
                <a:r>
                  <a:rPr lang="en-US" i="1"/>
                  <a:t>X</a:t>
                </a:r>
                <a:r>
                  <a:rPr lang="en-US" baseline="30000"/>
                  <a:t>2</a:t>
                </a:r>
                <a:endParaRPr lang="en-US" i="1"/>
              </a:p>
            </p:txBody>
          </p:sp>
          <p:sp>
            <p:nvSpPr>
              <p:cNvPr id="1198109" name="Rectangle 29"/>
              <p:cNvSpPr>
                <a:spLocks noChangeArrowheads="1"/>
              </p:cNvSpPr>
              <p:nvPr/>
            </p:nvSpPr>
            <p:spPr bwMode="auto">
              <a:xfrm>
                <a:off x="1566" y="3682"/>
                <a:ext cx="1104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20" tIns="0" rIns="45720" bIns="0"/>
              <a:lstStyle/>
              <a:p>
                <a:pPr algn="ctr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None/>
                </a:pPr>
                <a:r>
                  <a:rPr lang="en-US" i="1"/>
                  <a:t>s</a:t>
                </a:r>
                <a:r>
                  <a:rPr lang="en-US" baseline="30000"/>
                  <a:t>2</a:t>
                </a:r>
                <a:endParaRPr lang="en-US"/>
              </a:p>
            </p:txBody>
          </p:sp>
          <p:sp>
            <p:nvSpPr>
              <p:cNvPr id="1198108" name="Rectangle 28"/>
              <p:cNvSpPr>
                <a:spLocks noChangeArrowheads="1"/>
              </p:cNvSpPr>
              <p:nvPr/>
            </p:nvSpPr>
            <p:spPr bwMode="auto">
              <a:xfrm>
                <a:off x="318" y="3682"/>
                <a:ext cx="1248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20" tIns="0" rIns="45720" bIns="0"/>
              <a:lstStyle/>
              <a:p>
                <a:pPr algn="ctr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None/>
                </a:pPr>
                <a:r>
                  <a:rPr lang="en-US" i="1">
                    <a:sym typeface="Symbol" pitchFamily="18" charset="2"/>
                  </a:rPr>
                  <a:t></a:t>
                </a:r>
                <a:r>
                  <a:rPr lang="en-US" baseline="30000">
                    <a:sym typeface="Symbol" pitchFamily="18" charset="2"/>
                  </a:rPr>
                  <a:t>2</a:t>
                </a:r>
                <a:endParaRPr lang="en-US" i="1">
                  <a:sym typeface="Symbol" pitchFamily="18" charset="2"/>
                </a:endParaRPr>
              </a:p>
            </p:txBody>
          </p:sp>
          <p:sp>
            <p:nvSpPr>
              <p:cNvPr id="1198107" name="Rectangle 27"/>
              <p:cNvSpPr>
                <a:spLocks noChangeArrowheads="1"/>
              </p:cNvSpPr>
              <p:nvPr/>
            </p:nvSpPr>
            <p:spPr bwMode="auto">
              <a:xfrm>
                <a:off x="2670" y="3452"/>
                <a:ext cx="1872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20" tIns="0" rIns="45720" bIns="0"/>
              <a:lstStyle/>
              <a:p>
                <a:pPr algn="ctr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None/>
                </a:pPr>
                <a:r>
                  <a:rPr lang="en-US" dirty="0"/>
                  <a:t>z</a:t>
                </a:r>
              </a:p>
            </p:txBody>
          </p:sp>
          <p:sp>
            <p:nvSpPr>
              <p:cNvPr id="1198106" name="Rectangle 26"/>
              <p:cNvSpPr>
                <a:spLocks noChangeArrowheads="1"/>
              </p:cNvSpPr>
              <p:nvPr/>
            </p:nvSpPr>
            <p:spPr bwMode="auto">
              <a:xfrm>
                <a:off x="1566" y="3452"/>
                <a:ext cx="1104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20" tIns="0" rIns="45720" bIns="0"/>
              <a:lstStyle/>
              <a:p>
                <a:pPr algn="ctr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None/>
                </a:pPr>
                <a:endParaRPr lang="en-US"/>
              </a:p>
            </p:txBody>
          </p:sp>
          <p:sp>
            <p:nvSpPr>
              <p:cNvPr id="1198105" name="Rectangle 25"/>
              <p:cNvSpPr>
                <a:spLocks noChangeArrowheads="1"/>
              </p:cNvSpPr>
              <p:nvPr/>
            </p:nvSpPr>
            <p:spPr bwMode="auto">
              <a:xfrm>
                <a:off x="318" y="3337"/>
                <a:ext cx="1248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20" tIns="0" rIns="45720" bIns="0"/>
              <a:lstStyle/>
              <a:p>
                <a:pPr algn="ctr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None/>
                </a:pPr>
                <a:r>
                  <a:rPr lang="en-US" i="1" dirty="0"/>
                  <a:t>p</a:t>
                </a:r>
              </a:p>
            </p:txBody>
          </p:sp>
          <p:sp>
            <p:nvSpPr>
              <p:cNvPr id="1198104" name="Rectangle 24"/>
              <p:cNvSpPr>
                <a:spLocks noChangeArrowheads="1"/>
              </p:cNvSpPr>
              <p:nvPr/>
            </p:nvSpPr>
            <p:spPr bwMode="auto">
              <a:xfrm>
                <a:off x="2670" y="3222"/>
                <a:ext cx="1872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20" tIns="0" rIns="45720" bIns="0"/>
              <a:lstStyle/>
              <a:p>
                <a:pPr algn="ctr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None/>
                </a:pPr>
                <a:r>
                  <a:rPr lang="en-US" i="1"/>
                  <a:t>t</a:t>
                </a:r>
                <a:r>
                  <a:rPr lang="en-US"/>
                  <a:t>  (</a:t>
                </a:r>
                <a:r>
                  <a:rPr lang="en-US" i="1"/>
                  <a:t>n</a:t>
                </a:r>
                <a:r>
                  <a:rPr lang="en-US"/>
                  <a:t> &lt; 30)</a:t>
                </a:r>
                <a:endParaRPr lang="en-US" i="1"/>
              </a:p>
            </p:txBody>
          </p:sp>
          <p:sp>
            <p:nvSpPr>
              <p:cNvPr id="1198103" name="Rectangle 23"/>
              <p:cNvSpPr>
                <a:spLocks noChangeArrowheads="1"/>
              </p:cNvSpPr>
              <p:nvPr/>
            </p:nvSpPr>
            <p:spPr bwMode="auto">
              <a:xfrm>
                <a:off x="1566" y="3222"/>
                <a:ext cx="1104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20" tIns="0" rIns="45720" bIns="0"/>
              <a:lstStyle/>
              <a:p>
                <a:pPr algn="ctr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None/>
                </a:pPr>
                <a:endParaRPr lang="en-US"/>
              </a:p>
            </p:txBody>
          </p:sp>
          <p:sp>
            <p:nvSpPr>
              <p:cNvPr id="1198102" name="Rectangle 22"/>
              <p:cNvSpPr>
                <a:spLocks noChangeArrowheads="1"/>
              </p:cNvSpPr>
              <p:nvPr/>
            </p:nvSpPr>
            <p:spPr bwMode="auto">
              <a:xfrm>
                <a:off x="318" y="3222"/>
                <a:ext cx="1248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20" tIns="0" rIns="45720" bIns="0"/>
              <a:lstStyle/>
              <a:p>
                <a:pPr algn="ctr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None/>
                </a:pPr>
                <a:endParaRPr lang="en-US" i="1"/>
              </a:p>
            </p:txBody>
          </p:sp>
          <p:sp>
            <p:nvSpPr>
              <p:cNvPr id="1198101" name="Rectangle 21"/>
              <p:cNvSpPr>
                <a:spLocks noChangeArrowheads="1"/>
              </p:cNvSpPr>
              <p:nvPr/>
            </p:nvSpPr>
            <p:spPr bwMode="auto">
              <a:xfrm>
                <a:off x="2670" y="2992"/>
                <a:ext cx="1872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20" tIns="0" rIns="45720" bIns="0"/>
              <a:lstStyle/>
              <a:p>
                <a:pPr algn="ctr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None/>
                </a:pPr>
                <a:r>
                  <a:rPr lang="en-US" i="1"/>
                  <a:t>z </a:t>
                </a:r>
                <a:r>
                  <a:rPr lang="en-US"/>
                  <a:t> (</a:t>
                </a:r>
                <a:r>
                  <a:rPr lang="en-US" i="1"/>
                  <a:t>n</a:t>
                </a:r>
                <a:r>
                  <a:rPr lang="en-US"/>
                  <a:t> </a:t>
                </a:r>
                <a:r>
                  <a:rPr lang="en-US">
                    <a:sym typeface="Symbol" pitchFamily="18" charset="2"/>
                  </a:rPr>
                  <a:t> 30)</a:t>
                </a:r>
              </a:p>
            </p:txBody>
          </p:sp>
          <p:sp>
            <p:nvSpPr>
              <p:cNvPr id="1198099" name="Rectangle 19"/>
              <p:cNvSpPr>
                <a:spLocks noChangeArrowheads="1"/>
              </p:cNvSpPr>
              <p:nvPr/>
            </p:nvSpPr>
            <p:spPr bwMode="auto">
              <a:xfrm>
                <a:off x="318" y="2992"/>
                <a:ext cx="1248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20" tIns="0" rIns="45720" bIns="0"/>
              <a:lstStyle/>
              <a:p>
                <a:pPr algn="ctr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None/>
                </a:pPr>
                <a:r>
                  <a:rPr lang="el-GR" i="1"/>
                  <a:t>μ</a:t>
                </a:r>
              </a:p>
            </p:txBody>
          </p:sp>
          <p:sp>
            <p:nvSpPr>
              <p:cNvPr id="1198098" name="Rectangle 18"/>
              <p:cNvSpPr>
                <a:spLocks noChangeArrowheads="1"/>
              </p:cNvSpPr>
              <p:nvPr/>
            </p:nvSpPr>
            <p:spPr bwMode="auto">
              <a:xfrm>
                <a:off x="2670" y="2532"/>
                <a:ext cx="1872" cy="460"/>
              </a:xfrm>
              <a:prstGeom prst="rect">
                <a:avLst/>
              </a:prstGeom>
              <a:solidFill>
                <a:srgbClr val="92D050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20" tIns="0" rIns="45720" bIns="0"/>
              <a:lstStyle/>
              <a:p>
                <a:pPr algn="ctr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None/>
                </a:pPr>
                <a:r>
                  <a:rPr lang="en-US" b="1" dirty="0"/>
                  <a:t>Standardized test statistic</a:t>
                </a:r>
              </a:p>
            </p:txBody>
          </p:sp>
          <p:sp>
            <p:nvSpPr>
              <p:cNvPr id="1198097" name="Rectangle 17"/>
              <p:cNvSpPr>
                <a:spLocks noChangeArrowheads="1"/>
              </p:cNvSpPr>
              <p:nvPr/>
            </p:nvSpPr>
            <p:spPr bwMode="auto">
              <a:xfrm>
                <a:off x="1566" y="2532"/>
                <a:ext cx="1104" cy="460"/>
              </a:xfrm>
              <a:prstGeom prst="rect">
                <a:avLst/>
              </a:prstGeom>
              <a:solidFill>
                <a:srgbClr val="92D050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20" tIns="0" rIns="45720" bIns="0"/>
              <a:lstStyle/>
              <a:p>
                <a:pPr algn="ctr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None/>
                </a:pPr>
                <a:r>
                  <a:rPr lang="en-US" b="1"/>
                  <a:t>Test statistic</a:t>
                </a:r>
              </a:p>
            </p:txBody>
          </p:sp>
          <p:sp>
            <p:nvSpPr>
              <p:cNvPr id="1198096" name="Rectangle 16"/>
              <p:cNvSpPr>
                <a:spLocks noChangeArrowheads="1"/>
              </p:cNvSpPr>
              <p:nvPr/>
            </p:nvSpPr>
            <p:spPr bwMode="auto">
              <a:xfrm>
                <a:off x="318" y="2532"/>
                <a:ext cx="1248" cy="460"/>
              </a:xfrm>
              <a:prstGeom prst="rect">
                <a:avLst/>
              </a:prstGeom>
              <a:solidFill>
                <a:srgbClr val="92D050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20" tIns="0" rIns="45720" bIns="0"/>
              <a:lstStyle/>
              <a:p>
                <a:pPr algn="ctr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None/>
                </a:pPr>
                <a:r>
                  <a:rPr lang="en-US" b="1"/>
                  <a:t>Population parameter</a:t>
                </a:r>
              </a:p>
            </p:txBody>
          </p:sp>
          <p:sp>
            <p:nvSpPr>
              <p:cNvPr id="1198111" name="Line 31"/>
              <p:cNvSpPr>
                <a:spLocks noChangeShapeType="1"/>
              </p:cNvSpPr>
              <p:nvPr/>
            </p:nvSpPr>
            <p:spPr bwMode="auto">
              <a:xfrm>
                <a:off x="318" y="2532"/>
                <a:ext cx="422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1198112" name="Line 32"/>
              <p:cNvSpPr>
                <a:spLocks noChangeShapeType="1"/>
              </p:cNvSpPr>
              <p:nvPr/>
            </p:nvSpPr>
            <p:spPr bwMode="auto">
              <a:xfrm>
                <a:off x="318" y="2992"/>
                <a:ext cx="422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1198116" name="Line 36"/>
              <p:cNvSpPr>
                <a:spLocks noChangeShapeType="1"/>
              </p:cNvSpPr>
              <p:nvPr/>
            </p:nvSpPr>
            <p:spPr bwMode="auto">
              <a:xfrm>
                <a:off x="318" y="3912"/>
                <a:ext cx="422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1198118" name="Line 38"/>
              <p:cNvSpPr>
                <a:spLocks noChangeShapeType="1"/>
              </p:cNvSpPr>
              <p:nvPr/>
            </p:nvSpPr>
            <p:spPr bwMode="auto">
              <a:xfrm>
                <a:off x="1566" y="2532"/>
                <a:ext cx="0" cy="13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1198119" name="Line 39"/>
              <p:cNvSpPr>
                <a:spLocks noChangeShapeType="1"/>
              </p:cNvSpPr>
              <p:nvPr/>
            </p:nvSpPr>
            <p:spPr bwMode="auto">
              <a:xfrm>
                <a:off x="2670" y="2532"/>
                <a:ext cx="0" cy="13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1198157" name="Line 77"/>
              <p:cNvSpPr>
                <a:spLocks noChangeShapeType="1"/>
              </p:cNvSpPr>
              <p:nvPr/>
            </p:nvSpPr>
            <p:spPr bwMode="auto">
              <a:xfrm>
                <a:off x="318" y="2992"/>
                <a:ext cx="0" cy="92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1198117" name="Line 37"/>
              <p:cNvSpPr>
                <a:spLocks noChangeShapeType="1"/>
              </p:cNvSpPr>
              <p:nvPr/>
            </p:nvSpPr>
            <p:spPr bwMode="auto">
              <a:xfrm>
                <a:off x="318" y="2532"/>
                <a:ext cx="0" cy="4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1198197" name="Line 117"/>
              <p:cNvSpPr>
                <a:spLocks noChangeShapeType="1"/>
              </p:cNvSpPr>
              <p:nvPr/>
            </p:nvSpPr>
            <p:spPr bwMode="auto">
              <a:xfrm>
                <a:off x="4542" y="2992"/>
                <a:ext cx="0" cy="92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1198120" name="Line 40"/>
              <p:cNvSpPr>
                <a:spLocks noChangeShapeType="1"/>
              </p:cNvSpPr>
              <p:nvPr/>
            </p:nvSpPr>
            <p:spPr bwMode="auto">
              <a:xfrm>
                <a:off x="4542" y="2532"/>
                <a:ext cx="0" cy="4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  <p:graphicFrame>
            <p:nvGraphicFramePr>
              <p:cNvPr id="1198129" name="Object 4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45538180"/>
                  </p:ext>
                </p:extLst>
              </p:nvPr>
            </p:nvGraphicFramePr>
            <p:xfrm>
              <a:off x="2038" y="3351"/>
              <a:ext cx="160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78" name="Equation" r:id="rId4" imgW="253800" imgH="342720" progId="Equation.DSMT4">
                      <p:embed/>
                    </p:oleObj>
                  </mc:Choice>
                  <mc:Fallback>
                    <p:oleObj name="Equation" r:id="rId4" imgW="253800" imgH="3427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38" y="3351"/>
                            <a:ext cx="160" cy="2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198208" name="Object 1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2478783"/>
                </p:ext>
              </p:extLst>
            </p:nvPr>
          </p:nvGraphicFramePr>
          <p:xfrm>
            <a:off x="2016" y="3024"/>
            <a:ext cx="168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9" name="Equation" r:id="rId6" imgW="215640" imgH="253800" progId="Equation.3">
                    <p:embed/>
                  </p:oleObj>
                </mc:Choice>
                <mc:Fallback>
                  <p:oleObj name="Equation" r:id="rId6" imgW="21564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3024"/>
                          <a:ext cx="168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310341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5616" y="116632"/>
            <a:ext cx="6840760" cy="1224136"/>
          </a:xfrm>
        </p:spPr>
        <p:txBody>
          <a:bodyPr>
            <a:normAutofit/>
          </a:bodyPr>
          <a:lstStyle/>
          <a:p>
            <a:r>
              <a:rPr lang="en-IN" dirty="0"/>
              <a:t>Reference Book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11</a:t>
            </a:fld>
            <a:endParaRPr lang="en-IN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611560" y="1772816"/>
            <a:ext cx="7848872" cy="35283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b="0" i="0" u="none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Alberto Leon-Garcia, Probability, Statistics</a:t>
            </a:r>
            <a:r>
              <a:rPr lang="en-US" sz="2000" dirty="0" smtClean="0">
                <a:solidFill>
                  <a:schemeClr val="tx1"/>
                </a:solidFill>
              </a:rPr>
              <a:t>,  and </a:t>
            </a:r>
            <a:r>
              <a:rPr lang="en-US" sz="2000" dirty="0">
                <a:solidFill>
                  <a:schemeClr val="tx1"/>
                </a:solidFill>
              </a:rPr>
              <a:t>Random </a:t>
            </a:r>
            <a:r>
              <a:rPr lang="en-US" sz="2000" dirty="0" smtClean="0">
                <a:solidFill>
                  <a:schemeClr val="tx1"/>
                </a:solidFill>
              </a:rPr>
              <a:t>Processes for </a:t>
            </a:r>
            <a:r>
              <a:rPr lang="en-US" sz="2000" dirty="0">
                <a:solidFill>
                  <a:schemeClr val="tx1"/>
                </a:solidFill>
              </a:rPr>
              <a:t>Electrical </a:t>
            </a:r>
            <a:r>
              <a:rPr lang="en-US" sz="2000" dirty="0" smtClean="0">
                <a:solidFill>
                  <a:schemeClr val="tx1"/>
                </a:solidFill>
              </a:rPr>
              <a:t>Engineering, Third Edition, 2007,  Pearson India, </a:t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Douglas C. Montgomery and George C. </a:t>
            </a:r>
            <a:r>
              <a:rPr lang="en-US" sz="2000" dirty="0" err="1" smtClean="0">
                <a:solidFill>
                  <a:schemeClr val="tx1"/>
                </a:solidFill>
              </a:rPr>
              <a:t>Runger</a:t>
            </a:r>
            <a:r>
              <a:rPr lang="en-US" sz="2000" dirty="0" smtClean="0">
                <a:solidFill>
                  <a:schemeClr val="tx1"/>
                </a:solidFill>
              </a:rPr>
              <a:t> (2010),  Applied Statistics and Probability for Engineers. Fifth Edition. John Wiley &amp; Sons.</a:t>
            </a:r>
          </a:p>
        </p:txBody>
      </p:sp>
    </p:spTree>
    <p:extLst>
      <p:ext uri="{BB962C8B-B14F-4D97-AF65-F5344CB8AC3E}">
        <p14:creationId xmlns:p14="http://schemas.microsoft.com/office/powerpoint/2010/main" val="264659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2&quot; unique_id=&quot;10485&quot;&gt;&lt;object type=&quot;3&quot; unique_id=&quot;16222&quot;&gt;&lt;property id=&quot;20148&quot; value=&quot;5&quot;/&gt;&lt;property id=&quot;20300&quot; value=&quot;Slide 4 - &amp;quot;Hypothesis Testing&amp;quot;&quot;/&gt;&lt;property id=&quot;20307&quot; value=&quot;319&quot;/&gt;&lt;/object&gt;&lt;object type=&quot;3&quot; unique_id=&quot;16223&quot;&gt;&lt;property id=&quot;20148&quot; value=&quot;5&quot;/&gt;&lt;property id=&quot;20300&quot; value=&quot;Slide 6 - &amp;quot;Hypothesis Testing Example&amp;quot;&quot;/&gt;&lt;property id=&quot;20307&quot; value=&quot;290&quot;/&gt;&lt;/object&gt;&lt;object type=&quot;3&quot; unique_id=&quot;16224&quot;&gt;&lt;property id=&quot;20148&quot; value=&quot;5&quot;/&gt;&lt;property id=&quot;20300&quot; value=&quot;Slide 7 - &amp;quot;Error in Hypothesis Testing&amp;quot;&quot;/&gt;&lt;property id=&quot;20307&quot; value=&quot;323&quot;/&gt;&lt;/object&gt;&lt;object type=&quot;3&quot; unique_id=&quot;16226&quot;&gt;&lt;property id=&quot;20148&quot; value=&quot;5&quot;/&gt;&lt;property id=&quot;20300&quot; value=&quot;Slide 8 - &amp;quot;Significance Testing&amp;quot;&quot;/&gt;&lt;property id=&quot;20307&quot; value=&quot;306&quot;/&gt;&lt;/object&gt;&lt;object type=&quot;3&quot; unique_id=&quot;16227&quot;&gt;&lt;property id=&quot;20148&quot; value=&quot;5&quot;/&gt;&lt;property id=&quot;20300&quot; value=&quot;Slide 9 - &amp;quot;Significance Testing&amp;quot;&quot;/&gt;&lt;property id=&quot;20307&quot; value=&quot;322&quot;/&gt;&lt;/object&gt;&lt;object type=&quot;3&quot; unique_id=&quot;16645&quot;&gt;&lt;property id=&quot;20148&quot; value=&quot;5&quot;/&gt;&lt;property id=&quot;20300&quot; value=&quot;Slide 10 - &amp;quot;Test Statistic&amp;quot;&quot;/&gt;&lt;property id=&quot;20307&quot; value=&quot;333&quot;/&gt;&lt;/object&gt;&lt;object type=&quot;3&quot; unique_id=&quot;71799&quot;&gt;&lt;property id=&quot;20148&quot; value=&quot;5&quot;/&gt;&lt;property id=&quot;20300&quot; value=&quot;Slide 1&quot;/&gt;&lt;property id=&quot;20307&quot; value=&quot;348&quot;/&gt;&lt;/object&gt;&lt;object type=&quot;3&quot; unique_id=&quot;71800&quot;&gt;&lt;property id=&quot;20148&quot; value=&quot;5&quot;/&gt;&lt;property id=&quot;20300&quot; value=&quot;Slide 2 - &amp;quot;Lecture-5 Hypothesis Testing&amp;quot;&quot;/&gt;&lt;property id=&quot;20307&quot; value=&quot;349&quot;/&gt;&lt;/object&gt;&lt;object type=&quot;3&quot; unique_id=&quot;71801&quot;&gt;&lt;property id=&quot;20148&quot; value=&quot;5&quot;/&gt;&lt;property id=&quot;20300&quot; value=&quot;Slide 3 - &amp;quot;Content of Lecture-5 Module – 4&amp;quot;&quot;/&gt;&lt;property id=&quot;20307&quot; value=&quot;350&quot;/&gt;&lt;/object&gt;&lt;object type=&quot;3&quot; unique_id=&quot;72130&quot;&gt;&lt;property id=&quot;20148&quot; value=&quot;5&quot;/&gt;&lt;property id=&quot;20300&quot; value=&quot;Slide 5 - &amp;quot;Steps of Hypothesis Testing&amp;quot;&quot;/&gt;&lt;property id=&quot;20307&quot; value=&quot;352&quot;/&gt;&lt;/object&gt;&lt;object type=&quot;3&quot; unique_id=&quot;72131&quot;&gt;&lt;property id=&quot;20148&quot; value=&quot;5&quot;/&gt;&lt;property id=&quot;20300&quot; value=&quot;Slide 11 - &amp;quot;Reference Book&amp;quot;&quot;/&gt;&lt;property id=&quot;20307&quot; value=&quot;351&quot;/&gt;&lt;/object&gt;&lt;/object&gt;&lt;object type=&quot;8&quot; unique_id=&quot;10635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5938</TotalTime>
  <Words>841</Words>
  <Application>Microsoft Office PowerPoint</Application>
  <PresentationFormat>On-screen Show (4:3)</PresentationFormat>
  <Paragraphs>108</Paragraphs>
  <Slides>11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Office Theme</vt:lpstr>
      <vt:lpstr>Equation</vt:lpstr>
      <vt:lpstr>PowerPoint Presentation</vt:lpstr>
      <vt:lpstr>Lecture-5 Hypothesis Testing</vt:lpstr>
      <vt:lpstr>Content of Lecture-5 Module – 4</vt:lpstr>
      <vt:lpstr>Hypothesis Testing</vt:lpstr>
      <vt:lpstr>Steps of Hypothesis Testing</vt:lpstr>
      <vt:lpstr>Hypothesis Testing Example</vt:lpstr>
      <vt:lpstr>Error in Hypothesis Testing</vt:lpstr>
      <vt:lpstr>Significance Testing</vt:lpstr>
      <vt:lpstr>Significance Testing</vt:lpstr>
      <vt:lpstr>Test Statistic</vt:lpstr>
      <vt:lpstr>Reference Book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Hem Dutt Joshi</dc:creator>
  <cp:lastModifiedBy>Dr. Hem Dutt Joshi</cp:lastModifiedBy>
  <cp:revision>211</cp:revision>
  <dcterms:created xsi:type="dcterms:W3CDTF">2006-08-16T00:00:00Z</dcterms:created>
  <dcterms:modified xsi:type="dcterms:W3CDTF">2020-07-17T14:39:59Z</dcterms:modified>
</cp:coreProperties>
</file>