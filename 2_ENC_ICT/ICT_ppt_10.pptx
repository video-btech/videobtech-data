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Lecture-10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/>
              <a:t>Conditional Distributions, Conditional Expected </a:t>
            </a:r>
            <a:r>
              <a:rPr lang="en-US" b="1" dirty="0" smtClean="0"/>
              <a:t>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Conditional Distributions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Conditional </a:t>
                </a:r>
                <a:r>
                  <a:rPr lang="en-US" sz="2000" dirty="0"/>
                  <a:t>distributions can be expressed as </a:t>
                </a:r>
                <a:r>
                  <a:rPr lang="en-US" sz="2000" dirty="0" smtClean="0"/>
                  <a:t>conditional probabilities</a:t>
                </a:r>
                <a:endParaRPr lang="en-US" sz="2000" i="1" dirty="0" smtClean="0">
                  <a:latin typeface="Cambria Math"/>
                  <a:ea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𝒛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𝒘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 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𝑀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  <a:blipFill rotWithShape="1">
                <a:blip r:embed="rId2"/>
                <a:stretch>
                  <a:fillRect l="-741" t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61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Conditional Distributions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𝒛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𝒘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𝒛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𝒘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 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𝑀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b="1" i="1" smtClean="0">
                                  <a:latin typeface="Cambria Math"/>
                                  <a:ea typeface="Cambria Math"/>
                                </a:rPr>
                                <m:t>,  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;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1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1" i="1">
                                    <a:latin typeface="Cambria Math"/>
                                  </a:rPr>
                                  <m:t>                                                    </m:t>
                                </m:r>
                                <m:r>
                                  <a:rPr lang="en-US" sz="2000" b="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000" i="1">
                                    <a:latin typeface="Cambria Math"/>
                                  </a:rPr>
                                  <m:t>;     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2000" b="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000" i="1">
                                    <a:latin typeface="Cambria Math"/>
                                  </a:rPr>
                                  <m:t>;</m:t>
                                </m:r>
                                <m:r>
                                  <a:rPr lang="en-US" sz="2000" b="1" i="1">
                                    <a:latin typeface="Cambria Math"/>
                                  </a:rPr>
                                  <m:t>               </m:t>
                                </m:r>
                                <m:r>
                                  <a:rPr lang="en-US" sz="2000" b="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98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Conditional Distributions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𝑀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1" i="1">
                            <a:latin typeface="Cambria Math"/>
                            <a:ea typeface="Cambria Math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;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1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1" i="1">
                                    <a:latin typeface="Cambria Math"/>
                                  </a:rPr>
                                  <m:t>                                                    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000" i="1">
                                    <a:latin typeface="Cambria Math"/>
                                  </a:rPr>
                                  <m:t>;     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&lt;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𝒙𝒚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latin typeface="Cambria Math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000" i="1">
                                    <a:latin typeface="Cambria Math"/>
                                  </a:rPr>
                                  <m:t>;</m:t>
                                </m:r>
                                <m:r>
                                  <a:rPr lang="en-US" sz="2000" b="1" i="1">
                                    <a:latin typeface="Cambria Math"/>
                                  </a:rPr>
                                  <m:t>               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1" i="1">
                                    <a:latin typeface="Cambria Math"/>
                                    <a:ea typeface="Cambria Math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;     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000" i="1">
                          <a:latin typeface="Cambria Math"/>
                        </a:rPr>
                        <m:t>;     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  <a:blipFill rotWithShape="1">
                <a:blip r:embed="rId2"/>
                <a:stretch>
                  <a:fillRect l="-741" t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14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Example: Conditional Distributions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       0&lt;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0               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/>
                  <a:t>,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  <m:r>
                          <a:rPr lang="en-US" sz="2000" b="1" i="1" smtClean="0">
                            <a:latin typeface="Cambria Math"/>
                          </a:rPr>
                          <m:t>/</m:t>
                        </m:r>
                        <m:r>
                          <a:rPr lang="en-US" sz="2000" b="1" i="1"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/</m:t>
                        </m:r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  <m:r>
                          <a:rPr lang="en-US" sz="2000" b="1" i="1"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  <m:r>
                          <a:rPr lang="en-US" sz="2000" i="1">
                            <a:latin typeface="Cambria Math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joint </a:t>
                </a:r>
                <a:r>
                  <a:rPr lang="en-US" sz="2000" dirty="0" smtClean="0"/>
                  <a:t>PDF </a:t>
                </a:r>
                <a:r>
                  <a:rPr lang="en-US" sz="2000" dirty="0"/>
                  <a:t>is given to be a constant in the shaded </a:t>
                </a:r>
                <a:r>
                  <a:rPr lang="en-US" sz="2000" dirty="0" smtClean="0"/>
                  <a:t>region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=1=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𝑑𝑥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⇒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200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;    0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𝑘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</a:rPr>
                        <m:t> ;         0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;       </m:t>
                      </m:r>
                      <m:r>
                        <m:rPr>
                          <m:brk m:alnAt="7"/>
                        </m:rPr>
                        <a:rPr lang="en-US" sz="2000" i="1">
                          <a:latin typeface="Cambria Math"/>
                          <a:ea typeface="Cambria Math"/>
                        </a:rPr>
                        <m:t>0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1−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 ;       </m:t>
                      </m:r>
                      <m:r>
                        <m:rPr>
                          <m:brk m:alnAt="7"/>
                        </m:rPr>
                        <a:rPr lang="en-US" sz="2000" i="1">
                          <a:latin typeface="Cambria Math"/>
                          <a:ea typeface="Cambria Math"/>
                        </a:rPr>
                        <m:t>0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107" y="3200400"/>
            <a:ext cx="218122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71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Conditional Expected Values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Using the theorem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𝑑𝑥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To obtain conditional density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sz="200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y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Conditional mean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assuming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  <m:sub>
                          <m:f>
                            <m:fPr>
                              <m:type m:val="li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num>
                            <m:den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den>
                          </m:f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y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Conditional Variance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𝒚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assuming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𝒚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den>
                              </m:f>
                            </m:sub>
                          </m:sSub>
                        </m:e>
                        <m:sub/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𝒚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2000" i="1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 b="1" i="1">
                                                  <a:latin typeface="Cambria Math"/>
                                                </a:rPr>
                                                <m:t>𝒚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b="1" i="1"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den>
                                          </m:f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1">
                                              <a:latin typeface="Cambria Math"/>
                                            </a:rPr>
                                            <m:t>𝒚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i="1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den>
                                      </m:f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y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715000"/>
              </a:xfrm>
              <a:blipFill rotWithShape="1">
                <a:blip r:embed="rId2"/>
                <a:stretch>
                  <a:fillRect l="-741" t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72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Example: Conditional </a:t>
            </a:r>
            <a:r>
              <a:rPr lang="en-US" altLang="en-US" sz="3200" b="1" dirty="0"/>
              <a:t>Expected Values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1        0&lt;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0               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/>
                  <a:t>, determine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1" i="1" smtClean="0"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 smtClean="0"/>
                  <a:t> 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  <m:r>
                          <a:rPr lang="en-US" sz="2000" b="1" i="1"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joint </a:t>
                </a:r>
                <a:r>
                  <a:rPr lang="en-US" sz="2000" dirty="0" smtClean="0"/>
                  <a:t>PDF </a:t>
                </a:r>
                <a:r>
                  <a:rPr lang="en-US" sz="2000" dirty="0"/>
                  <a:t>is given to be </a:t>
                </a:r>
                <a:r>
                  <a:rPr lang="en-US" sz="2000" dirty="0" smtClean="0"/>
                  <a:t>unity in </a:t>
                </a:r>
                <a:r>
                  <a:rPr lang="en-US" sz="2000" dirty="0"/>
                  <a:t>the shaded </a:t>
                </a:r>
                <a:r>
                  <a:rPr lang="en-US" sz="2000" dirty="0" smtClean="0"/>
                  <a:t>region and zero elsewhere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=2</m:t>
                      </m:r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 ;    0&lt;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 smtClean="0">
                          <a:latin typeface="Cambria Math"/>
                        </a:rPr>
                        <m:t>1</m:t>
                      </m:r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;         0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;     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0&lt;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 ;</m:t>
                      </m:r>
                      <m:r>
                        <a:rPr lang="en-US" sz="2000" b="0" i="1" smtClean="0">
                          <a:latin typeface="Cambria Math"/>
                        </a:rPr>
                        <m:t>         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0&lt;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295775"/>
            <a:ext cx="18192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08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Example: Conditional </a:t>
            </a:r>
            <a:r>
              <a:rPr lang="en-US" altLang="en-US" sz="3200" b="1" dirty="0"/>
              <a:t>Expected Values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1        0&lt;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0               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/>
                  <a:t>, determine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1" i="1" smtClean="0"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 smtClean="0"/>
                  <a:t> 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  <m:r>
                          <a:rPr lang="en-US" sz="2000" b="1" i="1">
                            <a:latin typeface="Cambria Math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;     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0&lt;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1">
                              <a:latin typeface="Cambria Math"/>
                            </a:rPr>
                            <m:t>/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 ;</m:t>
                      </m:r>
                      <m:r>
                        <a:rPr lang="en-US" sz="2000" b="0" i="1" smtClean="0">
                          <a:latin typeface="Cambria Math"/>
                        </a:rPr>
                        <m:t>          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0&lt;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𝑑𝑥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;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b="1" i="1">
                              <a:latin typeface="Cambria Math"/>
                            </a:rPr>
                            <m:t>/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𝑑𝑦</m:t>
                      </m:r>
                      <m:r>
                        <a:rPr lang="en-US" sz="2000" i="1">
                          <a:latin typeface="Cambria Math"/>
                        </a:rPr>
                        <m:t>=0;       0&lt;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&lt;1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8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4012249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10   Conditional Distributions, Conditional Expected Values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Conditional Distributions&amp;quot;&quot;/&gt;&lt;property id=&quot;20307&quot; value=&quot;302&quot;/&gt;&lt;/object&gt;&lt;object type=&quot;3&quot; unique_id=&quot;10005&quot;&gt;&lt;property id=&quot;20148&quot; value=&quot;5&quot;/&gt;&lt;property id=&quot;20300&quot; value=&quot;Slide 3 - &amp;quot;Conditional Distributions&amp;quot;&quot;/&gt;&lt;property id=&quot;20307&quot; value=&quot;303&quot;/&gt;&lt;/object&gt;&lt;object type=&quot;3&quot; unique_id=&quot;10006&quot;&gt;&lt;property id=&quot;20148&quot; value=&quot;5&quot;/&gt;&lt;property id=&quot;20300&quot; value=&quot;Slide 4 - &amp;quot;Conditional Distributions&amp;quot;&quot;/&gt;&lt;property id=&quot;20307&quot; value=&quot;304&quot;/&gt;&lt;/object&gt;&lt;object type=&quot;3&quot; unique_id=&quot;10007&quot;&gt;&lt;property id=&quot;20148&quot; value=&quot;5&quot;/&gt;&lt;property id=&quot;20300&quot; value=&quot;Slide 5 - &amp;quot;Example: Conditional Distributions&amp;quot;&quot;/&gt;&lt;property id=&quot;20307&quot; value=&quot;305&quot;/&gt;&lt;/object&gt;&lt;object type=&quot;3&quot; unique_id=&quot;10008&quot;&gt;&lt;property id=&quot;20148&quot; value=&quot;5&quot;/&gt;&lt;property id=&quot;20300&quot; value=&quot;Slide 6 - &amp;quot;Conditional Expected Values&amp;quot;&quot;/&gt;&lt;property id=&quot;20307&quot; value=&quot;306&quot;/&gt;&lt;/object&gt;&lt;object type=&quot;3&quot; unique_id=&quot;10009&quot;&gt;&lt;property id=&quot;20148&quot; value=&quot;5&quot;/&gt;&lt;property id=&quot;20300&quot; value=&quot;Slide 7 - &amp;quot;Example: Conditional Expected Values&amp;quot;&quot;/&gt;&lt;property id=&quot;20307&quot; value=&quot;307&quot;/&gt;&lt;/object&gt;&lt;object type=&quot;3&quot; unique_id=&quot;10010&quot;&gt;&lt;property id=&quot;20148&quot; value=&quot;5&quot;/&gt;&lt;property id=&quot;20300&quot; value=&quot;Slide 8 - &amp;quot;Example: Conditional Expected Values&amp;quot;&quot;/&gt;&lt;property id=&quot;20307&quot; value=&quot;308&quot;/&gt;&lt;/object&gt;&lt;object type=&quot;3&quot; unique_id=&quot;10011&quot;&gt;&lt;property id=&quot;20148&quot; value=&quot;5&quot;/&gt;&lt;property id=&quot;20300&quot; value=&quot;Slide 9 - &amp;quot;Reference&amp;quot;&quot;/&gt;&lt;property id=&quot;20307&quot; value=&quot;309&quot;/&gt;&lt;/object&gt;&lt;/object&gt;&lt;object type=&quot;8&quot; unique_id=&quot;10022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1525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Lecture-10   Conditional Distributions, Conditional Expected Values</vt:lpstr>
      <vt:lpstr>Conditional Distributions</vt:lpstr>
      <vt:lpstr>Conditional Distributions</vt:lpstr>
      <vt:lpstr>Conditional Distributions</vt:lpstr>
      <vt:lpstr>Example: Conditional Distributions</vt:lpstr>
      <vt:lpstr>Conditional Expected Values</vt:lpstr>
      <vt:lpstr>Example: Conditional Expected Values</vt:lpstr>
      <vt:lpstr>Example: Conditional Expected Values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129</cp:revision>
  <dcterms:created xsi:type="dcterms:W3CDTF">2020-06-13T16:57:58Z</dcterms:created>
  <dcterms:modified xsi:type="dcterms:W3CDTF">2020-07-07T11:40:08Z</dcterms:modified>
</cp:coreProperties>
</file>