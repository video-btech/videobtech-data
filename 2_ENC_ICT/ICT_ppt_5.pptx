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9" r:id="rId9"/>
    <p:sldId id="270" r:id="rId10"/>
    <p:sldId id="271" r:id="rId11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9.wmf"/><Relationship Id="rId3" Type="http://schemas.openxmlformats.org/officeDocument/2006/relationships/image" Target="../media/image13.png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4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84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Lecture-6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Mean and </a:t>
            </a:r>
            <a:r>
              <a:rPr lang="en-US" dirty="0" smtClean="0"/>
              <a:t>Variance of a Random Variable</a:t>
            </a:r>
            <a:r>
              <a:rPr lang="en-US" b="1" u="sng" dirty="0" smtClean="0">
                <a:solidFill>
                  <a:srgbClr val="00B050"/>
                </a:solidFill>
              </a:rPr>
              <a:t/>
            </a:r>
            <a:br>
              <a:rPr lang="en-US" b="1" u="sng" dirty="0" smtClean="0">
                <a:solidFill>
                  <a:srgbClr val="00B05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Mean of Random Variable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 expected value or mean of a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is given as</a:t>
                </a:r>
                <a:endParaRPr lang="en-US" sz="2000" b="0" i="1" dirty="0" smtClean="0">
                  <a:latin typeface="Cambria Math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For a discrete type random variable, 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takes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with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Inserting it into above expression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limLoc m:val="undOvr"/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b="1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</a:rPr>
                                <m:t>𝑑𝑥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</m:t>
                              </m:r>
                            </m:e>
                          </m:nary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As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6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Conditional Mean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 conditional mean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en-US" sz="2000" dirty="0" smtClean="0"/>
                  <a:t> is given –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For a discrete type random variable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𝑀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≥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d>
                  </m:oMath>
                </a14:m>
                <a:endParaRPr lang="en-US" sz="2000" b="1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latin typeface="Cambria Math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en-US" sz="2400" b="1" i="1" smtClean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</a:rPr>
                                <m:t>≥</m:t>
                              </m:r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b="1" i="1" smtClean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2400" i="1" smtClean="0">
                                      <a:latin typeface="Cambria Math"/>
                                      <a:ea typeface="Cambria Math"/>
                                    </a:rPr>
                                    <m:t>≥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400" b="1" i="1" smtClean="0">
                              <a:latin typeface="Cambria Math"/>
                            </a:rPr>
                            <m:t>𝒂</m:t>
                          </m:r>
                        </m:sub>
                        <m:sup>
                          <m:r>
                            <a:rPr lang="en-US" sz="2400" b="1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sz="2400" b="1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limLoc m:val="undOvr"/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sz="2400" b="1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88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639762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 smtClean="0"/>
                  <a:t>Mean of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/>
                      </a:rPr>
                      <m:t>𝐲</m:t>
                    </m:r>
                    <m:r>
                      <a:rPr lang="en-US" sz="3200" b="0" i="0" smtClean="0">
                        <a:latin typeface="Cambria Math"/>
                      </a:rPr>
                      <m:t>=</m:t>
                    </m:r>
                    <m:r>
                      <a:rPr lang="en-US" sz="32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32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639762"/>
              </a:xfrm>
              <a:blipFill rotWithShape="1">
                <a:blip r:embed="rId3"/>
                <a:stretch>
                  <a:fillRect t="-6667" b="-2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102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 expected value or mean of a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 smtClean="0"/>
                  <a:t> is given as</a:t>
                </a:r>
                <a:endParaRPr lang="en-US" sz="2000" b="0" i="1" dirty="0" smtClean="0">
                  <a:latin typeface="Cambria Math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However,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10200"/>
              </a:xfrm>
              <a:blipFill rotWithShape="1">
                <a:blip r:embed="rId4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600200" y="4267200"/>
            <a:ext cx="5508625" cy="2185988"/>
            <a:chOff x="878" y="151"/>
            <a:chExt cx="3470" cy="1377"/>
          </a:xfrm>
        </p:grpSpPr>
        <p:sp>
          <p:nvSpPr>
            <p:cNvPr id="5" name="Line 2"/>
            <p:cNvSpPr>
              <a:spLocks noChangeShapeType="1"/>
            </p:cNvSpPr>
            <p:nvPr/>
          </p:nvSpPr>
          <p:spPr bwMode="auto">
            <a:xfrm>
              <a:off x="878" y="1114"/>
              <a:ext cx="3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3"/>
            <p:cNvSpPr>
              <a:spLocks noChangeShapeType="1"/>
            </p:cNvSpPr>
            <p:nvPr/>
          </p:nvSpPr>
          <p:spPr bwMode="auto">
            <a:xfrm flipV="1">
              <a:off x="2453" y="186"/>
              <a:ext cx="0" cy="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1019" y="406"/>
              <a:ext cx="2906" cy="857"/>
            </a:xfrm>
            <a:custGeom>
              <a:avLst/>
              <a:gdLst>
                <a:gd name="T0" fmla="*/ 0 w 2906"/>
                <a:gd name="T1" fmla="*/ 857 h 857"/>
                <a:gd name="T2" fmla="*/ 154 w 2906"/>
                <a:gd name="T3" fmla="*/ 518 h 857"/>
                <a:gd name="T4" fmla="*/ 314 w 2906"/>
                <a:gd name="T5" fmla="*/ 345 h 857"/>
                <a:gd name="T6" fmla="*/ 531 w 2906"/>
                <a:gd name="T7" fmla="*/ 230 h 857"/>
                <a:gd name="T8" fmla="*/ 749 w 2906"/>
                <a:gd name="T9" fmla="*/ 224 h 857"/>
                <a:gd name="T10" fmla="*/ 1018 w 2906"/>
                <a:gd name="T11" fmla="*/ 460 h 857"/>
                <a:gd name="T12" fmla="*/ 1357 w 2906"/>
                <a:gd name="T13" fmla="*/ 550 h 857"/>
                <a:gd name="T14" fmla="*/ 1831 w 2906"/>
                <a:gd name="T15" fmla="*/ 486 h 857"/>
                <a:gd name="T16" fmla="*/ 2227 w 2906"/>
                <a:gd name="T17" fmla="*/ 224 h 857"/>
                <a:gd name="T18" fmla="*/ 2643 w 2906"/>
                <a:gd name="T19" fmla="*/ 44 h 857"/>
                <a:gd name="T20" fmla="*/ 2906 w 2906"/>
                <a:gd name="T21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06" h="857">
                  <a:moveTo>
                    <a:pt x="0" y="857"/>
                  </a:moveTo>
                  <a:cubicBezTo>
                    <a:pt x="51" y="730"/>
                    <a:pt x="102" y="603"/>
                    <a:pt x="154" y="518"/>
                  </a:cubicBezTo>
                  <a:cubicBezTo>
                    <a:pt x="206" y="433"/>
                    <a:pt x="251" y="393"/>
                    <a:pt x="314" y="345"/>
                  </a:cubicBezTo>
                  <a:cubicBezTo>
                    <a:pt x="377" y="297"/>
                    <a:pt x="459" y="250"/>
                    <a:pt x="531" y="230"/>
                  </a:cubicBezTo>
                  <a:cubicBezTo>
                    <a:pt x="603" y="210"/>
                    <a:pt x="668" y="186"/>
                    <a:pt x="749" y="224"/>
                  </a:cubicBezTo>
                  <a:cubicBezTo>
                    <a:pt x="830" y="262"/>
                    <a:pt x="917" y="406"/>
                    <a:pt x="1018" y="460"/>
                  </a:cubicBezTo>
                  <a:cubicBezTo>
                    <a:pt x="1119" y="514"/>
                    <a:pt x="1222" y="546"/>
                    <a:pt x="1357" y="550"/>
                  </a:cubicBezTo>
                  <a:cubicBezTo>
                    <a:pt x="1492" y="554"/>
                    <a:pt x="1686" y="540"/>
                    <a:pt x="1831" y="486"/>
                  </a:cubicBezTo>
                  <a:cubicBezTo>
                    <a:pt x="1976" y="432"/>
                    <a:pt x="2092" y="298"/>
                    <a:pt x="2227" y="224"/>
                  </a:cubicBezTo>
                  <a:cubicBezTo>
                    <a:pt x="2362" y="150"/>
                    <a:pt x="2530" y="81"/>
                    <a:pt x="2643" y="44"/>
                  </a:cubicBezTo>
                  <a:cubicBezTo>
                    <a:pt x="2756" y="7"/>
                    <a:pt x="2831" y="3"/>
                    <a:pt x="290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461" y="666"/>
              <a:ext cx="17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352" y="743"/>
              <a:ext cx="17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346" y="743"/>
              <a:ext cx="0" cy="3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462" y="672"/>
              <a:ext cx="0" cy="4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814" y="653"/>
              <a:ext cx="0" cy="4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890" y="749"/>
              <a:ext cx="0" cy="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067" y="749"/>
              <a:ext cx="0" cy="3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89" y="672"/>
              <a:ext cx="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4205" y="1049"/>
            <a:ext cx="143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" name="Equation" r:id="rId5" imgW="126720" imgH="139680" progId="Equation.3">
                    <p:embed/>
                  </p:oleObj>
                </mc:Choice>
                <mc:Fallback>
                  <p:oleObj name="Equation" r:id="rId5" imgW="1267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5" y="1049"/>
                          <a:ext cx="143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5"/>
            <p:cNvGraphicFramePr>
              <a:graphicFrameLocks noChangeAspect="1"/>
            </p:cNvGraphicFramePr>
            <p:nvPr/>
          </p:nvGraphicFramePr>
          <p:xfrm>
            <a:off x="2505" y="151"/>
            <a:ext cx="30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" name="Equation" r:id="rId7" imgW="330120" imgH="203040" progId="Equation.3">
                    <p:embed/>
                  </p:oleObj>
                </mc:Choice>
                <mc:Fallback>
                  <p:oleObj name="Equation" r:id="rId7" imgW="33012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5" y="151"/>
                          <a:ext cx="306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6"/>
            <p:cNvGraphicFramePr>
              <a:graphicFrameLocks noChangeAspect="1"/>
            </p:cNvGraphicFramePr>
            <p:nvPr/>
          </p:nvGraphicFramePr>
          <p:xfrm>
            <a:off x="1132" y="1188"/>
            <a:ext cx="170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6" name="Equation" r:id="rId9" imgW="152280" imgH="215640" progId="Equation.3">
                    <p:embed/>
                  </p:oleObj>
                </mc:Choice>
                <mc:Fallback>
                  <p:oleObj name="Equation" r:id="rId9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1188"/>
                          <a:ext cx="170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7"/>
            <p:cNvGraphicFramePr>
              <a:graphicFrameLocks noChangeAspect="1"/>
            </p:cNvGraphicFramePr>
            <p:nvPr/>
          </p:nvGraphicFramePr>
          <p:xfrm>
            <a:off x="1322" y="1215"/>
            <a:ext cx="42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" name="Equation" r:id="rId11" imgW="507960" imgH="215640" progId="Equation.3">
                    <p:embed/>
                  </p:oleObj>
                </mc:Choice>
                <mc:Fallback>
                  <p:oleObj name="Equation" r:id="rId11" imgW="5079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2" y="1215"/>
                          <a:ext cx="422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/>
          </p:nvGraphicFramePr>
          <p:xfrm>
            <a:off x="2471" y="765"/>
            <a:ext cx="157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"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765"/>
                          <a:ext cx="157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9"/>
            <p:cNvGraphicFramePr>
              <a:graphicFrameLocks noChangeAspect="1"/>
            </p:cNvGraphicFramePr>
            <p:nvPr/>
          </p:nvGraphicFramePr>
          <p:xfrm>
            <a:off x="1618" y="1349"/>
            <a:ext cx="44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" name="Equation" r:id="rId15" imgW="533160" imgH="215640" progId="Equation.3">
                    <p:embed/>
                  </p:oleObj>
                </mc:Choice>
                <mc:Fallback>
                  <p:oleObj name="Equation" r:id="rId15" imgW="533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8" y="1349"/>
                          <a:ext cx="442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0"/>
            <p:cNvGraphicFramePr>
              <a:graphicFrameLocks noChangeAspect="1"/>
            </p:cNvGraphicFramePr>
            <p:nvPr/>
          </p:nvGraphicFramePr>
          <p:xfrm>
            <a:off x="3193" y="1204"/>
            <a:ext cx="432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0" name="Equation" r:id="rId17" imgW="520560" imgH="228600" progId="Equation.3">
                    <p:embed/>
                  </p:oleObj>
                </mc:Choice>
                <mc:Fallback>
                  <p:oleObj name="Equation" r:id="rId17" imgW="520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3" y="1204"/>
                          <a:ext cx="432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1"/>
            <p:cNvGraphicFramePr>
              <a:graphicFrameLocks noChangeAspect="1"/>
            </p:cNvGraphicFramePr>
            <p:nvPr/>
          </p:nvGraphicFramePr>
          <p:xfrm>
            <a:off x="2988" y="1189"/>
            <a:ext cx="18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" name="Equation" r:id="rId19" imgW="164880" imgH="228600" progId="Equation.3">
                    <p:embed/>
                  </p:oleObj>
                </mc:Choice>
                <mc:Fallback>
                  <p:oleObj name="Equation" r:id="rId19" imgW="1648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8" y="1189"/>
                          <a:ext cx="18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2"/>
            <p:cNvGraphicFramePr>
              <a:graphicFrameLocks noChangeAspect="1"/>
            </p:cNvGraphicFramePr>
            <p:nvPr/>
          </p:nvGraphicFramePr>
          <p:xfrm>
            <a:off x="2477" y="407"/>
            <a:ext cx="497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" name="Equation" r:id="rId21" imgW="444240" imgH="203040" progId="Equation.3">
                    <p:embed/>
                  </p:oleObj>
                </mc:Choice>
                <mc:Fallback>
                  <p:oleObj name="Equation" r:id="rId21" imgW="4442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7" y="407"/>
                          <a:ext cx="497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2116" y="1328"/>
            <a:ext cx="199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3" name="Equation" r:id="rId23" imgW="177480" imgH="215640" progId="Equation.3">
                    <p:embed/>
                  </p:oleObj>
                </mc:Choice>
                <mc:Fallback>
                  <p:oleObj name="Equation" r:id="rId23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1328"/>
                          <a:ext cx="199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1813" y="1140"/>
              <a:ext cx="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 flipV="1">
              <a:off x="1902" y="1140"/>
              <a:ext cx="212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40"/>
            <p:cNvSpPr>
              <a:spLocks noChangeShapeType="1"/>
            </p:cNvSpPr>
            <p:nvPr/>
          </p:nvSpPr>
          <p:spPr bwMode="auto">
            <a:xfrm flipV="1">
              <a:off x="1222" y="1120"/>
              <a:ext cx="109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 flipH="1" flipV="1">
              <a:off x="1459" y="1114"/>
              <a:ext cx="39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42"/>
            <p:cNvSpPr>
              <a:spLocks noChangeShapeType="1"/>
            </p:cNvSpPr>
            <p:nvPr/>
          </p:nvSpPr>
          <p:spPr bwMode="auto">
            <a:xfrm flipH="1">
              <a:off x="2464" y="538"/>
              <a:ext cx="186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43"/>
            <p:cNvSpPr>
              <a:spLocks noChangeShapeType="1"/>
            </p:cNvSpPr>
            <p:nvPr/>
          </p:nvSpPr>
          <p:spPr bwMode="auto">
            <a:xfrm flipV="1">
              <a:off x="3053" y="1120"/>
              <a:ext cx="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45"/>
            <p:cNvSpPr>
              <a:spLocks noChangeShapeType="1"/>
            </p:cNvSpPr>
            <p:nvPr/>
          </p:nvSpPr>
          <p:spPr bwMode="auto">
            <a:xfrm flipH="1" flipV="1">
              <a:off x="3194" y="1120"/>
              <a:ext cx="102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810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6397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Proof of Mean of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/>
                      </a:rPr>
                      <m:t>𝐲</m:t>
                    </m:r>
                  </m:oMath>
                </a14:m>
                <a:r>
                  <a:rPr lang="en-US" sz="3200" b="1" dirty="0" smtClean="0"/>
                  <a:t>;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32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3200" b="1" i="1" smtClean="0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32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32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3200" b="1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3200" b="1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32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32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sz="32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3200" b="1" i="1" smtClean="0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  <m:d>
                          <m:dPr>
                            <m:ctrlPr>
                              <a:rPr lang="en-US" sz="320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3200" b="0" i="1" smtClean="0"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639762"/>
              </a:xfrm>
              <a:blipFill rotWithShape="1">
                <a:blip r:embed="rId2"/>
                <a:stretch>
                  <a:fillRect t="-95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102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0" i="1" dirty="0" smtClean="0">
                    <a:latin typeface="Cambria Math"/>
                  </a:rPr>
                  <a:t> </a:t>
                </a:r>
                <a:r>
                  <a:rPr lang="en-US" sz="2000" b="0" dirty="0" smtClean="0">
                    <a:latin typeface="Cambria Math"/>
                  </a:rPr>
                  <a:t>and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b="0" dirty="0" smtClean="0">
                  <a:latin typeface="Cambria Math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Multiplying by </a:t>
                </a:r>
                <a:r>
                  <a:rPr lang="en-US" sz="2000" i="1" dirty="0" smtClean="0"/>
                  <a:t>y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Thus to each differential in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{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2000" b="0" i="1" smtClean="0">
                            <a:latin typeface="Cambria Math"/>
                          </a:rPr>
                          <m:t>𝑦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𝑑𝑦</m:t>
                        </m:r>
                      </m:e>
                    </m:nary>
                    <m:r>
                      <a:rPr lang="en-US" sz="2000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 smtClean="0"/>
                  <a:t> there correspond one or more differential in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{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20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𝑑𝑥</m:t>
                        </m:r>
                      </m:e>
                    </m:nary>
                    <m:r>
                      <a:rPr lang="en-US" sz="2000" b="0" i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 smtClean="0"/>
                  <a:t>.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𝑑𝑦</m:t>
                    </m:r>
                  </m:oMath>
                </a14:m>
                <a:r>
                  <a:rPr lang="en-US" sz="2000" dirty="0" smtClean="0"/>
                  <a:t> covers the y-axis, the corresponding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𝑑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000" dirty="0" smtClean="0"/>
                  <a:t> will cover entire x-axis and they will be non-overlapping. Thus,</a:t>
                </a:r>
                <a:endParaRPr lang="en-US" sz="2000" b="0" i="1" dirty="0" smtClean="0">
                  <a:latin typeface="Cambria Math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𝑑𝑦</m:t>
                          </m:r>
                        </m:e>
                      </m:nary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10200"/>
              </a:xfrm>
              <a:blipFill rotWithShape="1">
                <a:blip r:embed="rId3"/>
                <a:stretch>
                  <a:fillRect l="-667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52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Variance of Random Variable</a:t>
            </a: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Variance of random variable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is given as</a:t>
                </a:r>
                <a:endParaRPr lang="en-US" sz="2000" b="0" i="1" dirty="0" smtClean="0">
                  <a:latin typeface="Cambria Math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algn="just">
                  <a:lnSpc>
                    <a:spcPct val="110000"/>
                  </a:lnSpc>
                </a:pPr>
                <a:r>
                  <a:rPr lang="en-US" sz="2000" dirty="0" smtClean="0"/>
                  <a:t>Positive coefficient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𝜎</m:t>
                    </m:r>
                  </m:oMath>
                </a14:m>
                <a:r>
                  <a:rPr lang="en-US" sz="2000" dirty="0" smtClean="0"/>
                  <a:t> is called as standard </a:t>
                </a:r>
                <a:r>
                  <a:rPr lang="en-US" sz="2000" dirty="0" smtClean="0"/>
                  <a:t>deviation, i.e. it is RMS value around mean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 smtClean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sz="2000" dirty="0" smtClean="0"/>
                  <a:t>).</a:t>
                </a:r>
                <a:endParaRPr lang="en-US" sz="2000" dirty="0" smtClean="0"/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/>
                  <a:t> is the mean of random 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𝜂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 smtClean="0"/>
              </a:p>
              <a:p>
                <a:pPr marL="0" indent="0" algn="ctr">
                  <a:lnSpc>
                    <a:spcPct val="200000"/>
                  </a:lnSpc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 b="1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𝜂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𝜂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𝜂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2000" b="1" i="1" smtClean="0"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dirty="0" smtClean="0"/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71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Mean and variance of Gaussian random variable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PDF of normal RV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000" dirty="0" smtClean="0"/>
                  <a:t> is symmetrical about the line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sz="2000" dirty="0" smtClean="0"/>
                  <a:t> hence mean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sz="2000" dirty="0" smtClean="0"/>
                  <a:t>. Now using the property of PDF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00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𝑑𝑥</m:t>
                        </m:r>
                      </m:e>
                    </m:nary>
                    <m:r>
                      <a:rPr lang="en-US" sz="2000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i.e.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𝜎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</m:rad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Differentiating above integral w.r.t.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𝜎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257800"/>
              </a:xfrm>
              <a:blipFill rotWithShape="1">
                <a:blip r:embed="rId2"/>
                <a:stretch>
                  <a:fillRect l="-741" t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76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Mean and variance of Gaussian random variable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</m:rad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Multiplying both sides by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 smtClean="0">
                                <a:latin typeface="Cambria Math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e>
                        </m:rad>
                      </m:den>
                    </m:f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𝜂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Which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𝑽𝒂𝒓𝒊𝒂𝒏𝒄𝒆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𝒐𝒇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𝑵𝒐𝒓𝒎𝒂𝒍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𝑹𝑽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Gaussian/Normal RV is represented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𝜂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58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Why Variance is important?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867400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en-US" sz="2000" dirty="0" smtClean="0"/>
                  <a:t>Mean alone will not be able to truly represent the PDF of any RV. To illustrate this, consider the following scenario:  Consider two Gaussian RVs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∼</m:t>
                    </m:r>
                    <m:r>
                      <a:rPr lang="en-US" sz="20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altLang="en-US" sz="2000" dirty="0" smtClean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∼</m:t>
                    </m:r>
                    <m:r>
                      <a:rPr lang="en-US" sz="20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0, 10</m:t>
                        </m:r>
                      </m:e>
                    </m:d>
                  </m:oMath>
                </a14:m>
                <a:r>
                  <a:rPr lang="en-US" altLang="en-US" sz="2000" dirty="0" smtClean="0"/>
                  <a:t>. Both of them has the same mean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altLang="en-US" sz="2000" b="0" i="1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r>
                  <a:rPr lang="en-US" altLang="en-US" sz="2000" dirty="0" smtClean="0"/>
                  <a:t>. Their PDF plots are given below which are quite different –</a:t>
                </a:r>
              </a:p>
              <a:p>
                <a:pPr marL="0" indent="0" algn="just">
                  <a:buNone/>
                </a:pPr>
                <a:endParaRPr lang="en-US" altLang="en-US" sz="2000" dirty="0"/>
              </a:p>
              <a:p>
                <a:pPr marL="0" indent="0" algn="just">
                  <a:buNone/>
                </a:pPr>
                <a:endParaRPr lang="en-US" altLang="en-US" sz="2000" dirty="0" smtClean="0"/>
              </a:p>
              <a:p>
                <a:pPr marL="0" indent="0" algn="just">
                  <a:buNone/>
                </a:pPr>
                <a:endParaRPr lang="en-US" altLang="en-US" sz="2000" dirty="0" smtClean="0"/>
              </a:p>
              <a:p>
                <a:pPr marL="0" indent="0" algn="just">
                  <a:buNone/>
                </a:pPr>
                <a:endParaRPr lang="en-US" altLang="en-US" sz="2000" dirty="0"/>
              </a:p>
              <a:p>
                <a:pPr marL="0" indent="0" algn="just">
                  <a:buNone/>
                </a:pPr>
                <a:endParaRPr lang="en-US" altLang="en-US" sz="2000" dirty="0" smtClean="0"/>
              </a:p>
              <a:p>
                <a:pPr marL="0" indent="0" algn="just">
                  <a:buNone/>
                </a:pPr>
                <a:endParaRPr lang="en-US" altLang="en-US" sz="2000" dirty="0"/>
              </a:p>
              <a:p>
                <a:pPr marL="0" indent="0" algn="just">
                  <a:buNone/>
                </a:pPr>
                <a:endParaRPr lang="en-US" altLang="en-US" sz="2000" dirty="0" smtClean="0"/>
              </a:p>
              <a:p>
                <a:pPr marL="0" indent="0" algn="just">
                  <a:buNone/>
                </a:pPr>
                <a:r>
                  <a:rPr lang="en-US" altLang="en-US" sz="2000" dirty="0" smtClean="0"/>
                  <a:t>One is more concentrated around the mean, whereas the other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000" dirty="0" smtClean="0"/>
                  <a:t> has a wider spread. Clearly, we need at least an additional parameter to measure this spread around the mean! </a:t>
                </a:r>
              </a:p>
              <a:p>
                <a:pPr marL="0" indent="0" algn="just">
                  <a:buNone/>
                </a:pPr>
                <a:r>
                  <a:rPr lang="en-US" altLang="en-US" sz="2000" dirty="0" smtClean="0"/>
                  <a:t>For a RV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altLang="en-US" sz="2000" dirty="0" smtClean="0"/>
                  <a:t> with mean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alt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altLang="en-US" sz="2000" dirty="0" smtClean="0"/>
                  <a:t> represents the deviation of the RV from its mean. Since this deviation can be either positive or negative, consider the quantity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𝜂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 smtClean="0"/>
                  <a:t> and its average value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0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𝜂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sz="2000" dirty="0" smtClean="0"/>
                  <a:t> represents the average mean square deviation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altLang="en-US" sz="2000" dirty="0" smtClean="0"/>
                  <a:t> around its mean.</a:t>
                </a:r>
              </a:p>
              <a:p>
                <a:pPr marL="0" indent="0" algn="just">
                  <a:buNone/>
                </a:pPr>
                <a:endParaRPr lang="en-US" alt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867400"/>
              </a:xfrm>
              <a:blipFill rotWithShape="1">
                <a:blip r:embed="rId2"/>
                <a:stretch>
                  <a:fillRect l="-741" t="-1040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1905000"/>
            <a:ext cx="7043737" cy="193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9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866421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Lecture-6  Mean and Variance of a Random Variable 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Mean of Random Variable&amp;quot;&quot;/&gt;&lt;property id=&quot;20307&quot; value=&quot;257&quot;/&gt;&lt;/object&gt;&lt;object type=&quot;3&quot; unique_id=&quot;10005&quot;&gt;&lt;property id=&quot;20148&quot; value=&quot;5&quot;/&gt;&lt;property id=&quot;20300&quot; value=&quot;Slide 3 - &amp;quot;Conditional Mean&amp;quot;&quot;/&gt;&lt;property id=&quot;20307&quot; value=&quot;258&quot;/&gt;&lt;/object&gt;&lt;object type=&quot;3&quot; unique_id=&quot;10006&quot;&gt;&lt;property id=&quot;20148&quot; value=&quot;5&quot;/&gt;&lt;property id=&quot;20300&quot; value=&quot;Slide 4 - &amp;quot;Mean of 𝐲=𝑔 𝒙 &amp;quot;&quot;/&gt;&lt;property id=&quot;20307&quot; value=&quot;266&quot;/&gt;&lt;/object&gt;&lt;object type=&quot;3&quot; unique_id=&quot;10007&quot;&gt;&lt;property id=&quot;20148&quot; value=&quot;5&quot;/&gt;&lt;property id=&quot;20300&quot; value=&quot;Slide 5 - &amp;quot;Proof of Mean of 𝐲; 𝐸 𝒚 = −∞ ∞ 𝑔 𝑥  𝑓 𝒙  𝑥 𝑑𝑥 &amp;quot;&quot;/&gt;&lt;property id=&quot;20307&quot; value=&quot;267&quot;/&gt;&lt;/object&gt;&lt;object type=&quot;3&quot; unique_id=&quot;10008&quot;&gt;&lt;property id=&quot;20148&quot; value=&quot;5&quot;/&gt;&lt;property id=&quot;20300&quot; value=&quot;Slide 6 - &amp;quot;Variance of Random Variable&amp;quot;&quot;/&gt;&lt;property id=&quot;20307&quot; value=&quot;268&quot;/&gt;&lt;/object&gt;&lt;object type=&quot;3&quot; unique_id=&quot;10009&quot;&gt;&lt;property id=&quot;20148&quot; value=&quot;5&quot;/&gt;&lt;property id=&quot;20300&quot; value=&quot;Slide 7 - &amp;quot;Mean and variance of Gaussian random variable&amp;quot;&quot;/&gt;&lt;property id=&quot;20307&quot; value=&quot;259&quot;/&gt;&lt;/object&gt;&lt;object type=&quot;3&quot; unique_id=&quot;10010&quot;&gt;&lt;property id=&quot;20148&quot; value=&quot;5&quot;/&gt;&lt;property id=&quot;20300&quot; value=&quot;Slide 8 - &amp;quot;Mean and variance of Gaussian random variable&amp;quot;&quot;/&gt;&lt;property id=&quot;20307&quot; value=&quot;269&quot;/&gt;&lt;/object&gt;&lt;object type=&quot;3&quot; unique_id=&quot;10011&quot;&gt;&lt;property id=&quot;20148&quot; value=&quot;5&quot;/&gt;&lt;property id=&quot;20300&quot; value=&quot;Slide 9 - &amp;quot;Why Variance is important?&amp;quot;&quot;/&gt;&lt;property id=&quot;20307&quot; value=&quot;270&quot;/&gt;&lt;/object&gt;&lt;object type=&quot;3&quot; unique_id=&quot;10012&quot;&gt;&lt;property id=&quot;20148&quot; value=&quot;5&quot;/&gt;&lt;property id=&quot;20300&quot; value=&quot;Slide 10 - &amp;quot;Reference&amp;quot;&quot;/&gt;&lt;property id=&quot;20307&quot; value=&quot;271&quot;/&gt;&lt;/object&gt;&lt;/object&gt;&lt;object type=&quot;8&quot; unique_id=&quot;10024&quot;&gt;&lt;/object&gt;&lt;/object&gt;&lt;/database&gt;"/>
  <p:tag name="MMPROD_NEXTUNIQUEID" val="10011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1288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Equation</vt:lpstr>
      <vt:lpstr>Lecture-6  Mean and Variance of a Random Variable </vt:lpstr>
      <vt:lpstr>Mean of Random Variable</vt:lpstr>
      <vt:lpstr>Conditional Mean</vt:lpstr>
      <vt:lpstr>Mean of y=g(x)</vt:lpstr>
      <vt:lpstr>Proof of Mean of y; E{y}=∫1_(-∞)^∞▒〖g(x) f_x (x)dx〗</vt:lpstr>
      <vt:lpstr>Variance of Random Variable</vt:lpstr>
      <vt:lpstr>Mean and variance of Gaussian random variable</vt:lpstr>
      <vt:lpstr>Mean and variance of Gaussian random variable</vt:lpstr>
      <vt:lpstr>Why Variance is important?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59</cp:revision>
  <dcterms:created xsi:type="dcterms:W3CDTF">2020-06-13T16:57:58Z</dcterms:created>
  <dcterms:modified xsi:type="dcterms:W3CDTF">2020-07-01T13:45:53Z</dcterms:modified>
</cp:coreProperties>
</file>