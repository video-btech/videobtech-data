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65" r:id="rId12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3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1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1"/>
            <a:ext cx="7772400" cy="1752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Lecture-3 (</a:t>
            </a:r>
            <a:r>
              <a:rPr lang="en-US" i="1" dirty="0" smtClean="0"/>
              <a:t>Module-3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55320" y="2971800"/>
            <a:ext cx="777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Cyclostationary </a:t>
            </a:r>
            <a:r>
              <a:rPr lang="en-US" sz="2400" b="1" dirty="0" smtClean="0"/>
              <a:t>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Gaussian </a:t>
            </a:r>
            <a:r>
              <a:rPr lang="en-US" sz="2400" b="1" dirty="0"/>
              <a:t>Random </a:t>
            </a:r>
            <a:r>
              <a:rPr lang="en-US" sz="2400" b="1" dirty="0" smtClean="0"/>
              <a:t>Processes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/>
              <a:t>Power </a:t>
            </a:r>
            <a:r>
              <a:rPr lang="en-US" sz="2400" b="1" dirty="0"/>
              <a:t>Spectral </a:t>
            </a:r>
            <a:r>
              <a:rPr lang="en-US" sz="2400" b="1" dirty="0" smtClean="0"/>
              <a:t>Density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656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>
            <a:normAutofit/>
          </a:bodyPr>
          <a:lstStyle/>
          <a:p>
            <a:r>
              <a:rPr lang="en-US" sz="3200" b="1" dirty="0"/>
              <a:t>Cyclostationary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2400" y="609600"/>
                <a:ext cx="883920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Some practical random processes have a 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periodic structure</a:t>
                </a:r>
                <a:r>
                  <a:rPr lang="en-US" sz="2000" dirty="0" smtClean="0"/>
                  <a:t>. That is, the statistical properties are repeated every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sz="2000" dirty="0"/>
                  <a:t> units of time (e.g., every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𝑇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seconds). In other words, the random </a:t>
                </a:r>
                <a:r>
                  <a:rPr lang="en-US" sz="2000" dirty="0" smtClean="0"/>
                  <a:t>variables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0" dirty="0" smtClean="0">
                        <a:latin typeface="Cambria Math"/>
                      </a:rPr>
                      <m:t>,…,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have </a:t>
                </a:r>
                <a:r>
                  <a:rPr lang="en-US" sz="2000" dirty="0"/>
                  <a:t>the same joint CDF as the random </a:t>
                </a:r>
                <a:r>
                  <a:rPr lang="en-US" sz="2000" dirty="0" smtClean="0"/>
                  <a:t>variables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/>
                          </a:rPr>
                          <m:t>+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2000" i="1" dirty="0">
                        <a:latin typeface="Cambria Math"/>
                      </a:rPr>
                      <m:t> ,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2000" dirty="0">
                        <a:latin typeface="Cambria Math"/>
                      </a:rPr>
                      <m:t>,…,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  <a:r>
                  <a:rPr lang="en-US" sz="2000" dirty="0" smtClean="0"/>
                  <a:t> Such </a:t>
                </a:r>
                <a:r>
                  <a:rPr lang="en-US" sz="2000" dirty="0"/>
                  <a:t>random variables are called </a:t>
                </a:r>
                <a:r>
                  <a:rPr lang="en-US" sz="2000" b="1" dirty="0"/>
                  <a:t>cyclostationary</a:t>
                </a:r>
                <a:r>
                  <a:rPr lang="en-US" sz="2000" dirty="0" smtClean="0"/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A </a:t>
                </a:r>
                <a:r>
                  <a:rPr lang="en-US" sz="2000" dirty="0"/>
                  <a:t>continuous-time random process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{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),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ℝ</m:t>
                    </m:r>
                    <m:r>
                      <a:rPr lang="en-US" sz="2000" i="1" dirty="0">
                        <a:latin typeface="Cambria Math"/>
                      </a:rPr>
                      <m:t>} </m:t>
                    </m:r>
                  </m:oMath>
                </a14:m>
                <a:r>
                  <a:rPr lang="en-US" sz="2000" dirty="0"/>
                  <a:t> is </a:t>
                </a:r>
                <a:r>
                  <a:rPr lang="en-US" sz="2000" b="1" dirty="0"/>
                  <a:t>weak-sense cyclostationary</a:t>
                </a:r>
                <a:r>
                  <a:rPr lang="en-US" sz="2000" dirty="0"/>
                  <a:t> or </a:t>
                </a:r>
                <a:r>
                  <a:rPr lang="en-US" sz="2000" b="1" dirty="0"/>
                  <a:t>wide-sense cyclostationary</a:t>
                </a:r>
                <a:r>
                  <a:rPr lang="en-US" sz="2000" dirty="0"/>
                  <a:t> if there exists a positive real number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𝑇</m:t>
                    </m:r>
                    <m:r>
                      <a:rPr lang="en-U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such </a:t>
                </a:r>
                <a:r>
                  <a:rPr lang="en-US" sz="2000" dirty="0" smtClean="0"/>
                  <a:t>that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     </m:t>
                    </m:r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    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sz="2000" dirty="0" smtClean="0"/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+</m:t>
                        </m:r>
                        <m:r>
                          <a:rPr lang="en-US" sz="2000" i="1" dirty="0">
                            <a:latin typeface="Cambria Math"/>
                          </a:rPr>
                          <m:t>𝑇</m:t>
                        </m:r>
                      </m:e>
                    </m:d>
                    <m:r>
                      <a:rPr lang="en-US" sz="2000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dirty="0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          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∀      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en-US" sz="2000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000" b="1" i="1" u="sng" dirty="0" smtClean="0"/>
                  <a:t>Example</a:t>
                </a:r>
                <a:r>
                  <a:rPr lang="en-US" sz="2000" dirty="0"/>
                  <a:t>:</a:t>
                </a: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b="0" i="1" dirty="0">
                        <a:latin typeface="Cambria Math"/>
                      </a:rPr>
                      <m:t>𝑡</m:t>
                    </m:r>
                    <m:r>
                      <a:rPr lang="en-US" sz="2000" b="0" i="1" dirty="0">
                        <a:latin typeface="Cambria Math"/>
                      </a:rPr>
                      <m:t>)=</m:t>
                    </m:r>
                    <m:r>
                      <a:rPr lang="en-US" sz="2000" b="0" i="1">
                        <a:latin typeface="Cambria Math"/>
                      </a:rPr>
                      <m:t>𝑎</m:t>
                    </m:r>
                    <m:func>
                      <m:funcPr>
                        <m:ctrlPr>
                          <a:rPr lang="en-US" sz="2000" i="1">
                            <a:latin typeface="Cambria Math"/>
                          </a:rPr>
                        </m:ctrlPr>
                      </m:funcPr>
                      <m:fName>
                        <m:r>
                          <a:rPr lang="en-US" sz="2000" b="0" i="1">
                            <a:latin typeface="Cambria Math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sz="2000" b="0" i="1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 smtClean="0"/>
                  <a:t>. which</a:t>
                </a:r>
                <a:r>
                  <a:rPr lang="en-US" sz="2000" dirty="0"/>
                  <a:t> is </a:t>
                </a:r>
                <a:r>
                  <a:rPr lang="en-US" sz="2000" dirty="0" smtClean="0"/>
                  <a:t>a </a:t>
                </a:r>
                <a:r>
                  <a:rPr lang="en-US" sz="2000" dirty="0"/>
                  <a:t>periodic signal with period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</m:t>
                    </m:r>
                    <m:r>
                      <a:rPr lang="en-US" sz="2000" i="1" dirty="0" smtClean="0">
                        <a:latin typeface="Cambria Math"/>
                      </a:rPr>
                      <m:t>=2</m:t>
                    </m:r>
                    <m:r>
                      <a:rPr lang="en-US" sz="2000" i="1" dirty="0" smtClean="0">
                        <a:latin typeface="Cambria Math"/>
                      </a:rPr>
                      <m:t>𝜋</m:t>
                    </m:r>
                    <m:r>
                      <a:rPr lang="en-US" sz="2000" i="1" dirty="0" smtClean="0">
                        <a:latin typeface="Cambria Math"/>
                      </a:rPr>
                      <m:t>/</m:t>
                    </m:r>
                    <m:r>
                      <a:rPr lang="en-US" sz="200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en-US" sz="2000" dirty="0" smtClean="0"/>
                  <a:t>. Therefore,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 cyclostationary random process with period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𝑇</m:t>
                    </m:r>
                    <m:r>
                      <a:rPr lang="en-US" sz="2000" i="1" dirty="0">
                        <a:latin typeface="Cambria Math"/>
                      </a:rPr>
                      <m:t>=2</m:t>
                    </m:r>
                    <m:r>
                      <a:rPr lang="en-US" sz="2000" i="1" dirty="0">
                        <a:latin typeface="Cambria Math"/>
                      </a:rPr>
                      <m:t>𝜋</m:t>
                    </m:r>
                    <m:r>
                      <a:rPr lang="en-US" sz="2000" i="1" dirty="0">
                        <a:latin typeface="Cambria Math"/>
                      </a:rPr>
                      <m:t>/</m:t>
                    </m:r>
                    <m:r>
                      <a:rPr lang="en-US" sz="2000" i="1" dirty="0">
                        <a:latin typeface="Cambria Math"/>
                      </a:rPr>
                      <m:t>𝜔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609600"/>
                <a:ext cx="8839200" cy="5632311"/>
              </a:xfrm>
              <a:prstGeom prst="rect">
                <a:avLst/>
              </a:prstGeom>
              <a:blipFill rotWithShape="1">
                <a:blip r:embed="rId2"/>
                <a:stretch>
                  <a:fillRect l="-690" r="-690" b="-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447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Gaussian 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838200"/>
                <a:ext cx="8763000" cy="57912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Let a random process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is observed for an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0,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dirty="0" smtClean="0"/>
                  <a:t>. Then this RP is weighted by a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integrated out over the observation integral, resulting into an random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𝑍</m:t>
                    </m:r>
                  </m:oMath>
                </a14:m>
                <a:r>
                  <a:rPr lang="en-US" sz="2000" dirty="0" smtClean="0"/>
                  <a:t> (</a:t>
                </a:r>
                <a:r>
                  <a:rPr lang="en-US" sz="2000" b="1" i="1" u="sng" dirty="0" smtClean="0">
                    <a:solidFill>
                      <a:srgbClr val="FF0000"/>
                    </a:solidFill>
                  </a:rPr>
                  <a:t>linear functional </a:t>
                </a:r>
                <a:r>
                  <a:rPr lang="en-US" sz="2000" i="1" u="sng" dirty="0" smtClean="0">
                    <a:solidFill>
                      <a:srgbClr val="FF000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) i.e.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𝑍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i="1" dirty="0"/>
                  <a:t>A function is a mathematical machine which accepts one or more numbers as inputs and provides a number as an </a:t>
                </a:r>
                <a:r>
                  <a:rPr lang="en-US" sz="1800" i="1" dirty="0" smtClean="0"/>
                  <a:t>output based on expression defined. </a:t>
                </a:r>
                <a:r>
                  <a:rPr lang="en-US" sz="1800" i="1" dirty="0"/>
                  <a:t>A functional is that </a:t>
                </a:r>
                <a:r>
                  <a:rPr lang="en-US" sz="1800" i="1" dirty="0" smtClean="0"/>
                  <a:t>which accepts </a:t>
                </a:r>
                <a:r>
                  <a:rPr lang="en-US" sz="1800" i="1" dirty="0"/>
                  <a:t>one or more functions as inputs and produces a number as an output.</a:t>
                </a:r>
                <a:r>
                  <a:rPr lang="en-US" sz="2000" dirty="0"/>
                  <a:t> 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is chosen </a:t>
                </a:r>
                <a:r>
                  <a:rPr lang="en-US" sz="2000" dirty="0" smtClean="0"/>
                  <a:t>such that the </a:t>
                </a:r>
                <a:r>
                  <a:rPr lang="en-US" sz="2000" b="1" i="1" dirty="0" smtClean="0"/>
                  <a:t>mean-square value </a:t>
                </a:r>
                <a:r>
                  <a:rPr lang="en-US" sz="2000" i="1" dirty="0" smtClean="0"/>
                  <a:t>of random variable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𝒁</m:t>
                    </m:r>
                  </m:oMath>
                </a14:m>
                <a:r>
                  <a:rPr lang="en-US" sz="2000" b="1" i="1" dirty="0" smtClean="0"/>
                  <a:t>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is finite </a:t>
                </a:r>
                <a:r>
                  <a:rPr lang="en-US" sz="2000" dirty="0" smtClean="0"/>
                  <a:t>and if the 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RV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𝒁</m:t>
                    </m:r>
                  </m:oMath>
                </a14:m>
                <a:r>
                  <a:rPr lang="en-US" sz="2000" b="1" i="1" dirty="0" smtClean="0">
                    <a:solidFill>
                      <a:srgbClr val="FF0000"/>
                    </a:solidFill>
                  </a:rPr>
                  <a:t> is Gaussian distributed </a:t>
                </a:r>
                <a:r>
                  <a:rPr lang="en-US" sz="2000" b="1" dirty="0" smtClean="0">
                    <a:solidFill>
                      <a:srgbClr val="FF0000"/>
                    </a:solidFill>
                  </a:rPr>
                  <a:t>random </a:t>
                </a:r>
                <a:r>
                  <a:rPr lang="en-US" sz="2000" dirty="0" smtClean="0"/>
                  <a:t>variable </a:t>
                </a:r>
                <a:r>
                  <a:rPr lang="en-US" sz="2000" i="1" dirty="0" smtClean="0">
                    <a:solidFill>
                      <a:srgbClr val="FF0000"/>
                    </a:solidFill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in this class of functions, then the process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b="1" dirty="0" smtClean="0">
                    <a:solidFill>
                      <a:srgbClr val="FF0000"/>
                    </a:solidFill>
                  </a:rPr>
                  <a:t> is a Gaussian Process</a:t>
                </a:r>
                <a:r>
                  <a:rPr lang="en-US" sz="2000" dirty="0" smtClean="0"/>
                  <a:t>.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i="1" dirty="0" smtClean="0">
                    <a:solidFill>
                      <a:srgbClr val="7030A0"/>
                    </a:solidFill>
                  </a:rPr>
                  <a:t>The process 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i="1" dirty="0">
                    <a:solidFill>
                      <a:srgbClr val="7030A0"/>
                    </a:solidFill>
                  </a:rPr>
                  <a:t> is a Gaussian </a:t>
                </a:r>
                <a:r>
                  <a:rPr lang="en-US" sz="2000" i="1" dirty="0" smtClean="0">
                    <a:solidFill>
                      <a:srgbClr val="7030A0"/>
                    </a:solidFill>
                  </a:rPr>
                  <a:t>Process if its every </a:t>
                </a:r>
                <a:r>
                  <a:rPr lang="en-US" sz="2000" b="1" i="1" dirty="0" smtClean="0">
                    <a:solidFill>
                      <a:srgbClr val="7030A0"/>
                    </a:solidFill>
                  </a:rPr>
                  <a:t>linear functional </a:t>
                </a:r>
                <a:r>
                  <a:rPr lang="en-US" sz="2000" i="1" dirty="0" smtClean="0">
                    <a:solidFill>
                      <a:srgbClr val="7030A0"/>
                    </a:solidFill>
                  </a:rPr>
                  <a:t>of it is a random variable.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838200"/>
                <a:ext cx="8763000" cy="5791200"/>
              </a:xfrm>
              <a:blipFill rotWithShape="1">
                <a:blip r:embed="rId2"/>
                <a:stretch>
                  <a:fillRect l="-696" r="-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38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Gaussian 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Random </a:t>
                </a:r>
                <a:r>
                  <a:rPr lang="en-US" sz="2000" dirty="0"/>
                  <a:t>variables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/>
                  <a:t> are said to be </a:t>
                </a:r>
                <a:r>
                  <a:rPr lang="en-US" sz="2000" b="1" dirty="0"/>
                  <a:t>jointly normal</a:t>
                </a:r>
                <a:r>
                  <a:rPr lang="en-US" sz="2000" dirty="0"/>
                  <a:t> if, for </a:t>
                </a:r>
                <a:r>
                  <a:rPr lang="en-US" sz="2000" dirty="0" smtClean="0"/>
                  <a:t>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 smtClean="0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en-US" sz="2000" dirty="0"/>
                  <a:t> </a:t>
                </a:r>
                <a:r>
                  <a:rPr lang="en-US" sz="2000" dirty="0" smtClean="0"/>
                  <a:t>, </a:t>
                </a:r>
                <a:r>
                  <a:rPr lang="en-US" sz="2000" dirty="0"/>
                  <a:t>the random </a:t>
                </a:r>
                <a:r>
                  <a:rPr lang="en-US" sz="2000" dirty="0" smtClean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…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a normal random </a:t>
                </a:r>
                <a:r>
                  <a:rPr lang="en-US" sz="2000" dirty="0" smtClean="0"/>
                  <a:t>variable. 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A </a:t>
                </a:r>
                <a:r>
                  <a:rPr lang="en-US" sz="2000" dirty="0"/>
                  <a:t>random </a:t>
                </a:r>
                <a:r>
                  <a:rPr lang="en-US" sz="2000" dirty="0" smtClean="0"/>
                  <a:t>vector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𝑿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/>
                                      </a:rPr>
                                      <m:t>.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.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>
                                        <a:latin typeface="Cambria Math"/>
                                      </a:rPr>
                                      <m:t>.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is said to be </a:t>
                </a:r>
                <a:r>
                  <a:rPr lang="en-US" sz="2000" b="1" dirty="0"/>
                  <a:t>normal</a:t>
                </a:r>
                <a:r>
                  <a:rPr lang="en-US" sz="2000" dirty="0"/>
                  <a:t> or </a:t>
                </a:r>
                <a:r>
                  <a:rPr lang="en-US" sz="2000" b="1" dirty="0" smtClean="0"/>
                  <a:t>Gaussian </a:t>
                </a:r>
                <a:r>
                  <a:rPr lang="en-US" sz="2000" dirty="0" smtClean="0"/>
                  <a:t>if </a:t>
                </a:r>
                <a:r>
                  <a:rPr lang="en-US" sz="2000" dirty="0"/>
                  <a:t>the random variables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 are jointly normal</a:t>
                </a:r>
                <a:r>
                  <a:rPr lang="en-US" sz="2000" dirty="0" smtClean="0"/>
                  <a:t>.</a:t>
                </a:r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i="1" dirty="0" smtClean="0"/>
                  <a:t>An </a:t>
                </a:r>
                <a:r>
                  <a:rPr lang="en-US" sz="2000" i="1" dirty="0"/>
                  <a:t>important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property</a:t>
                </a:r>
                <a:r>
                  <a:rPr lang="en-US" sz="2000" i="1" dirty="0"/>
                  <a:t> of </a:t>
                </a:r>
                <a:r>
                  <a:rPr lang="en-US" sz="2000" i="1" dirty="0">
                    <a:solidFill>
                      <a:srgbClr val="7030A0"/>
                    </a:solidFill>
                  </a:rPr>
                  <a:t>jointly normal random variables </a:t>
                </a:r>
                <a:r>
                  <a:rPr lang="en-US" sz="2000" i="1" dirty="0"/>
                  <a:t>is that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their joint PDF</a:t>
                </a:r>
                <a:r>
                  <a:rPr lang="en-US" sz="2000" i="1" dirty="0"/>
                  <a:t> is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completely determined by their mean and covariance matrices</a:t>
                </a:r>
                <a:r>
                  <a:rPr lang="en-US" sz="2000" i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2"/>
                <a:stretch>
                  <a:fillRect l="-741" t="-612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940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Properties of Gaussian </a:t>
            </a:r>
            <a:r>
              <a:rPr lang="en-US" sz="3200" b="1" dirty="0"/>
              <a:t>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609600"/>
                <a:ext cx="8763000" cy="6019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𝑦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/>
                                              <a:ea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𝑌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  <m:sub/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1800" i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 smtClean="0"/>
                  <a:t>If a </a:t>
                </a:r>
                <a:r>
                  <a:rPr lang="en-US" sz="1800" dirty="0">
                    <a:solidFill>
                      <a:srgbClr val="7030A0"/>
                    </a:solidFill>
                  </a:rPr>
                  <a:t>Gaussian Process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i="0">
                        <a:solidFill>
                          <a:srgbClr val="7030A0"/>
                        </a:solidFill>
                        <a:latin typeface="Cambria Math"/>
                      </a:rPr>
                      <m:t>X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7030A0"/>
                            </a:solidFill>
                            <a:latin typeface="Cambria Math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is applied to a stable linear filter, having impulse response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7030A0"/>
                        </a:solidFill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7030A0"/>
                            </a:solidFill>
                            <a:latin typeface="Cambria Math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, then the </a:t>
                </a:r>
                <a:r>
                  <a:rPr lang="en-US" sz="1800" dirty="0" smtClean="0">
                    <a:solidFill>
                      <a:srgbClr val="C00000"/>
                    </a:solidFill>
                  </a:rPr>
                  <a:t>random process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solidFill>
                          <a:srgbClr val="C00000"/>
                        </a:solidFill>
                        <a:latin typeface="Cambria Math"/>
                      </a:rPr>
                      <m:t>Y</m:t>
                    </m:r>
                    <m:d>
                      <m:dPr>
                        <m:ctrlPr>
                          <a:rPr lang="en-US" sz="1800" i="1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1800" i="0">
                            <a:solidFill>
                              <a:srgbClr val="C00000"/>
                            </a:solidFill>
                            <a:latin typeface="Cambria Math"/>
                          </a:rPr>
                          <m:t>t</m:t>
                        </m:r>
                      </m:e>
                    </m:d>
                  </m:oMath>
                </a14:m>
                <a:r>
                  <a:rPr lang="en-US" sz="1800" dirty="0" smtClean="0">
                    <a:solidFill>
                      <a:srgbClr val="C00000"/>
                    </a:solidFill>
                  </a:rPr>
                  <a:t> developed at the output </a:t>
                </a:r>
                <a:r>
                  <a:rPr lang="en-US" sz="1800" dirty="0" smtClean="0">
                    <a:solidFill>
                      <a:schemeClr val="tx1"/>
                    </a:solidFill>
                  </a:rPr>
                  <a:t>of linear filter is also Gaussian.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b="1" i="1" u="sng" dirty="0">
                    <a:solidFill>
                      <a:srgbClr val="C00000"/>
                    </a:solidFill>
                  </a:rPr>
                  <a:t>Proof: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7030A0"/>
                        </a:solidFill>
                        <a:latin typeface="Cambria Math"/>
                      </a:rPr>
                      <m:t>𝑌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 smtClean="0">
                    <a:solidFill>
                      <a:schemeClr val="tx1"/>
                    </a:solidFill>
                  </a:rPr>
                  <a:t> is Gaussian process if and only if its linear functional is Gaussian RV.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𝑌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𝑇</m:t>
                        </m:r>
                      </m:sup>
                      <m:e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𝑋</m:t>
                        </m:r>
                        <m:d>
                          <m:d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</m:d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𝑑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nary>
                  </m:oMath>
                </a14:m>
                <a:r>
                  <a:rPr lang="en-US" sz="1800" i="1" dirty="0" smtClean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𝑍</m:t>
                    </m:r>
                    <m:r>
                      <a:rPr lang="en-US" sz="1800" i="1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8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800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𝑌</m:t>
                        </m:r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sz="1800" i="1">
                            <a:latin typeface="Cambria Math"/>
                          </a:rPr>
                          <m:t> </m:t>
                        </m:r>
                        <m:r>
                          <a:rPr lang="en-US" sz="1800" i="1">
                            <a:latin typeface="Cambria Math"/>
                          </a:rPr>
                          <m:t>𝑑𝑡</m:t>
                        </m:r>
                      </m:e>
                    </m:nary>
                    <m:r>
                      <a:rPr lang="en-US" sz="1800" i="1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800" i="1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800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nary>
                          <m:naryPr>
                            <m:limLoc m:val="undOvr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800" i="1"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𝑇</m:t>
                            </m:r>
                          </m:sup>
                          <m:e>
                            <m:r>
                              <a:rPr lang="en-US" sz="1800" i="1">
                                <a:latin typeface="Cambria Math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latin typeface="Cambria Math"/>
                                    <a:ea typeface="Cambria Math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>
                                    <a:latin typeface="Cambria Math"/>
                                    <a:ea typeface="Cambria Math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/>
                              </a:rPr>
                              <m:t> 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𝑑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</m:nary>
                        <m:r>
                          <a:rPr lang="en-US" sz="1800" i="1">
                            <a:latin typeface="Cambria Math"/>
                          </a:rPr>
                          <m:t>𝑑𝑡</m:t>
                        </m:r>
                      </m:e>
                    </m:nary>
                  </m:oMath>
                </a14:m>
                <a:endParaRPr lang="en-US" sz="1800" i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i="1" dirty="0" smtClean="0">
                    <a:solidFill>
                      <a:schemeClr val="tx1"/>
                    </a:solidFill>
                  </a:rPr>
                  <a:t>Interchanging the order of integration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𝑍</m:t>
                      </m:r>
                      <m:r>
                        <a:rPr lang="en-US" sz="1800" i="1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nary>
                            <m:naryPr>
                              <m:limLoc m:val="undOvr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𝑡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18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sz="1800" i="1">
                              <a:latin typeface="Cambria Math"/>
                            </a:rPr>
                            <m:t>𝑑</m:t>
                          </m:r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𝑇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𝑑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1800" i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i="1" dirty="0" smtClean="0">
                    <a:solidFill>
                      <a:schemeClr val="tx1"/>
                    </a:solidFill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 smtClean="0">
                    <a:solidFill>
                      <a:schemeClr val="tx1"/>
                    </a:solidFill>
                  </a:rPr>
                  <a:t> is Gaussian RP so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7030A0"/>
                        </a:solidFill>
                        <a:latin typeface="Cambria Math"/>
                      </a:rPr>
                      <m:t>𝑍</m:t>
                    </m:r>
                  </m:oMath>
                </a14:m>
                <a:r>
                  <a:rPr lang="en-US" sz="1800" i="1" dirty="0" smtClean="0">
                    <a:solidFill>
                      <a:schemeClr val="tx1"/>
                    </a:solidFill>
                  </a:rPr>
                  <a:t> will be Gaussian RV thus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7030A0"/>
                        </a:solidFill>
                        <a:latin typeface="Cambria Math"/>
                      </a:rPr>
                      <m:t>𝑌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i="1" dirty="0"/>
                  <a:t> </a:t>
                </a:r>
                <a:r>
                  <a:rPr lang="en-US" sz="1800" i="1" dirty="0" smtClean="0"/>
                  <a:t>is also Gaussian RP</a:t>
                </a:r>
                <a:endParaRPr lang="en-US" sz="1800" i="1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609600"/>
                <a:ext cx="8763000" cy="6019800"/>
              </a:xfrm>
              <a:blipFill rotWithShape="1">
                <a:blip r:embed="rId2"/>
                <a:stretch>
                  <a:fillRect l="-626" r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62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Properties of Gaussian </a:t>
            </a:r>
            <a:r>
              <a:rPr lang="en-US" sz="3200" b="1" dirty="0"/>
              <a:t>Random Processes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838200"/>
                <a:ext cx="8763000" cy="57912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 smtClean="0">
                    <a:solidFill>
                      <a:schemeClr val="tx1"/>
                    </a:solidFill>
                  </a:rPr>
                  <a:t>Consider a set of random variables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1800" dirty="0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1800" dirty="0"/>
                      <m:t> </m:t>
                    </m:r>
                    <m:r>
                      <a:rPr lang="en-US" sz="18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,…,</m:t>
                    </m:r>
                    <m:r>
                      <a:rPr lang="en-US" sz="18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obtained by observing a random process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at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dirty="0" smtClean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. If the process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  <a:r>
                  <a:rPr lang="en-US" sz="1800" dirty="0" smtClean="0"/>
                  <a:t>is Gaussian then the this set of random variables are jointly Gaussian for any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 smtClean="0"/>
                  <a:t>, with their </a:t>
                </a:r>
                <a:r>
                  <a:rPr lang="en-US" sz="1800" b="1" i="1" dirty="0" smtClean="0">
                    <a:solidFill>
                      <a:srgbClr val="C00000"/>
                    </a:solidFill>
                  </a:rPr>
                  <a:t>n-fold joint probability density function </a:t>
                </a:r>
                <a:r>
                  <a:rPr lang="en-US" sz="1800" dirty="0" smtClean="0"/>
                  <a:t>can be completely determined by specifying the set of means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         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=1,2,…,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18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 smtClean="0"/>
                  <a:t>And the set of covariance function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16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6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16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1600" b="0" i="1" dirty="0" smtClean="0">
                          <a:latin typeface="Cambria Math"/>
                        </a:rPr>
                        <m:t>=</m:t>
                      </m:r>
                      <m:r>
                        <a:rPr lang="en-US" sz="18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 dirty="0">
                              <a:latin typeface="Cambria Math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18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800" b="0" i="1" dirty="0" smtClean="0">
                                          <a:latin typeface="Cambria Math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en-US" sz="18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 dirty="0">
                                  <a:latin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18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800" b="0" i="1" dirty="0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800" b="0" i="1" dirty="0" smtClean="0">
                          <a:latin typeface="Cambria Math"/>
                        </a:rPr>
                        <m:t>       </m:t>
                      </m:r>
                      <m:r>
                        <a:rPr lang="en-US" sz="1800" b="0" i="1" dirty="0" smtClean="0">
                          <a:latin typeface="Cambria Math"/>
                        </a:rPr>
                        <m:t>𝑘</m:t>
                      </m:r>
                      <m:r>
                        <a:rPr lang="en-US" sz="1800" b="0" i="1" dirty="0" smtClean="0">
                          <a:latin typeface="Cambria Math"/>
                        </a:rPr>
                        <m:t>,</m:t>
                      </m:r>
                      <m:r>
                        <a:rPr lang="en-US" sz="1800" b="0" i="1" dirty="0" smtClean="0">
                          <a:latin typeface="Cambria Math"/>
                        </a:rPr>
                        <m:t>𝑖</m:t>
                      </m:r>
                      <m:r>
                        <a:rPr lang="en-US" sz="1800" b="0" i="1" dirty="0" smtClean="0">
                          <a:latin typeface="Cambria Math"/>
                        </a:rPr>
                        <m:t>=1,2,…,</m:t>
                      </m:r>
                      <m:r>
                        <a:rPr lang="en-US" sz="1800" b="0" i="1" dirty="0" smtClean="0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18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dirty="0" smtClean="0"/>
                  <a:t>Then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𝑛</m:t>
                    </m:r>
                    <m:r>
                      <a:rPr lang="en-US" sz="1800" i="1" dirty="0" smtClean="0">
                        <a:latin typeface="Cambria Math"/>
                      </a:rPr>
                      <m:t>−</m:t>
                    </m:r>
                    <m:r>
                      <a:rPr lang="en-US" sz="1800" i="1" dirty="0" smtClean="0">
                        <a:latin typeface="Cambria Math"/>
                      </a:rPr>
                      <m:t>𝑏𝑦</m:t>
                    </m:r>
                    <m:r>
                      <a:rPr lang="en-US" sz="1800" i="1" dirty="0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sz="1800" dirty="0" smtClean="0"/>
                  <a:t> random vector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1800" dirty="0" smtClean="0"/>
                  <a:t> has a multivariate Gaussian distribution defined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lang="en-US" sz="1800" b="0" i="1" smtClean="0">
                          <a:latin typeface="Cambria Math"/>
                        </a:rPr>
                        <m:t> </m:t>
                      </m:r>
                      <m:r>
                        <a:rPr lang="en-US" sz="1800" b="0" i="1" smtClean="0">
                          <a:latin typeface="Cambria Math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800" dirty="0" smtClean="0">
                  <a:solidFill>
                    <a:schemeClr val="tx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is mean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is the inverse of covariance matrix  </a:t>
                </a:r>
              </a:p>
              <a:p>
                <a:pPr marL="0" indent="0" algn="ctr">
                  <a:lnSpc>
                    <a:spcPct val="110000"/>
                  </a:lnSpc>
                  <a:buNone/>
                </a:pPr>
                <a:r>
                  <a:rPr lang="en-US" sz="18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1800" dirty="0" smtClean="0">
                    <a:solidFill>
                      <a:schemeClr val="tx1"/>
                    </a:solidFill>
                  </a:rPr>
                  <a:t> is covariance matrix;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  <m:r>
                      <a:rPr lang="en-US" sz="19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9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9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9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i="1" dirty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1900" b="0" i="1" dirty="0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r>
                  <a:rPr lang="en-US" sz="2300" dirty="0" smtClean="0">
                    <a:solidFill>
                      <a:schemeClr val="tx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838200"/>
                <a:ext cx="8763000" cy="5791200"/>
              </a:xfrm>
              <a:blipFill rotWithShape="1">
                <a:blip r:embed="rId2"/>
                <a:stretch>
                  <a:fillRect l="-487" r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47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Properties of Gaussian </a:t>
            </a:r>
            <a:r>
              <a:rPr lang="en-US" sz="3200" b="1" dirty="0"/>
              <a:t>Random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2400" y="762000"/>
                <a:ext cx="8839200" cy="544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sz="2000" dirty="0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,…,</m:t>
                    </m:r>
                    <m:r>
                      <a:rPr lang="en-US" sz="2000" i="1" dirty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obtained by </a:t>
                </a:r>
                <a:r>
                  <a:rPr lang="en-US" sz="2000" dirty="0" smtClean="0"/>
                  <a:t>sampling </a:t>
                </a:r>
                <a:r>
                  <a:rPr lang="en-US" sz="2000" dirty="0"/>
                  <a:t>a </a:t>
                </a:r>
                <a:r>
                  <a:rPr lang="en-US" sz="2000" dirty="0" smtClean="0"/>
                  <a:t>Gaussian </a:t>
                </a:r>
                <a:r>
                  <a:rPr lang="en-US" sz="2000" dirty="0"/>
                  <a:t>process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at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 smtClean="0"/>
                  <a:t> are uncorrelated i.e.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 dirty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 dirty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 dirty="0">
                                        <a:latin typeface="Cambria Math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000" i="1" dirty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i="1" dirty="0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 then these random variables are </a:t>
                </a:r>
                <a:r>
                  <a:rPr lang="en-US" sz="2000" dirty="0" smtClean="0">
                    <a:solidFill>
                      <a:srgbClr val="C00000"/>
                    </a:solidFill>
                  </a:rPr>
                  <a:t>statistically independent</a:t>
                </a:r>
                <a:r>
                  <a:rPr lang="en-US" sz="2000" dirty="0" smtClean="0"/>
                  <a:t>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i="1" dirty="0">
                    <a:solidFill>
                      <a:srgbClr val="FF0000"/>
                    </a:solidFill>
                  </a:rPr>
                  <a:t>Uncorrelatedness means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en-US" sz="2000" i="1" dirty="0">
                    <a:solidFill>
                      <a:srgbClr val="FF0000"/>
                    </a:solidFill>
                  </a:rPr>
                  <a:t> is a diagonal matrix with diagonal elements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  <m:sup/>
                        </m:sSubSup>
                      </m:e>
                      <m: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i="1" dirty="0">
                    <a:solidFill>
                      <a:srgbClr val="FF0000"/>
                    </a:solidFill>
                  </a:rPr>
                  <a:t>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 smtClean="0">
                    <a:solidFill>
                      <a:srgbClr val="7030A0"/>
                    </a:solidFill>
                  </a:rPr>
                  <a:t>If Gaussian RV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en-US" dirty="0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dirty="0">
                        <a:solidFill>
                          <a:srgbClr val="7030A0"/>
                        </a:solidFill>
                      </a:rPr>
                      <m:t> 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dirty="0">
                        <a:solidFill>
                          <a:srgbClr val="7030A0"/>
                        </a:solidFill>
                        <a:latin typeface="Cambria Math"/>
                      </a:rPr>
                      <m:t>,…,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are uncorrelated then they are statistically independent, therefore, the joint PDF of this set of RVs are product of PDF of individual </a:t>
                </a:r>
                <a:r>
                  <a:rPr lang="en-US" dirty="0" smtClean="0">
                    <a:solidFill>
                      <a:srgbClr val="7030A0"/>
                    </a:solidFill>
                  </a:rPr>
                  <a:t>RVs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.</a:t>
                </a:r>
                <a:endParaRPr lang="en-US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Under this condition, the multivariate </a:t>
                </a:r>
                <a:r>
                  <a:rPr lang="en-US" sz="2000" dirty="0"/>
                  <a:t>Gaussian distribution </a:t>
                </a:r>
                <a:r>
                  <a:rPr lang="en-US" sz="2000" dirty="0" smtClean="0"/>
                  <a:t>simplifies to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algn="just"/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𝑋</m:t>
                    </m:r>
                    <m:d>
                      <m:d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and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sz="2000" i="1">
                              <a:latin typeface="Cambria Math"/>
                            </a:rPr>
                            <m:t> 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US" sz="2000" i="1">
                          <a:latin typeface="Cambria Math"/>
                        </a:rPr>
                        <m:t>𝑒𝑥𝑝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  <m:sub/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62000"/>
                <a:ext cx="8839200" cy="5445465"/>
              </a:xfrm>
              <a:prstGeom prst="rect">
                <a:avLst/>
              </a:prstGeo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411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Power Spectral Density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2400" y="762000"/>
                <a:ext cx="8839200" cy="5844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Consider a WSS random process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with autocorrelation function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2000" dirty="0"/>
                  <a:t>. </a:t>
                </a:r>
                <a:r>
                  <a:rPr lang="en-US" sz="2000" dirty="0" smtClean="0"/>
                  <a:t>Then the </a:t>
                </a:r>
                <a:r>
                  <a:rPr lang="en-US" sz="2000" i="1" dirty="0" smtClean="0"/>
                  <a:t>Power </a:t>
                </a:r>
                <a:r>
                  <a:rPr lang="en-US" sz="2000" i="1" dirty="0"/>
                  <a:t>Spectral Density (PSD)</a:t>
                </a:r>
                <a:r>
                  <a:rPr lang="en-US" sz="2000" dirty="0"/>
                  <a:t> of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 smtClean="0"/>
                  <a:t>can be defined as </a:t>
                </a:r>
                <a:r>
                  <a:rPr lang="en-US" sz="2000" dirty="0"/>
                  <a:t>the Fourier transform of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b="0" i="1" smtClean="0">
                          <a:latin typeface="Cambria Math"/>
                          <a:ea typeface="Cambria Math"/>
                        </a:rPr>
                        <m:t>Ϝ</m:t>
                      </m:r>
                      <m:d>
                        <m:dPr>
                          <m:begChr m:val="{"/>
                          <m:endChr m:val="}"/>
                          <m:ctrlPr>
                            <a:rPr lang="el-GR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algn="just"/>
                <a:r>
                  <a:rPr lang="en-US" sz="2000" dirty="0" smtClean="0"/>
                  <a:t>Thus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algn="just">
                  <a:lnSpc>
                    <a:spcPct val="150000"/>
                  </a:lnSpc>
                </a:pPr>
                <a:endParaRPr lang="en-US" sz="2000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If</a:t>
                </a:r>
                <a:r>
                  <a:rPr lang="en-US" sz="2000" dirty="0">
                    <a:solidFill>
                      <a:srgbClr val="FF0000"/>
                    </a:solidFill>
                  </a:rPr>
                  <a:t>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is a real-valued random process, then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 is an even, real-valued function of </a:t>
                </a:r>
                <a:r>
                  <a:rPr lang="en-US" sz="2000" dirty="0">
                    <a:solidFill>
                      <a:srgbClr val="FF0000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𝜏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</a:t>
                </a:r>
                <a:r>
                  <a:rPr lang="en-US" sz="2000" dirty="0"/>
                  <a:t>From the properties of the Fourier transform, </a:t>
                </a:r>
                <a:r>
                  <a:rPr lang="en-US" sz="2000" dirty="0" smtClean="0"/>
                  <a:t>it can be concluded </a:t>
                </a:r>
                <a:r>
                  <a:rPr lang="en-US" sz="2000" dirty="0"/>
                  <a:t>that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i="1" dirty="0">
                    <a:solidFill>
                      <a:srgbClr val="7030A0"/>
                    </a:solidFill>
                  </a:rPr>
                  <a:t> is also real-valued and an even function of 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7030A0"/>
                        </a:solidFill>
                        <a:latin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−</m:t>
                        </m:r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        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r>
                  <a:rPr lang="en-US" sz="2000" dirty="0" smtClean="0"/>
                  <a:t>      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0      ∀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62000"/>
                <a:ext cx="8839200" cy="5844164"/>
              </a:xfrm>
              <a:prstGeom prst="rect">
                <a:avLst/>
              </a:prstGeom>
              <a:blipFill rotWithShape="1">
                <a:blip r:embed="rId2"/>
                <a:stretch>
                  <a:fillRect l="-690" r="-690" b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559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Power Spectral Density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152400" y="762000"/>
                <a:ext cx="8839200" cy="5123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Cambria Math"/>
                      </a:rPr>
                      <m:t>𝜏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 smtClean="0">
                    <a:solidFill>
                      <a:srgbClr val="7030A0"/>
                    </a:solidFill>
                  </a:rPr>
                  <a:t>the expected (or average power) in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/>
                      </a:rPr>
                      <m:t>) </m:t>
                    </m:r>
                  </m:oMath>
                </a14:m>
                <a:endParaRPr lang="en-US" sz="2000" dirty="0" smtClean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  <a:ea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i.e. </a:t>
                </a:r>
                <a:r>
                  <a:rPr lang="en-US" sz="2000" dirty="0"/>
                  <a:t>the expected power in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/>
                  <a:t> can be obtained by integrating the PSD of 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 algn="just"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1" u="sng" dirty="0"/>
                  <a:t>Cross Spectral Density: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 smtClean="0"/>
                  <a:t>For two jointly WSS random processes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 smtClean="0"/>
                  <a:t> and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𝑌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, the </a:t>
                </a:r>
                <a:r>
                  <a:rPr lang="en-US" sz="2000" i="1" dirty="0" smtClean="0"/>
                  <a:t>cross spectral density</a:t>
                </a:r>
                <a:r>
                  <a:rPr lang="en-US" sz="2000" dirty="0" smtClean="0"/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2000" dirty="0" smtClean="0"/>
                  <a:t> can be defined as the Fourier transform of the cross-correlation function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  <m:r>
                          <a:rPr lang="en-US" sz="2000" b="0" i="1" dirty="0" smtClean="0">
                            <a:latin typeface="Cambria Math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</m:oMath>
                </a14:m>
                <a:endParaRPr lang="en-US" sz="2000" dirty="0" smtClean="0">
                  <a:ea typeface="Cambria Math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𝑋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1">
                          <a:latin typeface="Cambria Math"/>
                          <a:ea typeface="Cambria Math"/>
                        </a:rPr>
                        <m:t>Ϝ</m:t>
                      </m:r>
                      <m:d>
                        <m:dPr>
                          <m:begChr m:val="{"/>
                          <m:endChr m:val="}"/>
                          <m:ctrlPr>
                            <a:rPr lang="el-GR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762000"/>
                <a:ext cx="8839200" cy="5123197"/>
              </a:xfrm>
              <a:prstGeom prst="rect">
                <a:avLst/>
              </a:prstGeo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540783" y="533400"/>
                <a:ext cx="2374617" cy="7219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1400" i="1" dirty="0">
                                  <a:solidFill>
                                    <a:srgbClr val="FF0000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400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783" y="533400"/>
                <a:ext cx="2374617" cy="72199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04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731838"/>
                <a:ext cx="8229600" cy="715962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 smtClean="0">
                    <a:solidFill>
                      <a:srgbClr val="C00000"/>
                    </a:solidFill>
                  </a:rPr>
                  <a:t>Consider a WSS random process </a:t>
                </a:r>
                <a:r>
                  <a:rPr lang="en-US" sz="20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 </a:t>
                </a:r>
                <a:r>
                  <a:rPr lang="en-US" sz="2000" dirty="0" smtClean="0">
                    <a:solidFill>
                      <a:srgbClr val="C00000"/>
                    </a:solidFill>
                  </a:rPr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𝑒</m:t>
                        </m:r>
                      </m:e>
                      <m:sup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𝑎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000" b="0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rgbClr val="C00000"/>
                                </a:solidFill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 smtClean="0">
                    <a:solidFill>
                      <a:srgbClr val="C00000"/>
                    </a:solidFill>
                  </a:rPr>
                  <a:t>, where</a:t>
                </a:r>
                <a:r>
                  <a:rPr lang="en-US" sz="2000" dirty="0">
                    <a:solidFill>
                      <a:srgbClr val="C00000"/>
                    </a:solidFill>
                  </a:rPr>
                  <a:t>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 is a positive real number. Find the PSD of 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𝑋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𝑡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731838"/>
                <a:ext cx="8229600" cy="715962"/>
              </a:xfrm>
              <a:blipFill rotWithShape="1">
                <a:blip r:embed="rId2"/>
                <a:stretch>
                  <a:fillRect t="-1695" b="-15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93562"/>
            <a:ext cx="8763000" cy="453583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300" dirty="0" smtClean="0">
                <a:solidFill>
                  <a:schemeClr val="tx1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52400" y="2093563"/>
                <a:ext cx="8839200" cy="4089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sz="200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Ϝ</m:t>
                      </m:r>
                      <m:d>
                        <m:dPr>
                          <m:begChr m:val="{"/>
                          <m:endChr m:val="}"/>
                          <m:ctrlPr>
                            <a:rPr lang="el-GR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den>
                      </m:f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𝜋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den>
                      </m:f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+4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algn="just"/>
                <a:endParaRPr lang="en-US" sz="200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093563"/>
                <a:ext cx="8839200" cy="408913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6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/>
              <a:t>https://</a:t>
            </a:r>
            <a:r>
              <a:rPr lang="en-US" sz="2000" dirty="0" smtClean="0"/>
              <a:t>www.probabilitycourse.com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488499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25&quot;&gt;&lt;/object&gt;&lt;object type=&quot;2&quot; unique_id=&quot;10026&quot;&gt;&lt;object type=&quot;3&quot; unique_id=&quot;10027&quot;&gt;&lt;property id=&quot;20148&quot; value=&quot;5&quot;/&gt;&lt;property id=&quot;20300&quot; value=&quot;Slide 1 - &amp;quot; Lecture-3 (Module-3) &amp;quot;&quot;/&gt;&lt;property id=&quot;20307&quot; value=&quot;256&quot;/&gt;&lt;/object&gt;&lt;object type=&quot;3&quot; unique_id=&quot;10342&quot;&gt;&lt;property id=&quot;20148&quot; value=&quot;5&quot;/&gt;&lt;property id=&quot;20300&quot; value=&quot;Slide 3 - &amp;quot;Gaussian Random Processes&amp;quot;&quot;/&gt;&lt;property id=&quot;20307&quot; value=&quot;264&quot;/&gt;&lt;/object&gt;&lt;object type=&quot;3&quot; unique_id=&quot;10355&quot;&gt;&lt;property id=&quot;20148&quot; value=&quot;5&quot;/&gt;&lt;property id=&quot;20300&quot; value=&quot;Slide 11 - &amp;quot;Reference&amp;quot;&quot;/&gt;&lt;property id=&quot;20307&quot; value=&quot;265&quot;/&gt;&lt;/object&gt;&lt;object type=&quot;3&quot; unique_id=&quot;10376&quot;&gt;&lt;property id=&quot;20148&quot; value=&quot;5&quot;/&gt;&lt;property id=&quot;20300&quot; value=&quot;Slide 4 - &amp;quot;Gaussian Random Processes&amp;quot;&quot;/&gt;&lt;property id=&quot;20307&quot; value=&quot;266&quot;/&gt;&lt;/object&gt;&lt;object type=&quot;3&quot; unique_id=&quot;10407&quot;&gt;&lt;property id=&quot;20148&quot; value=&quot;5&quot;/&gt;&lt;property id=&quot;20300&quot; value=&quot;Slide 5 - &amp;quot;Properties of Gaussian Random Processes&amp;quot;&quot;/&gt;&lt;property id=&quot;20307&quot; value=&quot;267&quot;/&gt;&lt;/object&gt;&lt;object type=&quot;3&quot; unique_id=&quot;10950&quot;&gt;&lt;property id=&quot;20148&quot; value=&quot;5&quot;/&gt;&lt;property id=&quot;20300&quot; value=&quot;Slide 6 - &amp;quot;Properties of Gaussian Random Processes&amp;quot;&quot;/&gt;&lt;property id=&quot;20307&quot; value=&quot;268&quot;/&gt;&lt;/object&gt;&lt;object type=&quot;3&quot; unique_id=&quot;11031&quot;&gt;&lt;property id=&quot;20148&quot; value=&quot;5&quot;/&gt;&lt;property id=&quot;20300&quot; value=&quot;Slide 7 - &amp;quot;Properties of Gaussian Random Processes&amp;quot;&quot;/&gt;&lt;property id=&quot;20307&quot; value=&quot;269&quot;/&gt;&lt;/object&gt;&lt;object type=&quot;3&quot; unique_id=&quot;11095&quot;&gt;&lt;property id=&quot;20148&quot; value=&quot;5&quot;/&gt;&lt;property id=&quot;20300&quot; value=&quot;Slide 8 - &amp;quot;Power Spectral Density&amp;quot;&quot;/&gt;&lt;property id=&quot;20307&quot; value=&quot;270&quot;/&gt;&lt;/object&gt;&lt;object type=&quot;3&quot; unique_id=&quot;11146&quot;&gt;&lt;property id=&quot;20148&quot; value=&quot;5&quot;/&gt;&lt;property id=&quot;20300&quot; value=&quot;Slide 9 - &amp;quot;Power Spectral Density&amp;quot;&quot;/&gt;&lt;property id=&quot;20307&quot; value=&quot;271&quot;/&gt;&lt;/object&gt;&lt;object type=&quot;3&quot; unique_id=&quot;11202&quot;&gt;&lt;property id=&quot;20148&quot; value=&quot;5&quot;/&gt;&lt;property id=&quot;20300&quot; value=&quot;Slide 10 - &amp;quot;Consider a WSS random process  𝑋(𝑡)  with  𝑅 𝑋  𝜏 = 𝑒 −𝑎 𝜏  , where 𝑎 is a positive real number. Find the&quot;/&gt;&lt;property id=&quot;20307&quot; value=&quot;272&quot;/&gt;&lt;/object&gt;&lt;object type=&quot;3&quot; unique_id=&quot;11519&quot;&gt;&lt;property id=&quot;20148&quot; value=&quot;5&quot;/&gt;&lt;property id=&quot;20300&quot; value=&quot;Slide 2 - &amp;quot;Cyclostationary Processes&amp;quot;&quot;/&gt;&lt;property id=&quot;20307&quot; value=&quot;27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1205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Lecture-3 (Module-3) </vt:lpstr>
      <vt:lpstr>Cyclostationary Processes</vt:lpstr>
      <vt:lpstr>Gaussian Random Processes</vt:lpstr>
      <vt:lpstr>Gaussian Random Processes</vt:lpstr>
      <vt:lpstr>Properties of Gaussian Random Processes</vt:lpstr>
      <vt:lpstr>Properties of Gaussian Random Processes</vt:lpstr>
      <vt:lpstr>Properties of Gaussian Random Processes</vt:lpstr>
      <vt:lpstr>Power Spectral Density</vt:lpstr>
      <vt:lpstr>Power Spectral Density</vt:lpstr>
      <vt:lpstr>Consider a WSS random process  X(t)  with R_X (τ)=e^(-a|τ| ), where a is a positive real number. Find the PSD of  X(t).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 Module-5</dc:title>
  <dc:creator>ashutosh</dc:creator>
  <cp:lastModifiedBy>ashutosh</cp:lastModifiedBy>
  <cp:revision>92</cp:revision>
  <dcterms:created xsi:type="dcterms:W3CDTF">2020-07-03T13:58:45Z</dcterms:created>
  <dcterms:modified xsi:type="dcterms:W3CDTF">2020-07-12T18:00:02Z</dcterms:modified>
</cp:coreProperties>
</file>