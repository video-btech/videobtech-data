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5" r:id="rId2"/>
    <p:sldId id="320" r:id="rId3"/>
    <p:sldId id="260" r:id="rId4"/>
    <p:sldId id="283" r:id="rId5"/>
    <p:sldId id="300" r:id="rId6"/>
    <p:sldId id="322" r:id="rId7"/>
    <p:sldId id="321" r:id="rId8"/>
    <p:sldId id="324" r:id="rId9"/>
    <p:sldId id="285" r:id="rId10"/>
    <p:sldId id="282" r:id="rId11"/>
    <p:sldId id="286" r:id="rId12"/>
    <p:sldId id="304" r:id="rId13"/>
    <p:sldId id="305" r:id="rId14"/>
    <p:sldId id="308" r:id="rId15"/>
    <p:sldId id="299" r:id="rId16"/>
    <p:sldId id="306" r:id="rId17"/>
    <p:sldId id="313" r:id="rId18"/>
    <p:sldId id="314" r:id="rId19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099" autoAdjust="0"/>
  </p:normalViewPr>
  <p:slideViewPr>
    <p:cSldViewPr>
      <p:cViewPr>
        <p:scale>
          <a:sx n="50" d="100"/>
          <a:sy n="50" d="100"/>
        </p:scale>
        <p:origin x="-1267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69B2A-D21A-4BE9-B8EB-E16EDC194253}" type="datetimeFigureOut">
              <a:rPr lang="en-IN" smtClean="0"/>
              <a:t>29-06-2020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6CC17-A09A-4A4D-BA86-01170483B9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67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Some signal processing is done both at </a:t>
            </a:r>
            <a:r>
              <a:rPr lang="en-US" sz="1200" b="1" dirty="0" smtClean="0">
                <a:solidFill>
                  <a:srgbClr val="FF0000"/>
                </a:solidFill>
              </a:rPr>
              <a:t>Transmitter</a:t>
            </a:r>
            <a:r>
              <a:rPr lang="en-US" sz="1200" dirty="0" smtClean="0"/>
              <a:t> and </a:t>
            </a:r>
            <a:r>
              <a:rPr lang="en-US" sz="1200" b="1" dirty="0" smtClean="0">
                <a:solidFill>
                  <a:srgbClr val="FF0000"/>
                </a:solidFill>
              </a:rPr>
              <a:t>Receiver</a:t>
            </a:r>
            <a:r>
              <a:rPr lang="en-US" sz="1200" dirty="0" smtClean="0"/>
              <a:t> so that information can be transfer at maximum data rate without distortion .</a:t>
            </a:r>
          </a:p>
          <a:p>
            <a:r>
              <a:rPr lang="en-US" dirty="0" smtClean="0"/>
              <a:t>We can control signal</a:t>
            </a:r>
            <a:r>
              <a:rPr lang="en-US" baseline="0" dirty="0" smtClean="0"/>
              <a:t> processing but not channel characteristics, so the questions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0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Some signal processing is done both at </a:t>
            </a:r>
            <a:r>
              <a:rPr lang="en-US" sz="1200" b="1" dirty="0" smtClean="0">
                <a:solidFill>
                  <a:srgbClr val="FF0000"/>
                </a:solidFill>
              </a:rPr>
              <a:t>Transmitter</a:t>
            </a:r>
            <a:r>
              <a:rPr lang="en-US" sz="1200" dirty="0" smtClean="0"/>
              <a:t> and </a:t>
            </a:r>
            <a:r>
              <a:rPr lang="en-US" sz="1200" b="1" dirty="0" smtClean="0">
                <a:solidFill>
                  <a:srgbClr val="FF0000"/>
                </a:solidFill>
              </a:rPr>
              <a:t>Receiver</a:t>
            </a:r>
            <a:r>
              <a:rPr lang="en-US" sz="1200" dirty="0" smtClean="0"/>
              <a:t> so that information can be transfer at maximum data rate without distortion .</a:t>
            </a:r>
          </a:p>
          <a:p>
            <a:r>
              <a:rPr lang="en-US" dirty="0" smtClean="0"/>
              <a:t>We can control signal</a:t>
            </a:r>
            <a:r>
              <a:rPr lang="en-US" baseline="0" dirty="0" smtClean="0"/>
              <a:t> processing but not channel characteristics, so the questions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0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Some signal processing is done both at </a:t>
            </a:r>
            <a:r>
              <a:rPr lang="en-US" sz="1200" b="1" dirty="0" smtClean="0">
                <a:solidFill>
                  <a:srgbClr val="FF0000"/>
                </a:solidFill>
              </a:rPr>
              <a:t>Transmitter</a:t>
            </a:r>
            <a:r>
              <a:rPr lang="en-US" sz="1200" dirty="0" smtClean="0"/>
              <a:t> and </a:t>
            </a:r>
            <a:r>
              <a:rPr lang="en-US" sz="1200" b="1" dirty="0" smtClean="0">
                <a:solidFill>
                  <a:srgbClr val="FF0000"/>
                </a:solidFill>
              </a:rPr>
              <a:t>Receiver</a:t>
            </a:r>
            <a:r>
              <a:rPr lang="en-US" sz="1200" dirty="0" smtClean="0"/>
              <a:t> so that information can be transfer at maximum data rate without distortion .</a:t>
            </a:r>
          </a:p>
          <a:p>
            <a:r>
              <a:rPr lang="en-US" dirty="0" smtClean="0"/>
              <a:t>We can control signal</a:t>
            </a:r>
            <a:r>
              <a:rPr lang="en-US" baseline="0" dirty="0" smtClean="0"/>
              <a:t> processing but not channel characteristics, so the questions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04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Some signal processing is done both at </a:t>
            </a:r>
            <a:r>
              <a:rPr lang="en-US" sz="1200" b="1" dirty="0" smtClean="0">
                <a:solidFill>
                  <a:srgbClr val="FF0000"/>
                </a:solidFill>
              </a:rPr>
              <a:t>Transmitter</a:t>
            </a:r>
            <a:r>
              <a:rPr lang="en-US" sz="1200" dirty="0" smtClean="0"/>
              <a:t> and </a:t>
            </a:r>
            <a:r>
              <a:rPr lang="en-US" sz="1200" b="1" dirty="0" smtClean="0">
                <a:solidFill>
                  <a:srgbClr val="FF0000"/>
                </a:solidFill>
              </a:rPr>
              <a:t>Receiver</a:t>
            </a:r>
            <a:r>
              <a:rPr lang="en-US" sz="1200" dirty="0" smtClean="0"/>
              <a:t> so that information can be transfer at maximum data rate without distortion .</a:t>
            </a:r>
          </a:p>
          <a:p>
            <a:r>
              <a:rPr lang="en-US" dirty="0" smtClean="0"/>
              <a:t>We can control signal</a:t>
            </a:r>
            <a:r>
              <a:rPr lang="en-US" baseline="0" dirty="0" smtClean="0"/>
              <a:t> processing but not channel characteristics, so the questions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04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prior to the publication of Shannon’s 1948 classic paper, it was</a:t>
            </a:r>
          </a:p>
          <a:p>
            <a:r>
              <a:rPr lang="en-US" dirty="0" smtClean="0"/>
              <a:t>believed that increasing the rate of transmission over  a channel would increase the</a:t>
            </a:r>
          </a:p>
          <a:p>
            <a:r>
              <a:rPr lang="en-US" dirty="0" smtClean="0"/>
              <a:t>probability of error; the communication theory community was taken by surprise when</a:t>
            </a:r>
          </a:p>
          <a:p>
            <a:r>
              <a:rPr lang="en-US" dirty="0" smtClean="0"/>
              <a:t>Shannon proved that this was not true, provided the transmission rate was below the</a:t>
            </a:r>
          </a:p>
          <a:p>
            <a:r>
              <a:rPr lang="en-US" dirty="0" smtClean="0"/>
              <a:t>channel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29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56CC17-A09A-4A4D-BA86-01170483B9B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9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92935-0380-4A3F-A93A-F32F2FFF7509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3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3CA8C-04B4-45C8-AB8E-2D94BAC6DEED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97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95D2-BFD9-4561-82A8-EDC4A1DF45F4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32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8336-E278-4417-912C-358A1D99FF74}" type="datetime1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4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C570-41E2-4FBD-9A90-D988ED581B25}" type="datetime1">
              <a:rPr lang="en-IN" smtClean="0"/>
              <a:t>29-06-2020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1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28D49-27EE-4270-85C8-77F43D2DF666}" type="datetime1">
              <a:rPr lang="en-IN" smtClean="0"/>
              <a:t>29-06-2020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23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3934-F0F6-4175-94CB-5EABFF54A6D1}" type="datetime1">
              <a:rPr lang="en-IN" smtClean="0"/>
              <a:t>29-06-2020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230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C595-CDA9-474E-9257-D5BBDDBAF3C6}" type="datetime1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76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13AC-C887-408E-842F-89DFF95A2A25}" type="datetime1">
              <a:rPr lang="en-IN" smtClean="0"/>
              <a:t>29-06-2020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8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F6A23-3E25-430B-99D7-1C00B8C7ECA2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8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B4F43-3AF3-44AB-8C07-718758AFFD46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3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05ED7-D627-473C-88A5-96E7DAE0DB08}" type="datetime1">
              <a:rPr lang="en-IN" smtClean="0"/>
              <a:t>29-06-2020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Department of ECE, TIET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E5AA5-A551-4C90-805E-1548D2A85B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83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 PP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898"/>
            <a:ext cx="9144000" cy="6879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EB0F514-78C8-42E7-AA37-B041CBCFE9C4}"/>
              </a:ext>
            </a:extLst>
          </p:cNvPr>
          <p:cNvSpPr/>
          <p:nvPr/>
        </p:nvSpPr>
        <p:spPr>
          <a:xfrm>
            <a:off x="3211016" y="244204"/>
            <a:ext cx="3063741" cy="773008"/>
          </a:xfrm>
          <a:prstGeom prst="rect">
            <a:avLst/>
          </a:prstGeom>
        </p:spPr>
        <p:txBody>
          <a:bodyPr wrap="none" lIns="64493" tIns="32246" rIns="64493" bIns="32246">
            <a:spAutoFit/>
          </a:bodyPr>
          <a:lstStyle/>
          <a:p>
            <a:pPr algn="ctr"/>
            <a:r>
              <a:rPr lang="en-GB" sz="2300" b="1" dirty="0" smtClean="0"/>
              <a:t>Information </a:t>
            </a:r>
            <a:r>
              <a:rPr lang="en-GB" sz="2300" b="1" dirty="0"/>
              <a:t>and</a:t>
            </a:r>
            <a:br>
              <a:rPr lang="en-GB" sz="2300" b="1" dirty="0"/>
            </a:br>
            <a:r>
              <a:rPr lang="en-GB" sz="2300" b="1" dirty="0"/>
              <a:t> Communication Theory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627784" y="5445224"/>
            <a:ext cx="4176464" cy="14127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800" dirty="0" smtClean="0"/>
              <a:t>By </a:t>
            </a:r>
          </a:p>
          <a:p>
            <a:pPr marL="0" indent="0" algn="ctr">
              <a:buNone/>
            </a:pPr>
            <a:r>
              <a:rPr lang="en-IN" sz="1800" dirty="0" err="1" smtClean="0"/>
              <a:t>Dr.</a:t>
            </a:r>
            <a:r>
              <a:rPr lang="en-IN" sz="1800" dirty="0" smtClean="0"/>
              <a:t> Hem </a:t>
            </a:r>
            <a:r>
              <a:rPr lang="en-IN" sz="1800" dirty="0" err="1" smtClean="0"/>
              <a:t>Dutt</a:t>
            </a:r>
            <a:r>
              <a:rPr lang="en-IN" sz="1800" dirty="0" smtClean="0"/>
              <a:t> Joshi</a:t>
            </a:r>
          </a:p>
          <a:p>
            <a:pPr marL="0" indent="0" algn="ctr">
              <a:buNone/>
            </a:pPr>
            <a:r>
              <a:rPr lang="en-IN" sz="1800" dirty="0" smtClean="0"/>
              <a:t>Associate Professor, ECED, </a:t>
            </a:r>
          </a:p>
          <a:p>
            <a:pPr marL="0" indent="0" algn="ctr">
              <a:buNone/>
            </a:pPr>
            <a:r>
              <a:rPr lang="en-IN" sz="1800" dirty="0" smtClean="0"/>
              <a:t>TIET, Patiala</a:t>
            </a:r>
            <a:endParaRPr lang="en-IN" sz="1800" dirty="0"/>
          </a:p>
        </p:txBody>
      </p:sp>
      <p:pic>
        <p:nvPicPr>
          <p:cNvPr id="1026" name="Picture 2" descr="C:\Users\Dr. Hem Dutt Joshi\Desktop\UEC607\for website\for website\hemdut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31200"/>
            <a:ext cx="1238160" cy="123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69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Lecture-1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Module-2 : </a:t>
            </a:r>
            <a:r>
              <a:rPr lang="en-US" b="1" dirty="0"/>
              <a:t>Information Theory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8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81000" y="990600"/>
            <a:ext cx="845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43000" y="44624"/>
            <a:ext cx="6629400" cy="50405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b="1" dirty="0" smtClean="0">
                <a:solidFill>
                  <a:srgbClr val="0070C0"/>
                </a:solidFill>
              </a:rPr>
              <a:t>Course Content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228600" y="2348880"/>
            <a:ext cx="7543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381000" y="729208"/>
            <a:ext cx="8367464" cy="529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Module-1 : Probability Theory </a:t>
            </a:r>
          </a:p>
          <a:p>
            <a:pPr marL="1828800" lvl="3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Random Variable, Distribution function, Characteristic function and central limit theorem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Module-2 : Information Theory  </a:t>
            </a:r>
          </a:p>
          <a:p>
            <a:pPr marL="1828800" lvl="3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Information Measure, Entropy, Source coding, </a:t>
            </a:r>
            <a:r>
              <a:rPr lang="en-US" sz="2000" dirty="0" smtClean="0">
                <a:latin typeface="+mj-lt"/>
              </a:rPr>
              <a:t>Mutual Information, channel capacity, </a:t>
            </a:r>
            <a:r>
              <a:rPr lang="en-US" sz="2000" dirty="0">
                <a:latin typeface="+mj-lt"/>
              </a:rPr>
              <a:t>Shannon’s Theorems.</a:t>
            </a: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>
                <a:solidFill>
                  <a:srgbClr val="0070C0"/>
                </a:solidFill>
                <a:latin typeface="+mj-lt"/>
              </a:rPr>
              <a:t>Module-3 : Stochastic Processes</a:t>
            </a:r>
          </a:p>
          <a:p>
            <a:pPr marL="1828800" lvl="3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Systems with Stochastic Inputs, Markov Chains, and Random-Walk Model </a:t>
            </a:r>
            <a:endParaRPr lang="en-IN" sz="2000" dirty="0">
              <a:latin typeface="+mj-lt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Module-4 : Estimation &amp; Hypothesis Testing</a:t>
            </a:r>
          </a:p>
          <a:p>
            <a:pPr marL="1828800" lvl="3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Hypothesis, </a:t>
            </a:r>
            <a:r>
              <a:rPr lang="en-US" sz="2000" dirty="0" err="1">
                <a:latin typeface="+mj-lt"/>
              </a:rPr>
              <a:t>Neyman</a:t>
            </a:r>
            <a:r>
              <a:rPr lang="en-US" sz="2000" dirty="0">
                <a:latin typeface="+mj-lt"/>
              </a:rPr>
              <a:t> Pearson Tests, Bayes’ Criteria, Z-Score, and p-Value Test</a:t>
            </a:r>
            <a:endParaRPr lang="en-IN" sz="2000" dirty="0">
              <a:latin typeface="+mj-lt"/>
            </a:endParaRPr>
          </a:p>
          <a:p>
            <a:pPr marL="457200" indent="-4572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7030A0"/>
                </a:solidFill>
                <a:latin typeface="+mj-lt"/>
              </a:rPr>
              <a:t>Module-5 </a:t>
            </a:r>
            <a:r>
              <a:rPr lang="en-US" sz="2400" b="1" dirty="0">
                <a:solidFill>
                  <a:srgbClr val="7030A0"/>
                </a:solidFill>
                <a:latin typeface="+mj-lt"/>
              </a:rPr>
              <a:t>: Statistical Modeling of Noise</a:t>
            </a:r>
            <a:endParaRPr lang="en-IN" sz="2400" b="1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4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381000" y="990600"/>
            <a:ext cx="845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43000" y="116632"/>
            <a:ext cx="6629400" cy="504056"/>
          </a:xfrm>
        </p:spPr>
        <p:txBody>
          <a:bodyPr>
            <a:noAutofit/>
          </a:bodyPr>
          <a:lstStyle/>
          <a:p>
            <a:pPr eaLnBrk="1" hangingPunct="1"/>
            <a:r>
              <a:rPr lang="en-US" sz="3000" b="1" dirty="0" smtClean="0">
                <a:solidFill>
                  <a:srgbClr val="0070C0"/>
                </a:solidFill>
              </a:rPr>
              <a:t>Content of Lecture-1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228600" y="2514600"/>
            <a:ext cx="7543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410546" y="836712"/>
            <a:ext cx="8367464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  <a:latin typeface="+mj-lt"/>
              </a:rPr>
              <a:t>Communication System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B050"/>
                </a:solidFill>
                <a:latin typeface="+mj-lt"/>
              </a:rPr>
              <a:t>Importance of Information Theory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</a:rPr>
              <a:t>Historical Origin of Information Theory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7030A0"/>
                </a:solidFill>
                <a:latin typeface="+mj-lt"/>
              </a:rPr>
              <a:t>Information  and Uncertainty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b="1" dirty="0" smtClean="0">
                <a:solidFill>
                  <a:srgbClr val="00B0F0"/>
                </a:solidFill>
                <a:latin typeface="+mj-lt"/>
              </a:rPr>
              <a:t>Information measure</a:t>
            </a:r>
            <a:r>
              <a:rPr lang="en-US" sz="2800" b="1" dirty="0">
                <a:solidFill>
                  <a:srgbClr val="00B0F0"/>
                </a:solidFill>
                <a:latin typeface="+mj-lt"/>
              </a:rPr>
              <a:t> </a:t>
            </a:r>
            <a:r>
              <a:rPr lang="en-US" sz="2800" b="1" dirty="0" smtClean="0">
                <a:solidFill>
                  <a:srgbClr val="00B0F0"/>
                </a:solidFill>
                <a:latin typeface="+mj-lt"/>
              </a:rPr>
              <a:t>(Mathematical definition of Information)</a:t>
            </a:r>
          </a:p>
          <a:p>
            <a:pPr marL="533400" indent="-533400">
              <a:spcBef>
                <a:spcPct val="20000"/>
              </a:spcBef>
              <a:buFont typeface="Arial" pitchFamily="34" charset="0"/>
              <a:buChar char="•"/>
            </a:pPr>
            <a:endParaRPr lang="en-US" sz="2800" b="1" baseline="-25000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8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09" y="2060848"/>
            <a:ext cx="8784975" cy="4536504"/>
          </a:xfrm>
        </p:spPr>
        <p:txBody>
          <a:bodyPr>
            <a:noAutofit/>
          </a:bodyPr>
          <a:lstStyle/>
          <a:p>
            <a:pPr algn="just"/>
            <a:r>
              <a:rPr lang="en-US" sz="2300" dirty="0" smtClean="0"/>
              <a:t>Goal of Communication System </a:t>
            </a:r>
            <a:r>
              <a:rPr lang="en-US" sz="2300" dirty="0"/>
              <a:t>is </a:t>
            </a:r>
            <a:r>
              <a:rPr lang="en-US" sz="2300" dirty="0" smtClean="0"/>
              <a:t>to </a:t>
            </a:r>
            <a:r>
              <a:rPr lang="en-US" sz="2300" dirty="0"/>
              <a:t>transmit information from source to </a:t>
            </a:r>
            <a:r>
              <a:rPr lang="en-US" sz="2300" dirty="0" smtClean="0"/>
              <a:t>destination.</a:t>
            </a:r>
          </a:p>
          <a:p>
            <a:pPr algn="just"/>
            <a:r>
              <a:rPr lang="en-US" sz="2300" b="1" dirty="0" smtClean="0">
                <a:solidFill>
                  <a:srgbClr val="FF0000"/>
                </a:solidFill>
              </a:rPr>
              <a:t>Information Source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generates random messages for the transmission 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Types of Messages are:  Audio signal , Video signal, Image  and Text  </a:t>
            </a:r>
          </a:p>
          <a:p>
            <a:pPr lvl="1">
              <a:buFont typeface="Wingdings" pitchFamily="2" charset="2"/>
              <a:buChar char="§"/>
            </a:pPr>
            <a:r>
              <a:rPr lang="en-US" sz="2200" b="1" dirty="0" smtClean="0">
                <a:solidFill>
                  <a:srgbClr val="00B0F0"/>
                </a:solidFill>
              </a:rPr>
              <a:t>Types of Information Source</a:t>
            </a:r>
          </a:p>
          <a:p>
            <a:pPr lvl="2">
              <a:buFont typeface="Wingdings" pitchFamily="2" charset="2"/>
              <a:buChar char="§"/>
            </a:pPr>
            <a:r>
              <a:rPr lang="en-US" sz="2200" b="1" dirty="0" smtClean="0">
                <a:solidFill>
                  <a:srgbClr val="FF0000"/>
                </a:solidFill>
              </a:rPr>
              <a:t>The </a:t>
            </a:r>
            <a:r>
              <a:rPr lang="en-US" sz="2200" b="1" dirty="0">
                <a:solidFill>
                  <a:srgbClr val="FF0000"/>
                </a:solidFill>
              </a:rPr>
              <a:t>Memory less </a:t>
            </a:r>
            <a:r>
              <a:rPr lang="en-US" sz="2200" b="1" dirty="0" smtClean="0">
                <a:solidFill>
                  <a:srgbClr val="FF0000"/>
                </a:solidFill>
              </a:rPr>
              <a:t>Source: </a:t>
            </a:r>
          </a:p>
          <a:p>
            <a:pPr lvl="3"/>
            <a:r>
              <a:rPr lang="en-US" dirty="0" smtClean="0"/>
              <a:t>Generates Independent random messages . </a:t>
            </a:r>
          </a:p>
          <a:p>
            <a:pPr lvl="2">
              <a:buFont typeface="Wingdings" pitchFamily="2" charset="2"/>
              <a:buChar char="§"/>
            </a:pPr>
            <a:r>
              <a:rPr lang="en-US" sz="2200" b="1" dirty="0" smtClean="0">
                <a:solidFill>
                  <a:srgbClr val="FF0000"/>
                </a:solidFill>
              </a:rPr>
              <a:t>The </a:t>
            </a:r>
            <a:r>
              <a:rPr lang="en-US" sz="2200" b="1" dirty="0">
                <a:solidFill>
                  <a:srgbClr val="FF0000"/>
                </a:solidFill>
              </a:rPr>
              <a:t>Markov </a:t>
            </a:r>
            <a:r>
              <a:rPr lang="en-US" sz="2200" b="1" dirty="0" smtClean="0">
                <a:solidFill>
                  <a:srgbClr val="FF0000"/>
                </a:solidFill>
              </a:rPr>
              <a:t>Source   </a:t>
            </a:r>
            <a:r>
              <a:rPr lang="en-US" sz="2200" b="1" dirty="0">
                <a:solidFill>
                  <a:srgbClr val="FF0000"/>
                </a:solidFill>
              </a:rPr>
              <a:t>(Source with Memory):  </a:t>
            </a:r>
          </a:p>
          <a:p>
            <a:pPr lvl="3"/>
            <a:r>
              <a:rPr lang="en-US" dirty="0" smtClean="0"/>
              <a:t>Generate dependent random messages </a:t>
            </a:r>
          </a:p>
          <a:p>
            <a:pPr lvl="3"/>
            <a:r>
              <a:rPr lang="en-US" dirty="0" smtClean="0"/>
              <a:t>Each symbol depends on previous symbol or state of source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Communication System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5</a:t>
            </a:fld>
            <a:endParaRPr lang="en-IN"/>
          </a:p>
        </p:txBody>
      </p:sp>
      <p:grpSp>
        <p:nvGrpSpPr>
          <p:cNvPr id="48" name="Group 47"/>
          <p:cNvGrpSpPr/>
          <p:nvPr/>
        </p:nvGrpSpPr>
        <p:grpSpPr>
          <a:xfrm>
            <a:off x="394792" y="836712"/>
            <a:ext cx="8209656" cy="1026492"/>
            <a:chOff x="467544" y="1124744"/>
            <a:chExt cx="8388424" cy="1171360"/>
          </a:xfrm>
        </p:grpSpPr>
        <p:grpSp>
          <p:nvGrpSpPr>
            <p:cNvPr id="49" name="Group 48"/>
            <p:cNvGrpSpPr/>
            <p:nvPr/>
          </p:nvGrpSpPr>
          <p:grpSpPr>
            <a:xfrm>
              <a:off x="467544" y="1124744"/>
              <a:ext cx="8388424" cy="549188"/>
              <a:chOff x="3203" y="2554640"/>
              <a:chExt cx="9140797" cy="549188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3203" y="2564904"/>
                <a:ext cx="1400445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Information</a:t>
                </a:r>
              </a:p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Source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Straight Arrow Connector 54"/>
              <p:cNvCxnSpPr>
                <a:stCxn id="54" idx="3"/>
                <a:endCxn id="56" idx="1"/>
              </p:cNvCxnSpPr>
              <p:nvPr/>
            </p:nvCxnSpPr>
            <p:spPr>
              <a:xfrm flipV="1">
                <a:off x="1403648" y="2829234"/>
                <a:ext cx="504057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/>
              <p:cNvSpPr/>
              <p:nvPr/>
            </p:nvSpPr>
            <p:spPr>
              <a:xfrm>
                <a:off x="1907704" y="2559772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</a:rPr>
                  <a:t>Transmitter</a:t>
                </a:r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" name="Straight Arrow Connector 56"/>
              <p:cNvCxnSpPr>
                <a:stCxn id="56" idx="3"/>
                <a:endCxn id="58" idx="1"/>
              </p:cNvCxnSpPr>
              <p:nvPr/>
            </p:nvCxnSpPr>
            <p:spPr>
              <a:xfrm flipV="1">
                <a:off x="3347864" y="2824102"/>
                <a:ext cx="504056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3851920" y="2554640"/>
                <a:ext cx="1152128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Channel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9" name="Straight Arrow Connector 58"/>
              <p:cNvCxnSpPr>
                <a:stCxn id="58" idx="3"/>
                <a:endCxn id="60" idx="1"/>
              </p:cNvCxnSpPr>
              <p:nvPr/>
            </p:nvCxnSpPr>
            <p:spPr>
              <a:xfrm>
                <a:off x="5004048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/>
              <p:cNvSpPr/>
              <p:nvPr/>
            </p:nvSpPr>
            <p:spPr>
              <a:xfrm>
                <a:off x="5580112" y="2564904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Receiver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61" name="Straight Arrow Connector 60"/>
              <p:cNvCxnSpPr>
                <a:stCxn id="60" idx="3"/>
                <a:endCxn id="62" idx="1"/>
              </p:cNvCxnSpPr>
              <p:nvPr/>
            </p:nvCxnSpPr>
            <p:spPr>
              <a:xfrm flipV="1">
                <a:off x="7020272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/>
              <p:cNvSpPr/>
              <p:nvPr/>
            </p:nvSpPr>
            <p:spPr>
              <a:xfrm>
                <a:off x="7596336" y="2554640"/>
                <a:ext cx="1547664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Destination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479057" y="1747540"/>
              <a:ext cx="949725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Message</a:t>
              </a:r>
              <a:endParaRPr lang="en-US" sz="1600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37586" y="1628799"/>
              <a:ext cx="1064051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Processed</a:t>
              </a:r>
            </a:p>
            <a:p>
              <a:pPr algn="ctr"/>
              <a:r>
                <a:rPr lang="en-US" sz="1600" b="1" dirty="0" smtClean="0"/>
                <a:t>Signal</a:t>
              </a:r>
              <a:endParaRPr lang="en-US" sz="16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04048" y="1628800"/>
              <a:ext cx="706266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Noisy</a:t>
              </a:r>
            </a:p>
            <a:p>
              <a:r>
                <a:rPr lang="en-US" sz="1600" b="1" dirty="0" smtClean="0"/>
                <a:t>Signal</a:t>
              </a:r>
              <a:endParaRPr lang="en-US" sz="16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6793" y="1763524"/>
              <a:ext cx="1976367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Estimate of Message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6855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09" y="2060848"/>
            <a:ext cx="8784975" cy="3528392"/>
          </a:xfrm>
        </p:spPr>
        <p:txBody>
          <a:bodyPr>
            <a:noAutofit/>
          </a:bodyPr>
          <a:lstStyle/>
          <a:p>
            <a:pPr algn="just"/>
            <a:r>
              <a:rPr lang="en-US" sz="2300" b="1" dirty="0" smtClean="0">
                <a:solidFill>
                  <a:srgbClr val="FF0000"/>
                </a:solidFill>
              </a:rPr>
              <a:t>Transmitter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Process the message generated by information source so that it can be transmitted efficiently through the channel. </a:t>
            </a:r>
          </a:p>
          <a:p>
            <a:pPr algn="just"/>
            <a:r>
              <a:rPr lang="en-US" sz="2300" b="1" dirty="0" smtClean="0">
                <a:solidFill>
                  <a:srgbClr val="FF0000"/>
                </a:solidFill>
              </a:rPr>
              <a:t>Receiver </a:t>
            </a:r>
            <a:endParaRPr lang="en-US" sz="2300" b="1" dirty="0">
              <a:solidFill>
                <a:srgbClr val="FF0000"/>
              </a:solidFill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Receive the Noisy signal from channel.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Apply signal processing to correctly estimate the transmitted message.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200" dirty="0" smtClean="0"/>
              <a:t>It performs the inverse function of transmitter to reconstruct the original signal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Communication System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6</a:t>
            </a:fld>
            <a:endParaRPr lang="en-IN"/>
          </a:p>
        </p:txBody>
      </p:sp>
      <p:grpSp>
        <p:nvGrpSpPr>
          <p:cNvPr id="48" name="Group 47"/>
          <p:cNvGrpSpPr/>
          <p:nvPr/>
        </p:nvGrpSpPr>
        <p:grpSpPr>
          <a:xfrm>
            <a:off x="394792" y="836712"/>
            <a:ext cx="8209656" cy="1026492"/>
            <a:chOff x="467544" y="1124744"/>
            <a:chExt cx="8388424" cy="1171360"/>
          </a:xfrm>
        </p:grpSpPr>
        <p:grpSp>
          <p:nvGrpSpPr>
            <p:cNvPr id="49" name="Group 48"/>
            <p:cNvGrpSpPr/>
            <p:nvPr/>
          </p:nvGrpSpPr>
          <p:grpSpPr>
            <a:xfrm>
              <a:off x="467544" y="1124744"/>
              <a:ext cx="8388424" cy="549188"/>
              <a:chOff x="3203" y="2554640"/>
              <a:chExt cx="9140797" cy="549188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3203" y="2564904"/>
                <a:ext cx="1400445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Information</a:t>
                </a:r>
              </a:p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Source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Straight Arrow Connector 54"/>
              <p:cNvCxnSpPr>
                <a:stCxn id="54" idx="3"/>
                <a:endCxn id="56" idx="1"/>
              </p:cNvCxnSpPr>
              <p:nvPr/>
            </p:nvCxnSpPr>
            <p:spPr>
              <a:xfrm flipV="1">
                <a:off x="1403648" y="2829234"/>
                <a:ext cx="504057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/>
              <p:cNvSpPr/>
              <p:nvPr/>
            </p:nvSpPr>
            <p:spPr>
              <a:xfrm>
                <a:off x="1907704" y="2559772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</a:rPr>
                  <a:t>Transmitter</a:t>
                </a:r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" name="Straight Arrow Connector 56"/>
              <p:cNvCxnSpPr>
                <a:stCxn id="56" idx="3"/>
                <a:endCxn id="58" idx="1"/>
              </p:cNvCxnSpPr>
              <p:nvPr/>
            </p:nvCxnSpPr>
            <p:spPr>
              <a:xfrm flipV="1">
                <a:off x="3347864" y="2824102"/>
                <a:ext cx="504056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3851920" y="2554640"/>
                <a:ext cx="1152128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Channel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9" name="Straight Arrow Connector 58"/>
              <p:cNvCxnSpPr>
                <a:stCxn id="58" idx="3"/>
                <a:endCxn id="60" idx="1"/>
              </p:cNvCxnSpPr>
              <p:nvPr/>
            </p:nvCxnSpPr>
            <p:spPr>
              <a:xfrm>
                <a:off x="5004048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/>
              <p:cNvSpPr/>
              <p:nvPr/>
            </p:nvSpPr>
            <p:spPr>
              <a:xfrm>
                <a:off x="5580112" y="2564904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Receiver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61" name="Straight Arrow Connector 60"/>
              <p:cNvCxnSpPr>
                <a:stCxn id="60" idx="3"/>
                <a:endCxn id="62" idx="1"/>
              </p:cNvCxnSpPr>
              <p:nvPr/>
            </p:nvCxnSpPr>
            <p:spPr>
              <a:xfrm flipV="1">
                <a:off x="7020272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/>
              <p:cNvSpPr/>
              <p:nvPr/>
            </p:nvSpPr>
            <p:spPr>
              <a:xfrm>
                <a:off x="7596336" y="2554640"/>
                <a:ext cx="1547664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smtClean="0">
                    <a:solidFill>
                      <a:srgbClr val="FF0000"/>
                    </a:solidFill>
                  </a:rPr>
                  <a:t>Destination</a:t>
                </a:r>
                <a:endParaRPr lang="en-US" sz="16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479057" y="1747540"/>
              <a:ext cx="949725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Message</a:t>
              </a:r>
              <a:endParaRPr lang="en-US" sz="1600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37586" y="1628799"/>
              <a:ext cx="1064051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Processed</a:t>
              </a:r>
            </a:p>
            <a:p>
              <a:pPr algn="ctr"/>
              <a:r>
                <a:rPr lang="en-US" sz="1600" b="1" dirty="0" smtClean="0"/>
                <a:t>Signal</a:t>
              </a:r>
              <a:endParaRPr lang="en-US" sz="16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04048" y="1628800"/>
              <a:ext cx="706266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Noisy</a:t>
              </a:r>
            </a:p>
            <a:p>
              <a:r>
                <a:rPr lang="en-US" sz="1600" b="1" dirty="0" smtClean="0"/>
                <a:t>Signal</a:t>
              </a:r>
              <a:endParaRPr lang="en-US" sz="16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56793" y="1763524"/>
              <a:ext cx="1976367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smtClean="0"/>
                <a:t>Estimate of Message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0266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09" y="1988840"/>
            <a:ext cx="8784975" cy="468052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300" b="1" dirty="0" smtClean="0">
                <a:solidFill>
                  <a:srgbClr val="FF0000"/>
                </a:solidFill>
              </a:rPr>
              <a:t>Channel</a:t>
            </a:r>
            <a:r>
              <a:rPr lang="en-US" sz="2300" dirty="0" smtClean="0"/>
              <a:t>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act as a medium of transmission.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Channel may be wired or wireless.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300" b="1" dirty="0" smtClean="0">
                <a:solidFill>
                  <a:srgbClr val="00B0F0"/>
                </a:solidFill>
              </a:rPr>
              <a:t>Wired communication System</a:t>
            </a:r>
            <a:endParaRPr lang="en-US" sz="2300" b="1" dirty="0">
              <a:solidFill>
                <a:srgbClr val="00B0F0"/>
              </a:solidFill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Telephone communication system  (channel:  Two wire transmission line)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Cable TV transmission system (Coaxial cable as a channel)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Local area network (LAN)  (Ethernet cables as a  channel)</a:t>
            </a:r>
          </a:p>
          <a:p>
            <a:pPr algn="just">
              <a:buFont typeface="Wingdings" pitchFamily="2" charset="2"/>
              <a:buChar char="v"/>
            </a:pPr>
            <a:r>
              <a:rPr lang="en-US" sz="2300" b="1" dirty="0" smtClean="0">
                <a:solidFill>
                  <a:srgbClr val="00B0F0"/>
                </a:solidFill>
              </a:rPr>
              <a:t>Wireless communication system </a:t>
            </a:r>
            <a:endParaRPr lang="en-US" sz="2300" b="1" dirty="0">
              <a:solidFill>
                <a:srgbClr val="00B0F0"/>
              </a:solidFill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Free space as a medium of transmission (channel)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Cellular network (Mobile communication system)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Satellite communication system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000" dirty="0" smtClean="0"/>
              <a:t>FM, AM and TV broadcast system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Communication System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7</a:t>
            </a:fld>
            <a:endParaRPr lang="en-IN"/>
          </a:p>
        </p:txBody>
      </p:sp>
      <p:grpSp>
        <p:nvGrpSpPr>
          <p:cNvPr id="48" name="Group 47"/>
          <p:cNvGrpSpPr/>
          <p:nvPr/>
        </p:nvGrpSpPr>
        <p:grpSpPr>
          <a:xfrm>
            <a:off x="394792" y="910462"/>
            <a:ext cx="8209656" cy="1026492"/>
            <a:chOff x="467544" y="1124744"/>
            <a:chExt cx="8388424" cy="1171360"/>
          </a:xfrm>
        </p:grpSpPr>
        <p:grpSp>
          <p:nvGrpSpPr>
            <p:cNvPr id="49" name="Group 48"/>
            <p:cNvGrpSpPr/>
            <p:nvPr/>
          </p:nvGrpSpPr>
          <p:grpSpPr>
            <a:xfrm>
              <a:off x="467544" y="1124744"/>
              <a:ext cx="8388424" cy="549188"/>
              <a:chOff x="3203" y="2554640"/>
              <a:chExt cx="9140797" cy="549188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3203" y="2564904"/>
                <a:ext cx="1400445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Information</a:t>
                </a:r>
              </a:p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Source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Straight Arrow Connector 54"/>
              <p:cNvCxnSpPr>
                <a:stCxn id="54" idx="3"/>
                <a:endCxn id="56" idx="1"/>
              </p:cNvCxnSpPr>
              <p:nvPr/>
            </p:nvCxnSpPr>
            <p:spPr>
              <a:xfrm flipV="1">
                <a:off x="1403648" y="2829234"/>
                <a:ext cx="504057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/>
              <p:cNvSpPr/>
              <p:nvPr/>
            </p:nvSpPr>
            <p:spPr>
              <a:xfrm>
                <a:off x="1907704" y="2559772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rgbClr val="FF0000"/>
                    </a:solidFill>
                  </a:rPr>
                  <a:t>Transmitter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" name="Straight Arrow Connector 56"/>
              <p:cNvCxnSpPr>
                <a:stCxn id="56" idx="3"/>
                <a:endCxn id="58" idx="1"/>
              </p:cNvCxnSpPr>
              <p:nvPr/>
            </p:nvCxnSpPr>
            <p:spPr>
              <a:xfrm flipV="1">
                <a:off x="3347864" y="2824102"/>
                <a:ext cx="504056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3851920" y="2554640"/>
                <a:ext cx="1152128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Channel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9" name="Straight Arrow Connector 58"/>
              <p:cNvCxnSpPr>
                <a:stCxn id="58" idx="3"/>
                <a:endCxn id="60" idx="1"/>
              </p:cNvCxnSpPr>
              <p:nvPr/>
            </p:nvCxnSpPr>
            <p:spPr>
              <a:xfrm>
                <a:off x="5004048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/>
              <p:cNvSpPr/>
              <p:nvPr/>
            </p:nvSpPr>
            <p:spPr>
              <a:xfrm>
                <a:off x="5580112" y="2564904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Receiver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61" name="Straight Arrow Connector 60"/>
              <p:cNvCxnSpPr>
                <a:stCxn id="60" idx="3"/>
                <a:endCxn id="62" idx="1"/>
              </p:cNvCxnSpPr>
              <p:nvPr/>
            </p:nvCxnSpPr>
            <p:spPr>
              <a:xfrm flipV="1">
                <a:off x="7020272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/>
              <p:cNvSpPr/>
              <p:nvPr/>
            </p:nvSpPr>
            <p:spPr>
              <a:xfrm>
                <a:off x="7596336" y="2554640"/>
                <a:ext cx="1547664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Destination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479057" y="1747540"/>
              <a:ext cx="937081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Message</a:t>
              </a:r>
              <a:endParaRPr lang="en-US" sz="16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44564" y="1628799"/>
              <a:ext cx="1050096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Processed</a:t>
              </a:r>
            </a:p>
            <a:p>
              <a:pPr algn="ctr"/>
              <a:r>
                <a:rPr lang="en-US" sz="1600" dirty="0" smtClean="0"/>
                <a:t>Signal</a:t>
              </a:r>
              <a:endParaRPr lang="en-US" sz="16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04048" y="1628800"/>
              <a:ext cx="688249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Noisy</a:t>
              </a:r>
            </a:p>
            <a:p>
              <a:r>
                <a:rPr lang="en-US" sz="1600" dirty="0" smtClean="0"/>
                <a:t>Signal</a:t>
              </a:r>
              <a:endParaRPr lang="en-US" sz="16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71961" y="1763524"/>
              <a:ext cx="1946032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Estimate of Message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08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9006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Communication System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8</a:t>
            </a:fld>
            <a:endParaRPr lang="en-IN"/>
          </a:p>
        </p:txBody>
      </p:sp>
      <p:grpSp>
        <p:nvGrpSpPr>
          <p:cNvPr id="48" name="Group 47"/>
          <p:cNvGrpSpPr/>
          <p:nvPr/>
        </p:nvGrpSpPr>
        <p:grpSpPr>
          <a:xfrm>
            <a:off x="394792" y="910462"/>
            <a:ext cx="8209656" cy="1026492"/>
            <a:chOff x="467544" y="1124744"/>
            <a:chExt cx="8388424" cy="1171360"/>
          </a:xfrm>
        </p:grpSpPr>
        <p:grpSp>
          <p:nvGrpSpPr>
            <p:cNvPr id="49" name="Group 48"/>
            <p:cNvGrpSpPr/>
            <p:nvPr/>
          </p:nvGrpSpPr>
          <p:grpSpPr>
            <a:xfrm>
              <a:off x="467544" y="1124744"/>
              <a:ext cx="8388424" cy="549188"/>
              <a:chOff x="3203" y="2554640"/>
              <a:chExt cx="9140797" cy="549188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3203" y="2564904"/>
                <a:ext cx="1400445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Information</a:t>
                </a:r>
              </a:p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Source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Straight Arrow Connector 54"/>
              <p:cNvCxnSpPr>
                <a:stCxn id="54" idx="3"/>
                <a:endCxn id="56" idx="1"/>
              </p:cNvCxnSpPr>
              <p:nvPr/>
            </p:nvCxnSpPr>
            <p:spPr>
              <a:xfrm flipV="1">
                <a:off x="1403648" y="2829234"/>
                <a:ext cx="504057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Rectangle 55"/>
              <p:cNvSpPr/>
              <p:nvPr/>
            </p:nvSpPr>
            <p:spPr>
              <a:xfrm>
                <a:off x="1907704" y="2559772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rgbClr val="FF0000"/>
                    </a:solidFill>
                  </a:rPr>
                  <a:t>Transmitter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" name="Straight Arrow Connector 56"/>
              <p:cNvCxnSpPr>
                <a:stCxn id="56" idx="3"/>
                <a:endCxn id="58" idx="1"/>
              </p:cNvCxnSpPr>
              <p:nvPr/>
            </p:nvCxnSpPr>
            <p:spPr>
              <a:xfrm flipV="1">
                <a:off x="3347864" y="2824102"/>
                <a:ext cx="504056" cy="513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3851920" y="2554640"/>
                <a:ext cx="1152128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Channel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9" name="Straight Arrow Connector 58"/>
              <p:cNvCxnSpPr>
                <a:stCxn id="58" idx="3"/>
                <a:endCxn id="60" idx="1"/>
              </p:cNvCxnSpPr>
              <p:nvPr/>
            </p:nvCxnSpPr>
            <p:spPr>
              <a:xfrm>
                <a:off x="5004048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ectangle 59"/>
              <p:cNvSpPr/>
              <p:nvPr/>
            </p:nvSpPr>
            <p:spPr>
              <a:xfrm>
                <a:off x="5580112" y="2564904"/>
                <a:ext cx="1440160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Receiver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61" name="Straight Arrow Connector 60"/>
              <p:cNvCxnSpPr>
                <a:stCxn id="60" idx="3"/>
                <a:endCxn id="62" idx="1"/>
              </p:cNvCxnSpPr>
              <p:nvPr/>
            </p:nvCxnSpPr>
            <p:spPr>
              <a:xfrm flipV="1">
                <a:off x="7020272" y="2824102"/>
                <a:ext cx="576064" cy="1026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Rectangle 61"/>
              <p:cNvSpPr/>
              <p:nvPr/>
            </p:nvSpPr>
            <p:spPr>
              <a:xfrm>
                <a:off x="7596336" y="2554640"/>
                <a:ext cx="1547664" cy="5389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smtClean="0">
                    <a:solidFill>
                      <a:srgbClr val="FF0000"/>
                    </a:solidFill>
                  </a:rPr>
                  <a:t>Destination</a:t>
                </a:r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1479057" y="1747540"/>
              <a:ext cx="937081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Message</a:t>
              </a:r>
              <a:endParaRPr lang="en-US" sz="1600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244564" y="1628799"/>
              <a:ext cx="1050096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Processed</a:t>
              </a:r>
            </a:p>
            <a:p>
              <a:pPr algn="ctr"/>
              <a:r>
                <a:rPr lang="en-US" sz="1600" dirty="0" smtClean="0"/>
                <a:t>Signal</a:t>
              </a:r>
              <a:endParaRPr lang="en-US" sz="16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04048" y="1628800"/>
              <a:ext cx="688249" cy="667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/>
                <a:t>Noisy</a:t>
              </a:r>
            </a:p>
            <a:p>
              <a:r>
                <a:rPr lang="en-US" sz="1600" dirty="0" smtClean="0"/>
                <a:t>Signal</a:t>
              </a:r>
              <a:endParaRPr lang="en-US" sz="16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71961" y="1763524"/>
              <a:ext cx="1946032" cy="386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/>
                <a:t>Estimate of Message</a:t>
              </a:r>
              <a:endParaRPr lang="en-US" sz="1600" dirty="0"/>
            </a:p>
          </p:txBody>
        </p:sp>
      </p:grp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323528" y="2204864"/>
            <a:ext cx="8551165" cy="403244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200" dirty="0" smtClean="0"/>
              <a:t>The major objective of any communication system is to transmit information with </a:t>
            </a:r>
          </a:p>
          <a:p>
            <a:pPr marL="800100" lvl="1" algn="just">
              <a:buFont typeface="Wingdings" pitchFamily="2" charset="2"/>
              <a:buChar char="§"/>
            </a:pPr>
            <a:r>
              <a:rPr lang="en-US" sz="2000" dirty="0"/>
              <a:t>Maximum data rate</a:t>
            </a:r>
          </a:p>
          <a:p>
            <a:pPr marL="800100" lvl="1" algn="just">
              <a:buFont typeface="Wingdings" pitchFamily="2" charset="2"/>
              <a:buChar char="§"/>
            </a:pPr>
            <a:r>
              <a:rPr lang="en-US" sz="2000" dirty="0"/>
              <a:t>Minimum probability of symbol error</a:t>
            </a:r>
          </a:p>
          <a:p>
            <a:pPr marL="800100" lvl="1" algn="just">
              <a:buFont typeface="Wingdings" pitchFamily="2" charset="2"/>
              <a:buChar char="§"/>
            </a:pPr>
            <a:r>
              <a:rPr lang="en-US" sz="2000" dirty="0"/>
              <a:t>Minimum transmitted power</a:t>
            </a:r>
          </a:p>
          <a:p>
            <a:pPr algn="just"/>
            <a:endParaRPr lang="en-US" sz="22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200" dirty="0" smtClean="0"/>
              <a:t>Now </a:t>
            </a:r>
            <a:r>
              <a:rPr lang="en-US" sz="2200" dirty="0"/>
              <a:t>the questions are: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</a:rPr>
              <a:t>how much </a:t>
            </a:r>
            <a:r>
              <a:rPr lang="en-US" sz="2200" dirty="0" smtClean="0">
                <a:solidFill>
                  <a:srgbClr val="FF0000"/>
                </a:solidFill>
              </a:rPr>
              <a:t>maximum data </a:t>
            </a:r>
            <a:r>
              <a:rPr lang="en-US" sz="2200" dirty="0">
                <a:solidFill>
                  <a:srgbClr val="FF0000"/>
                </a:solidFill>
              </a:rPr>
              <a:t>rate can be supported by any communication system for reliable communication?</a:t>
            </a:r>
          </a:p>
          <a:p>
            <a:pPr lvl="1" algn="just"/>
            <a:r>
              <a:rPr lang="en-US" sz="2200" b="1" dirty="0">
                <a:solidFill>
                  <a:srgbClr val="0070C0"/>
                </a:solidFill>
              </a:rPr>
              <a:t>What is the measure of information</a:t>
            </a:r>
            <a:r>
              <a:rPr lang="en-US" sz="2200" b="1" dirty="0" smtClean="0">
                <a:solidFill>
                  <a:srgbClr val="0070C0"/>
                </a:solidFill>
              </a:rPr>
              <a:t>?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799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</p:spPr>
        <p:txBody>
          <a:bodyPr>
            <a:noAutofit/>
          </a:bodyPr>
          <a:lstStyle/>
          <a:p>
            <a:r>
              <a:rPr lang="en-IN" sz="3000" b="1" dirty="0" smtClean="0">
                <a:solidFill>
                  <a:srgbClr val="0070C0"/>
                </a:solidFill>
              </a:rPr>
              <a:t>Information Theory</a:t>
            </a:r>
            <a:endParaRPr lang="en-IN" sz="3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576064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/>
              <a:t>In particular, Information theory answers two fundamental questions:</a:t>
            </a:r>
          </a:p>
          <a:p>
            <a:pPr lvl="1" algn="just"/>
            <a:r>
              <a:rPr lang="en-US" sz="2000" dirty="0" smtClean="0"/>
              <a:t>What is the </a:t>
            </a:r>
            <a:r>
              <a:rPr lang="en-US" sz="2000" b="1" dirty="0" smtClean="0">
                <a:solidFill>
                  <a:srgbClr val="FF0000"/>
                </a:solidFill>
              </a:rPr>
              <a:t>irreducible complexity</a:t>
            </a:r>
            <a:r>
              <a:rPr lang="en-US" sz="2000" dirty="0" smtClean="0"/>
              <a:t>, below which a signal cannot be compressed?</a:t>
            </a:r>
          </a:p>
          <a:p>
            <a:pPr lvl="2" algn="just"/>
            <a:r>
              <a:rPr lang="en-US" sz="1600" b="1" dirty="0" smtClean="0">
                <a:solidFill>
                  <a:srgbClr val="FF0000"/>
                </a:solidFill>
              </a:rPr>
              <a:t>(Entropy of a source)</a:t>
            </a:r>
          </a:p>
          <a:p>
            <a:pPr lvl="1" algn="just"/>
            <a:r>
              <a:rPr lang="en-US" sz="2000" dirty="0" smtClean="0"/>
              <a:t>What is the </a:t>
            </a:r>
            <a:r>
              <a:rPr lang="en-US" sz="2000" b="1" dirty="0" smtClean="0">
                <a:solidFill>
                  <a:srgbClr val="FF0000"/>
                </a:solidFill>
              </a:rPr>
              <a:t>maximum transmission rate </a:t>
            </a:r>
            <a:r>
              <a:rPr lang="en-US" sz="2000" dirty="0" smtClean="0"/>
              <a:t>for reliable communication over a noisy channel?</a:t>
            </a:r>
          </a:p>
          <a:p>
            <a:pPr lvl="2" algn="just"/>
            <a:r>
              <a:rPr lang="en-US" sz="1600" b="1" dirty="0" smtClean="0">
                <a:solidFill>
                  <a:srgbClr val="FF0000"/>
                </a:solidFill>
              </a:rPr>
              <a:t>(Capacity of a channel)</a:t>
            </a:r>
          </a:p>
          <a:p>
            <a:pPr algn="just"/>
            <a:r>
              <a:rPr lang="en-US" sz="2400" dirty="0" smtClean="0"/>
              <a:t>In general, Information </a:t>
            </a:r>
            <a:r>
              <a:rPr lang="en-US" sz="2400" dirty="0"/>
              <a:t>theory </a:t>
            </a:r>
            <a:r>
              <a:rPr lang="en-US" sz="2400" dirty="0" smtClean="0"/>
              <a:t>deals </a:t>
            </a:r>
            <a:endParaRPr lang="en-US" sz="2400" dirty="0"/>
          </a:p>
          <a:p>
            <a:pPr lvl="1" algn="just"/>
            <a:r>
              <a:rPr lang="en-US" sz="2000" dirty="0"/>
              <a:t>with the </a:t>
            </a:r>
            <a:r>
              <a:rPr lang="en-US" sz="2000" b="1" dirty="0">
                <a:solidFill>
                  <a:srgbClr val="FF0000"/>
                </a:solidFill>
              </a:rPr>
              <a:t>mathematical modeling and analysis </a:t>
            </a:r>
            <a:r>
              <a:rPr lang="en-US" sz="2000" dirty="0"/>
              <a:t>of a communication system </a:t>
            </a:r>
            <a:r>
              <a:rPr lang="en-US" sz="2000" dirty="0" smtClean="0"/>
              <a:t>rather </a:t>
            </a:r>
            <a:r>
              <a:rPr lang="en-US" sz="2000" dirty="0"/>
              <a:t>than with  physical sources and </a:t>
            </a:r>
            <a:r>
              <a:rPr lang="en-US" sz="2000" dirty="0" smtClean="0"/>
              <a:t>physical channels</a:t>
            </a:r>
            <a:r>
              <a:rPr lang="en-US" sz="2000" dirty="0"/>
              <a:t>.</a:t>
            </a:r>
            <a:endParaRPr lang="en-US" sz="2400" dirty="0"/>
          </a:p>
          <a:p>
            <a:pPr lvl="1" algn="just"/>
            <a:r>
              <a:rPr lang="en-US" sz="2000" dirty="0"/>
              <a:t>with the amount of information content in any </a:t>
            </a:r>
            <a:r>
              <a:rPr lang="en-US" sz="2000" dirty="0" smtClean="0"/>
              <a:t>random signal </a:t>
            </a:r>
            <a:r>
              <a:rPr lang="en-US" sz="2000" b="1" dirty="0" smtClean="0">
                <a:solidFill>
                  <a:srgbClr val="FF0000"/>
                </a:solidFill>
              </a:rPr>
              <a:t>(Information Measure)</a:t>
            </a:r>
          </a:p>
          <a:p>
            <a:pPr lvl="1" algn="just"/>
            <a:r>
              <a:rPr lang="en-US" sz="2000" dirty="0" smtClean="0"/>
              <a:t>Relationship between </a:t>
            </a:r>
          </a:p>
          <a:p>
            <a:pPr lvl="2" algn="just"/>
            <a:r>
              <a:rPr lang="en-US" sz="2000" b="1" dirty="0" smtClean="0">
                <a:solidFill>
                  <a:srgbClr val="0070C0"/>
                </a:solidFill>
              </a:rPr>
              <a:t>Signal to Noise Ratio and Channel Capacity</a:t>
            </a:r>
          </a:p>
          <a:p>
            <a:pPr lvl="2" algn="just"/>
            <a:r>
              <a:rPr lang="en-US" sz="2000" b="1" dirty="0" smtClean="0">
                <a:solidFill>
                  <a:srgbClr val="7030A0"/>
                </a:solidFill>
              </a:rPr>
              <a:t>Channel bandwidth and Capacity.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>
            <a:noAutofit/>
          </a:bodyPr>
          <a:lstStyle/>
          <a:p>
            <a:r>
              <a:rPr lang="en-IN" sz="2800" b="1" dirty="0" smtClean="0">
                <a:solidFill>
                  <a:srgbClr val="0070C0"/>
                </a:solidFill>
              </a:rPr>
              <a:t>Historical origins of Information Theory</a:t>
            </a:r>
            <a:endParaRPr lang="en-IN" sz="28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5328592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2000" dirty="0" smtClean="0"/>
              <a:t>The </a:t>
            </a:r>
            <a:r>
              <a:rPr lang="en-US" sz="2000" dirty="0"/>
              <a:t>main concepts and </a:t>
            </a:r>
            <a:r>
              <a:rPr lang="en-US" sz="2000" dirty="0" smtClean="0"/>
              <a:t>principles </a:t>
            </a:r>
            <a:r>
              <a:rPr lang="en-US" sz="2000" dirty="0"/>
              <a:t>of information theory were developed by Claude </a:t>
            </a:r>
            <a:r>
              <a:rPr lang="en-US" sz="2000" dirty="0" smtClean="0"/>
              <a:t>E. Shannon </a:t>
            </a:r>
            <a:r>
              <a:rPr lang="en-US" sz="2000" dirty="0"/>
              <a:t>in </a:t>
            </a:r>
            <a:r>
              <a:rPr lang="en-US" sz="2000" dirty="0" smtClean="0"/>
              <a:t>late 1940s</a:t>
            </a:r>
          </a:p>
          <a:p>
            <a:pPr marL="400050" lvl="1" indent="0" algn="just">
              <a:lnSpc>
                <a:spcPct val="120000"/>
              </a:lnSpc>
              <a:buNone/>
            </a:pPr>
            <a:r>
              <a:rPr lang="en-US" sz="2000" dirty="0"/>
              <a:t>   </a:t>
            </a:r>
            <a:r>
              <a:rPr lang="en-US" sz="1800" b="1" dirty="0" smtClean="0">
                <a:solidFill>
                  <a:srgbClr val="7030A0"/>
                </a:solidFill>
              </a:rPr>
              <a:t>(C. E. Shannon, “ A </a:t>
            </a:r>
            <a:r>
              <a:rPr lang="en-US" sz="1800" b="1" dirty="0">
                <a:solidFill>
                  <a:srgbClr val="7030A0"/>
                </a:solidFill>
              </a:rPr>
              <a:t>Mathematical Theory of </a:t>
            </a:r>
            <a:r>
              <a:rPr lang="en-US" sz="1800" b="1" dirty="0" smtClean="0">
                <a:solidFill>
                  <a:srgbClr val="7030A0"/>
                </a:solidFill>
              </a:rPr>
              <a:t>Communication “, Published in The Bell </a:t>
            </a:r>
            <a:r>
              <a:rPr lang="en-US" sz="1800" b="1" dirty="0">
                <a:solidFill>
                  <a:srgbClr val="7030A0"/>
                </a:solidFill>
              </a:rPr>
              <a:t>System Technical Journal, Vol. 27, pp. 379–423, 623–656, July, October, </a:t>
            </a:r>
            <a:r>
              <a:rPr lang="en-US" sz="1800" b="1" dirty="0" smtClean="0">
                <a:solidFill>
                  <a:srgbClr val="7030A0"/>
                </a:solidFill>
              </a:rPr>
              <a:t>1948)</a:t>
            </a:r>
          </a:p>
          <a:p>
            <a:pPr marL="400050" lvl="1" indent="0" algn="just">
              <a:lnSpc>
                <a:spcPct val="120000"/>
              </a:lnSpc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400050" lvl="1" indent="0" algn="just">
              <a:lnSpc>
                <a:spcPct val="120000"/>
              </a:lnSpc>
              <a:buNone/>
            </a:pPr>
            <a:endParaRPr lang="en-US" sz="1800" b="1" dirty="0">
              <a:solidFill>
                <a:srgbClr val="7030A0"/>
              </a:solidFill>
            </a:endParaRPr>
          </a:p>
          <a:p>
            <a:pPr marL="342900" lvl="1" indent="-342900" algn="just">
              <a:lnSpc>
                <a:spcPct val="120000"/>
              </a:lnSpc>
              <a:buFont typeface="Arial" pitchFamily="34" charset="0"/>
              <a:buChar char="•"/>
            </a:pPr>
            <a:endParaRPr lang="en-US" sz="12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10</a:t>
            </a:fld>
            <a:endParaRPr lang="en-IN"/>
          </a:p>
        </p:txBody>
      </p:sp>
      <p:pic>
        <p:nvPicPr>
          <p:cNvPr id="1028" name="Picture 4" descr="SHANN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852935"/>
            <a:ext cx="3096344" cy="376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83968" y="2557100"/>
            <a:ext cx="4572000" cy="43581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1" indent="-342900" algn="just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/>
              <a:t>He did mathematical modeling and analysis of a communication system and postulates many theorems related to information theory.</a:t>
            </a:r>
          </a:p>
          <a:p>
            <a:pPr algn="just">
              <a:lnSpc>
                <a:spcPct val="120000"/>
              </a:lnSpc>
            </a:pPr>
            <a:endParaRPr lang="en-US" sz="1100" dirty="0"/>
          </a:p>
          <a:p>
            <a:pPr marL="342900" indent="-342900" algn="just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/>
              <a:t>The major contributions are -</a:t>
            </a:r>
          </a:p>
          <a:p>
            <a:pPr marL="800100" lvl="1" indent="-342900" algn="just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</a:rPr>
              <a:t>Source coding theorem</a:t>
            </a:r>
            <a:r>
              <a:rPr lang="en-US" sz="2000" dirty="0"/>
              <a:t>,</a:t>
            </a:r>
          </a:p>
          <a:p>
            <a:pPr marL="800100" lvl="1" indent="-342900" algn="just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Channel coding  theorem</a:t>
            </a:r>
            <a:r>
              <a:rPr lang="en-US" sz="2000" dirty="0"/>
              <a:t>,</a:t>
            </a:r>
          </a:p>
          <a:p>
            <a:pPr marL="800100" lvl="1" indent="-342900" algn="just">
              <a:lnSpc>
                <a:spcPct val="120000"/>
              </a:lnSpc>
              <a:buFont typeface="Arial" pitchFamily="34" charset="0"/>
              <a:buChar char="•"/>
            </a:pPr>
            <a:r>
              <a:rPr lang="en-US" sz="2000" dirty="0"/>
              <a:t>Established relationship between </a:t>
            </a:r>
            <a:r>
              <a:rPr lang="en-US" sz="2000" dirty="0">
                <a:solidFill>
                  <a:srgbClr val="FF0000"/>
                </a:solidFill>
              </a:rPr>
              <a:t>signal to noise ratio and channel capacity, channel bandwidth and capacity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004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INFORMATION AND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5544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 smtClean="0"/>
              <a:t>Consider following sentences: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600" dirty="0"/>
              <a:t>The </a:t>
            </a:r>
            <a:r>
              <a:rPr lang="en-US" sz="2600" dirty="0" smtClean="0"/>
              <a:t>Sun rise </a:t>
            </a:r>
            <a:r>
              <a:rPr lang="en-US" sz="2600" dirty="0"/>
              <a:t>in the east and set in the </a:t>
            </a:r>
            <a:r>
              <a:rPr lang="en-US" sz="2600" dirty="0" smtClean="0"/>
              <a:t>west</a:t>
            </a:r>
          </a:p>
          <a:p>
            <a:pPr lvl="1"/>
            <a:r>
              <a:rPr lang="en-US" sz="2200" dirty="0" smtClean="0">
                <a:solidFill>
                  <a:srgbClr val="FF0000"/>
                </a:solidFill>
              </a:rPr>
              <a:t>( Highly probable event , Probability is 1 )</a:t>
            </a:r>
          </a:p>
          <a:p>
            <a:endParaRPr lang="en-US" sz="2600" dirty="0" smtClean="0"/>
          </a:p>
          <a:p>
            <a:r>
              <a:rPr lang="en-US" sz="2600" dirty="0" smtClean="0"/>
              <a:t>Dog bites a man </a:t>
            </a:r>
          </a:p>
          <a:p>
            <a:pPr lvl="1"/>
            <a:r>
              <a:rPr lang="en-US" sz="2200" dirty="0" smtClean="0">
                <a:solidFill>
                  <a:srgbClr val="0070C0"/>
                </a:solidFill>
              </a:rPr>
              <a:t>(It happen but not frequently-- associated with some probability or uncertainty )</a:t>
            </a:r>
          </a:p>
          <a:p>
            <a:endParaRPr lang="en-US" sz="2600" dirty="0" smtClean="0"/>
          </a:p>
          <a:p>
            <a:r>
              <a:rPr lang="en-US" sz="2600" dirty="0" smtClean="0"/>
              <a:t>There will be less rain in Patiala in this rainy season</a:t>
            </a:r>
          </a:p>
          <a:p>
            <a:pPr lvl="1"/>
            <a:r>
              <a:rPr lang="en-US" sz="2200" dirty="0" smtClean="0">
                <a:solidFill>
                  <a:srgbClr val="0070C0"/>
                </a:solidFill>
              </a:rPr>
              <a:t>(It may also happen  hence it is also associated with some probability)</a:t>
            </a:r>
          </a:p>
          <a:p>
            <a:endParaRPr lang="en-US" sz="2600" dirty="0" smtClean="0"/>
          </a:p>
          <a:p>
            <a:r>
              <a:rPr lang="en-US" sz="2600" dirty="0" smtClean="0"/>
              <a:t>Man bites a dog    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(Rarest event --  Highly uncertain)</a:t>
            </a:r>
            <a:r>
              <a:rPr lang="en-US" sz="2200" dirty="0"/>
              <a:t> </a:t>
            </a:r>
            <a:endParaRPr lang="en-US" sz="2200" dirty="0" smtClean="0"/>
          </a:p>
          <a:p>
            <a:endParaRPr lang="en-US" sz="2600" dirty="0" smtClean="0"/>
          </a:p>
          <a:p>
            <a:r>
              <a:rPr lang="en-US" sz="2600" dirty="0" smtClean="0"/>
              <a:t>The </a:t>
            </a:r>
            <a:r>
              <a:rPr lang="en-US" sz="2600" dirty="0" err="1" smtClean="0"/>
              <a:t>Thar</a:t>
            </a:r>
            <a:r>
              <a:rPr lang="en-US" sz="2600" dirty="0" smtClean="0"/>
              <a:t> desert will receive heavy rainfall in this rainy season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(Rarest event --  Highly uncertain) 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73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INFORMATION AND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547260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Intuitive Feel</a:t>
            </a:r>
            <a:r>
              <a:rPr lang="en-US" sz="2400" dirty="0"/>
              <a:t>: </a:t>
            </a:r>
          </a:p>
          <a:p>
            <a:pPr lvl="1" algn="just"/>
            <a:r>
              <a:rPr lang="en-US" sz="2000" b="1" dirty="0" smtClean="0"/>
              <a:t>Information </a:t>
            </a:r>
            <a:r>
              <a:rPr lang="en-US" sz="2000" b="1" dirty="0"/>
              <a:t>contained in an event is closely related to its </a:t>
            </a:r>
            <a:r>
              <a:rPr lang="en-US" sz="2000" b="1" dirty="0" smtClean="0"/>
              <a:t>uncertainty</a:t>
            </a:r>
            <a:r>
              <a:rPr lang="en-US" sz="2000" b="1" dirty="0"/>
              <a:t> </a:t>
            </a:r>
            <a:r>
              <a:rPr lang="en-US" sz="2000" b="1" dirty="0" smtClean="0"/>
              <a:t>or probability</a:t>
            </a:r>
          </a:p>
          <a:p>
            <a:pPr lvl="1" algn="just"/>
            <a:endParaRPr lang="en-US" sz="900" dirty="0"/>
          </a:p>
          <a:p>
            <a:pPr lvl="1" algn="just"/>
            <a:r>
              <a:rPr lang="en-US" sz="2000" b="1" dirty="0" smtClean="0">
                <a:solidFill>
                  <a:srgbClr val="0070C0"/>
                </a:solidFill>
              </a:rPr>
              <a:t>Messages with low probability (i.e., highly unexpected messages) contains a large amount </a:t>
            </a:r>
            <a:r>
              <a:rPr lang="en-US" sz="2000" b="1" dirty="0">
                <a:solidFill>
                  <a:srgbClr val="0070C0"/>
                </a:solidFill>
              </a:rPr>
              <a:t>of </a:t>
            </a:r>
            <a:r>
              <a:rPr lang="en-US" sz="2000" b="1" dirty="0" smtClean="0">
                <a:solidFill>
                  <a:srgbClr val="0070C0"/>
                </a:solidFill>
              </a:rPr>
              <a:t>information. </a:t>
            </a:r>
          </a:p>
          <a:p>
            <a:pPr lvl="1" algn="just"/>
            <a:endParaRPr lang="en-US" sz="900" dirty="0" smtClean="0"/>
          </a:p>
          <a:p>
            <a:pPr lvl="1" algn="just"/>
            <a:r>
              <a:rPr lang="en-US" sz="2000" b="1" dirty="0" smtClean="0">
                <a:solidFill>
                  <a:srgbClr val="FF0000"/>
                </a:solidFill>
              </a:rPr>
              <a:t>Messages with high probability deliver very low amount </a:t>
            </a:r>
            <a:r>
              <a:rPr lang="en-US" sz="2000" b="1" dirty="0">
                <a:solidFill>
                  <a:srgbClr val="FF0000"/>
                </a:solidFill>
              </a:rPr>
              <a:t>of </a:t>
            </a:r>
            <a:r>
              <a:rPr lang="en-US" sz="2000" b="1" dirty="0" smtClean="0">
                <a:solidFill>
                  <a:srgbClr val="FF0000"/>
                </a:solidFill>
              </a:rPr>
              <a:t>information.</a:t>
            </a:r>
          </a:p>
          <a:p>
            <a:pPr lvl="1" algn="just"/>
            <a:endParaRPr lang="en-US" sz="900" dirty="0" smtClean="0"/>
          </a:p>
          <a:p>
            <a:pPr lvl="1" algn="just"/>
            <a:r>
              <a:rPr lang="en-US" sz="2000" dirty="0" smtClean="0"/>
              <a:t>Before </a:t>
            </a:r>
            <a:r>
              <a:rPr lang="en-US" sz="2000" dirty="0"/>
              <a:t>the event occurs,</a:t>
            </a:r>
          </a:p>
          <a:p>
            <a:pPr lvl="2" algn="just"/>
            <a:r>
              <a:rPr lang="en-US" sz="2000" dirty="0"/>
              <a:t>there is </a:t>
            </a:r>
            <a:r>
              <a:rPr lang="en-US" sz="2000" dirty="0" smtClean="0"/>
              <a:t>some amount </a:t>
            </a:r>
            <a:r>
              <a:rPr lang="en-US" sz="2000" dirty="0"/>
              <a:t>of uncertainty.</a:t>
            </a:r>
          </a:p>
          <a:p>
            <a:pPr lvl="1" algn="just"/>
            <a:endParaRPr lang="en-US" sz="900" dirty="0" smtClean="0"/>
          </a:p>
          <a:p>
            <a:pPr lvl="1" algn="just"/>
            <a:r>
              <a:rPr lang="en-US" sz="2000" dirty="0" smtClean="0"/>
              <a:t>After </a:t>
            </a:r>
            <a:r>
              <a:rPr lang="en-US" sz="2000" dirty="0"/>
              <a:t>the occurrence of the event,</a:t>
            </a:r>
          </a:p>
          <a:p>
            <a:pPr lvl="2" algn="just"/>
            <a:r>
              <a:rPr lang="en-US" sz="2000" dirty="0"/>
              <a:t>there is no uncertainty anymore, but there is gain in the amount of information</a:t>
            </a:r>
            <a:r>
              <a:rPr lang="en-US" sz="2000" dirty="0" smtClean="0"/>
              <a:t>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11560" y="5661248"/>
            <a:ext cx="77048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400" b="1" dirty="0">
                <a:solidFill>
                  <a:srgbClr val="FF0000"/>
                </a:solidFill>
              </a:rPr>
              <a:t>The amount of information should be inversely proportional to the probability of the message.</a:t>
            </a:r>
          </a:p>
        </p:txBody>
      </p:sp>
    </p:spTree>
    <p:extLst>
      <p:ext uri="{BB962C8B-B14F-4D97-AF65-F5344CB8AC3E}">
        <p14:creationId xmlns:p14="http://schemas.microsoft.com/office/powerpoint/2010/main" val="376888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sz="2900" b="1" dirty="0" smtClean="0">
                <a:solidFill>
                  <a:srgbClr val="0070C0"/>
                </a:solidFill>
              </a:rPr>
              <a:t>Amount of Information</a:t>
            </a:r>
            <a:br>
              <a:rPr lang="en-US" sz="2900" b="1" dirty="0" smtClean="0">
                <a:solidFill>
                  <a:srgbClr val="0070C0"/>
                </a:solidFill>
              </a:rPr>
            </a:br>
            <a:r>
              <a:rPr lang="en-US" sz="2200" b="1" dirty="0" smtClean="0">
                <a:solidFill>
                  <a:srgbClr val="0070C0"/>
                </a:solidFill>
              </a:rPr>
              <a:t>(Mathematical Definition)</a:t>
            </a:r>
            <a:endParaRPr lang="en-US" sz="29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960" y="980728"/>
                <a:ext cx="8229600" cy="5400600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 smtClean="0"/>
                  <a:t>is an event with a probability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, then the amount of information associated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 smtClean="0"/>
                  <a:t> is given as –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 smtClean="0"/>
              </a:p>
              <a:p>
                <a:endParaRPr lang="en-US" sz="2400" dirty="0"/>
              </a:p>
              <a:p>
                <a:r>
                  <a:rPr lang="en-US" sz="2400" dirty="0" smtClean="0"/>
                  <a:t>The choice of base for the logarithm define different units of information.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1800" dirty="0" smtClean="0"/>
                  <a:t>When the base is </a:t>
                </a:r>
                <a:r>
                  <a:rPr lang="en-US" sz="1800" dirty="0" smtClean="0">
                    <a:solidFill>
                      <a:srgbClr val="FF0000"/>
                    </a:solidFill>
                  </a:rPr>
                  <a:t>‘2’</a:t>
                </a:r>
                <a:r>
                  <a:rPr lang="en-US" sz="1800" dirty="0" smtClean="0"/>
                  <a:t>, then the unit of information is – </a:t>
                </a:r>
                <a:r>
                  <a:rPr lang="en-US" sz="1800" i="1" dirty="0" smtClean="0">
                    <a:solidFill>
                      <a:srgbClr val="FF0000"/>
                    </a:solidFill>
                  </a:rPr>
                  <a:t>bit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sz="1800" dirty="0" smtClean="0"/>
                  <a:t>When the base is </a:t>
                </a:r>
                <a:r>
                  <a:rPr lang="en-US" sz="1800" b="1" dirty="0" smtClean="0">
                    <a:solidFill>
                      <a:srgbClr val="00B0F0"/>
                    </a:solidFill>
                  </a:rPr>
                  <a:t>‘e’</a:t>
                </a:r>
                <a:r>
                  <a:rPr lang="en-US" sz="1800" dirty="0" smtClean="0"/>
                  <a:t> </a:t>
                </a:r>
                <a:r>
                  <a:rPr lang="en-US" sz="1800" dirty="0"/>
                  <a:t>then the unit of information is – </a:t>
                </a:r>
                <a:r>
                  <a:rPr lang="en-US" sz="1800" b="1" i="1" dirty="0" err="1" smtClean="0">
                    <a:solidFill>
                      <a:srgbClr val="00B0F0"/>
                    </a:solidFill>
                  </a:rPr>
                  <a:t>nat</a:t>
                </a:r>
                <a:endParaRPr lang="en-US" sz="1800" b="1" i="1" dirty="0" smtClean="0">
                  <a:solidFill>
                    <a:srgbClr val="00B0F0"/>
                  </a:solidFill>
                </a:endParaRPr>
              </a:p>
              <a:p>
                <a:pPr lvl="1" algn="just">
                  <a:lnSpc>
                    <a:spcPct val="150000"/>
                  </a:lnSpc>
                </a:pPr>
                <a:r>
                  <a:rPr lang="en-US" sz="1800" dirty="0"/>
                  <a:t>When the base is </a:t>
                </a:r>
                <a:r>
                  <a:rPr lang="en-US" sz="1800" b="1" dirty="0" smtClean="0">
                    <a:solidFill>
                      <a:srgbClr val="7030A0"/>
                    </a:solidFill>
                  </a:rPr>
                  <a:t>‘10’</a:t>
                </a:r>
                <a:r>
                  <a:rPr lang="en-US" sz="1800" dirty="0" smtClean="0"/>
                  <a:t>, </a:t>
                </a:r>
                <a:r>
                  <a:rPr lang="en-US" sz="1800" dirty="0"/>
                  <a:t>then the unit of information is – </a:t>
                </a:r>
                <a:r>
                  <a:rPr lang="en-US" sz="1800" b="1" i="1" dirty="0" err="1" smtClean="0">
                    <a:solidFill>
                      <a:srgbClr val="7030A0"/>
                    </a:solidFill>
                  </a:rPr>
                  <a:t>decit</a:t>
                </a:r>
                <a:r>
                  <a:rPr lang="en-US" sz="1800" b="1" i="1" dirty="0" smtClean="0">
                    <a:solidFill>
                      <a:srgbClr val="7030A0"/>
                    </a:solidFill>
                  </a:rPr>
                  <a:t> or Hartley</a:t>
                </a:r>
              </a:p>
              <a:p>
                <a:pPr lvl="1" algn="just"/>
                <a:endParaRPr lang="en-US" sz="1800" b="1" i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/>
                      </a:rPr>
                      <m:t>𝒉𝒂𝒓𝒕𝒍𝒆𝒚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𝟑𝟐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𝒃𝒊𝒕𝒔</m:t>
                    </m:r>
                  </m:oMath>
                </a14:m>
                <a:r>
                  <a:rPr lang="en-US" sz="2400" b="1" i="1" dirty="0" smtClean="0">
                    <a:solidFill>
                      <a:srgbClr val="7030A0"/>
                    </a:solidFill>
                  </a:rPr>
                  <a:t>,     and      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B0F0"/>
                        </a:solidFill>
                        <a:latin typeface="Cambria Math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00B0F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B0F0"/>
                        </a:solidFill>
                        <a:latin typeface="Cambria Math"/>
                      </a:rPr>
                      <m:t>𝒏𝒂𝒕</m:t>
                    </m:r>
                    <m:r>
                      <a:rPr lang="en-US" sz="2400" b="1" i="1">
                        <a:solidFill>
                          <a:srgbClr val="00B0F0"/>
                        </a:solidFill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𝟒𝟒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</a:rPr>
                      <m:t>𝒃𝒊𝒕𝒔</m:t>
                    </m:r>
                  </m:oMath>
                </a14:m>
                <a:endParaRPr lang="en-US" sz="2400" b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960" y="980728"/>
                <a:ext cx="8229600" cy="5400600"/>
              </a:xfrm>
              <a:blipFill rotWithShape="1">
                <a:blip r:embed="rId2"/>
                <a:stretch>
                  <a:fillRect l="-1185" t="-339" r="-1556" b="-5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13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611560" y="2420888"/>
            <a:ext cx="1944217" cy="5853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Self </a:t>
            </a:r>
            <a:r>
              <a:rPr lang="en-US" b="1" dirty="0" smtClean="0">
                <a:solidFill>
                  <a:srgbClr val="FF0000"/>
                </a:solidFill>
              </a:rPr>
              <a:t>Information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2555777" y="2420888"/>
            <a:ext cx="648071" cy="29267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09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sz="2900" b="1" dirty="0" smtClean="0">
                <a:solidFill>
                  <a:srgbClr val="0070C0"/>
                </a:solidFill>
              </a:rPr>
              <a:t>Amount of Information</a:t>
            </a:r>
            <a:br>
              <a:rPr lang="en-US" sz="2900" b="1" dirty="0" smtClean="0">
                <a:solidFill>
                  <a:srgbClr val="0070C0"/>
                </a:solidFill>
              </a:rPr>
            </a:br>
            <a:r>
              <a:rPr lang="en-US" sz="2200" b="1" dirty="0" smtClean="0">
                <a:solidFill>
                  <a:srgbClr val="0070C0"/>
                </a:solidFill>
              </a:rPr>
              <a:t>(Mathematical Definition)</a:t>
            </a:r>
            <a:endParaRPr lang="en-US" sz="29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960" y="1124744"/>
                <a:ext cx="8229600" cy="5400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This definition satisfied following properties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,     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𝒇𝒐𝒓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:r>
                  <a:rPr lang="en-US" sz="1800" b="1" dirty="0" smtClean="0">
                    <a:solidFill>
                      <a:srgbClr val="FF0000"/>
                    </a:solidFill>
                  </a:rPr>
                  <a:t>Certain events convey no information</a:t>
                </a:r>
              </a:p>
              <a:p>
                <a:pPr lvl="1"/>
                <a:endParaRPr lang="en-US" sz="1800" dirty="0" smtClean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≥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𝟎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,      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𝒇𝒐𝒓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  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𝟎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b="1" dirty="0">
                    <a:solidFill>
                      <a:schemeClr val="tx2"/>
                    </a:solidFill>
                  </a:rPr>
                  <a:t> </a:t>
                </a:r>
                <a:endParaRPr lang="en-US" sz="2000" b="1" dirty="0" smtClean="0">
                  <a:solidFill>
                    <a:schemeClr val="tx2"/>
                  </a:solidFill>
                </a:endParaRPr>
              </a:p>
              <a:p>
                <a:pPr lvl="1"/>
                <a:r>
                  <a:rPr lang="en-US" sz="1800" b="1" dirty="0" smtClean="0">
                    <a:solidFill>
                      <a:schemeClr val="tx2"/>
                    </a:solidFill>
                  </a:rPr>
                  <a:t>Every event provides some information and never bring a loss of information</a:t>
                </a:r>
              </a:p>
              <a:p>
                <a:pPr lvl="1"/>
                <a:endParaRPr lang="en-US" sz="1800" dirty="0" smtClean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,      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𝒇𝒐𝒓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endParaRPr lang="en-US" sz="2000" b="1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sz="1800" b="1" dirty="0" smtClean="0">
                    <a:solidFill>
                      <a:srgbClr val="FF0000"/>
                    </a:solidFill>
                  </a:rPr>
                  <a:t>Less probable event convey more information</a:t>
                </a:r>
              </a:p>
              <a:p>
                <a:pPr lvl="1"/>
                <a:endParaRPr lang="en-US" sz="1800" dirty="0" smtClean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  <m:r>
                          <a:rPr lang="en-US" sz="2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IN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  +  </m:t>
                    </m:r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2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,      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𝒇𝒐𝒓</m:t>
                    </m:r>
                    <m:r>
                      <a:rPr lang="en-US" sz="2000" b="1" i="1">
                        <a:solidFill>
                          <a:schemeClr val="tx2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𝒊𝒏𝒅𝒆𝒑𝒆𝒏𝒅𝒆𝒏𝒕</m:t>
                    </m:r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smtClean="0">
                        <a:solidFill>
                          <a:schemeClr val="tx2"/>
                        </a:solidFill>
                        <a:latin typeface="Cambria Math"/>
                      </a:rPr>
                      <m:t>𝒆𝒗𝒆𝒏𝒕</m:t>
                    </m:r>
                  </m:oMath>
                </a14:m>
                <a:endParaRPr lang="en-US" sz="20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960" y="1124744"/>
                <a:ext cx="8229600" cy="5400600"/>
              </a:xfrm>
              <a:blipFill rotWithShape="1">
                <a:blip r:embed="rId2"/>
                <a:stretch>
                  <a:fillRect l="-815" r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14</a:t>
            </a:fld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1331640" y="1124744"/>
            <a:ext cx="1944217" cy="5853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Self </a:t>
            </a:r>
            <a:r>
              <a:rPr lang="en-US" b="1" dirty="0" smtClean="0">
                <a:solidFill>
                  <a:srgbClr val="FF0000"/>
                </a:solidFill>
              </a:rPr>
              <a:t>Information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53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692696"/>
                <a:ext cx="8229600" cy="54006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dirty="0" smtClean="0"/>
                  <a:t>The logarithmic measure is justified by the desire for </a:t>
                </a:r>
                <a:r>
                  <a:rPr lang="en-US" sz="2000" dirty="0"/>
                  <a:t>information </a:t>
                </a:r>
                <a:r>
                  <a:rPr lang="en-US" sz="2000" dirty="0" smtClean="0"/>
                  <a:t>to be additive</a:t>
                </a:r>
                <a:r>
                  <a:rPr lang="en-US" sz="2000" dirty="0"/>
                  <a:t>. </a:t>
                </a:r>
                <a:endParaRPr lang="en-US" sz="2000" dirty="0" smtClean="0"/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When two independent events take place then the total information is sum of information in each event.  (Fourth Property)</a:t>
                </a:r>
              </a:p>
              <a:p>
                <a:pPr marL="0" indent="0" algn="just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i="1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  +  </m:t>
                      </m:r>
                      <m:r>
                        <a:rPr lang="en-US" sz="2000" i="1">
                          <a:latin typeface="Cambria Math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/>
                        </a:rPr>
                        <m:t>,      </m:t>
                      </m:r>
                      <m:r>
                        <a:rPr lang="en-US" sz="2000" i="1">
                          <a:latin typeface="Cambria Math"/>
                        </a:rPr>
                        <m:t>𝑓𝑜𝑟</m:t>
                      </m:r>
                      <m:r>
                        <a:rPr lang="en-US" sz="2000" i="1">
                          <a:latin typeface="Cambria Math"/>
                        </a:rPr>
                        <m:t>   </m:t>
                      </m:r>
                      <m:r>
                        <a:rPr lang="en-US" sz="2000" i="1">
                          <a:latin typeface="Cambria Math"/>
                        </a:rPr>
                        <m:t>𝑖𝑛𝑑𝑒𝑝𝑒𝑛𝑑𝑒𝑛𝑡</m:t>
                      </m:r>
                      <m:r>
                        <a:rPr lang="en-US" sz="2000" i="1">
                          <a:latin typeface="Cambria Math"/>
                        </a:rPr>
                        <m:t> </m:t>
                      </m:r>
                      <m:r>
                        <a:rPr lang="en-US" sz="2000" i="1">
                          <a:latin typeface="Cambria Math"/>
                        </a:rPr>
                        <m:t>𝑒𝑣𝑒𝑛𝑡</m:t>
                      </m:r>
                    </m:oMath>
                  </m:oMathPara>
                </a14:m>
                <a:endParaRPr lang="en-US" sz="2000" dirty="0"/>
              </a:p>
              <a:p>
                <a:pPr algn="just"/>
                <a:endParaRPr lang="en-US" sz="2000" dirty="0" smtClean="0"/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But the probabilities of independent events multiply to give their combined probabilities, 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Therefore, we must take Logarithms in order for </a:t>
                </a:r>
                <a:r>
                  <a:rPr lang="en-US" sz="2000" dirty="0"/>
                  <a:t>the joint </a:t>
                </a:r>
                <a:r>
                  <a:rPr lang="en-US" sz="2000" dirty="0" smtClean="0"/>
                  <a:t>probability of independent events Or messages to contribute additively to </a:t>
                </a:r>
                <a:r>
                  <a:rPr lang="en-US" sz="2000" dirty="0"/>
                  <a:t>the information gained</a:t>
                </a:r>
                <a:r>
                  <a:rPr lang="en-US" sz="2000" dirty="0" smtClean="0"/>
                  <a:t>.</a:t>
                </a:r>
              </a:p>
              <a:p>
                <a:pPr algn="just"/>
                <a:endParaRPr lang="en-US" sz="2000" dirty="0"/>
              </a:p>
              <a:p>
                <a:pPr algn="just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692696"/>
                <a:ext cx="8229600" cy="5400600"/>
              </a:xfrm>
              <a:blipFill rotWithShape="1">
                <a:blip r:embed="rId2"/>
                <a:stretch>
                  <a:fillRect l="-815" t="-564" r="-1407" b="-11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15</a:t>
            </a:fld>
            <a:endParaRPr lang="en-IN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7544" y="4462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0070C0"/>
                </a:solidFill>
              </a:rPr>
              <a:t>Why Logarithm</a:t>
            </a:r>
            <a:endParaRPr lang="en-US" sz="3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4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0405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Why Logarithm</a:t>
            </a:r>
            <a:endParaRPr lang="en-US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960" y="476672"/>
                <a:ext cx="8229600" cy="619268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7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17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17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700" dirty="0" smtClean="0"/>
                  <a:t>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7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17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1700" dirty="0" smtClean="0"/>
                  <a:t>are two independent event </a:t>
                </a:r>
                <a:r>
                  <a:rPr lang="en-US" sz="1700" dirty="0"/>
                  <a:t>with a probability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sz="1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d>
                      <m:dPr>
                        <m:ctrlPr>
                          <a:rPr lang="en-US" sz="1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 dirty="0"/>
                  <a:t> </a:t>
                </a:r>
                <a:r>
                  <a:rPr lang="en-US" sz="1700" dirty="0" smtClean="0"/>
                  <a:t>respectively  and self information associated with them is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700" dirty="0" smtClean="0"/>
              </a:p>
              <a:p>
                <a:r>
                  <a:rPr lang="en-US" sz="1700" dirty="0" smtClean="0"/>
                  <a:t>Let    </a:t>
                </a:r>
                <a:r>
                  <a:rPr lang="en-US" sz="17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17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7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17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sz="1700" dirty="0" smtClean="0">
                    <a:solidFill>
                      <a:srgbClr val="FF0000"/>
                    </a:solidFill>
                  </a:rPr>
                  <a:t>  </a:t>
                </a:r>
                <a:r>
                  <a:rPr lang="en-US" sz="17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solidFill>
                          <a:srgbClr val="FF0000"/>
                        </a:solidFill>
                        <a:latin typeface="Cambria Math"/>
                      </a:rPr>
                      <m:t>𝑰</m:t>
                    </m:r>
                    <m:d>
                      <m:dPr>
                        <m:ctrlPr>
                          <a:rPr lang="en-US" sz="1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7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sz="17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sz="17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7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sz="1700" dirty="0" smtClean="0"/>
                  <a:t>  ----- some function of  probability</a:t>
                </a:r>
              </a:p>
              <a:p>
                <a:pPr algn="just"/>
                <a:endParaRPr lang="en-US" sz="1050" dirty="0" smtClean="0"/>
              </a:p>
              <a:p>
                <a:pPr algn="just"/>
                <a:r>
                  <a:rPr lang="en-US" sz="1700" dirty="0" smtClean="0"/>
                  <a:t>Then the probability of the joint event  is  define as – </a:t>
                </a:r>
              </a:p>
              <a:p>
                <a:pPr marL="0" indent="0" algn="just">
                  <a:buNone/>
                </a:pPr>
                <a:endParaRPr lang="en-US" sz="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𝒑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700" b="1" dirty="0" smtClean="0"/>
              </a:p>
              <a:p>
                <a:pPr marL="0" indent="0">
                  <a:buNone/>
                </a:pPr>
                <a:endParaRPr lang="en-US" sz="1000" dirty="0" smtClean="0"/>
              </a:p>
              <a:p>
                <a:pPr algn="just"/>
                <a:r>
                  <a:rPr lang="en-US" sz="1700" dirty="0" smtClean="0"/>
                  <a:t>Information associated with this joint event is define as </a:t>
                </a:r>
              </a:p>
              <a:p>
                <a:pPr algn="just"/>
                <a:endParaRPr lang="en-US" sz="9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𝑰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7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sz="17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 b="1" i="1">
                          <a:solidFill>
                            <a:srgbClr val="FF000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7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700" b="1" dirty="0" smtClean="0"/>
              </a:p>
              <a:p>
                <a:pPr marL="0" indent="0" algn="just">
                  <a:buNone/>
                </a:pPr>
                <a:endParaRPr lang="en-US" sz="1000" b="1" dirty="0" smtClean="0"/>
              </a:p>
              <a:p>
                <a:pPr algn="just"/>
                <a:r>
                  <a:rPr lang="en-US" sz="1700" dirty="0" smtClean="0"/>
                  <a:t>This total Information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17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17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7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 dirty="0" smtClean="0"/>
                  <a:t> must be equal to the sum of individual information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700" dirty="0" smtClean="0"/>
                  <a:t>  and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𝐼</m:t>
                    </m:r>
                    <m:d>
                      <m:dPr>
                        <m:ctrlPr>
                          <a:rPr lang="en-US" sz="17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7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7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𝑰</m:t>
                      </m:r>
                      <m:d>
                        <m:dPr>
                          <m:ctrlPr>
                            <a:rPr lang="en-US" sz="17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sz="17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sz="1700" b="1" i="1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 b="1" i="1">
                          <a:solidFill>
                            <a:srgbClr val="0070C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7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7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0" b="1" i="1">
                          <a:solidFill>
                            <a:srgbClr val="0070C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7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 b="1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7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700" b="1" i="1">
                          <a:solidFill>
                            <a:srgbClr val="0070C0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sz="17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7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1700" b="1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700" b="1" i="1" smtClean="0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700" b="1" dirty="0" smtClean="0"/>
              </a:p>
              <a:p>
                <a:pPr algn="just"/>
                <a:endParaRPr lang="en-US" sz="1000" dirty="0" smtClean="0"/>
              </a:p>
              <a:p>
                <a:pPr algn="just"/>
                <a:r>
                  <a:rPr lang="en-US" sz="1700" dirty="0" smtClean="0"/>
                  <a:t>From above expression , it is clearly visible that we require a function which converts multiplication into addition and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Logarithm is one such function.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1800" dirty="0" smtClean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960" y="476672"/>
                <a:ext cx="8229600" cy="6192688"/>
              </a:xfrm>
              <a:blipFill rotWithShape="1">
                <a:blip r:embed="rId2"/>
                <a:stretch>
                  <a:fillRect l="-667" r="-1111" b="-1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5536" y="3589163"/>
                <a:ext cx="8352928" cy="80823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𝑰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1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𝑰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𝑰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589163"/>
                <a:ext cx="8352928" cy="8082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02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616" y="116632"/>
            <a:ext cx="6840760" cy="1224136"/>
          </a:xfrm>
        </p:spPr>
        <p:txBody>
          <a:bodyPr>
            <a:normAutofit/>
          </a:bodyPr>
          <a:lstStyle/>
          <a:p>
            <a:r>
              <a:rPr lang="en-IN" dirty="0"/>
              <a:t>Reference Book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17</a:t>
            </a:fld>
            <a:endParaRPr lang="en-IN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1560" y="1772816"/>
            <a:ext cx="7848872" cy="3528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b="0" i="0" u="none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</a:rPr>
              <a:t>Haykin</a:t>
            </a:r>
            <a:r>
              <a:rPr lang="en-US" sz="2000" dirty="0" smtClean="0">
                <a:solidFill>
                  <a:schemeClr val="tx1"/>
                </a:solidFill>
              </a:rPr>
              <a:t>, Digital Communication </a:t>
            </a:r>
            <a:r>
              <a:rPr lang="en-US" sz="2000" dirty="0">
                <a:solidFill>
                  <a:schemeClr val="tx1"/>
                </a:solidFill>
              </a:rPr>
              <a:t>Systems, John Wiley &amp; Sons, NY, </a:t>
            </a:r>
            <a:r>
              <a:rPr lang="en-US" sz="2000" dirty="0" smtClean="0">
                <a:solidFill>
                  <a:schemeClr val="tx1"/>
                </a:solidFill>
              </a:rPr>
              <a:t>2014.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</a:t>
            </a:r>
            <a:r>
              <a:rPr lang="en-US" sz="2000" dirty="0">
                <a:solidFill>
                  <a:schemeClr val="tx1"/>
                </a:solidFill>
              </a:rPr>
              <a:t>. Bose, Information theory, coding and cryptography, Publisher: Tata McGraw-Hill, 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Edition 2016.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 P Singh and S D </a:t>
            </a:r>
            <a:r>
              <a:rPr lang="en-US" sz="2000" dirty="0" err="1" smtClean="0">
                <a:solidFill>
                  <a:schemeClr val="tx1"/>
                </a:solidFill>
              </a:rPr>
              <a:t>Sapre</a:t>
            </a:r>
            <a:r>
              <a:rPr lang="en-US" sz="2000" dirty="0" smtClean="0">
                <a:solidFill>
                  <a:schemeClr val="tx1"/>
                </a:solidFill>
              </a:rPr>
              <a:t>, Communication System (Analog and Digital), </a:t>
            </a:r>
            <a:r>
              <a:rPr lang="en-US" sz="2000" dirty="0">
                <a:solidFill>
                  <a:schemeClr val="tx1"/>
                </a:solidFill>
              </a:rPr>
              <a:t>Tata McGraw-Hill, 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Edition </a:t>
            </a:r>
            <a:r>
              <a:rPr lang="en-US" sz="2000" dirty="0" smtClean="0">
                <a:solidFill>
                  <a:schemeClr val="tx1"/>
                </a:solidFill>
              </a:rPr>
              <a:t>2012.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78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5AA5-A551-4C90-805E-1548D2A85B1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88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property id=&quot;20226&quot; value=&quot;C:\Users\Dr. Hem Dutt Joshi\Desktop\July-Dec-2020\ITC 2020\Lecture-1 ITC_Entropy.pptx&quot;/&gt;&lt;object type=&quot;2&quot; unique_id=&quot;10002&quot;&gt;&lt;object type=&quot;3&quot; unique_id=&quot;10005&quot;&gt;&lt;property id=&quot;20148&quot; value=&quot;5&quot;/&gt;&lt;property id=&quot;20300&quot; value=&quot;Slide 3 - &amp;quot;Course Content&amp;quot;&quot;/&gt;&lt;property id=&quot;20307&quot; value=&quot;260&quot;/&gt;&lt;/object&gt;&lt;object type=&quot;3&quot; unique_id=&quot;10008&quot;&gt;&lt;property id=&quot;20148&quot; value=&quot;5&quot;/&gt;&lt;property id=&quot;20300&quot; value=&quot;Slide 10 - &amp;quot;Historical origins of Information Theory&amp;quot;&quot;/&gt;&lt;property id=&quot;20307&quot; value=&quot;282&quot;/&gt;&lt;/object&gt;&lt;object type=&quot;3&quot; unique_id=&quot;10010&quot;&gt;&lt;property id=&quot;20148&quot; value=&quot;5&quot;/&gt;&lt;property id=&quot;20300&quot; value=&quot;Slide 4 - &amp;quot;Content of Lecture-1&amp;quot;&quot;/&gt;&lt;property id=&quot;20307&quot; value=&quot;283&quot;/&gt;&lt;/object&gt;&lt;object type=&quot;3&quot; unique_id=&quot;10014&quot;&gt;&lt;property id=&quot;20148&quot; value=&quot;5&quot;/&gt;&lt;property id=&quot;20300&quot; value=&quot;Slide 9 - &amp;quot;Information Theory&amp;quot;&quot;/&gt;&lt;property id=&quot;20307&quot; value=&quot;285&quot;/&gt;&lt;/object&gt;&lt;object type=&quot;3&quot; unique_id=&quot;10019&quot;&gt;&lt;property id=&quot;20148&quot; value=&quot;5&quot;/&gt;&lt;property id=&quot;20300&quot; value=&quot;Slide 11 - &amp;quot;INFORMATION AND UNCERTAINTY&amp;quot;&quot;/&gt;&lt;property id=&quot;20307&quot; value=&quot;286&quot;/&gt;&lt;/object&gt;&lt;object type=&quot;3&quot; unique_id=&quot;10025&quot;&gt;&lt;property id=&quot;20148&quot; value=&quot;5&quot;/&gt;&lt;property id=&quot;20300&quot; value=&quot;Slide 15&quot;/&gt;&lt;property id=&quot;20307&quot; value=&quot;299&quot;/&gt;&lt;/object&gt;&lt;object type=&quot;3&quot; unique_id=&quot;10032&quot;&gt;&lt;property id=&quot;20148&quot; value=&quot;5&quot;/&gt;&lt;property id=&quot;20300&quot; value=&quot;Slide 13 - &amp;quot;Amount of Information (Mathematical Definition)&amp;quot;&quot;/&gt;&lt;property id=&quot;20307&quot; value=&quot;305&quot;/&gt;&lt;/object&gt;&lt;object type=&quot;3&quot; unique_id=&quot;10035&quot;&gt;&lt;property id=&quot;20148&quot; value=&quot;5&quot;/&gt;&lt;property id=&quot;20300&quot; value=&quot;Slide 14 - &amp;quot;Amount of Information (Mathematical Definition)&amp;quot;&quot;/&gt;&lt;property id=&quot;20307&quot; value=&quot;308&quot;/&gt;&lt;/object&gt;&lt;object type=&quot;3&quot; unique_id=&quot;10039&quot;&gt;&lt;property id=&quot;20148&quot; value=&quot;5&quot;/&gt;&lt;property id=&quot;20300&quot; value=&quot;Slide 17 - &amp;quot;Reference Book&amp;quot;&quot;/&gt;&lt;property id=&quot;20307&quot; value=&quot;313&quot;/&gt;&lt;/object&gt;&lt;object type=&quot;3&quot; unique_id=&quot;10040&quot;&gt;&lt;property id=&quot;20148&quot; value=&quot;5&quot;/&gt;&lt;property id=&quot;20300&quot; value=&quot;Slide 18 - &amp;quot;Thank you &amp;quot;&quot;/&gt;&lt;property id=&quot;20307&quot; value=&quot;314&quot;/&gt;&lt;/object&gt;&lt;object type=&quot;3&quot; unique_id=&quot;11075&quot;&gt;&lt;property id=&quot;20148&quot; value=&quot;5&quot;/&gt;&lt;property id=&quot;20300&quot; value=&quot;Slide 5 - &amp;quot;Communication System&amp;quot;&quot;/&gt;&lt;property id=&quot;20307&quot; value=&quot;300&quot;/&gt;&lt;/object&gt;&lt;object type=&quot;3&quot; unique_id=&quot;11077&quot;&gt;&lt;property id=&quot;20148&quot; value=&quot;5&quot;/&gt;&lt;property id=&quot;20300&quot; value=&quot;Slide 12 - &amp;quot;INFORMATION AND UNCERTAINTY&amp;quot;&quot;/&gt;&lt;property id=&quot;20307&quot; value=&quot;304&quot;/&gt;&lt;/object&gt;&lt;object type=&quot;3&quot; unique_id=&quot;11078&quot;&gt;&lt;property id=&quot;20148&quot; value=&quot;5&quot;/&gt;&lt;property id=&quot;20300&quot; value=&quot;Slide 16 - &amp;quot;Why Logarithm&amp;quot;&quot;/&gt;&lt;property id=&quot;20307&quot; value=&quot;306&quot;/&gt;&lt;/object&gt;&lt;object type=&quot;3&quot; unique_id=&quot;68625&quot;&gt;&lt;property id=&quot;20148&quot; value=&quot;5&quot;/&gt;&lt;property id=&quot;20300&quot; value=&quot;Slide 2 - &amp;quot;Lecture-1&amp;quot;&quot;/&gt;&lt;property id=&quot;20307&quot; value=&quot;320&quot;/&gt;&lt;/object&gt;&lt;object type=&quot;3&quot; unique_id=&quot;68785&quot;&gt;&lt;property id=&quot;20148&quot; value=&quot;5&quot;/&gt;&lt;property id=&quot;20300&quot; value=&quot;Slide 7 - &amp;quot;Communication System&amp;quot;&quot;/&gt;&lt;property id=&quot;20307&quot; value=&quot;321&quot;/&gt;&lt;/object&gt;&lt;object type=&quot;3&quot; unique_id=&quot;68926&quot;&gt;&lt;property id=&quot;20148&quot; value=&quot;5&quot;/&gt;&lt;property id=&quot;20300&quot; value=&quot;Slide 6 - &amp;quot;Communication System&amp;quot;&quot;/&gt;&lt;property id=&quot;20307&quot; value=&quot;322&quot;/&gt;&lt;/object&gt;&lt;object type=&quot;3&quot; unique_id=&quot;69097&quot;&gt;&lt;property id=&quot;20148&quot; value=&quot;5&quot;/&gt;&lt;property id=&quot;20300&quot; value=&quot;Slide 1&quot;/&gt;&lt;property id=&quot;20307&quot; value=&quot;325&quot;/&gt;&lt;/object&gt;&lt;object type=&quot;3&quot; unique_id=&quot;69098&quot;&gt;&lt;property id=&quot;20148&quot; value=&quot;5&quot;/&gt;&lt;property id=&quot;20300&quot; value=&quot;Slide 8 - &amp;quot;Communication System&amp;quot;&quot;/&gt;&lt;property id=&quot;20307&quot; value=&quot;324&quot;/&gt;&lt;/object&gt;&lt;/object&gt;&lt;object type=&quot;8&quot; unique_id=&quot;10094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7376</TotalTime>
  <Words>1863</Words>
  <Application>Microsoft Office PowerPoint</Application>
  <PresentationFormat>On-screen Show (4:3)</PresentationFormat>
  <Paragraphs>261</Paragraphs>
  <Slides>18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Lecture-1</vt:lpstr>
      <vt:lpstr>Course Content</vt:lpstr>
      <vt:lpstr>Content of Lecture-1</vt:lpstr>
      <vt:lpstr>Communication System</vt:lpstr>
      <vt:lpstr>Communication System</vt:lpstr>
      <vt:lpstr>Communication System</vt:lpstr>
      <vt:lpstr>Communication System</vt:lpstr>
      <vt:lpstr>Information Theory</vt:lpstr>
      <vt:lpstr>Historical origins of Information Theory</vt:lpstr>
      <vt:lpstr>INFORMATION AND UNCERTAINTY</vt:lpstr>
      <vt:lpstr>INFORMATION AND UNCERTAINTY</vt:lpstr>
      <vt:lpstr>Amount of Information (Mathematical Definition)</vt:lpstr>
      <vt:lpstr>Amount of Information (Mathematical Definition)</vt:lpstr>
      <vt:lpstr>PowerPoint Presentation</vt:lpstr>
      <vt:lpstr>Why Logarithm</vt:lpstr>
      <vt:lpstr>Reference Book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UEC607 Digital Communication</dc:title>
  <dc:creator>Dr. Hem Dutt Joshi</dc:creator>
  <cp:lastModifiedBy>Dr. Hem Dutt Joshi</cp:lastModifiedBy>
  <cp:revision>276</cp:revision>
  <dcterms:created xsi:type="dcterms:W3CDTF">2020-03-29T15:39:04Z</dcterms:created>
  <dcterms:modified xsi:type="dcterms:W3CDTF">2020-06-29T05:30:25Z</dcterms:modified>
</cp:coreProperties>
</file>