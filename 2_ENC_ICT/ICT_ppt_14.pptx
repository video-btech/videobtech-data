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5" r:id="rId2"/>
    <p:sldId id="350" r:id="rId3"/>
    <p:sldId id="291" r:id="rId4"/>
    <p:sldId id="329" r:id="rId5"/>
    <p:sldId id="330" r:id="rId6"/>
    <p:sldId id="331" r:id="rId7"/>
    <p:sldId id="332" r:id="rId8"/>
    <p:sldId id="352" r:id="rId9"/>
    <p:sldId id="333" r:id="rId10"/>
    <p:sldId id="334" r:id="rId11"/>
    <p:sldId id="335" r:id="rId12"/>
    <p:sldId id="336" r:id="rId13"/>
    <p:sldId id="337" r:id="rId14"/>
    <p:sldId id="338" r:id="rId15"/>
    <p:sldId id="351" r:id="rId16"/>
    <p:sldId id="348" r:id="rId17"/>
    <p:sldId id="349" r:id="rId18"/>
    <p:sldId id="313" r:id="rId19"/>
    <p:sldId id="314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099" autoAdjust="0"/>
  </p:normalViewPr>
  <p:slideViewPr>
    <p:cSldViewPr>
      <p:cViewPr>
        <p:scale>
          <a:sx n="60" d="100"/>
          <a:sy n="60" d="100"/>
        </p:scale>
        <p:origin x="-979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69B2A-D21A-4BE9-B8EB-E16EDC194253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6CC17-A09A-4A4D-BA86-01170483B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6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92935-0380-4A3F-A93A-F32F2FFF7509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3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3CA8C-04B4-45C8-AB8E-2D94BAC6DEED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97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95D2-BFD9-4561-82A8-EDC4A1DF45F4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2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8336-E278-4417-912C-358A1D99FF74}" type="datetime1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4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C570-41E2-4FBD-9A90-D988ED581B25}" type="datetime1">
              <a:rPr lang="en-IN" smtClean="0"/>
              <a:t>01-07-2020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1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28D49-27EE-4270-85C8-77F43D2DF666}" type="datetime1">
              <a:rPr lang="en-IN" smtClean="0"/>
              <a:t>01-07-2020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23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3934-F0F6-4175-94CB-5EABFF54A6D1}" type="datetime1">
              <a:rPr lang="en-IN" smtClean="0"/>
              <a:t>01-07-2020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3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C595-CDA9-474E-9257-D5BBDDBAF3C6}" type="datetime1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76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13AC-C887-408E-842F-89DFF95A2A25}" type="datetime1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8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6A23-3E25-430B-99D7-1C00B8C7ECA2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4F43-3AF3-44AB-8C07-718758AFFD46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3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05ED7-D627-473C-88A5-96E7DAE0DB08}" type="datetime1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83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11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2.png"/><Relationship Id="rId4" Type="http://schemas.openxmlformats.org/officeDocument/2006/relationships/image" Target="../media/image41.png"/><Relationship Id="rId9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40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98"/>
            <a:ext cx="9144000" cy="6879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EB0F514-78C8-42E7-AA37-B041CBCFE9C4}"/>
              </a:ext>
            </a:extLst>
          </p:cNvPr>
          <p:cNvSpPr/>
          <p:nvPr/>
        </p:nvSpPr>
        <p:spPr>
          <a:xfrm>
            <a:off x="3211016" y="244204"/>
            <a:ext cx="3063741" cy="773008"/>
          </a:xfrm>
          <a:prstGeom prst="rect">
            <a:avLst/>
          </a:prstGeom>
        </p:spPr>
        <p:txBody>
          <a:bodyPr wrap="none" lIns="64493" tIns="32246" rIns="64493" bIns="32246">
            <a:spAutoFit/>
          </a:bodyPr>
          <a:lstStyle/>
          <a:p>
            <a:pPr algn="ctr"/>
            <a:r>
              <a:rPr lang="en-GB" sz="2300" b="1" dirty="0" smtClean="0"/>
              <a:t>Information </a:t>
            </a:r>
            <a:r>
              <a:rPr lang="en-GB" sz="2300" b="1" dirty="0"/>
              <a:t>and</a:t>
            </a:r>
            <a:br>
              <a:rPr lang="en-GB" sz="2300" b="1" dirty="0"/>
            </a:br>
            <a:r>
              <a:rPr lang="en-GB" sz="2300" b="1" dirty="0"/>
              <a:t> Communication Theory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51720" y="5445224"/>
            <a:ext cx="4176464" cy="14127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 smtClean="0"/>
              <a:t>By </a:t>
            </a:r>
          </a:p>
          <a:p>
            <a:pPr marL="0" indent="0" algn="ctr">
              <a:buNone/>
            </a:pPr>
            <a:r>
              <a:rPr lang="en-IN" sz="1800" dirty="0" err="1" smtClean="0"/>
              <a:t>Dr.</a:t>
            </a:r>
            <a:r>
              <a:rPr lang="en-IN" sz="1800" dirty="0" smtClean="0"/>
              <a:t> Hem </a:t>
            </a:r>
            <a:r>
              <a:rPr lang="en-IN" sz="1800" dirty="0" err="1" smtClean="0"/>
              <a:t>Dutt</a:t>
            </a:r>
            <a:r>
              <a:rPr lang="en-IN" sz="1800" dirty="0" smtClean="0"/>
              <a:t> Joshi</a:t>
            </a:r>
          </a:p>
          <a:p>
            <a:pPr marL="0" indent="0" algn="ctr">
              <a:buNone/>
            </a:pPr>
            <a:r>
              <a:rPr lang="en-IN" sz="1800" dirty="0" smtClean="0"/>
              <a:t>Associate Professor, ECED, </a:t>
            </a:r>
          </a:p>
          <a:p>
            <a:pPr marL="0" indent="0" algn="ctr">
              <a:buNone/>
            </a:pPr>
            <a:r>
              <a:rPr lang="en-IN" sz="1800" dirty="0" smtClean="0"/>
              <a:t>TIET, Patiala</a:t>
            </a:r>
            <a:endParaRPr lang="en-IN" sz="1800" dirty="0"/>
          </a:p>
        </p:txBody>
      </p:sp>
      <p:pic>
        <p:nvPicPr>
          <p:cNvPr id="1026" name="Picture 2" descr="C:\Users\Dr. Hem Dutt Joshi\Desktop\UEC607\for website\for website\hemdut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503208"/>
            <a:ext cx="1238160" cy="12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693239" y="1196752"/>
            <a:ext cx="20992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Module-2</a:t>
            </a:r>
          </a:p>
          <a:p>
            <a:pPr algn="ctr"/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Information Theory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69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N" sz="4900" dirty="0" smtClean="0">
                <a:solidFill>
                  <a:srgbClr val="FF0000"/>
                </a:solidFill>
              </a:rPr>
              <a:t>Lecture-3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7544" y="1268761"/>
            <a:ext cx="8229600" cy="2160240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</a:rPr>
              <a:t>Derivatives of Entropy</a:t>
            </a:r>
          </a:p>
          <a:p>
            <a:pPr lvl="1"/>
            <a:r>
              <a:rPr lang="en-IN" sz="2400" b="1" dirty="0" smtClean="0">
                <a:solidFill>
                  <a:srgbClr val="0070C0"/>
                </a:solidFill>
              </a:rPr>
              <a:t>Joint Entropy</a:t>
            </a:r>
          </a:p>
          <a:p>
            <a:pPr lvl="1"/>
            <a:r>
              <a:rPr lang="en-IN" sz="2400" b="1" dirty="0" smtClean="0">
                <a:solidFill>
                  <a:srgbClr val="00B050"/>
                </a:solidFill>
              </a:rPr>
              <a:t>Conditional Entropy</a:t>
            </a:r>
          </a:p>
          <a:p>
            <a:r>
              <a:rPr lang="en-IN" sz="2800" b="1" dirty="0" smtClean="0">
                <a:solidFill>
                  <a:srgbClr val="7030A0"/>
                </a:solidFill>
              </a:rPr>
              <a:t>Mutual Information </a:t>
            </a:r>
            <a:endParaRPr lang="en-IN" sz="2800" b="1" dirty="0">
              <a:solidFill>
                <a:srgbClr val="7030A0"/>
              </a:solidFill>
            </a:endParaRPr>
          </a:p>
          <a:p>
            <a:pPr lvl="1"/>
            <a:endParaRPr lang="en-IN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19672" y="5917852"/>
            <a:ext cx="6022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Module-2: Information Theory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9746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49006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Entropy</a:t>
            </a:r>
            <a:endParaRPr lang="en-US" sz="36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548680"/>
                <a:ext cx="8784976" cy="6058802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200" i="1" dirty="0" smtClean="0"/>
                  <a:t>The </a:t>
                </a:r>
                <a:r>
                  <a:rPr lang="en-US" sz="2200" b="1" i="1" dirty="0" smtClean="0">
                    <a:solidFill>
                      <a:srgbClr val="FF0000"/>
                    </a:solidFill>
                  </a:rPr>
                  <a:t>Entropy </a:t>
                </a:r>
                <a:r>
                  <a:rPr lang="en-US" sz="2200" i="1" dirty="0" smtClean="0"/>
                  <a:t>of the source X is defined as the statistically averaged amount of information </a:t>
                </a:r>
                <a:r>
                  <a:rPr lang="en-US" sz="2200" dirty="0" smtClean="0"/>
                  <a:t>---mean of I(X)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/>
                        </a:rPr>
                        <m:t>𝐸𝑛𝑡𝑟𝑜𝑝𝑦</m:t>
                      </m:r>
                      <m:r>
                        <a:rPr lang="en-US" sz="2200" b="0" i="1" smtClean="0">
                          <a:latin typeface="Cambria Math"/>
                        </a:rPr>
                        <m:t> </m:t>
                      </m:r>
                      <m:r>
                        <a:rPr lang="en-US" sz="2200" b="0" i="1" smtClean="0">
                          <a:latin typeface="Cambria Math"/>
                        </a:rPr>
                        <m:t>𝑜𝑓</m:t>
                      </m:r>
                      <m:r>
                        <a:rPr lang="en-US" sz="2200" b="0" i="1" smtClean="0">
                          <a:latin typeface="Cambria Math"/>
                        </a:rPr>
                        <m:t> </m:t>
                      </m:r>
                      <m:r>
                        <a:rPr lang="en-US" sz="2200" b="0" i="1" smtClean="0">
                          <a:latin typeface="Cambria Math"/>
                        </a:rPr>
                        <m:t>𝑆𝑜𝑢𝑟𝑐𝑒</m:t>
                      </m:r>
                      <m:r>
                        <a:rPr lang="en-US" sz="2200" b="0" i="1" smtClean="0">
                          <a:latin typeface="Cambria Math"/>
                        </a:rPr>
                        <m:t>= </m:t>
                      </m:r>
                      <m:r>
                        <a:rPr lang="en-US" sz="22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r>
                        <a:rPr lang="en-US" sz="22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r>
                        <a:rPr lang="en-US" sz="22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2200" i="1">
                                  <a:latin typeface="Cambria Math"/>
                                </a:rPr>
                                <m:t> 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200" b="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n-US" sz="1000" b="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n-US" sz="2200" dirty="0" smtClean="0"/>
              </a:p>
              <a:p>
                <a:pPr marL="0" indent="0" algn="just">
                  <a:buNone/>
                </a:pPr>
                <a:endParaRPr lang="en-US" sz="2200" dirty="0"/>
              </a:p>
              <a:p>
                <a:pPr marL="0" indent="0" algn="just">
                  <a:buNone/>
                </a:pPr>
                <a:endParaRPr lang="en-US" sz="2200" dirty="0" smtClean="0"/>
              </a:p>
              <a:p>
                <a:pPr marL="0" indent="0" algn="just">
                  <a:buNone/>
                </a:pPr>
                <a:endParaRPr lang="en-US" sz="2200" dirty="0"/>
              </a:p>
              <a:p>
                <a:pPr marL="0" indent="0" algn="just">
                  <a:buNone/>
                </a:pPr>
                <a:endParaRPr lang="en-IN" sz="2000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algn="just"/>
                <a:endParaRPr lang="en-IN" sz="2200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algn="just"/>
                <a:endParaRPr lang="en-IN" sz="2200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algn="just"/>
                <a:endParaRPr lang="en-IN" sz="2200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FF0000"/>
                        </a:solidFill>
                        <a:latin typeface="Cambria Math"/>
                      </a:rPr>
                      <m:t>𝑯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/>
                      </a:rPr>
                      <m:t>𝒊𝒔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bounded as -- 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𝟎</m:t>
                    </m:r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≤</m:t>
                    </m:r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𝑯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≤</m:t>
                    </m:r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𝒍𝒐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𝒈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𝒃</m:t>
                        </m:r>
                      </m:sub>
                    </m:sSub>
                    <m:r>
                      <a:rPr lang="en-US" sz="2200" b="1" i="1">
                        <a:solidFill>
                          <a:srgbClr val="7030A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sz="2200" dirty="0" smtClean="0"/>
                  <a:t>  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𝒍𝒐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𝒈</m:t>
                          </m:r>
                        </m:e>
                        <m:sub>
                          <m:r>
                            <a:rPr lang="en-IN" sz="2200" b="1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sz="2200" b="1" i="1">
                          <a:solidFill>
                            <a:srgbClr val="7030A0"/>
                          </a:solidFill>
                          <a:latin typeface="Cambria Math"/>
                        </a:rPr>
                        <m:t>𝑴</m:t>
                      </m:r>
                    </m:oMath>
                  </m:oMathPara>
                </a14:m>
                <a:endParaRPr lang="en-US" sz="2200" dirty="0"/>
              </a:p>
              <a:p>
                <a:pPr algn="just"/>
                <a:endParaRPr lang="en-US" sz="22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548680"/>
                <a:ext cx="8784976" cy="6058802"/>
              </a:xfrm>
              <a:blipFill rotWithShape="1">
                <a:blip r:embed="rId2"/>
                <a:stretch>
                  <a:fillRect l="-832" r="-1526" b="-5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1115616" y="2780928"/>
                <a:ext cx="6912768" cy="1152128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𝑴</m:t>
                          </m:r>
                        </m:sup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IN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𝒑</m:t>
                                      </m:r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</m:t>
                              </m:r>
                              <m:r>
                                <a:rPr lang="en-IN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𝒖𝒏𝒊𝒕𝒔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𝒔𝒚𝒎𝒃𝒐𝒍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780928"/>
                <a:ext cx="6912768" cy="1152128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1115616" y="4085456"/>
                <a:ext cx="6912768" cy="1152128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𝑴</m:t>
                          </m:r>
                        </m:sup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𝒑</m:t>
                                      </m:r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𝒃𝒊𝒕𝒔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𝒔𝒚𝒎𝒃𝒐𝒍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4085456"/>
                <a:ext cx="6912768" cy="1152128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27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62074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Derivatives of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26" y="908720"/>
            <a:ext cx="8229600" cy="5535955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/>
              <a:t>Entropy defined for one set of random variable is suitable either for transmitter or receiver.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However, to study the </a:t>
            </a:r>
            <a:r>
              <a:rPr lang="en-US" sz="2000" b="1" dirty="0" smtClean="0">
                <a:solidFill>
                  <a:srgbClr val="FF0000"/>
                </a:solidFill>
              </a:rPr>
              <a:t>behavior of communication system</a:t>
            </a:r>
            <a:r>
              <a:rPr lang="en-US" sz="2000" dirty="0" smtClean="0"/>
              <a:t>, we required to study both transmitter and receiver simultaneously.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For this, we require a </a:t>
            </a:r>
            <a:r>
              <a:rPr lang="en-US" sz="2000" b="1" dirty="0" smtClean="0">
                <a:solidFill>
                  <a:srgbClr val="FF0000"/>
                </a:solidFill>
              </a:rPr>
              <a:t>pair of random variable </a:t>
            </a:r>
            <a:r>
              <a:rPr lang="en-US" sz="2000" dirty="0" smtClean="0"/>
              <a:t>which represent both transmitter and receiver side symbols. 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For such pair of random variables, Now we will define following: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Joint Probabilities, 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Conditional Probabilities,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 Joint Entropy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Conditional Entropy</a:t>
            </a:r>
          </a:p>
          <a:p>
            <a:pPr lvl="1" algn="just"/>
            <a:r>
              <a:rPr lang="en-US" sz="1800" b="1" dirty="0" smtClean="0">
                <a:solidFill>
                  <a:srgbClr val="FF0000"/>
                </a:solidFill>
              </a:rPr>
              <a:t>Mutual Information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n-US" sz="2600" b="1" dirty="0" smtClean="0">
                <a:solidFill>
                  <a:srgbClr val="7030A0"/>
                </a:solidFill>
              </a:rPr>
              <a:t>Different Entropies</a:t>
            </a:r>
            <a:endParaRPr lang="en-US" sz="2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692696"/>
                <a:ext cx="8784976" cy="6048672"/>
              </a:xfrm>
            </p:spPr>
            <p:txBody>
              <a:bodyPr>
                <a:noAutofit/>
              </a:bodyPr>
              <a:lstStyle/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 smtClean="0"/>
                  <a:t>  --- </a:t>
                </a:r>
              </a:p>
              <a:p>
                <a:pPr marL="1371600" lvl="3" indent="0">
                  <a:buNone/>
                </a:pPr>
                <a:endParaRPr lang="en-US" sz="1800" dirty="0" smtClean="0"/>
              </a:p>
              <a:p>
                <a:pPr lvl="3"/>
                <a:endParaRPr lang="en-US" sz="1800" dirty="0" smtClean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18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800" dirty="0"/>
                  <a:t>  --- </a:t>
                </a:r>
                <a:endParaRPr lang="en-US" sz="1800" dirty="0" smtClean="0"/>
              </a:p>
              <a:p>
                <a:pPr lvl="3"/>
                <a:endParaRPr lang="en-US" sz="1800" dirty="0"/>
              </a:p>
              <a:p>
                <a:pPr>
                  <a:buFont typeface="Wingdings" pitchFamily="2" charset="2"/>
                  <a:buChar char="v"/>
                </a:pPr>
                <a:endParaRPr lang="en-US" sz="1800" i="1" dirty="0" smtClean="0">
                  <a:latin typeface="Cambria Math"/>
                </a:endParaRP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𝐻</m:t>
                    </m:r>
                    <m:r>
                      <a:rPr lang="en-US" sz="1800" b="0" i="1" dirty="0" smtClean="0">
                        <a:latin typeface="Cambria Math"/>
                      </a:rPr>
                      <m:t>(</m:t>
                    </m:r>
                    <m:r>
                      <a:rPr lang="en-US" sz="1800" b="0" i="1" dirty="0" smtClean="0">
                        <a:latin typeface="Cambria Math"/>
                      </a:rPr>
                      <m:t>𝑋</m:t>
                    </m:r>
                    <m:r>
                      <a:rPr lang="en-US" sz="1800" b="0" i="1" dirty="0" smtClean="0">
                        <a:latin typeface="Cambria Math"/>
                      </a:rPr>
                      <m:t>,</m:t>
                    </m:r>
                    <m:r>
                      <a:rPr lang="en-US" sz="1800" b="0" i="1" dirty="0" smtClean="0">
                        <a:latin typeface="Cambria Math"/>
                      </a:rPr>
                      <m:t>𝑌</m:t>
                    </m:r>
                    <m:r>
                      <a:rPr lang="en-US" sz="18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--- </a:t>
                </a:r>
              </a:p>
              <a:p>
                <a:pPr marL="1371600" lvl="3" indent="0">
                  <a:buNone/>
                </a:pPr>
                <a:endParaRPr lang="en-US" sz="1800" dirty="0" smtClean="0"/>
              </a:p>
              <a:p>
                <a:pPr lvl="3"/>
                <a:endParaRPr lang="en-US" sz="1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/>
                          </a:rPr>
                          <m:t>𝑋</m:t>
                        </m:r>
                        <m:r>
                          <a:rPr lang="en-US" sz="1800" b="0" i="1" dirty="0" smtClean="0">
                            <a:latin typeface="Cambria Math"/>
                          </a:rPr>
                          <m:t>/</m:t>
                        </m:r>
                        <m:r>
                          <a:rPr lang="en-US" sz="1800" b="0" i="1" dirty="0" smtClean="0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800" dirty="0"/>
                  <a:t>  --- 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itchFamily="2" charset="2"/>
                  <a:buChar char="v"/>
                </a:pPr>
                <a:endParaRPr lang="en-US" sz="1800" dirty="0" smtClean="0"/>
              </a:p>
              <a:p>
                <a:pPr lvl="3"/>
                <a:endParaRPr lang="en-US" sz="1800" dirty="0"/>
              </a:p>
              <a:p>
                <a:pPr>
                  <a:buFont typeface="Wingdings" pitchFamily="2" charset="2"/>
                  <a:buChar char="v"/>
                </a:pPr>
                <a:endParaRPr lang="en-US" sz="1800" i="1" dirty="0" smtClean="0">
                  <a:latin typeface="Cambria Math"/>
                </a:endParaRP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𝑌</m:t>
                        </m:r>
                        <m:r>
                          <a:rPr lang="en-US" sz="1800" i="1" dirty="0">
                            <a:latin typeface="Cambria Math"/>
                          </a:rPr>
                          <m:t>/</m:t>
                        </m:r>
                        <m:r>
                          <a:rPr lang="en-US" sz="1800" b="0" i="1" dirty="0" smtClean="0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  </a:t>
                </a:r>
                <a:r>
                  <a:rPr lang="en-US" sz="1800" dirty="0" smtClean="0"/>
                  <a:t>---</a:t>
                </a:r>
              </a:p>
              <a:p>
                <a:pPr lvl="3"/>
                <a:endParaRPr lang="en-US" sz="1800" dirty="0" smtClean="0"/>
              </a:p>
              <a:p>
                <a:pPr>
                  <a:buFont typeface="Wingdings" pitchFamily="2" charset="2"/>
                  <a:buChar char="v"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692696"/>
                <a:ext cx="8784976" cy="6048672"/>
              </a:xfrm>
              <a:blipFill rotWithShape="1">
                <a:blip r:embed="rId2"/>
                <a:stretch>
                  <a:fillRect l="-625" t="-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475656" y="692696"/>
            <a:ext cx="7668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Entropy of the transmitter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/>
              <a:t>Average Information per symbols at Transmitter </a:t>
            </a:r>
            <a:r>
              <a:rPr lang="en-US" dirty="0" smtClean="0"/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70C0"/>
                </a:solidFill>
              </a:rPr>
              <a:t>Probabilistic </a:t>
            </a:r>
            <a:r>
              <a:rPr lang="en-US" b="1" dirty="0">
                <a:solidFill>
                  <a:srgbClr val="0070C0"/>
                </a:solidFill>
              </a:rPr>
              <a:t>nature of Transmitter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5656" y="1630541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Entropy of the receiver</a:t>
            </a:r>
            <a:r>
              <a:rPr lang="en-US" dirty="0"/>
              <a:t>  (Average Information per symbols at </a:t>
            </a:r>
            <a:r>
              <a:rPr lang="en-US" dirty="0" smtClean="0"/>
              <a:t>receiver)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70C0"/>
                </a:solidFill>
              </a:rPr>
              <a:t>Probabilistic </a:t>
            </a:r>
            <a:r>
              <a:rPr lang="en-US" b="1" dirty="0">
                <a:solidFill>
                  <a:srgbClr val="0070C0"/>
                </a:solidFill>
              </a:rPr>
              <a:t>nature of Receiver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672" y="2636912"/>
            <a:ext cx="7056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Joint Entropy </a:t>
            </a:r>
            <a:r>
              <a:rPr lang="en-US" dirty="0"/>
              <a:t>(Average information of whole communication </a:t>
            </a:r>
            <a:r>
              <a:rPr lang="en-US" dirty="0" smtClean="0"/>
              <a:t>system)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Average </a:t>
            </a:r>
            <a:r>
              <a:rPr lang="en-US" dirty="0"/>
              <a:t>Information per pair of the transmitted and received symbols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9672" y="3645024"/>
            <a:ext cx="688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Conditional Entropy at receiver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Average </a:t>
            </a:r>
            <a:r>
              <a:rPr lang="en-US" dirty="0"/>
              <a:t>Information of transmitter when Y is </a:t>
            </a:r>
            <a:r>
              <a:rPr lang="en-US" dirty="0" smtClean="0"/>
              <a:t>received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gives a measure of error or noise (how well receiver recover the transmitter symbol from the received symbols)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672" y="4941168"/>
            <a:ext cx="70567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Conditional Entropy at </a:t>
            </a:r>
            <a:r>
              <a:rPr lang="en-US" dirty="0" smtClean="0">
                <a:solidFill>
                  <a:srgbClr val="FF0000"/>
                </a:solidFill>
              </a:rPr>
              <a:t>transmitter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Average </a:t>
            </a:r>
            <a:r>
              <a:rPr lang="en-US" dirty="0"/>
              <a:t>Information of receiver when it is known that X is </a:t>
            </a:r>
            <a:r>
              <a:rPr lang="en-US" dirty="0" smtClean="0"/>
              <a:t>transmitted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gives a measure of error or noise (how well receiver recover the received  symbol from the transmitted symbols)</a:t>
            </a:r>
          </a:p>
        </p:txBody>
      </p:sp>
    </p:spTree>
    <p:extLst>
      <p:ext uri="{BB962C8B-B14F-4D97-AF65-F5344CB8AC3E}">
        <p14:creationId xmlns:p14="http://schemas.microsoft.com/office/powerpoint/2010/main" val="40730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32048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</a:rPr>
              <a:t>Joint Probability</a:t>
            </a:r>
            <a:endParaRPr lang="en-US" sz="3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20688"/>
                <a:ext cx="8712968" cy="612068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000" dirty="0" smtClean="0"/>
                  <a:t>Consider a pair of random variables (X and Y)</a:t>
                </a:r>
              </a:p>
              <a:p>
                <a:pPr>
                  <a:lnSpc>
                    <a:spcPct val="114000"/>
                  </a:lnSpc>
                </a:pPr>
                <a:endParaRPr lang="en-US" sz="900" dirty="0" smtClean="0"/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2000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lang="en-US" sz="2000" b="0" i="0" smtClean="0">
                          <a:latin typeface="Cambria Math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and</m:t>
                      </m:r>
                      <m:r>
                        <a:rPr lang="en-US" sz="2000" b="0" i="0" smtClean="0">
                          <a:latin typeface="Cambria Math"/>
                        </a:rPr>
                        <m:t>   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𝑌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000" dirty="0" smtClean="0"/>
                  <a:t>   -- represent joint event </a:t>
                </a:r>
              </a:p>
              <a:p>
                <a:pPr marL="0" indent="0">
                  <a:lnSpc>
                    <a:spcPct val="114000"/>
                  </a:lnSpc>
                  <a:buNone/>
                </a:pPr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:r>
                  <a:rPr lang="en-US" sz="2000" dirty="0" smtClean="0"/>
                  <a:t> Probability associated with X –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,…, 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𝑴</m:t>
                            </m:r>
                          </m:sub>
                        </m:s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US" sz="2000" b="1" dirty="0" smtClean="0"/>
              </a:p>
              <a:p>
                <a:pPr>
                  <a:lnSpc>
                    <a:spcPct val="114000"/>
                  </a:lnSpc>
                </a:pPr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:r>
                  <a:rPr lang="en-US" sz="2000" dirty="0"/>
                  <a:t>Probability associated with </a:t>
                </a:r>
                <a:r>
                  <a:rPr lang="en-US" sz="2000" dirty="0" smtClean="0"/>
                  <a:t>Y –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,…, 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𝑵</m:t>
                            </m:r>
                          </m:sub>
                        </m:s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US" sz="2000" b="1" dirty="0" smtClean="0"/>
              </a:p>
              <a:p>
                <a:pPr>
                  <a:lnSpc>
                    <a:spcPct val="114000"/>
                  </a:lnSpc>
                </a:pPr>
                <a:endParaRPr lang="en-US" sz="2000" dirty="0" smtClean="0"/>
              </a:p>
              <a:p>
                <a:pPr>
                  <a:lnSpc>
                    <a:spcPct val="114000"/>
                  </a:lnSpc>
                </a:pPr>
                <a:r>
                  <a:rPr lang="en-US" sz="2000" dirty="0"/>
                  <a:t>Probability associated with </a:t>
                </a:r>
                <a:r>
                  <a:rPr lang="en-US" sz="2000" dirty="0" smtClean="0"/>
                  <a:t>joint event   XY </a:t>
                </a:r>
                <a:r>
                  <a:rPr lang="en-US" sz="2000" dirty="0"/>
                  <a:t>- </a:t>
                </a:r>
                <a:endParaRPr lang="en-US" sz="2000" i="1" dirty="0" smtClean="0">
                  <a:latin typeface="Cambria Math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20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𝑴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𝑴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20688"/>
                <a:ext cx="8712968" cy="6120680"/>
              </a:xfrm>
              <a:blipFill rotWithShape="1">
                <a:blip r:embed="rId2"/>
                <a:stretch>
                  <a:fillRect l="-699" t="-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43608" y="1628800"/>
            <a:ext cx="3744416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Symbols at </a:t>
            </a:r>
            <a:r>
              <a:rPr lang="en-US" b="1" dirty="0">
                <a:solidFill>
                  <a:srgbClr val="7030A0"/>
                </a:solidFill>
              </a:rPr>
              <a:t>the </a:t>
            </a:r>
            <a:r>
              <a:rPr lang="en-US" b="1" dirty="0" smtClean="0">
                <a:solidFill>
                  <a:srgbClr val="7030A0"/>
                </a:solidFill>
              </a:rPr>
              <a:t>transmitter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3616" y="1628800"/>
            <a:ext cx="3744416" cy="39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b="1" dirty="0">
                <a:solidFill>
                  <a:srgbClr val="7030A0"/>
                </a:solidFill>
              </a:rPr>
              <a:t>Symbols </a:t>
            </a:r>
            <a:r>
              <a:rPr lang="en-US" b="1" dirty="0" smtClean="0">
                <a:solidFill>
                  <a:srgbClr val="7030A0"/>
                </a:solidFill>
              </a:rPr>
              <a:t>at </a:t>
            </a:r>
            <a:r>
              <a:rPr lang="en-US" b="1" dirty="0">
                <a:solidFill>
                  <a:srgbClr val="7030A0"/>
                </a:solidFill>
              </a:rPr>
              <a:t>the </a:t>
            </a:r>
            <a:r>
              <a:rPr lang="en-US" b="1" dirty="0" smtClean="0">
                <a:solidFill>
                  <a:srgbClr val="7030A0"/>
                </a:solidFill>
              </a:rPr>
              <a:t>receiver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51920" y="2204864"/>
                <a:ext cx="2947089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04864"/>
                <a:ext cx="2947089" cy="826188"/>
              </a:xfrm>
              <a:prstGeom prst="rect">
                <a:avLst/>
              </a:prstGeom>
              <a:blipFill rotWithShape="1">
                <a:blip r:embed="rId3"/>
                <a:stretch>
                  <a:fillRect r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75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32048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</a:rPr>
              <a:t>Joint Events</a:t>
            </a:r>
            <a:endParaRPr lang="en-US" sz="30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7</a:t>
            </a:fld>
            <a:endParaRPr lang="en-IN"/>
          </a:p>
        </p:txBody>
      </p:sp>
      <p:grpSp>
        <p:nvGrpSpPr>
          <p:cNvPr id="77" name="Group 76"/>
          <p:cNvGrpSpPr/>
          <p:nvPr/>
        </p:nvGrpSpPr>
        <p:grpSpPr>
          <a:xfrm>
            <a:off x="1439542" y="821468"/>
            <a:ext cx="5868762" cy="5241617"/>
            <a:chOff x="1439542" y="821468"/>
            <a:chExt cx="5868762" cy="5241617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180723" y="1268760"/>
              <a:ext cx="45565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180723" y="1268760"/>
              <a:ext cx="4556591" cy="11145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1439542" y="1023244"/>
              <a:ext cx="578300" cy="5039841"/>
              <a:chOff x="1331640" y="3879046"/>
              <a:chExt cx="578300" cy="33006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1331640" y="3879046"/>
                    <a:ext cx="578300" cy="33006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oMath>
                      </m:oMathPara>
                    </a14:m>
                    <a:endParaRPr lang="en-US" b="0" i="1" dirty="0" smtClean="0">
                      <a:latin typeface="Cambria Math"/>
                    </a:endParaRPr>
                  </a:p>
                  <a:p>
                    <a:r>
                      <a:rPr lang="en-US" dirty="0" smtClean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eqArrPr>
                              <m:e/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eqAr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 smtClean="0"/>
                  </a:p>
                  <a:p>
                    <a:endParaRPr lang="en-US" dirty="0" smtClean="0"/>
                  </a:p>
                  <a:p>
                    <a:endParaRPr lang="en-US" dirty="0"/>
                  </a:p>
                  <a:p>
                    <a:endParaRPr lang="en-US" dirty="0" smtClean="0"/>
                  </a:p>
                  <a:p>
                    <a:r>
                      <a:rPr lang="en-US" dirty="0" smtClean="0"/>
                      <a:t>  </a:t>
                    </a:r>
                  </a:p>
                  <a:p>
                    <a:r>
                      <a:rPr lang="en-US" dirty="0" smtClean="0"/>
                      <a:t>  </a:t>
                    </a:r>
                  </a:p>
                  <a:p>
                    <a:r>
                      <a:rPr lang="en-US" dirty="0" smtClean="0"/>
                      <a:t> </a:t>
                    </a:r>
                  </a:p>
                  <a:p>
                    <a:r>
                      <a:rPr lang="en-US" dirty="0" smtClean="0"/>
                      <a:t> </a:t>
                    </a: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dirty="0" smtClean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1640" y="3879046"/>
                    <a:ext cx="578300" cy="3300613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8421" t="-605" r="-14737" b="-9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Flowchart: Connector 32"/>
              <p:cNvSpPr/>
              <p:nvPr/>
            </p:nvSpPr>
            <p:spPr>
              <a:xfrm>
                <a:off x="1583668" y="5535230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lowchart: Connector 33"/>
              <p:cNvSpPr/>
              <p:nvPr/>
            </p:nvSpPr>
            <p:spPr>
              <a:xfrm>
                <a:off x="1583668" y="5823262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lowchart: Connector 34"/>
              <p:cNvSpPr/>
              <p:nvPr/>
            </p:nvSpPr>
            <p:spPr>
              <a:xfrm>
                <a:off x="1583668" y="6111294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3897967" y="821468"/>
                  <a:ext cx="1122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967" y="821468"/>
                  <a:ext cx="112210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6486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 rot="800485">
                  <a:off x="4934595" y="1681273"/>
                  <a:ext cx="1122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800485">
                  <a:off x="4934595" y="1681273"/>
                  <a:ext cx="112210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666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/>
            <p:cNvCxnSpPr/>
            <p:nvPr/>
          </p:nvCxnSpPr>
          <p:spPr>
            <a:xfrm flipV="1">
              <a:off x="2084911" y="1268760"/>
              <a:ext cx="4652403" cy="11145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2084911" y="2383308"/>
              <a:ext cx="465240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 rot="20736862">
                  <a:off x="2415705" y="1773277"/>
                  <a:ext cx="1127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36862">
                  <a:off x="2415705" y="1773277"/>
                  <a:ext cx="112742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6604" r="-8205" b="-9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 51"/>
            <p:cNvGrpSpPr/>
            <p:nvPr/>
          </p:nvGrpSpPr>
          <p:grpSpPr>
            <a:xfrm>
              <a:off x="6737314" y="1006134"/>
              <a:ext cx="570990" cy="4810163"/>
              <a:chOff x="1333876" y="3879046"/>
              <a:chExt cx="570990" cy="31501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/>
                  <p:cNvSpPr txBox="1"/>
                  <p:nvPr/>
                </p:nvSpPr>
                <p:spPr>
                  <a:xfrm>
                    <a:off x="1333876" y="3879046"/>
                    <a:ext cx="570990" cy="315019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oMath>
                      </m:oMathPara>
                    </a14:m>
                    <a:endParaRPr lang="en-US" b="0" i="1" dirty="0" smtClean="0">
                      <a:latin typeface="Cambria Math"/>
                    </a:endParaRPr>
                  </a:p>
                  <a:p>
                    <a:r>
                      <a:rPr lang="en-US" dirty="0" smtClean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eqArrPr>
                              <m:e/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eqAr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 smtClean="0"/>
                  </a:p>
                  <a:p>
                    <a:endParaRPr lang="en-US" dirty="0" smtClean="0"/>
                  </a:p>
                  <a:p>
                    <a:endParaRPr lang="en-US" dirty="0"/>
                  </a:p>
                  <a:p>
                    <a:endParaRPr lang="en-US" dirty="0" smtClean="0"/>
                  </a:p>
                  <a:p>
                    <a:r>
                      <a:rPr lang="en-US" dirty="0" smtClean="0"/>
                      <a:t>  </a:t>
                    </a:r>
                  </a:p>
                  <a:p>
                    <a:r>
                      <a:rPr lang="en-US" dirty="0" smtClean="0"/>
                      <a:t>  </a:t>
                    </a:r>
                  </a:p>
                  <a:p>
                    <a:r>
                      <a:rPr lang="en-US" dirty="0" smtClean="0"/>
                      <a:t> </a:t>
                    </a:r>
                  </a:p>
                  <a:p>
                    <a:r>
                      <a:rPr lang="en-US" dirty="0" smtClean="0"/>
                      <a:t> </a:t>
                    </a: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 xmlns="">
              <p:sp>
                <p:nvSpPr>
                  <p:cNvPr id="53" name="TextBox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3876" y="3879046"/>
                    <a:ext cx="570990" cy="315019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8511" t="-634" r="-15957" b="-11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Flowchart: Connector 53"/>
              <p:cNvSpPr/>
              <p:nvPr/>
            </p:nvSpPr>
            <p:spPr>
              <a:xfrm>
                <a:off x="1583668" y="5535230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lowchart: Connector 54"/>
              <p:cNvSpPr/>
              <p:nvPr/>
            </p:nvSpPr>
            <p:spPr>
              <a:xfrm>
                <a:off x="1583668" y="5823262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lowchart: Connector 55"/>
              <p:cNvSpPr/>
              <p:nvPr/>
            </p:nvSpPr>
            <p:spPr>
              <a:xfrm>
                <a:off x="1583668" y="6111294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3751939" y="1988840"/>
                  <a:ext cx="1132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1939" y="1988840"/>
                  <a:ext cx="1132746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645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Connector 64"/>
            <p:cNvCxnSpPr/>
            <p:nvPr/>
          </p:nvCxnSpPr>
          <p:spPr>
            <a:xfrm>
              <a:off x="2132816" y="5661248"/>
              <a:ext cx="45565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2132816" y="1268760"/>
              <a:ext cx="4556591" cy="43924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lowchart: Connector 71"/>
            <p:cNvSpPr/>
            <p:nvPr/>
          </p:nvSpPr>
          <p:spPr>
            <a:xfrm>
              <a:off x="2267744" y="3536584"/>
              <a:ext cx="108012" cy="16492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/>
            <p:cNvSpPr/>
            <p:nvPr/>
          </p:nvSpPr>
          <p:spPr>
            <a:xfrm>
              <a:off x="2267744" y="3976392"/>
              <a:ext cx="108012" cy="16492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lowchart: Connector 73"/>
            <p:cNvSpPr/>
            <p:nvPr/>
          </p:nvSpPr>
          <p:spPr>
            <a:xfrm>
              <a:off x="2267744" y="4416200"/>
              <a:ext cx="108012" cy="16492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 flipV="1">
              <a:off x="2132816" y="2383308"/>
              <a:ext cx="4556590" cy="32779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 rot="18902964">
                <a:off x="3289009" y="3427952"/>
                <a:ext cx="11812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02964">
                <a:off x="3289009" y="3427952"/>
                <a:ext cx="118122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6077" r="-9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879619" y="5157192"/>
                <a:ext cx="12464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619" y="5157192"/>
                <a:ext cx="1246495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43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06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8</a:t>
            </a:fld>
            <a:endParaRPr lang="en-IN"/>
          </a:p>
        </p:txBody>
      </p:sp>
      <p:grpSp>
        <p:nvGrpSpPr>
          <p:cNvPr id="5" name="Group 4"/>
          <p:cNvGrpSpPr/>
          <p:nvPr/>
        </p:nvGrpSpPr>
        <p:grpSpPr>
          <a:xfrm>
            <a:off x="1691570" y="908720"/>
            <a:ext cx="5603910" cy="3522583"/>
            <a:chOff x="1691570" y="908720"/>
            <a:chExt cx="5603910" cy="3522583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180723" y="1268760"/>
              <a:ext cx="45565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180723" y="1268760"/>
              <a:ext cx="4556591" cy="11145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Connector 7"/>
            <p:cNvSpPr/>
            <p:nvPr/>
          </p:nvSpPr>
          <p:spPr>
            <a:xfrm>
              <a:off x="1691570" y="3552143"/>
              <a:ext cx="108012" cy="16492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897967" y="908720"/>
                  <a:ext cx="1122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967" y="908720"/>
                  <a:ext cx="1122102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6486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 rot="800485">
                  <a:off x="4934595" y="1681273"/>
                  <a:ext cx="1122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800485">
                  <a:off x="4934595" y="1681273"/>
                  <a:ext cx="112210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666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/>
            <p:cNvCxnSpPr/>
            <p:nvPr/>
          </p:nvCxnSpPr>
          <p:spPr>
            <a:xfrm flipV="1">
              <a:off x="2084911" y="1268760"/>
              <a:ext cx="4652403" cy="11145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084911" y="2383308"/>
              <a:ext cx="465240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 rot="20736862">
                  <a:off x="2415705" y="1773277"/>
                  <a:ext cx="1127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36862">
                  <a:off x="2415705" y="1773277"/>
                  <a:ext cx="112742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6604" r="-8205" b="-9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/>
            <p:cNvGrpSpPr/>
            <p:nvPr/>
          </p:nvGrpSpPr>
          <p:grpSpPr>
            <a:xfrm>
              <a:off x="6737314" y="1006135"/>
              <a:ext cx="558166" cy="3425168"/>
              <a:chOff x="1333876" y="3879045"/>
              <a:chExt cx="558166" cy="224315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1333876" y="3879045"/>
                    <a:ext cx="558166" cy="224315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oMath>
                      </m:oMathPara>
                    </a14:m>
                    <a:endParaRPr lang="en-US" b="0" i="1" dirty="0" smtClean="0">
                      <a:latin typeface="Cambria Math"/>
                    </a:endParaRPr>
                  </a:p>
                  <a:p>
                    <a:r>
                      <a:rPr lang="en-US" dirty="0" smtClean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eqArrPr>
                              <m:e/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eqAr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 smtClean="0"/>
                  </a:p>
                  <a:p>
                    <a:endParaRPr lang="en-US" dirty="0" smtClean="0"/>
                  </a:p>
                  <a:p>
                    <a:r>
                      <a:rPr lang="en-US" dirty="0" smtClean="0"/>
                      <a:t> </a:t>
                    </a:r>
                  </a:p>
                  <a:p>
                    <a:r>
                      <a:rPr lang="en-US" dirty="0" smtClean="0"/>
                      <a:t> </a:t>
                    </a: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b="0" i="1" dirty="0" smtClean="0">
                      <a:latin typeface="Cambria Math"/>
                    </a:endParaRPr>
                  </a:p>
                  <a:p>
                    <a:endParaRPr lang="en-US" sz="1200" b="0" i="1" dirty="0" smtClean="0">
                      <a:latin typeface="Cambria Math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3876" y="3879045"/>
                    <a:ext cx="558166" cy="2243156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8696" t="-890" r="-1847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Flowchart: Connector 19"/>
              <p:cNvSpPr/>
              <p:nvPr/>
            </p:nvSpPr>
            <p:spPr>
              <a:xfrm>
                <a:off x="1583668" y="5535230"/>
                <a:ext cx="108012" cy="108012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751939" y="1988840"/>
                  <a:ext cx="1132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1939" y="1988840"/>
                  <a:ext cx="1132746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645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/>
            <p:cNvCxnSpPr/>
            <p:nvPr/>
          </p:nvCxnSpPr>
          <p:spPr>
            <a:xfrm>
              <a:off x="2084911" y="4149080"/>
              <a:ext cx="45565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084911" y="1268760"/>
              <a:ext cx="4604496" cy="28918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2084911" y="2383308"/>
              <a:ext cx="4604495" cy="1777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654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4807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Joint Entropy</a:t>
            </a:r>
            <a:endParaRPr lang="en-US" sz="36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52736"/>
                <a:ext cx="8712968" cy="187220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800" dirty="0" smtClean="0"/>
                  <a:t>The </a:t>
                </a:r>
                <a:r>
                  <a:rPr lang="en-US" sz="2800" b="1" dirty="0" smtClean="0">
                    <a:solidFill>
                      <a:srgbClr val="FF0000"/>
                    </a:solidFill>
                  </a:rPr>
                  <a:t>Joint Entropy</a:t>
                </a: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800" dirty="0" smtClean="0"/>
                  <a:t>is defined as:</a:t>
                </a:r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sz="2800" b="0" i="1" smtClean="0">
                                  <a:latin typeface="Cambria Math"/>
                                </a:rPr>
                                <m:t>𝑙𝑜𝑔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52736"/>
                <a:ext cx="8712968" cy="1872208"/>
              </a:xfrm>
              <a:blipFill rotWithShape="1">
                <a:blip r:embed="rId2"/>
                <a:stretch>
                  <a:fillRect l="-1189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611560" y="3212976"/>
                <a:ext cx="8136904" cy="1368152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8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8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8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8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212976"/>
                <a:ext cx="8136904" cy="1368152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16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04056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</a:rPr>
              <a:t>Conditional Entropy</a:t>
            </a:r>
            <a:endParaRPr lang="en-US" sz="3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712968" cy="5904656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sz="2000" dirty="0" smtClean="0"/>
                  <a:t>The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Conditional Entropy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/>
                      </a:rPr>
                      <m:t>𝑯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𝑿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𝒀</m:t>
                        </m:r>
                      </m:e>
                    </m:d>
                  </m:oMath>
                </a14:m>
                <a:r>
                  <a:rPr lang="en-US" sz="2000" dirty="0" smtClean="0"/>
                  <a:t> represents the amount of uncertainty remaining about the random variable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sz="2000" dirty="0" smtClean="0"/>
                  <a:t> after the random variable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Y</a:t>
                </a:r>
                <a:r>
                  <a:rPr lang="en-US" sz="2000" dirty="0" smtClean="0"/>
                  <a:t> has been observed. </a:t>
                </a:r>
              </a:p>
              <a:p>
                <a:pPr algn="just">
                  <a:lnSpc>
                    <a:spcPct val="114000"/>
                  </a:lnSpc>
                </a:pPr>
                <a:r>
                  <a:rPr lang="en-US" sz="2000" dirty="0" smtClean="0"/>
                  <a:t>It is defined as -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sz="2000" b="0" i="1" smtClean="0">
                                  <a:latin typeface="Cambria Math"/>
                                </a:rPr>
                                <m:t>𝑙𝑜𝑔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000" b="0" dirty="0" smtClean="0"/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𝑴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𝑵</m:t>
                              </m:r>
                            </m:sup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𝒍𝒐𝒈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2000" b="1" i="1" smtClean="0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sz="2000" b="1" i="1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1" i="1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b="1" i="1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𝒋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𝒌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0" dirty="0" smtClean="0"/>
              </a:p>
              <a:p>
                <a:pPr algn="just">
                  <a:lnSpc>
                    <a:spcPct val="114000"/>
                  </a:lnSpc>
                </a:pPr>
                <a:endParaRPr lang="en-US" sz="2000" dirty="0" smtClean="0"/>
              </a:p>
              <a:p>
                <a:pPr algn="just">
                  <a:lnSpc>
                    <a:spcPct val="114000"/>
                  </a:lnSpc>
                </a:pPr>
                <a:r>
                  <a:rPr lang="en-US" sz="2000" dirty="0" smtClean="0"/>
                  <a:t>Similarly , the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Conditional Entropy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</a:rPr>
                      <m:t>𝑯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𝒀</m:t>
                        </m:r>
                        <m:r>
                          <a:rPr lang="en-US" sz="2000" b="1" i="1">
                            <a:solidFill>
                              <a:srgbClr val="7030A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</m:oMath>
                </a14:m>
                <a:r>
                  <a:rPr lang="en-US" sz="2000" dirty="0" smtClean="0"/>
                  <a:t> can also be written as – </a:t>
                </a:r>
                <a:endParaRPr lang="en-US" sz="2000" dirty="0"/>
              </a:p>
              <a:p>
                <a:pPr marL="0" indent="0" algn="just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/>
                        </a:rPr>
                        <m:t>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𝒀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𝑴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𝑵</m:t>
                              </m:r>
                            </m:sup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𝒍𝒐𝒈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2000" b="1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𝒌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b="1" i="1" smtClean="0">
                                                          <a:solidFill>
                                                            <a:srgbClr val="FF0000"/>
                                                          </a:solidFill>
                                                          <a:latin typeface="Cambria Math"/>
                                                        </a:rPr>
                                                        <m:t>𝒋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712968" cy="5904656"/>
              </a:xfrm>
              <a:blipFill rotWithShape="1">
                <a:blip r:embed="rId2"/>
                <a:stretch>
                  <a:fillRect l="-559" t="-103" r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7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11</a:t>
            </a:fld>
            <a:endParaRPr lang="en-IN"/>
          </a:p>
        </p:txBody>
      </p:sp>
      <p:pic>
        <p:nvPicPr>
          <p:cNvPr id="4124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3212976"/>
            <a:ext cx="3096344" cy="107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26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635202"/>
            <a:ext cx="733425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7" y="11088"/>
            <a:ext cx="78390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782955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84" y="1628800"/>
            <a:ext cx="777240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82" y="2708151"/>
            <a:ext cx="78295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1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12</a:t>
            </a:fld>
            <a:endParaRPr lang="en-IN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096" y="2896022"/>
            <a:ext cx="476250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77247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235177"/>
            <a:ext cx="83820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62611"/>
            <a:ext cx="2667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28" y="5007446"/>
            <a:ext cx="36099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969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13</a:t>
            </a:fld>
            <a:endParaRPr lang="en-IN"/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48680"/>
            <a:ext cx="83820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2667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661248"/>
            <a:ext cx="47434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2080071" y="4293096"/>
            <a:ext cx="5156225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62" y="1268760"/>
            <a:ext cx="31908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70" y="2132856"/>
            <a:ext cx="46291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62" y="3078495"/>
            <a:ext cx="46767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994" y="4311749"/>
            <a:ext cx="3952875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421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14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20" y="657250"/>
            <a:ext cx="429577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82688"/>
            <a:ext cx="26479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62" y="2308101"/>
            <a:ext cx="481012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46" y="3717032"/>
            <a:ext cx="568642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1344" y="3203684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Using log(AB)=log(A) + log (B)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832" y="1619508"/>
            <a:ext cx="171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Using Bayes rule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64" y="4581128"/>
            <a:ext cx="6782926" cy="120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16" y="5786846"/>
            <a:ext cx="3665760" cy="94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2080" y="5863721"/>
                <a:ext cx="2669705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5863721"/>
                <a:ext cx="2669705" cy="714683"/>
              </a:xfrm>
              <a:prstGeom prst="rect">
                <a:avLst/>
              </a:prstGeom>
              <a:blipFill rotWithShape="1">
                <a:blip r:embed="rId8"/>
                <a:stretch>
                  <a:fillRect r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4411434" y="6221063"/>
            <a:ext cx="576064" cy="1659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896158" y="760324"/>
            <a:ext cx="2721099" cy="1877724"/>
            <a:chOff x="6012160" y="249208"/>
            <a:chExt cx="2996322" cy="2092612"/>
          </a:xfrm>
        </p:grpSpPr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184" y="460777"/>
              <a:ext cx="2505075" cy="695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192" y="1526857"/>
              <a:ext cx="2486025" cy="60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Rounded Rectangle 10"/>
            <p:cNvSpPr/>
            <p:nvPr/>
          </p:nvSpPr>
          <p:spPr>
            <a:xfrm>
              <a:off x="6012160" y="249208"/>
              <a:ext cx="2996322" cy="209261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Relationship </a:t>
            </a:r>
            <a:r>
              <a:rPr lang="en-US" sz="3200" b="1" dirty="0">
                <a:solidFill>
                  <a:srgbClr val="0070C0"/>
                </a:solidFill>
              </a:rPr>
              <a:t>B</a:t>
            </a:r>
            <a:r>
              <a:rPr lang="en-US" sz="3200" b="1" dirty="0" smtClean="0">
                <a:solidFill>
                  <a:srgbClr val="0070C0"/>
                </a:solidFill>
              </a:rPr>
              <a:t>etween Different Entropies</a:t>
            </a:r>
            <a:endParaRPr lang="en-US" sz="3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84168" y="2996640"/>
                <a:ext cx="3019994" cy="576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,…, </m:t>
                          </m:r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𝒑</m:t>
                          </m:r>
                          <m:d>
                            <m:dPr>
                              <m:ctrlPr>
                                <a:rPr lang="en-IN" sz="1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IN" sz="14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IN" sz="1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2996640"/>
                <a:ext cx="3019994" cy="576376"/>
              </a:xfrm>
              <a:prstGeom prst="rect">
                <a:avLst/>
              </a:prstGeom>
              <a:blipFill rotWithShape="1">
                <a:blip r:embed="rId11"/>
                <a:stretch>
                  <a:fillRect r="-12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/>
          <p:cNvSpPr/>
          <p:nvPr/>
        </p:nvSpPr>
        <p:spPr>
          <a:xfrm rot="17806467">
            <a:off x="6300008" y="4080237"/>
            <a:ext cx="99300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8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7" grpId="0"/>
      <p:bldP spid="8" grpId="0" animBg="1"/>
      <p:bldP spid="2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Relationship </a:t>
            </a:r>
            <a:r>
              <a:rPr lang="en-US" sz="3200" b="1" dirty="0">
                <a:solidFill>
                  <a:srgbClr val="0070C0"/>
                </a:solidFill>
              </a:rPr>
              <a:t>B</a:t>
            </a:r>
            <a:r>
              <a:rPr lang="en-US" sz="3200" b="1" dirty="0" smtClean="0">
                <a:solidFill>
                  <a:srgbClr val="0070C0"/>
                </a:solidFill>
              </a:rPr>
              <a:t>etween Different Entropies</a:t>
            </a:r>
            <a:endParaRPr lang="en-US" sz="3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620688"/>
                <a:ext cx="8229600" cy="547260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v"/>
                </a:pPr>
                <a:r>
                  <a:rPr lang="en-US" sz="2600" dirty="0" smtClean="0"/>
                  <a:t>.   Conditioning reduces entropy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≤ </m:t>
                      </m:r>
                      <m:r>
                        <a:rPr lang="en-US" sz="26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v"/>
                </a:pPr>
                <a:r>
                  <a:rPr lang="en-US" sz="2600" dirty="0" smtClean="0"/>
                  <a:t>.   If X </a:t>
                </a:r>
                <a:r>
                  <a:rPr lang="en-US" sz="2600" dirty="0"/>
                  <a:t>and Y are independent, </a:t>
                </a:r>
                <a:r>
                  <a:rPr lang="en-US" sz="2600" dirty="0" smtClean="0"/>
                  <a:t>then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/>
                            </a:rPr>
                            <m:t>𝑋</m:t>
                          </m:r>
                          <m:r>
                            <a:rPr lang="en-US" sz="2600" i="1">
                              <a:latin typeface="Cambria Math"/>
                            </a:rPr>
                            <m:t>/</m:t>
                          </m:r>
                          <m:r>
                            <a:rPr lang="en-US" sz="2600" i="1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r>
                        <a:rPr lang="en-US" sz="2600" i="1">
                          <a:latin typeface="Cambria Math"/>
                        </a:rPr>
                        <m:t> </m:t>
                      </m:r>
                      <m:r>
                        <a:rPr lang="en-US" sz="26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600" dirty="0" smtClean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v"/>
                </a:pPr>
                <a:r>
                  <a:rPr lang="en-US" sz="2600" dirty="0"/>
                  <a:t>.</a:t>
                </a:r>
              </a:p>
              <a:p>
                <a:pPr>
                  <a:buFont typeface="Wingdings" pitchFamily="2" charset="2"/>
                  <a:buChar char="v"/>
                </a:pPr>
                <a:endParaRPr lang="en-US" sz="2600" dirty="0"/>
              </a:p>
              <a:p>
                <a:pPr>
                  <a:buFont typeface="Wingdings" pitchFamily="2" charset="2"/>
                  <a:buChar char="v"/>
                </a:pPr>
                <a:r>
                  <a:rPr lang="en-US" sz="2600" dirty="0" smtClean="0"/>
                  <a:t>.</a:t>
                </a:r>
              </a:p>
              <a:p>
                <a:pPr>
                  <a:buFont typeface="Wingdings" pitchFamily="2" charset="2"/>
                  <a:buChar char="v"/>
                </a:pPr>
                <a:endParaRPr lang="en-US" sz="2600" dirty="0"/>
              </a:p>
              <a:p>
                <a:pPr>
                  <a:buFont typeface="Wingdings" pitchFamily="2" charset="2"/>
                  <a:buChar char="v"/>
                </a:pPr>
                <a:r>
                  <a:rPr lang="en-US" sz="2600" dirty="0" smtClean="0"/>
                  <a:t>.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620688"/>
                <a:ext cx="8229600" cy="5472608"/>
              </a:xfrm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31640" y="3356992"/>
                <a:ext cx="414286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+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356992"/>
                <a:ext cx="4142865" cy="492443"/>
              </a:xfrm>
              <a:prstGeom prst="rect">
                <a:avLst/>
              </a:prstGeom>
              <a:blipFill rotWithShape="1">
                <a:blip r:embed="rId3"/>
                <a:stretch>
                  <a:fillRect t="-10000" r="-205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59632" y="4365104"/>
                <a:ext cx="4035464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+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/</m:t>
                          </m:r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365104"/>
                <a:ext cx="4035464" cy="492443"/>
              </a:xfrm>
              <a:prstGeom prst="rect">
                <a:avLst/>
              </a:prstGeom>
              <a:blipFill rotWithShape="1">
                <a:blip r:embed="rId4"/>
                <a:stretch>
                  <a:fillRect t="-9877" r="-3021" b="-30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59632" y="5085184"/>
                <a:ext cx="4875117" cy="991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−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=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/>
                                </a:rPr>
                                <m:t>𝑌</m:t>
                              </m:r>
                            </m:den>
                          </m:f>
                        </m:e>
                      </m:d>
                      <m:r>
                        <a:rPr lang="en-US" sz="2600" b="0" i="1" smtClean="0">
                          <a:latin typeface="Cambria Math"/>
                        </a:rPr>
                        <m:t>− </m:t>
                      </m:r>
                      <m:r>
                        <a:rPr lang="en-US" sz="26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/>
                                </a:rPr>
                                <m:t>𝑋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085184"/>
                <a:ext cx="4875117" cy="991362"/>
              </a:xfrm>
              <a:prstGeom prst="rect">
                <a:avLst/>
              </a:prstGeom>
              <a:blipFill rotWithShape="1">
                <a:blip r:embed="rId5"/>
                <a:stretch>
                  <a:fillRect r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0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16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</a:rPr>
              <a:t>Haykin</a:t>
            </a:r>
            <a:r>
              <a:rPr lang="en-US" sz="2000" dirty="0" smtClean="0">
                <a:solidFill>
                  <a:schemeClr val="tx1"/>
                </a:solidFill>
              </a:rPr>
              <a:t>, Digital Communication </a:t>
            </a:r>
            <a:r>
              <a:rPr lang="en-US" sz="2000" dirty="0">
                <a:solidFill>
                  <a:schemeClr val="tx1"/>
                </a:solidFill>
              </a:rPr>
              <a:t>Systems, John Wiley &amp; Sons, NY, </a:t>
            </a:r>
            <a:r>
              <a:rPr lang="en-US" sz="2000" dirty="0" smtClean="0">
                <a:solidFill>
                  <a:schemeClr val="tx1"/>
                </a:solidFill>
              </a:rPr>
              <a:t>2014.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</a:t>
            </a:r>
            <a:r>
              <a:rPr lang="en-US" sz="2000" dirty="0">
                <a:solidFill>
                  <a:schemeClr val="tx1"/>
                </a:solidFill>
              </a:rPr>
              <a:t>. Bose, Information theory, coding and cryptography, Publisher: Tata McGraw-Hill, 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Edition 2016.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 P Singh and S D </a:t>
            </a:r>
            <a:r>
              <a:rPr lang="en-US" sz="2000" dirty="0" err="1" smtClean="0">
                <a:solidFill>
                  <a:schemeClr val="tx1"/>
                </a:solidFill>
              </a:rPr>
              <a:t>Sapre</a:t>
            </a:r>
            <a:r>
              <a:rPr lang="en-US" sz="2000" dirty="0" smtClean="0">
                <a:solidFill>
                  <a:schemeClr val="tx1"/>
                </a:solidFill>
              </a:rPr>
              <a:t>, Communication Systems  (Analog and Digital), </a:t>
            </a:r>
            <a:r>
              <a:rPr lang="en-US" sz="2000" dirty="0">
                <a:solidFill>
                  <a:schemeClr val="tx1"/>
                </a:solidFill>
              </a:rPr>
              <a:t>Tata McGraw-Hill, </a:t>
            </a:r>
            <a:r>
              <a:rPr lang="en-US" sz="2000" dirty="0" smtClean="0">
                <a:solidFill>
                  <a:schemeClr val="tx1"/>
                </a:solidFill>
              </a:rPr>
              <a:t>3</a:t>
            </a:r>
            <a:r>
              <a:rPr lang="en-US" sz="2000" baseline="30000" dirty="0" smtClean="0">
                <a:solidFill>
                  <a:schemeClr val="tx1"/>
                </a:solidFill>
              </a:rPr>
              <a:t>rd</a:t>
            </a:r>
            <a:r>
              <a:rPr lang="en-US" sz="2000" dirty="0" smtClean="0">
                <a:solidFill>
                  <a:schemeClr val="tx1"/>
                </a:solidFill>
              </a:rPr>
              <a:t> Edition 2012.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9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71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18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</a:rPr>
              <a:t>Haykin</a:t>
            </a:r>
            <a:r>
              <a:rPr lang="en-US" sz="2000" dirty="0" smtClean="0">
                <a:solidFill>
                  <a:schemeClr val="tx1"/>
                </a:solidFill>
              </a:rPr>
              <a:t>, Digital Communication </a:t>
            </a:r>
            <a:r>
              <a:rPr lang="en-US" sz="2000" dirty="0">
                <a:solidFill>
                  <a:schemeClr val="tx1"/>
                </a:solidFill>
              </a:rPr>
              <a:t>Systems, John Wiley &amp; Sons, NY, </a:t>
            </a:r>
            <a:r>
              <a:rPr lang="en-US" sz="2000" dirty="0" smtClean="0">
                <a:solidFill>
                  <a:schemeClr val="tx1"/>
                </a:solidFill>
              </a:rPr>
              <a:t>2014.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</a:t>
            </a:r>
            <a:r>
              <a:rPr lang="en-US" sz="2000" dirty="0">
                <a:solidFill>
                  <a:schemeClr val="tx1"/>
                </a:solidFill>
              </a:rPr>
              <a:t>. Bose, Information theory, coding and cryptography, Publisher: Tata McGraw-Hill, 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Edition 2016.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 P Singh and S D </a:t>
            </a:r>
            <a:r>
              <a:rPr lang="en-US" sz="2000" dirty="0" err="1" smtClean="0">
                <a:solidFill>
                  <a:schemeClr val="tx1"/>
                </a:solidFill>
              </a:rPr>
              <a:t>Sapre</a:t>
            </a:r>
            <a:r>
              <a:rPr lang="en-US" sz="2000" dirty="0" smtClean="0">
                <a:solidFill>
                  <a:schemeClr val="tx1"/>
                </a:solidFill>
              </a:rPr>
              <a:t>, Communication System (Analog and Digital), </a:t>
            </a:r>
            <a:r>
              <a:rPr lang="en-US" sz="2000" dirty="0">
                <a:solidFill>
                  <a:schemeClr val="tx1"/>
                </a:solidFill>
              </a:rPr>
              <a:t>Tata McGraw-Hill, 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Edition </a:t>
            </a:r>
            <a:r>
              <a:rPr lang="en-US" sz="2000" dirty="0" smtClean="0">
                <a:solidFill>
                  <a:schemeClr val="tx1"/>
                </a:solidFill>
              </a:rPr>
              <a:t>2012.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7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88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69736&quot;&gt;&lt;property id=&quot;20148&quot; value=&quot;5&quot;/&gt;&lt;property id=&quot;20300&quot; value=&quot;Slide 1&quot;/&gt;&lt;property id=&quot;20307&quot; value=&quot;325&quot;/&gt;&lt;/object&gt;&lt;object type=&quot;3&quot; unique_id=&quot;69740&quot;&gt;&lt;property id=&quot;20148&quot; value=&quot;5&quot;/&gt;&lt;property id=&quot;20300&quot; value=&quot;Slide 3 - &amp;quot;Entropy&amp;quot;&quot;/&gt;&lt;property id=&quot;20307&quot; value=&quot;291&quot;/&gt;&lt;/object&gt;&lt;object type=&quot;3&quot; unique_id=&quot;69745&quot;&gt;&lt;property id=&quot;20148&quot; value=&quot;5&quot;/&gt;&lt;property id=&quot;20300&quot; value=&quot;Slide 18 - &amp;quot;Reference Book&amp;quot;&quot;/&gt;&lt;property id=&quot;20307&quot; value=&quot;313&quot;/&gt;&lt;/object&gt;&lt;object type=&quot;3&quot; unique_id=&quot;69746&quot;&gt;&lt;property id=&quot;20148&quot; value=&quot;5&quot;/&gt;&lt;property id=&quot;20300&quot; value=&quot;Slide 19 - &amp;quot;Thank you &amp;quot;&quot;/&gt;&lt;property id=&quot;20307&quot; value=&quot;314&quot;/&gt;&lt;/object&gt;&lt;object type=&quot;3&quot; unique_id=&quot;70173&quot;&gt;&lt;property id=&quot;20148&quot; value=&quot;5&quot;/&gt;&lt;property id=&quot;20300&quot; value=&quot;Slide 4 - &amp;quot;Derivatives of Entropy&amp;quot;&quot;/&gt;&lt;property id=&quot;20307&quot; value=&quot;329&quot;/&gt;&lt;/object&gt;&lt;object type=&quot;3&quot; unique_id=&quot;70174&quot;&gt;&lt;property id=&quot;20148&quot; value=&quot;5&quot;/&gt;&lt;property id=&quot;20300&quot; value=&quot;Slide 5 - &amp;quot;Different Entropies&amp;quot;&quot;/&gt;&lt;property id=&quot;20307&quot; value=&quot;330&quot;/&gt;&lt;/object&gt;&lt;object type=&quot;3&quot; unique_id=&quot;70175&quot;&gt;&lt;property id=&quot;20148&quot; value=&quot;5&quot;/&gt;&lt;property id=&quot;20300&quot; value=&quot;Slide 6 - &amp;quot;Joint Probability&amp;quot;&quot;/&gt;&lt;property id=&quot;20307&quot; value=&quot;331&quot;/&gt;&lt;/object&gt;&lt;object type=&quot;3&quot; unique_id=&quot;70176&quot;&gt;&lt;property id=&quot;20148&quot; value=&quot;5&quot;/&gt;&lt;property id=&quot;20300&quot; value=&quot;Slide 7 - &amp;quot;Joint Events&amp;quot;&quot;/&gt;&lt;property id=&quot;20307&quot; value=&quot;332&quot;/&gt;&lt;/object&gt;&lt;object type=&quot;3&quot; unique_id=&quot;70177&quot;&gt;&lt;property id=&quot;20148&quot; value=&quot;5&quot;/&gt;&lt;property id=&quot;20300&quot; value=&quot;Slide 9 - &amp;quot;Joint Entropy&amp;quot;&quot;/&gt;&lt;property id=&quot;20307&quot; value=&quot;333&quot;/&gt;&lt;/object&gt;&lt;object type=&quot;3&quot; unique_id=&quot;70178&quot;&gt;&lt;property id=&quot;20148&quot; value=&quot;5&quot;/&gt;&lt;property id=&quot;20300&quot; value=&quot;Slide 10 - &amp;quot;Conditional Entropy&amp;quot;&quot;/&gt;&lt;property id=&quot;20307&quot; value=&quot;334&quot;/&gt;&lt;/object&gt;&lt;object type=&quot;3&quot; unique_id=&quot;70179&quot;&gt;&lt;property id=&quot;20148&quot; value=&quot;5&quot;/&gt;&lt;property id=&quot;20300&quot; value=&quot;Slide 11&quot;/&gt;&lt;property id=&quot;20307&quot; value=&quot;335&quot;/&gt;&lt;/object&gt;&lt;object type=&quot;3&quot; unique_id=&quot;70180&quot;&gt;&lt;property id=&quot;20148&quot; value=&quot;5&quot;/&gt;&lt;property id=&quot;20300&quot; value=&quot;Slide 12&quot;/&gt;&lt;property id=&quot;20307&quot; value=&quot;336&quot;/&gt;&lt;/object&gt;&lt;object type=&quot;3&quot; unique_id=&quot;70181&quot;&gt;&lt;property id=&quot;20148&quot; value=&quot;5&quot;/&gt;&lt;property id=&quot;20300&quot; value=&quot;Slide 13&quot;/&gt;&lt;property id=&quot;20307&quot; value=&quot;337&quot;/&gt;&lt;/object&gt;&lt;object type=&quot;3&quot; unique_id=&quot;70182&quot;&gt;&lt;property id=&quot;20148&quot; value=&quot;5&quot;/&gt;&lt;property id=&quot;20300&quot; value=&quot;Slide 14 - &amp;quot;Relationship Between Different Entropies&amp;quot;&quot;/&gt;&lt;property id=&quot;20307&quot; value=&quot;338&quot;/&gt;&lt;/object&gt;&lt;object type=&quot;3&quot; unique_id=&quot;70192&quot;&gt;&lt;property id=&quot;20148&quot; value=&quot;5&quot;/&gt;&lt;property id=&quot;20300&quot; value=&quot;Slide 16 - &amp;quot;Reference Book&amp;quot;&quot;/&gt;&lt;property id=&quot;20307&quot; value=&quot;348&quot;/&gt;&lt;/object&gt;&lt;object type=&quot;3&quot; unique_id=&quot;70193&quot;&gt;&lt;property id=&quot;20148&quot; value=&quot;5&quot;/&gt;&lt;property id=&quot;20300&quot; value=&quot;Slide 17 - &amp;quot;Thank You&amp;quot;&quot;/&gt;&lt;property id=&quot;20307&quot; value=&quot;349&quot;/&gt;&lt;/object&gt;&lt;object type=&quot;3&quot; unique_id=&quot;70300&quot;&gt;&lt;property id=&quot;20148&quot; value=&quot;5&quot;/&gt;&lt;property id=&quot;20300&quot; value=&quot;Slide 2 - &amp;quot;Lecture-3&amp;quot;&quot;/&gt;&lt;property id=&quot;20307&quot; value=&quot;350&quot;/&gt;&lt;/object&gt;&lt;object type=&quot;3&quot; unique_id=&quot;70979&quot;&gt;&lt;property id=&quot;20148&quot; value=&quot;5&quot;/&gt;&lt;property id=&quot;20300&quot; value=&quot;Slide 15 - &amp;quot;Relationship Between Different Entropies&amp;quot;&quot;/&gt;&lt;property id=&quot;20307&quot; value=&quot;351&quot;/&gt;&lt;/object&gt;&lt;object type=&quot;3&quot; unique_id=&quot;71075&quot;&gt;&lt;property id=&quot;20148&quot; value=&quot;5&quot;/&gt;&lt;property id=&quot;20300&quot; value=&quot;Slide 8&quot;/&gt;&lt;property id=&quot;20307&quot; value=&quot;352&quot;/&gt;&lt;/object&gt;&lt;/object&gt;&lt;object type=&quot;8&quot; unique_id=&quot;1009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7843</TotalTime>
  <Words>1373</Words>
  <Application>Microsoft Office PowerPoint</Application>
  <PresentationFormat>On-screen Show (4:3)</PresentationFormat>
  <Paragraphs>196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Lecture-3</vt:lpstr>
      <vt:lpstr>Entropy</vt:lpstr>
      <vt:lpstr>Derivatives of Entropy</vt:lpstr>
      <vt:lpstr>Different Entropies</vt:lpstr>
      <vt:lpstr>Joint Probability</vt:lpstr>
      <vt:lpstr>Joint Events</vt:lpstr>
      <vt:lpstr>PowerPoint Presentation</vt:lpstr>
      <vt:lpstr>Joint Entropy</vt:lpstr>
      <vt:lpstr>Conditional Entropy</vt:lpstr>
      <vt:lpstr>PowerPoint Presentation</vt:lpstr>
      <vt:lpstr>PowerPoint Presentation</vt:lpstr>
      <vt:lpstr>PowerPoint Presentation</vt:lpstr>
      <vt:lpstr>Relationship Between Different Entropies</vt:lpstr>
      <vt:lpstr>Relationship Between Different Entropies</vt:lpstr>
      <vt:lpstr>Reference Book</vt:lpstr>
      <vt:lpstr>Thank You</vt:lpstr>
      <vt:lpstr>Reference Book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UEC607 Digital Communication</dc:title>
  <dc:creator>Dr. Hem Dutt Joshi</dc:creator>
  <cp:lastModifiedBy>Dr. Hem Dutt Joshi</cp:lastModifiedBy>
  <cp:revision>294</cp:revision>
  <dcterms:created xsi:type="dcterms:W3CDTF">2020-03-29T15:39:04Z</dcterms:created>
  <dcterms:modified xsi:type="dcterms:W3CDTF">2020-07-01T12:07:58Z</dcterms:modified>
</cp:coreProperties>
</file>