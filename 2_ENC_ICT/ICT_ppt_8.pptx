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72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14.png"/><Relationship Id="rId21" Type="http://schemas.openxmlformats.org/officeDocument/2006/relationships/image" Target="../media/image13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84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Lecture-8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altLang="en-US" b="1" dirty="0" smtClean="0"/>
              <a:t>Function </a:t>
            </a:r>
            <a:r>
              <a:rPr lang="en-US" altLang="en-US" b="1" dirty="0"/>
              <a:t>of Two Random Variables</a:t>
            </a:r>
            <a:r>
              <a:rPr lang="en-US" b="1" u="sng" dirty="0" smtClean="0">
                <a:solidFill>
                  <a:srgbClr val="00B050"/>
                </a:solidFill>
              </a:rPr>
              <a:t/>
            </a:r>
            <a:br>
              <a:rPr lang="en-US" b="1" u="sng" dirty="0" smtClean="0">
                <a:solidFill>
                  <a:srgbClr val="00B05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Distribution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𝒙𝒚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b="1" i="1" smtClean="0">
                              <a:latin typeface="Cambria Math"/>
                              <a:sym typeface="Symbol" pitchFamily="18" charset="2"/>
                            </a:rPr>
                            <m:t>𝒙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 </m:t>
                          </m:r>
                          <m:r>
                            <a:rPr lang="en-US" altLang="en-US" sz="2000" b="1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𝒚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smtClean="0">
                                  <a:latin typeface="Cambria Math"/>
                                  <a:sym typeface="Symbol" pitchFamily="18" charset="2"/>
                                </a:rPr>
                                <m:t>𝒙</m:t>
                              </m:r>
                              <m:r>
                                <a:rPr lang="en-US" altLang="en-US" sz="2000" b="1" i="1" smtClean="0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b="1" i="1" smtClean="0">
                                  <a:latin typeface="Cambria Math"/>
                                  <a:sym typeface="Symbol" pitchFamily="18" charset="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smtClean="0"/>
                  <a:t>are two arbitrary real numbers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𝐷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is the quadrant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0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20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𝒙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en-US" sz="200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 </m:t>
                          </m:r>
                          <m:r>
                            <a:rPr lang="en-US" altLang="en-US" sz="2000" b="1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𝒚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−</m:t>
                      </m:r>
                      <m:r>
                        <a:rPr lang="en-US" altLang="en-US" sz="2000" i="1">
                          <a:latin typeface="Cambria Math"/>
                          <a:ea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𝒙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en-US" sz="200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20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b="1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𝒚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en-US" sz="200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−</m:t>
                      </m:r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1800" b="1" i="1">
                              <a:latin typeface="Cambria Math"/>
                              <a:sym typeface="Symbol" pitchFamily="18" charset="2"/>
                            </a:rPr>
                            <m:t>𝒙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1800" b="1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𝒚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en-US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en-US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−</m:t>
                      </m:r>
                      <m:r>
                        <a:rPr lang="en-US" altLang="en-US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r>
                        <a:rPr lang="en-US" altLang="en-US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−</m:t>
                      </m:r>
                      <m:r>
                        <a:rPr lang="en-US" altLang="en-US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970019"/>
            <a:ext cx="2590800" cy="192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25" y="3886200"/>
            <a:ext cx="2353175" cy="20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3905250"/>
            <a:ext cx="26479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810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Density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𝑓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2000" i="1" smtClean="0">
                              <a:latin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en-US" sz="200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en-US" sz="20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en-US" sz="2000" i="1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altLang="en-US" sz="2000" i="1" smtClean="0">
                              <a:latin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−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∞</m:t>
                          </m:r>
                        </m:sub>
                        <m:sup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altLang="en-US" sz="20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−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 smtClean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𝛼</m:t>
                                  </m:r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,</m:t>
                                  </m:r>
                                  <m:r>
                                    <a:rPr lang="en-US" altLang="en-US" sz="2000" i="1" smtClean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 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𝑑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𝛼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  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𝑑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𝛽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b="1" u="sng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u="sng" dirty="0" smtClean="0"/>
                  <a:t>Independent random variables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𝐹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</m:e>
                        <m:sub>
                          <m:r>
                            <a:rPr lang="en-US" altLang="en-US" sz="2000" b="1" i="1" smtClean="0">
                              <a:latin typeface="Cambria Math"/>
                              <a:sym typeface="Symbol" pitchFamily="18" charset="2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  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𝑓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</m:e>
                      </m:d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  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76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/>
              <a:t>One Function of Two Random Variables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altLang="en-US" sz="2000" dirty="0" smtClean="0"/>
                  <a:t>If </a:t>
                </a:r>
                <a:r>
                  <a:rPr lang="en-US" altLang="en-US" sz="2000" dirty="0" smtClean="0"/>
                  <a:t>two random variables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altLang="en-US" sz="2000" dirty="0" smtClean="0"/>
                  <a:t> </a:t>
                </a:r>
                <a:r>
                  <a:rPr lang="en-US" alt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altLang="en-US" sz="2000" dirty="0" smtClean="0"/>
                  <a:t> </a:t>
                </a:r>
                <a:r>
                  <a:rPr lang="en-US" altLang="en-US" sz="2000" dirty="0"/>
                  <a:t>and a function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  <m:r>
                          <a:rPr lang="en-US" altLang="en-US" sz="2000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i="1" dirty="0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dirty="0" smtClean="0"/>
                  <a:t> is given, </a:t>
                </a:r>
                <a:r>
                  <a:rPr lang="en-US" altLang="en-US" sz="2000" dirty="0" smtClean="0"/>
                  <a:t>a </a:t>
                </a:r>
                <a:r>
                  <a:rPr lang="en-US" altLang="en-US" sz="2000" dirty="0"/>
                  <a:t>new random variable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𝒛</m:t>
                    </m:r>
                  </m:oMath>
                </a14:m>
                <a:r>
                  <a:rPr lang="en-US" altLang="en-US" sz="2000" dirty="0" smtClean="0"/>
                  <a:t> can be formed as</a:t>
                </a:r>
                <a:endParaRPr lang="en-US" alt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1" i="1" dirty="0">
                          <a:latin typeface="Cambria Math"/>
                        </a:rPr>
                        <m:t>𝒛</m:t>
                      </m:r>
                      <m:r>
                        <a:rPr lang="en-US" altLang="en-US" sz="2000" b="1" i="1" dirty="0" smtClean="0">
                          <a:latin typeface="Cambria Math"/>
                        </a:rPr>
                        <m:t>=</m:t>
                      </m:r>
                      <m:r>
                        <a:rPr lang="en-US" altLang="en-US" sz="2000" i="1" dirty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alt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i="1" dirty="0">
                              <a:latin typeface="Cambria Math"/>
                            </a:rPr>
                            <m:t>𝑥</m:t>
                          </m:r>
                          <m:r>
                            <a:rPr lang="en-US" altLang="en-US" sz="2000" i="1" dirty="0">
                              <a:latin typeface="Cambria Math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altLang="en-US" sz="2000" dirty="0">
                    <a:sym typeface="Symbol" pitchFamily="18" charset="2"/>
                  </a:rPr>
                  <a:t>Given the joint </a:t>
                </a:r>
                <a:r>
                  <a:rPr lang="en-US" altLang="en-US" sz="2000" dirty="0" smtClean="0">
                    <a:sym typeface="Symbol" pitchFamily="18" charset="2"/>
                  </a:rPr>
                  <a:t>PDF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 smtClean="0">
                            <a:latin typeface="Cambria Math"/>
                            <a:sym typeface="Symbol" pitchFamily="18" charset="2"/>
                          </a:rPr>
                          <m:t>𝒙𝒚</m:t>
                        </m:r>
                      </m:sub>
                    </m:sSub>
                    <m:d>
                      <m:d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sym typeface="Symbol" pitchFamily="18" charset="2"/>
                  </a:rPr>
                  <a:t> </a:t>
                </a:r>
                <a:r>
                  <a:rPr lang="en-US" altLang="en-US" sz="2000" dirty="0">
                    <a:sym typeface="Symbol" pitchFamily="18" charset="2"/>
                  </a:rPr>
                  <a:t>how does one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 smtClean="0">
                            <a:latin typeface="Cambria Math"/>
                            <a:sym typeface="Symbol" pitchFamily="18" charset="2"/>
                          </a:rPr>
                          <m:t>𝒛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sym typeface="Symbol" pitchFamily="18" charset="2"/>
                  </a:rPr>
                  <a:t> the PDF </a:t>
                </a:r>
                <a:r>
                  <a:rPr lang="en-US" altLang="en-US" sz="2000" dirty="0">
                    <a:sym typeface="Symbol" pitchFamily="18" charset="2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𝒛</m:t>
                    </m:r>
                  </m:oMath>
                </a14:m>
                <a:r>
                  <a:rPr lang="en-US" altLang="en-US" sz="2000" dirty="0">
                    <a:sym typeface="Symbol" pitchFamily="18" charset="2"/>
                  </a:rPr>
                  <a:t>?  </a:t>
                </a:r>
                <a:endParaRPr lang="en-US" altLang="en-US" sz="2000" dirty="0" smtClean="0">
                  <a:sym typeface="Symbol" pitchFamily="18" charset="2"/>
                </a:endParaRPr>
              </a:p>
              <a:p>
                <a:pPr marL="0" indent="0">
                  <a:buNone/>
                </a:pPr>
                <a:endParaRPr lang="en-US" altLang="en-US" sz="2000" b="1" u="sng" dirty="0" smtClean="0">
                  <a:sym typeface="Symbol" pitchFamily="18" charset="2"/>
                </a:endParaRPr>
              </a:p>
              <a:p>
                <a:pPr marL="0" indent="0">
                  <a:buNone/>
                </a:pPr>
                <a:r>
                  <a:rPr lang="en-US" altLang="en-US" sz="2000" b="1" u="sng" dirty="0" smtClean="0">
                    <a:sym typeface="Symbol" pitchFamily="18" charset="2"/>
                  </a:rPr>
                  <a:t>Example:</a:t>
                </a:r>
                <a:r>
                  <a:rPr lang="en-US" altLang="en-US" sz="2000" dirty="0" smtClean="0">
                    <a:sym typeface="Symbol" pitchFamily="18" charset="2"/>
                  </a:rPr>
                  <a:t> </a:t>
                </a:r>
                <a:r>
                  <a:rPr lang="en-US" altLang="en-US" sz="2000" dirty="0">
                    <a:sym typeface="Symbol" pitchFamily="18" charset="2"/>
                  </a:rPr>
                  <a:t>a receiver output signal usually consists of the desired signal buried in noise, </a:t>
                </a:r>
                <a:r>
                  <a:rPr lang="en-US" altLang="en-US" sz="2000" dirty="0" smtClean="0">
                    <a:sym typeface="Symbol" pitchFamily="18" charset="2"/>
                  </a:rPr>
                  <a:t>i.e. 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𝒛</m:t>
                    </m:r>
                  </m:oMath>
                </a14:m>
                <a:r>
                  <a:rPr lang="en-US" altLang="en-US" sz="2000" i="1" dirty="0">
                    <a:sym typeface="Symbol" pitchFamily="18" charset="2"/>
                  </a:rPr>
                  <a:t> </a:t>
                </a:r>
                <a:r>
                  <a:rPr lang="en-US" altLang="en-US" sz="2000" dirty="0">
                    <a:sym typeface="Symbol" pitchFamily="18" charset="2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altLang="en-US" sz="2000" i="1" dirty="0">
                    <a:sym typeface="Symbol" pitchFamily="18" charset="2"/>
                  </a:rPr>
                  <a:t> </a:t>
                </a:r>
                <a:r>
                  <a:rPr lang="en-US" altLang="en-US" sz="2000" dirty="0">
                    <a:sym typeface="Symbol" pitchFamily="18" charset="2"/>
                  </a:rPr>
                  <a:t>+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altLang="en-US" sz="2000" dirty="0" smtClean="0">
                    <a:sym typeface="Symbol" pitchFamily="18" charset="2"/>
                  </a:rPr>
                  <a:t>.</a:t>
                </a:r>
              </a:p>
              <a:p>
                <a:pPr marL="0" indent="0">
                  <a:buNone/>
                </a:pPr>
                <a:endParaRPr lang="en-US" altLang="en-US" sz="2000" dirty="0">
                  <a:sym typeface="Symbol" pitchFamily="18" charset="2"/>
                </a:endParaRPr>
              </a:p>
              <a:p>
                <a:pPr marL="0" indent="0" algn="just">
                  <a:buNone/>
                </a:pPr>
                <a:r>
                  <a:rPr lang="en-US" altLang="en-US" sz="2000" dirty="0"/>
                  <a:t>It is important to know the statistics of the incoming signal  for proper receiver design.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3"/>
                <a:stretch>
                  <a:fillRect l="-741" t="-579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44"/>
          <p:cNvGrpSpPr>
            <a:grpSpLocks/>
          </p:cNvGrpSpPr>
          <p:nvPr/>
        </p:nvGrpSpPr>
        <p:grpSpPr bwMode="auto">
          <a:xfrm>
            <a:off x="2343383" y="4267200"/>
            <a:ext cx="3752617" cy="2128837"/>
            <a:chOff x="999" y="1387"/>
            <a:chExt cx="2811" cy="1663"/>
          </a:xfrm>
        </p:grpSpPr>
        <p:graphicFrame>
          <p:nvGraphicFramePr>
            <p:cNvPr id="57" name="Object 4"/>
            <p:cNvGraphicFramePr>
              <a:graphicFrameLocks noChangeAspect="1"/>
            </p:cNvGraphicFramePr>
            <p:nvPr/>
          </p:nvGraphicFramePr>
          <p:xfrm>
            <a:off x="2200" y="2034"/>
            <a:ext cx="91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" name="Equation" r:id="rId4" imgW="799920" imgH="203040" progId="Equation.3">
                    <p:embed/>
                  </p:oleObj>
                </mc:Choice>
                <mc:Fallback>
                  <p:oleObj name="Equation" r:id="rId4" imgW="79992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2034"/>
                          <a:ext cx="91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Oval 6"/>
            <p:cNvSpPr>
              <a:spLocks noChangeArrowheads="1"/>
            </p:cNvSpPr>
            <p:nvPr/>
          </p:nvSpPr>
          <p:spPr bwMode="auto">
            <a:xfrm>
              <a:off x="2176" y="1878"/>
              <a:ext cx="966" cy="5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28"/>
            <p:cNvSpPr>
              <a:spLocks noChangeShapeType="1"/>
            </p:cNvSpPr>
            <p:nvPr/>
          </p:nvSpPr>
          <p:spPr bwMode="auto">
            <a:xfrm flipV="1">
              <a:off x="2650" y="1600"/>
              <a:ext cx="0" cy="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29"/>
            <p:cNvSpPr>
              <a:spLocks noChangeShapeType="1"/>
            </p:cNvSpPr>
            <p:nvPr/>
          </p:nvSpPr>
          <p:spPr bwMode="auto">
            <a:xfrm flipV="1">
              <a:off x="3002" y="1824"/>
              <a:ext cx="224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30"/>
            <p:cNvSpPr>
              <a:spLocks noChangeShapeType="1"/>
            </p:cNvSpPr>
            <p:nvPr/>
          </p:nvSpPr>
          <p:spPr bwMode="auto">
            <a:xfrm>
              <a:off x="3149" y="2144"/>
              <a:ext cx="2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31"/>
            <p:cNvSpPr>
              <a:spLocks noChangeShapeType="1"/>
            </p:cNvSpPr>
            <p:nvPr/>
          </p:nvSpPr>
          <p:spPr bwMode="auto">
            <a:xfrm>
              <a:off x="3002" y="2349"/>
              <a:ext cx="243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32"/>
            <p:cNvSpPr>
              <a:spLocks noChangeShapeType="1"/>
            </p:cNvSpPr>
            <p:nvPr/>
          </p:nvSpPr>
          <p:spPr bwMode="auto">
            <a:xfrm>
              <a:off x="2643" y="2433"/>
              <a:ext cx="0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33"/>
            <p:cNvSpPr>
              <a:spLocks noChangeShapeType="1"/>
            </p:cNvSpPr>
            <p:nvPr/>
          </p:nvSpPr>
          <p:spPr bwMode="auto">
            <a:xfrm flipH="1">
              <a:off x="2042" y="2355"/>
              <a:ext cx="262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34"/>
            <p:cNvSpPr>
              <a:spLocks noChangeShapeType="1"/>
            </p:cNvSpPr>
            <p:nvPr/>
          </p:nvSpPr>
          <p:spPr bwMode="auto">
            <a:xfrm flipH="1">
              <a:off x="1882" y="2144"/>
              <a:ext cx="2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35"/>
            <p:cNvSpPr>
              <a:spLocks noChangeShapeType="1"/>
            </p:cNvSpPr>
            <p:nvPr/>
          </p:nvSpPr>
          <p:spPr bwMode="auto">
            <a:xfrm flipH="1" flipV="1">
              <a:off x="2078" y="1772"/>
              <a:ext cx="244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7" name="Object 36"/>
            <p:cNvGraphicFramePr>
              <a:graphicFrameLocks noChangeAspect="1"/>
            </p:cNvGraphicFramePr>
            <p:nvPr/>
          </p:nvGraphicFramePr>
          <p:xfrm>
            <a:off x="2380" y="1387"/>
            <a:ext cx="524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" name="Equation" r:id="rId6" imgW="419040" imgH="152280" progId="Equation.3">
                    <p:embed/>
                  </p:oleObj>
                </mc:Choice>
                <mc:Fallback>
                  <p:oleObj name="Equation" r:id="rId6" imgW="41904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0" y="1387"/>
                          <a:ext cx="524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37"/>
            <p:cNvGraphicFramePr>
              <a:graphicFrameLocks noChangeAspect="1"/>
            </p:cNvGraphicFramePr>
            <p:nvPr/>
          </p:nvGraphicFramePr>
          <p:xfrm>
            <a:off x="2147" y="2766"/>
            <a:ext cx="96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2" name="Equation" r:id="rId8" imgW="774360" imgH="228600" progId="Equation.3">
                    <p:embed/>
                  </p:oleObj>
                </mc:Choice>
                <mc:Fallback>
                  <p:oleObj name="Equation" r:id="rId8" imgW="7743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7" y="2766"/>
                          <a:ext cx="967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38"/>
            <p:cNvGraphicFramePr>
              <a:graphicFrameLocks noChangeAspect="1"/>
            </p:cNvGraphicFramePr>
            <p:nvPr/>
          </p:nvGraphicFramePr>
          <p:xfrm>
            <a:off x="3286" y="1707"/>
            <a:ext cx="524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3" name="Equation" r:id="rId10" imgW="419040" imgH="152280" progId="Equation.3">
                    <p:embed/>
                  </p:oleObj>
                </mc:Choice>
                <mc:Fallback>
                  <p:oleObj name="Equation" r:id="rId10" imgW="41904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" y="1707"/>
                          <a:ext cx="524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39"/>
            <p:cNvGraphicFramePr>
              <a:graphicFrameLocks noChangeAspect="1"/>
            </p:cNvGraphicFramePr>
            <p:nvPr/>
          </p:nvGraphicFramePr>
          <p:xfrm>
            <a:off x="3440" y="2051"/>
            <a:ext cx="332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4" name="Equation" r:id="rId12" imgW="266400" imgH="152280" progId="Equation.3">
                    <p:embed/>
                  </p:oleObj>
                </mc:Choice>
                <mc:Fallback>
                  <p:oleObj name="Equation" r:id="rId12" imgW="266400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0" y="2051"/>
                          <a:ext cx="332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40"/>
            <p:cNvGraphicFramePr>
              <a:graphicFrameLocks noChangeAspect="1"/>
            </p:cNvGraphicFramePr>
            <p:nvPr/>
          </p:nvGraphicFramePr>
          <p:xfrm>
            <a:off x="3293" y="2438"/>
            <a:ext cx="461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5" name="Equation" r:id="rId14" imgW="368280" imgH="177480" progId="Equation.3">
                    <p:embed/>
                  </p:oleObj>
                </mc:Choice>
                <mc:Fallback>
                  <p:oleObj name="Equation" r:id="rId14" imgW="3682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3" y="2438"/>
                          <a:ext cx="461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41"/>
            <p:cNvGraphicFramePr>
              <a:graphicFrameLocks noChangeAspect="1"/>
            </p:cNvGraphicFramePr>
            <p:nvPr/>
          </p:nvGraphicFramePr>
          <p:xfrm>
            <a:off x="1187" y="1666"/>
            <a:ext cx="874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" name="Equation" r:id="rId16" imgW="698400" imgH="203040" progId="Equation.3">
                    <p:embed/>
                  </p:oleObj>
                </mc:Choice>
                <mc:Fallback>
                  <p:oleObj name="Equation" r:id="rId16" imgW="6984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" y="1666"/>
                          <a:ext cx="874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42"/>
            <p:cNvGraphicFramePr>
              <a:graphicFrameLocks noChangeAspect="1"/>
            </p:cNvGraphicFramePr>
            <p:nvPr/>
          </p:nvGraphicFramePr>
          <p:xfrm>
            <a:off x="999" y="2031"/>
            <a:ext cx="84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" name="Equation" r:id="rId18" imgW="672840" imgH="203040" progId="Equation.3">
                    <p:embed/>
                  </p:oleObj>
                </mc:Choice>
                <mc:Fallback>
                  <p:oleObj name="Equation" r:id="rId18" imgW="67284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" y="2031"/>
                          <a:ext cx="840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43"/>
            <p:cNvGraphicFramePr>
              <a:graphicFrameLocks noChangeAspect="1"/>
            </p:cNvGraphicFramePr>
            <p:nvPr/>
          </p:nvGraphicFramePr>
          <p:xfrm>
            <a:off x="1199" y="2394"/>
            <a:ext cx="82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8" name="Equation" r:id="rId20" imgW="660240" imgH="241200" progId="Equation.3">
                    <p:embed/>
                  </p:oleObj>
                </mc:Choice>
                <mc:Fallback>
                  <p:oleObj name="Equation" r:id="rId20" imgW="6602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2394"/>
                          <a:ext cx="826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7665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/>
              <a:t>One Function of Two Random Variables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1" i="1">
                          <a:latin typeface="Cambria Math"/>
                          <a:sym typeface="Symbol" pitchFamily="18" charset="2"/>
                        </a:rPr>
                        <m:t>𝒛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en-US" sz="2000" i="1">
                              <a:latin typeface="Cambria Math"/>
                              <a:sym typeface="Symbol" pitchFamily="18" charset="2"/>
                            </a:rPr>
                            <m:t>ξ</m:t>
                          </m:r>
                        </m:e>
                      </m:d>
                      <m:r>
                        <a:rPr lang="en-US" altLang="en-US" sz="2000" b="1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b="1" i="1" dirty="0">
                          <a:latin typeface="Cambria Math"/>
                        </a:rPr>
                        <m:t>𝒛</m:t>
                      </m:r>
                      <m:r>
                        <a:rPr lang="en-US" altLang="en-US" sz="2000" b="1" i="1" dirty="0">
                          <a:latin typeface="Cambria Math"/>
                        </a:rPr>
                        <m:t>=</m:t>
                      </m:r>
                      <m:r>
                        <a:rPr lang="en-US" altLang="en-US" sz="2000" i="1" dirty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alt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 dirty="0">
                              <a:latin typeface="Cambria Math"/>
                            </a:rPr>
                            <m:t>𝒙</m:t>
                          </m:r>
                          <m:r>
                            <a:rPr lang="en-US" alt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altLang="en-US" sz="2000" b="1" i="1" dirty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altLang="en-US" sz="2000" i="1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buNone/>
                </a:pPr>
                <a:endParaRPr lang="en-US" altLang="en-US" sz="2000" i="1" dirty="0">
                  <a:latin typeface="Cambria Math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 smtClean="0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</m:e>
                        <m:sub>
                          <m:r>
                            <a:rPr lang="en-US" altLang="en-US" sz="1800" b="1" i="1" smtClean="0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</m:sub>
                      </m:sSub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800" b="0" i="1" smtClean="0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800" b="1" i="1" smtClean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b="1" i="1" smtClean="0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  <m:d>
                            <m:dPr>
                              <m:ctrlPr>
                                <a:rPr lang="en-US" altLang="en-US" sz="18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en-US" sz="1800" i="1" smtClean="0">
                                  <a:latin typeface="Cambria Math"/>
                                  <a:sym typeface="Symbol" pitchFamily="18" charset="2"/>
                                </a:rPr>
                                <m:t>ξ</m:t>
                              </m:r>
                            </m:e>
                          </m:d>
                          <m:r>
                            <a:rPr lang="en-US" altLang="en-US" sz="18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800" b="1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 dirty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en-US" sz="18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>
                                  <a:latin typeface="Cambria Math"/>
                                  <a:sym typeface="Symbol" pitchFamily="18" charset="2"/>
                                </a:rPr>
                                <m:t>𝒙</m:t>
                              </m:r>
                              <m:r>
                                <a:rPr lang="en-US" altLang="en-US" sz="1800" b="1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1800" b="1" i="1">
                                  <a:latin typeface="Cambria Math"/>
                                  <a:sym typeface="Symbol" pitchFamily="18" charset="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en-US" sz="18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𝑦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18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𝑑𝑥</m:t>
                          </m:r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sz="1800" b="1" dirty="0" smtClean="0"/>
              </a:p>
              <a:p>
                <a:pPr marL="0" indent="0">
                  <a:buNone/>
                </a:pPr>
                <a:endParaRPr lang="en-US" sz="1900" dirty="0" smtClean="0"/>
              </a:p>
              <a:p>
                <a:pPr marL="0" indent="0">
                  <a:buNone/>
                </a:pPr>
                <a:r>
                  <a:rPr lang="en-US" sz="1900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900" i="1">
                            <a:latin typeface="Cambria Math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19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𝐷</m:t>
                        </m:r>
                      </m:e>
                      <m:sub>
                        <m:r>
                          <a:rPr lang="en-US" altLang="en-US" sz="19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1900" dirty="0" smtClean="0"/>
                  <a:t> in the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/>
                      </a:rPr>
                      <m:t>𝑥𝑦</m:t>
                    </m:r>
                    <m:r>
                      <a:rPr lang="en-US" sz="1900" i="1" dirty="0" smtClean="0">
                        <a:latin typeface="Cambria Math"/>
                      </a:rPr>
                      <m:t>−</m:t>
                    </m:r>
                    <m:r>
                      <a:rPr lang="en-US" sz="1900" i="1" dirty="0" smtClean="0">
                        <a:latin typeface="Cambria Math"/>
                      </a:rPr>
                      <m:t>𝑝𝑙𝑎𝑛𝑒</m:t>
                    </m:r>
                  </m:oMath>
                </a14:m>
                <a:r>
                  <a:rPr lang="en-US" sz="1900" dirty="0" smtClean="0"/>
                  <a:t> represent the region where </a:t>
                </a:r>
                <a14:m>
                  <m:oMath xmlns:m="http://schemas.openxmlformats.org/officeDocument/2006/math">
                    <m:r>
                      <a:rPr lang="en-US" altLang="en-US" sz="19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19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1900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sz="1900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1900" b="1" i="1" dirty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altLang="en-US" sz="1900" i="1">
                        <a:latin typeface="Cambria Math"/>
                        <a:ea typeface="Cambria Math"/>
                        <a:sym typeface="Symbol" pitchFamily="18" charset="2"/>
                      </a:rPr>
                      <m:t>≤</m:t>
                    </m:r>
                    <m:r>
                      <a:rPr lang="en-US" altLang="en-US" sz="1900" i="1">
                        <a:latin typeface="Cambria Math"/>
                        <a:ea typeface="Cambria Math"/>
                        <a:sym typeface="Symbol" pitchFamily="18" charset="2"/>
                      </a:rPr>
                      <m:t>𝑧</m:t>
                    </m:r>
                  </m:oMath>
                </a14:m>
                <a:r>
                  <a:rPr lang="en-US" sz="1900" dirty="0" smtClean="0"/>
                  <a:t> is satisfied   </a:t>
                </a:r>
              </a:p>
              <a:p>
                <a:pPr marL="0" indent="0">
                  <a:buNone/>
                </a:pPr>
                <a:endParaRPr lang="en-US" sz="1900" b="1" u="sng" dirty="0" smtClean="0"/>
              </a:p>
              <a:p>
                <a:pPr marL="0" indent="0">
                  <a:buNone/>
                </a:pPr>
                <a:r>
                  <a:rPr lang="en-US" sz="1900" b="1" u="sng" dirty="0" smtClean="0"/>
                  <a:t>Example: </a:t>
                </a:r>
                <a:r>
                  <a:rPr lang="en-US" sz="1900" dirty="0" smtClean="0"/>
                  <a:t>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1800" i="1" smtClean="0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1800" b="1" i="1" smtClean="0">
                            <a:latin typeface="Cambria Math"/>
                            <a:sym typeface="Symbol" pitchFamily="18" charset="2"/>
                          </a:rPr>
                          <m:t>𝒛</m:t>
                        </m:r>
                      </m:sub>
                    </m:sSub>
                    <m:d>
                      <m:dPr>
                        <m:ctrlPr>
                          <a:rPr lang="en-US" altLang="en-US" sz="18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1900" dirty="0" smtClean="0"/>
                  <a:t> if </a:t>
                </a:r>
                <a14:m>
                  <m:oMath xmlns:m="http://schemas.openxmlformats.org/officeDocument/2006/math">
                    <m:r>
                      <a:rPr lang="en-US" altLang="en-US" sz="1800" b="1" i="1" dirty="0">
                        <a:latin typeface="Cambria Math"/>
                      </a:rPr>
                      <m:t>𝒛</m:t>
                    </m:r>
                    <m:r>
                      <a:rPr lang="en-US" altLang="en-US" sz="1800" b="1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en-US" sz="1800" b="1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sz="1800" b="1" i="1" dirty="0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altLang="en-US" sz="1800" b="1" i="1" dirty="0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altLang="en-US" sz="1800" b="1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en-US" sz="1800" b="1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sz="1800" b="1" i="1" dirty="0" smtClean="0">
                            <a:latin typeface="Cambria Math"/>
                          </a:rPr>
                          <m:t>𝒚</m:t>
                        </m:r>
                      </m:e>
                      <m:sup>
                        <m:r>
                          <a:rPr lang="en-US" altLang="en-US" sz="1800" b="1" i="1" dirty="0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19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</m:e>
                        <m:sub>
                          <m:r>
                            <a:rPr lang="en-US" altLang="en-US" sz="1800" b="1" i="1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</m:sub>
                      </m:sSub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</m:e>
                      </m:d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800" b="1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en-US" sz="1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1800" b="1" i="1" dirty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US" sz="1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</m:e>
                      </m:d>
                      <m:r>
                        <a:rPr lang="en-US" altLang="en-US" sz="1800" b="1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en-US" sz="1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1800" b="1" i="1" dirty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en-US" sz="1800" b="1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en-US" sz="1800" b="1" i="1" dirty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18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𝑑𝑥</m:t>
                          </m:r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en-US" sz="1800" dirty="0" smtClean="0"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</m:e>
                        <m:sub>
                          <m:r>
                            <a:rPr lang="en-US" altLang="en-US" sz="1800" b="1" i="1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</m:sub>
                      </m:sSub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</m:e>
                      </m:d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altLang="en-US" sz="1800" i="1" smtClean="0">
                              <a:latin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=−</m:t>
                          </m:r>
                          <m:rad>
                            <m:radPr>
                              <m:degHide m:val="on"/>
                              <m:ctrlP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  <m:t>𝑧</m:t>
                              </m:r>
                            </m:e>
                          </m:rad>
                        </m:sub>
                        <m:sup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  <m:t>𝑧</m:t>
                              </m:r>
                            </m:e>
                          </m:rad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altLang="en-US" sz="18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  <m:t>=−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1800" b="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18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𝑧</m:t>
                                  </m:r>
                                  <m:r>
                                    <a:rPr lang="en-US" altLang="en-US" sz="18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en-US" sz="18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18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en-US" sz="18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sub>
                            <m:sup>
                              <m: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  <m:t>𝑧</m:t>
                                  </m:r>
                                  <m: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en-US" sz="1800" i="1">
                                          <a:latin typeface="Cambria Math"/>
                                          <a:sym typeface="Symbol" pitchFamily="18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1800" i="1">
                                          <a:latin typeface="Cambria Math"/>
                                          <a:sym typeface="Symbol" pitchFamily="18" charset="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en-US" sz="1800" i="1">
                                          <a:latin typeface="Cambria Math"/>
                                          <a:sym typeface="Symbol" pitchFamily="18" charset="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sup>
                            <m:e>
                              <m:sSub>
                                <m:sSubPr>
                                  <m:ctrlP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en-US" sz="1800" b="1" i="1">
                                      <a:latin typeface="Cambria Math"/>
                                      <a:sym typeface="Symbol" pitchFamily="18" charset="2"/>
                                    </a:rPr>
                                    <m:t>𝒙𝒚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  <m: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  <m:t>,</m:t>
                                  </m:r>
                                  <m:r>
                                    <a:rPr lang="en-US" altLang="en-US" sz="18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𝑑𝑥</m:t>
                              </m:r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 </m:t>
                              </m:r>
                              <m: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667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3095625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31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Two Functions </a:t>
            </a:r>
            <a:r>
              <a:rPr lang="en-US" altLang="en-US" sz="3200" b="1" dirty="0"/>
              <a:t>of Two Random Variables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en-US" sz="2000" i="1" dirty="0" smtClean="0">
                    <a:latin typeface="Cambria Math"/>
                    <a:sym typeface="Symbol" pitchFamily="18" charset="2"/>
                  </a:rPr>
                  <a:t>Given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𝒛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  <m:r>
                      <a:rPr lang="en-US" altLang="en-US" sz="20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  <m:r>
                          <a:rPr lang="en-US" altLang="en-US" sz="2000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i="1" dirty="0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i="1" dirty="0" smtClean="0">
                    <a:latin typeface="Cambria Math"/>
                    <a:sym typeface="Symbol" pitchFamily="18" charset="2"/>
                  </a:rPr>
                  <a:t>         </a:t>
                </a: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and        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𝒘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  <m:r>
                      <a:rPr lang="en-US" altLang="en-US" sz="2000" b="0" i="1" dirty="0" smtClean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latin typeface="Cambria Math"/>
                          </a:rPr>
                          <m:t>𝑥</m:t>
                        </m:r>
                        <m:r>
                          <a:rPr lang="en-US" altLang="en-US" sz="2000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i="1" dirty="0"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 smtClean="0">
                            <a:latin typeface="Cambria Math"/>
                            <a:sym typeface="Symbol" pitchFamily="18" charset="2"/>
                          </a:rPr>
                          <m:t>𝒛𝒘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?</m:t>
                    </m:r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US" sz="2000" i="1" dirty="0">
                  <a:latin typeface="Cambria Math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𝐹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𝒛𝒘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1" i="1" smtClean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b="1" i="1" smtClean="0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  <m:d>
                            <m:dPr>
                              <m:ctrlPr>
                                <a:rPr lang="en-US" altLang="en-US" sz="20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en-US" sz="2000" i="1" smtClean="0">
                                  <a:latin typeface="Cambria Math"/>
                                  <a:sym typeface="Symbol" pitchFamily="18" charset="2"/>
                                </a:rPr>
                                <m:t>ξ</m:t>
                              </m:r>
                            </m:e>
                          </m:d>
                          <m:r>
                            <a:rPr lang="en-US" altLang="en-US" sz="20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b="1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 </m:t>
                          </m:r>
                          <m:r>
                            <a:rPr lang="en-US" altLang="en-US" sz="2000" b="1" i="1" smtClean="0">
                              <a:latin typeface="Cambria Math"/>
                              <a:sym typeface="Symbol" pitchFamily="18" charset="2"/>
                            </a:rPr>
                            <m:t>𝒘</m:t>
                          </m:r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en-US" sz="2000" i="1">
                                  <a:latin typeface="Cambria Math"/>
                                  <a:sym typeface="Symbol" pitchFamily="18" charset="2"/>
                                </a:rPr>
                                <m:t>ξ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1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 dirty="0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b="0" i="1" dirty="0" smtClean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</m:t>
                              </m:r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en-US" sz="20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𝑦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𝑤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𝑑𝑥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sym typeface="Symbol" pitchFamily="18" charset="2"/>
                          </a:rPr>
                          <m:t>𝐷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sym typeface="Symbol" pitchFamily="18" charset="2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is the region in </a:t>
                </a:r>
                <a:r>
                  <a:rPr lang="en-US" sz="2000" dirty="0">
                    <a:solidFill>
                      <a:srgbClr val="FF0000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𝑥𝑦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𝑝𝑙𝑎𝑛𝑒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smtClean="0"/>
                  <a:t>where inequalities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≤</m:t>
                    </m:r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𝑧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≤</m:t>
                    </m:r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𝑤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</a:t>
                </a:r>
                <a:r>
                  <a:rPr lang="en-US" sz="2000" dirty="0" smtClean="0"/>
                  <a:t>simultaneously satisfied.  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b="1" dirty="0" smtClean="0"/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27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Density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𝒛</m:t>
                    </m:r>
                    <m:r>
                      <a:rPr lang="en-US" altLang="en-US" sz="2000" b="1" i="1" dirty="0" smtClean="0">
                        <a:latin typeface="Cambria Math"/>
                      </a:rPr>
                      <m:t>=</m:t>
                    </m:r>
                    <m:r>
                      <a:rPr lang="en-US" altLang="en-US" sz="20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en-US" sz="2000" i="1" dirty="0">
                    <a:latin typeface="Cambria Math"/>
                    <a:sym typeface="Symbol" pitchFamily="18" charset="2"/>
                  </a:rPr>
                  <a:t>         </a:t>
                </a:r>
                <a:r>
                  <a:rPr lang="en-US" altLang="en-US" sz="2000" dirty="0">
                    <a:latin typeface="Cambria Math"/>
                    <a:sym typeface="Symbol" pitchFamily="18" charset="2"/>
                  </a:rPr>
                  <a:t>and        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𝒘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  <m:r>
                      <a:rPr lang="en-US" altLang="en-US" sz="2000" i="1" dirty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Above equation has many solution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𝑥𝑦</m:t>
                    </m:r>
                    <m:r>
                      <a:rPr lang="en-US" sz="2000" i="1" dirty="0">
                        <a:latin typeface="Cambria Math"/>
                      </a:rPr>
                      <m:t>−</m:t>
                    </m:r>
                    <m:r>
                      <a:rPr lang="en-US" sz="2000" i="1" dirty="0">
                        <a:latin typeface="Cambria Math"/>
                      </a:rPr>
                      <m:t>𝑝𝑙𝑎𝑛𝑒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for a given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𝑧𝑦</m:t>
                    </m:r>
                    <m:r>
                      <a:rPr lang="en-US" sz="2000" i="1" dirty="0">
                        <a:latin typeface="Cambria Math"/>
                      </a:rPr>
                      <m:t>−</m:t>
                    </m:r>
                    <m:r>
                      <a:rPr lang="en-US" sz="2000" i="1" dirty="0">
                        <a:latin typeface="Cambria Math"/>
                      </a:rPr>
                      <m:t>𝑝𝑙𝑎𝑛𝑒</m:t>
                    </m:r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000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00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000" b="0" i="1" dirty="0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000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en-US" sz="2000" b="1" i="1" dirty="0" smtClean="0">
                        <a:latin typeface="Cambria Math"/>
                      </a:rPr>
                      <m:t>=</m:t>
                    </m:r>
                    <m:r>
                      <a:rPr lang="en-US" altLang="en-US" sz="2000" b="1" i="1" dirty="0">
                        <a:latin typeface="Cambria Math"/>
                      </a:rPr>
                      <m:t>𝒛</m:t>
                    </m:r>
                  </m:oMath>
                </a14:m>
                <a:r>
                  <a:rPr lang="en-US" altLang="en-US" sz="2000" i="1" dirty="0">
                    <a:latin typeface="Cambria Math"/>
                    <a:sym typeface="Symbol" pitchFamily="18" charset="2"/>
                  </a:rPr>
                  <a:t>         </a:t>
                </a:r>
                <a:r>
                  <a:rPr lang="en-US" altLang="en-US" sz="2000" dirty="0">
                    <a:latin typeface="Cambria Math"/>
                    <a:sym typeface="Symbol" pitchFamily="18" charset="2"/>
                  </a:rPr>
                  <a:t>and</a:t>
                </a: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en-US" sz="2000" b="0" i="1" dirty="0" smtClean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000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  <m:r>
                      <a:rPr lang="en-US" altLang="en-US" sz="2000" b="1" i="1" dirty="0">
                        <a:latin typeface="Cambria Math"/>
                      </a:rPr>
                      <m:t>𝒘</m:t>
                    </m:r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Considering the probabilities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b="1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𝒘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i="1" dirty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i="1" dirty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en-US" sz="20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i="1" dirty="0" smtClean="0">
                    <a:solidFill>
                      <a:srgbClr val="FF0000"/>
                    </a:solidFill>
                    <a:latin typeface="Cambria Math"/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i="1" dirty="0" smtClean="0">
                    <a:solidFill>
                      <a:srgbClr val="FF0000"/>
                    </a:solidFill>
                    <a:latin typeface="Cambria Math"/>
                    <a:sym typeface="Symbol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alt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en-US" sz="2000" i="1" dirty="0" smtClean="0">
                    <a:solidFill>
                      <a:srgbClr val="FF0000"/>
                    </a:solidFill>
                    <a:latin typeface="Cambria Math"/>
                    <a:sym typeface="Symbol" pitchFamily="18" charset="2"/>
                  </a:rPr>
                  <a:t> are continuous and differentiable functions, it is possible to develop a formula to obtain the joint PDF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𝒛𝒘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</m:oMath>
                </a14:m>
                <a:endParaRPr lang="en-US" altLang="en-US" sz="2000" i="1" dirty="0" smtClean="0">
                  <a:solidFill>
                    <a:srgbClr val="FF0000"/>
                  </a:solidFill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9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900" b="0" i="1" smtClean="0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1900" b="1" i="1" smtClean="0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9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9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19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19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1900" b="1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𝒘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9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19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19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19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9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19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1900" b="1" i="1" smtClean="0">
                                  <a:latin typeface="Cambria Math"/>
                                  <a:sym typeface="Symbol" pitchFamily="18" charset="2"/>
                                </a:rPr>
                                <m:t>𝒛</m:t>
                              </m:r>
                              <m:r>
                                <a:rPr lang="en-US" altLang="en-US" sz="1900" b="1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1900" b="1" i="1" smtClean="0">
                                  <a:latin typeface="Cambria Math"/>
                                  <a:sym typeface="Symbol" pitchFamily="18" charset="2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∈∆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 ∆</m:t>
                          </m:r>
                          <m:r>
                            <a:rPr lang="en-US" altLang="en-US" sz="19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1900" i="1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1900" b="1" i="1">
                              <a:latin typeface="Cambria Math"/>
                              <a:sym typeface="Symbol" pitchFamily="18" charset="2"/>
                            </a:rPr>
                            <m:t>𝒛𝒘</m:t>
                          </m:r>
                        </m:sub>
                      </m:sSub>
                      <m:d>
                        <m:dPr>
                          <m:ctrlP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19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1900" b="0" i="1" smtClean="0">
                          <a:latin typeface="Cambria Math"/>
                          <a:sym typeface="Symbol" pitchFamily="18" charset="2"/>
                        </a:rPr>
                        <m:t> </m:t>
                      </m:r>
                      <m:r>
                        <a:rPr lang="en-US" altLang="en-US" sz="19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19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𝑧</m:t>
                      </m:r>
                      <m:r>
                        <a:rPr lang="en-US" altLang="en-US" sz="19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 ∆</m:t>
                      </m:r>
                      <m:r>
                        <a:rPr lang="en-US" altLang="en-US" sz="19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𝑤</m:t>
                      </m:r>
                    </m:oMath>
                  </m:oMathPara>
                </a14:m>
                <a:endParaRPr lang="en-US" sz="1900" b="1" dirty="0" smtClean="0"/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00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Density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 smtClean="0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1800" b="1" i="1" smtClean="0">
                              <a:latin typeface="Cambria Math"/>
                              <a:sym typeface="Symbol" pitchFamily="18" charset="2"/>
                            </a:rPr>
                            <m:t>𝒛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1800" b="1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𝒘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≤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+∆</m:t>
                          </m:r>
                          <m:r>
                            <a:rPr lang="en-US" altLang="en-US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18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1800" b="1" i="1" smtClean="0">
                                  <a:latin typeface="Cambria Math"/>
                                  <a:sym typeface="Symbol" pitchFamily="18" charset="2"/>
                                </a:rPr>
                                <m:t>𝒛</m:t>
                              </m:r>
                              <m:r>
                                <a:rPr lang="en-US" altLang="en-US" sz="1800" b="1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1800" b="1" i="1" smtClean="0">
                                  <a:latin typeface="Cambria Math"/>
                                  <a:sym typeface="Symbol" pitchFamily="18" charset="2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∈∆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 ∆</m:t>
                          </m:r>
                          <m:r>
                            <a:rPr lang="en-US" altLang="en-US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1800" b="1" i="1">
                              <a:latin typeface="Cambria Math"/>
                              <a:sym typeface="Symbol" pitchFamily="18" charset="2"/>
                            </a:rPr>
                            <m:t>𝒛𝒘</m:t>
                          </m:r>
                        </m:sub>
                      </m:sSub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/>
                          <a:sym typeface="Symbol" pitchFamily="18" charset="2"/>
                        </a:rPr>
                        <m:t> </m:t>
                      </m:r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𝑧</m:t>
                      </m:r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 ∆</m:t>
                      </m:r>
                      <m:r>
                        <a:rPr lang="en-US" altLang="en-US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𝑤</m:t>
                      </m:r>
                    </m:oMath>
                  </m:oMathPara>
                </a14:m>
                <a:endParaRPr lang="en-US" sz="1800" b="1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Let equivalent area of </a:t>
                </a:r>
                <a14:m>
                  <m:oMath xmlns:m="http://schemas.openxmlformats.org/officeDocument/2006/math">
                    <m:r>
                      <a:rPr lang="en-US" altLang="en-US" sz="2000" b="1" i="1">
                        <a:latin typeface="Cambria Math"/>
                        <a:ea typeface="Cambria Math"/>
                        <a:sym typeface="Symbol" pitchFamily="18" charset="2"/>
                      </a:rPr>
                      <m:t>∆</m:t>
                    </m:r>
                    <m:r>
                      <a:rPr lang="en-US" altLang="en-US" sz="2000" b="1" i="1">
                        <a:latin typeface="Cambria Math"/>
                        <a:ea typeface="Cambria Math"/>
                        <a:sym typeface="Symbol" pitchFamily="18" charset="2"/>
                      </a:rPr>
                      <m:t>𝒛</m:t>
                    </m:r>
                    <m:r>
                      <a:rPr lang="en-US" altLang="en-US" sz="2000" b="1" i="1">
                        <a:latin typeface="Cambria Math"/>
                        <a:ea typeface="Cambria Math"/>
                        <a:sym typeface="Symbol" pitchFamily="18" charset="2"/>
                      </a:rPr>
                      <m:t> ∆</m:t>
                    </m:r>
                    <m:r>
                      <a:rPr lang="en-US" altLang="en-US" sz="2000" b="1" i="1">
                        <a:latin typeface="Cambria Math"/>
                        <a:ea typeface="Cambria Math"/>
                        <a:sym typeface="Symbol" pitchFamily="18" charset="2"/>
                      </a:rPr>
                      <m:t>𝒘</m:t>
                    </m:r>
                  </m:oMath>
                </a14:m>
                <a:r>
                  <a:rPr lang="en-US" sz="2000" b="1" dirty="0" smtClean="0"/>
                  <a:t> </a:t>
                </a:r>
                <a:r>
                  <a:rPr lang="en-US" sz="2000" b="1" dirty="0" smtClean="0"/>
                  <a:t>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𝒛𝒘</m:t>
                    </m:r>
                    <m:r>
                      <a:rPr lang="en-US" sz="2000" b="1" i="1" dirty="0" smtClean="0"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latin typeface="Cambria Math"/>
                      </a:rPr>
                      <m:t>𝒑𝒍𝒂𝒏𝒆</m:t>
                    </m:r>
                  </m:oMath>
                </a14:m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sz="2000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  <m:sub>
                        <m:r>
                          <a:rPr lang="en-US" sz="2000" b="1" i="1" smtClean="0"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b="1" dirty="0" smtClean="0"/>
                  <a:t> 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𝒙𝒚</m:t>
                    </m:r>
                    <m:r>
                      <a:rPr lang="en-US" sz="2000" b="1" i="1" dirty="0" smtClean="0"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latin typeface="Cambria Math"/>
                      </a:rPr>
                      <m:t>𝒑𝒍𝒂𝒏𝒆</m:t>
                    </m:r>
                  </m:oMath>
                </a14:m>
                <a:endParaRPr lang="en-US" sz="2000" b="1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𝒛</m:t>
                              </m:r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∈∆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 ∆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1" i="1">
                                      <a:latin typeface="Cambria Math"/>
                                      <a:sym typeface="Symbol" pitchFamily="18" charset="2"/>
                                    </a:rPr>
                                    <m:t>𝒙</m:t>
                                  </m:r>
                                  <m:r>
                                    <a:rPr lang="en-US" altLang="en-US" sz="2000" b="1" i="1">
                                      <a:latin typeface="Cambria Math"/>
                                      <a:sym typeface="Symbol" pitchFamily="18" charset="2"/>
                                    </a:rPr>
                                    <m:t>,</m:t>
                                  </m:r>
                                  <m:r>
                                    <a:rPr lang="en-US" altLang="en-US" sz="2000" b="1" i="1">
                                      <a:latin typeface="Cambria Math"/>
                                      <a:sym typeface="Symbol" pitchFamily="18" charset="2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4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400" b="1" i="1">
                            <a:latin typeface="Cambria Math"/>
                            <a:sym typeface="Symbol" pitchFamily="18" charset="2"/>
                          </a:rPr>
                          <m:t>𝒛𝒘</m:t>
                        </m:r>
                      </m:sub>
                    </m:sSub>
                    <m:d>
                      <m:dPr>
                        <m:ctrlPr>
                          <a:rPr lang="en-US" altLang="en-US" sz="24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400" i="1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4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400" i="1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  <m:r>
                      <a:rPr lang="en-US" altLang="en-US" sz="24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24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400" i="1">
                                <a:latin typeface="Cambria Math"/>
                                <a:sym typeface="Symbol" pitchFamily="18" charset="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en-US" sz="2400" b="1" i="1">
                                <a:latin typeface="Cambria Math"/>
                                <a:sym typeface="Symbol" pitchFamily="18" charset="2"/>
                              </a:rPr>
                              <m:t>𝒙𝒚</m:t>
                            </m:r>
                          </m:sub>
                        </m:sSub>
                        <m:d>
                          <m:dPr>
                            <m:ctrlPr>
                              <a:rPr lang="en-US" altLang="en-US" sz="2400" i="1">
                                <a:latin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400" i="1">
                                    <a:latin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i="1">
                                    <a:latin typeface="Cambria Math"/>
                                    <a:sym typeface="Symbol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i="1">
                                    <a:latin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en-US" sz="2400" i="1">
                                <a:latin typeface="Cambria Math"/>
                                <a:sym typeface="Symbol" pitchFamily="18" charset="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sz="2400" i="1">
                                    <a:latin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i="1">
                                    <a:latin typeface="Cambria Math"/>
                                    <a:sym typeface="Symbol" pitchFamily="18" charset="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sz="2400" i="1">
                                    <a:latin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US" altLang="en-US" sz="2400" i="1" smtClean="0">
                                <a:latin typeface="Cambria Math"/>
                                <a:sym typeface="Symbol" pitchFamily="18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en-US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∆</m:t>
                            </m:r>
                            <m:r>
                              <a:rPr lang="en-US" altLang="en-US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𝑧</m:t>
                            </m:r>
                            <m:r>
                              <a:rPr lang="en-US" altLang="en-US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 ∆</m:t>
                            </m:r>
                            <m:r>
                              <a:rPr lang="en-US" altLang="en-US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𝑤</m:t>
                            </m:r>
                            <m:r>
                              <m:rPr>
                                <m:nor/>
                              </m:rPr>
                              <a:rPr lang="en-US" sz="2000" b="1" dirty="0"/>
                              <m:t> </m:t>
                            </m:r>
                          </m:den>
                        </m:f>
                      </m:e>
                    </m:nary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/>
                  <a:t>To simplify this, the area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should be known in terms of area 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∆</m:t>
                    </m:r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𝑧</m:t>
                    </m:r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 ∆</m:t>
                    </m:r>
                    <m:r>
                      <a:rPr lang="en-US" altLang="en-US" sz="2000" i="1">
                        <a:latin typeface="Cambria Math"/>
                        <a:ea typeface="Cambria Math"/>
                        <a:sym typeface="Symbol" pitchFamily="18" charset="2"/>
                      </a:rPr>
                      <m:t>𝑤</m:t>
                    </m:r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𝒛𝒘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𝑧</m:t>
                                  </m:r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,</m:t>
                                  </m:r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 smtClean="0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en-US" sz="2000" i="1">
                                          <a:latin typeface="Cambria Math"/>
                                          <a:sym typeface="Symbol" pitchFamily="18" charset="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en-US" sz="2000" i="1">
                                          <a:latin typeface="Cambria Math"/>
                                          <a:sym typeface="Symbol" pitchFamily="18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30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Density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h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represent the inverse transform i.e.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h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The area of parallelogram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𝐴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’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𝐵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’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𝐶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’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𝐷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’</m:t>
                    </m:r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is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800" i="1" smtClean="0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18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∆</m:t>
                          </m:r>
                        </m:e>
                        <m:sub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  <m:r>
                        <a:rPr lang="en-US" altLang="en-US" sz="18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𝐴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𝐵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/>
                          <a:sym typeface="Symbol" pitchFamily="18" charset="2"/>
                        </a:rPr>
                        <m:t>  </m:t>
                      </m:r>
                      <m:d>
                        <m:dPr>
                          <m:ctrlP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𝐴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r>
                            <a:rPr lang="en-US" altLang="en-US" sz="1800" b="0" i="1" dirty="0" smtClean="0">
                              <a:latin typeface="Cambria Math"/>
                              <a:sym typeface="Symbol" pitchFamily="18" charset="2"/>
                            </a:rPr>
                            <m:t>𝐶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</m:e>
                      </m:d>
                      <m:r>
                        <a:rPr lang="en-US" altLang="en-US" sz="1800" b="0" i="1" smtClean="0">
                          <a:latin typeface="Cambria Math"/>
                          <a:sym typeface="Symbol" pitchFamily="18" charset="2"/>
                        </a:rPr>
                        <m:t>  </m:t>
                      </m:r>
                      <m:func>
                        <m:funcPr>
                          <m:ctrlP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1800" b="0" i="0" smtClean="0">
                              <a:latin typeface="Cambria Math"/>
                              <a:sym typeface="Symbol" pitchFamily="18" charset="2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en-US" sz="18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𝜃</m:t>
                              </m:r>
                              <m:r>
                                <a:rPr lang="en-US" altLang="en-US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−</m:t>
                              </m:r>
                              <m:r>
                                <a:rPr lang="en-US" altLang="en-US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a:rPr lang="en-US" altLang="en-US" sz="18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𝐴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𝐵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func>
                            <m:funcPr>
                              <m:ctrlPr>
                                <a:rPr lang="en-US" altLang="en-US" sz="1800" i="1" dirty="0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1800" i="0" dirty="0" smtClean="0">
                                  <a:latin typeface="Cambria Math"/>
                                  <a:sym typeface="Symbol" pitchFamily="18" charset="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en-US" sz="180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𝜙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𝐴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𝐶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func>
                            <m:funcPr>
                              <m:ctrlPr>
                                <a:rPr lang="en-US" altLang="en-US" sz="1800" i="1" dirty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1800" dirty="0">
                                  <a:latin typeface="Cambria Math"/>
                                  <a:sym typeface="Symbol" pitchFamily="18" charset="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−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𝐴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𝐵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func>
                            <m:funcPr>
                              <m:ctrlPr>
                                <a:rPr lang="en-US" altLang="en-US" sz="1800" i="1" dirty="0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1800" i="0" dirty="0" smtClean="0">
                                  <a:latin typeface="Cambria Math"/>
                                  <a:sym typeface="Symbol" pitchFamily="18" charset="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en-US" sz="180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𝜙</m:t>
                              </m:r>
                            </m:e>
                          </m:func>
                        </m:e>
                      </m:d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  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𝐴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𝐶</m:t>
                          </m:r>
                          <m: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  <m:t>’</m:t>
                          </m:r>
                          <m:func>
                            <m:funcPr>
                              <m:ctrlPr>
                                <a:rPr lang="en-US" altLang="en-US" sz="1800" i="1" dirty="0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1800" i="0" dirty="0" smtClean="0">
                                  <a:latin typeface="Cambria Math"/>
                                  <a:sym typeface="Symbol" pitchFamily="18" charset="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en-US" sz="180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altLang="en-US" sz="1800" dirty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𝐴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𝐵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func>
                        <m:funcPr>
                          <m:ctrlP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1800" dirty="0">
                              <a:latin typeface="Cambria Math"/>
                              <a:sym typeface="Symbol" pitchFamily="18" charset="2"/>
                            </a:rPr>
                            <m:t>cos</m:t>
                          </m:r>
                        </m:fName>
                        <m:e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𝜙</m:t>
                          </m:r>
                        </m:e>
                      </m:func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18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18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altLang="en-US" sz="1800" b="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en-US" sz="1800" b="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18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r>
                            <a:rPr lang="en-US" altLang="en-US" sz="18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</m:den>
                      </m:f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𝑧</m:t>
                      </m:r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                    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𝐴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𝐶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func>
                        <m:funcPr>
                          <m:ctrlP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1800" dirty="0">
                              <a:latin typeface="Cambria Math"/>
                              <a:sym typeface="Symbol" pitchFamily="18" charset="2"/>
                            </a:rPr>
                            <m:t>sin</m:t>
                          </m:r>
                        </m:fName>
                        <m:e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𝜃</m:t>
                          </m:r>
                        </m:e>
                      </m:func>
                      <m:r>
                        <a:rPr lang="en-US" altLang="en-US" sz="18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r>
                            <a:rPr lang="en-US" altLang="en-US" sz="18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den>
                      </m:f>
                      <m:r>
                        <a:rPr lang="en-US" altLang="en-US" sz="18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𝑤</m:t>
                      </m:r>
                    </m:oMath>
                  </m:oMathPara>
                </a14:m>
                <a:endParaRPr lang="en-US" altLang="en-US" sz="18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𝐴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𝐵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func>
                        <m:funcPr>
                          <m:ctrlP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1800" dirty="0">
                              <a:latin typeface="Cambria Math"/>
                              <a:sym typeface="Symbol" pitchFamily="18" charset="2"/>
                            </a:rPr>
                            <m:t>sin</m:t>
                          </m:r>
                        </m:fName>
                        <m:e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𝜙</m:t>
                          </m:r>
                        </m:e>
                      </m:func>
                      <m:r>
                        <a:rPr lang="en-US" altLang="en-US" sz="18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</m:den>
                      </m:f>
                      <m:r>
                        <a:rPr lang="en-US" altLang="en-US" sz="18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18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𝑧</m:t>
                      </m:r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                     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𝐴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𝐶</m:t>
                      </m:r>
                      <m:r>
                        <a:rPr lang="en-US" altLang="en-US" sz="1800" i="1" dirty="0">
                          <a:latin typeface="Cambria Math"/>
                          <a:sym typeface="Symbol" pitchFamily="18" charset="2"/>
                        </a:rPr>
                        <m:t>’</m:t>
                      </m:r>
                      <m:func>
                        <m:funcPr>
                          <m:ctrlPr>
                            <a:rPr lang="en-US" altLang="en-US" sz="1800" i="1" dirty="0">
                              <a:latin typeface="Cambria Math"/>
                              <a:sym typeface="Symbol" pitchFamily="18" charset="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1800" dirty="0">
                              <a:latin typeface="Cambria Math"/>
                              <a:sym typeface="Symbol" pitchFamily="18" charset="2"/>
                            </a:rPr>
                            <m:t>cos</m:t>
                          </m:r>
                        </m:fName>
                        <m:e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𝜃</m:t>
                          </m:r>
                        </m:e>
                      </m:func>
                      <m:r>
                        <a:rPr lang="en-US" altLang="en-US" sz="18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𝛿</m:t>
                          </m:r>
                          <m:r>
                            <a:rPr lang="en-US" altLang="en-US" sz="18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den>
                      </m:f>
                      <m:r>
                        <a:rPr lang="en-US" altLang="en-US" sz="18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𝑤</m:t>
                      </m:r>
                    </m:oMath>
                  </m:oMathPara>
                </a14:m>
                <a:endParaRPr lang="en-US" altLang="en-US" sz="18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1999"/>
            <a:ext cx="5715000" cy="212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486400" y="457200"/>
                <a:ext cx="3733800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en-US" b="1" i="1" dirty="0">
                        <a:latin typeface="Cambria Math"/>
                      </a:rPr>
                      <m:t>𝒛</m:t>
                    </m:r>
                    <m:r>
                      <a:rPr lang="en-US" altLang="en-US" b="1" i="1" dirty="0">
                        <a:latin typeface="Cambria Math"/>
                      </a:rPr>
                      <m:t>=</m:t>
                    </m:r>
                    <m:r>
                      <a:rPr lang="en-US" altLang="en-US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b="1" i="1" dirty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en-US" i="1" dirty="0">
                    <a:latin typeface="Cambria Math"/>
                    <a:sym typeface="Symbol" pitchFamily="18" charset="2"/>
                  </a:rPr>
                  <a:t> </a:t>
                </a:r>
                <a:r>
                  <a:rPr lang="en-US" altLang="en-US" i="1" dirty="0" smtClean="0">
                    <a:latin typeface="Cambria Math"/>
                    <a:sym typeface="Symbol" pitchFamily="18" charset="2"/>
                  </a:rPr>
                  <a:t> </a:t>
                </a:r>
                <a:r>
                  <a:rPr lang="en-US" altLang="en-US" dirty="0">
                    <a:latin typeface="Cambria Math"/>
                    <a:sym typeface="Symbol" pitchFamily="18" charset="2"/>
                  </a:rPr>
                  <a:t>and </a:t>
                </a:r>
                <a:r>
                  <a:rPr lang="en-US" altLang="en-US" dirty="0" smtClean="0">
                    <a:latin typeface="Cambria Math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b="1" i="1" dirty="0">
                        <a:latin typeface="Cambria Math"/>
                      </a:rPr>
                      <m:t>𝒘</m:t>
                    </m:r>
                    <m:r>
                      <a:rPr lang="en-US" altLang="en-US" b="1" i="1" dirty="0">
                        <a:latin typeface="Cambria Math"/>
                      </a:rPr>
                      <m:t>=</m:t>
                    </m:r>
                    <m:r>
                      <a:rPr lang="en-US" altLang="en-US" i="1" dirty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b="1" i="1" dirty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altLang="en-US" dirty="0">
                  <a:latin typeface="Cambria Math"/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57200"/>
                <a:ext cx="3733800" cy="507831"/>
              </a:xfrm>
              <a:prstGeom prst="rect">
                <a:avLst/>
              </a:prstGeom>
              <a:blipFill rotWithShape="1">
                <a:blip r:embed="rId4"/>
                <a:stretch>
                  <a:fillRect b="-8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6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Density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∆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𝑤</m:t>
                              </m:r>
                            </m:den>
                          </m:f>
                          <m:r>
                            <a:rPr lang="en-US" altLang="en-US" sz="20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𝑤</m:t>
                              </m:r>
                            </m:den>
                          </m:f>
                        </m:e>
                      </m:d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𝑧</m:t>
                      </m:r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∆</m:t>
                      </m:r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𝑤</m:t>
                      </m:r>
                    </m:oMath>
                  </m:oMathPara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en-US" sz="20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∆</m:t>
                          </m:r>
                          <m:r>
                            <a:rPr lang="en-US" altLang="en-US" sz="20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∆</m:t>
                          </m:r>
                          <m:r>
                            <a:rPr lang="en-US" altLang="en-US" sz="20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𝑤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𝑤</m:t>
                              </m:r>
                            </m:den>
                          </m:f>
                          <m:r>
                            <a:rPr lang="en-US" altLang="en-US" sz="20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𝑧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𝛿</m:t>
                              </m:r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𝑤</m:t>
                              </m:r>
                            </m:den>
                          </m:f>
                        </m:e>
                      </m:d>
                      <m:r>
                        <a:rPr lang="en-US" altLang="en-US" sz="20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0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b="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000" dirty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The determinant in RHS represent the absolute value of Jacobian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𝐽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of the inverse transformation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𝑔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en-US" sz="2000" dirty="0">
                    <a:latin typeface="Cambria Math"/>
                    <a:sym typeface="Symbol" pitchFamily="18" charset="2"/>
                  </a:rPr>
                  <a:t>   </a:t>
                </a: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en-US" altLang="en-US" sz="2000" i="1">
                        <a:latin typeface="Cambria Math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h</m:t>
                        </m:r>
                      </m:e>
                      <m: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𝐽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0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20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54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Joint Density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096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Since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𝐽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𝑧</m:t>
                            </m:r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,</m:t>
                            </m:r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f>
                      <m:f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en-US" sz="2000" b="0" i="1" smtClean="0">
                                <a:latin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/>
                                <a:sym typeface="Symbol" pitchFamily="18" charset="2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/>
                                        <a:sym typeface="Symbol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/>
                                        <a:sym typeface="Symbol" pitchFamily="18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/>
                                        <a:sym typeface="Symbol" pitchFamily="18" charset="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en-US" sz="2000" i="1">
                                        <a:latin typeface="Cambria Math"/>
                                        <a:sym typeface="Symbol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000" i="1">
                                        <a:latin typeface="Cambria Math"/>
                                        <a:sym typeface="Symbol" pitchFamily="18" charset="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en-US" sz="2000" i="1">
                                        <a:latin typeface="Cambria Math"/>
                                        <a:sym typeface="Symbol" pitchFamily="18" charset="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where the determinant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𝐽</m:t>
                    </m:r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represent the Jacobian of original transformation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𝒛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  <m:r>
                      <a:rPr lang="en-US" altLang="en-US" sz="20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en-US" sz="2000" i="1" dirty="0">
                    <a:latin typeface="Cambria Math"/>
                    <a:sym typeface="Symbol" pitchFamily="18" charset="2"/>
                  </a:rPr>
                  <a:t>  </a:t>
                </a: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and  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𝒘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  <m:r>
                      <a:rPr lang="en-US" altLang="en-US" sz="2000" i="1" dirty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alt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b="1" i="1" dirty="0"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altLang="en-US" sz="2000" b="1" i="1" dirty="0"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𝐽</m:t>
                      </m:r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en-US" sz="2000" b="0" i="1" smtClean="0">
                                            <a:latin typeface="Cambria Math"/>
                                            <a:sym typeface="Symbol" pitchFamily="18" charset="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𝑔</m:t>
                                        </m:r>
                                      </m:num>
                                      <m:den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en-US" sz="2000" b="0" i="1" smtClean="0">
                                            <a:latin typeface="Cambria Math"/>
                                            <a:sym typeface="Symbol" pitchFamily="18" charset="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sym typeface="Symbol" pitchFamily="18" charset="2"/>
                                          </a:rPr>
                                          <m:t>𝑔</m:t>
                                        </m:r>
                                      </m:num>
                                      <m:den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en-US" sz="2000" b="0" i="1" smtClean="0">
                                            <a:latin typeface="Cambria Math"/>
                                            <a:sym typeface="Symbol" pitchFamily="18" charset="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en-US" sz="2000" b="0" i="1" smtClean="0">
                                            <a:latin typeface="Cambria Math"/>
                                            <a:sym typeface="Symbol" pitchFamily="18" charset="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h</m:t>
                                        </m:r>
                                      </m:num>
                                      <m:den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𝜕</m:t>
                                        </m:r>
                                        <m:r>
                                          <a:rPr lang="en-US" altLang="en-US" sz="2000" b="0" i="1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𝑦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, 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en-US" sz="2000" dirty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  <a:sym typeface="Symbol" pitchFamily="18" charset="2"/>
                          </a:rPr>
                          <m:t>𝒛𝒘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𝑧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  <m:r>
                      <a:rPr lang="en-US" altLang="en-US" sz="2000" i="1">
                        <a:latin typeface="Cambria Math"/>
                        <a:sym typeface="Symbol" pitchFamily="18" charset="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en-US" sz="2000" b="1" i="1">
                                <a:latin typeface="Cambria Math"/>
                                <a:sym typeface="Symbol" pitchFamily="18" charset="2"/>
                              </a:rPr>
                              <m:t>𝒙𝒚</m:t>
                            </m:r>
                          </m:sub>
                        </m:sSub>
                        <m:d>
                          <m:d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latin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f>
                          <m:f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en-US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∆</m:t>
                            </m:r>
                            <m:r>
                              <a:rPr lang="en-US" altLang="en-US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𝑧</m:t>
                            </m:r>
                            <m:r>
                              <a:rPr lang="en-US" altLang="en-US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 ∆</m:t>
                            </m:r>
                            <m:r>
                              <a:rPr lang="en-US" altLang="en-US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𝑤</m:t>
                            </m:r>
                            <m:r>
                              <m:rPr>
                                <m:nor/>
                              </m:rPr>
                              <a:rPr lang="en-US" sz="1800" b="1" dirty="0"/>
                              <m:t> 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becomes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𝒛𝒘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i="1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𝑧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𝑤</m:t>
                                  </m:r>
                                </m:den>
                              </m:f>
                              <m:r>
                                <a:rPr lang="en-US" altLang="en-US" sz="20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𝑧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sSub>
                                    <m:sSubPr>
                                      <m:ctrlP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altLang="en-US" sz="2000" i="1" dirty="0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𝛿</m:t>
                                  </m:r>
                                  <m:r>
                                    <a:rPr lang="en-US" altLang="en-US" sz="2000" i="1" dirty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altLang="en-US" sz="2000" dirty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𝒛𝒘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𝑧</m:t>
                                  </m:r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,</m:t>
                                  </m:r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 smtClean="0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en-US" sz="2000" i="1">
                                          <a:latin typeface="Cambria Math"/>
                                          <a:sym typeface="Symbol" pitchFamily="18" charset="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en-US" sz="2000" i="1">
                                          <a:latin typeface="Cambria Math"/>
                                          <a:sym typeface="Symbol" pitchFamily="18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09600"/>
                <a:ext cx="8229600" cy="5257800"/>
              </a:xfrm>
              <a:blipFill rotWithShape="1">
                <a:blip r:embed="rId2"/>
                <a:stretch>
                  <a:fillRect l="-741" b="-6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70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792162"/>
          </a:xfrm>
        </p:spPr>
        <p:txBody>
          <a:bodyPr>
            <a:noAutofit/>
          </a:bodyPr>
          <a:lstStyle/>
          <a:p>
            <a:r>
              <a:rPr lang="en-US" altLang="en-US" sz="3200" b="1" dirty="0" smtClean="0"/>
              <a:t>Example-1: Linear Transformation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latin typeface="Cambria Math"/>
                      </a:rPr>
                      <m:t>𝒛</m:t>
                    </m:r>
                    <m:r>
                      <a:rPr lang="en-US" altLang="en-US" sz="2000" b="1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altLang="en-US" sz="2000" i="1" dirty="0" smtClean="0">
                    <a:latin typeface="Cambria Math"/>
                    <a:sym typeface="Symbol" pitchFamily="18" charset="2"/>
                  </a:rPr>
                  <a:t>a</a:t>
                </a:r>
                <a:r>
                  <a:rPr lang="en-US" alt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𝒙</m:t>
                    </m:r>
                    <m:r>
                      <a:rPr lang="en-US" altLang="en-US" sz="2000" b="1" i="1" dirty="0" smtClean="0">
                        <a:latin typeface="Cambria Math"/>
                      </a:rPr>
                      <m:t>+</m:t>
                    </m:r>
                    <m:r>
                      <a:rPr lang="en-US" altLang="en-US" sz="2000" b="0" i="1" dirty="0" smtClean="0">
                        <a:latin typeface="Cambria Math"/>
                      </a:rPr>
                      <m:t>𝑏</m:t>
                    </m:r>
                    <m:r>
                      <a:rPr lang="en-US" altLang="en-US" sz="2000" b="1" i="1" dirty="0" smtClean="0">
                        <a:latin typeface="Cambria Math"/>
                      </a:rPr>
                      <m:t> </m:t>
                    </m:r>
                    <m:r>
                      <a:rPr lang="en-US" altLang="en-US" sz="2000" b="1" i="1" dirty="0">
                        <a:latin typeface="Cambria Math"/>
                      </a:rPr>
                      <m:t>𝒚</m:t>
                    </m:r>
                  </m:oMath>
                </a14:m>
                <a:r>
                  <a:rPr lang="en-US" altLang="en-US" sz="2000" i="1" dirty="0">
                    <a:latin typeface="Cambria Math"/>
                    <a:sym typeface="Symbol" pitchFamily="18" charset="2"/>
                  </a:rPr>
                  <a:t>  </a:t>
                </a:r>
                <a:r>
                  <a:rPr lang="en-US" altLang="en-US" sz="2000" dirty="0">
                    <a:latin typeface="Cambria Math"/>
                    <a:sym typeface="Symbol" pitchFamily="18" charset="2"/>
                  </a:rPr>
                  <a:t>and  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/>
                      </a:rPr>
                      <m:t>𝒘</m:t>
                    </m:r>
                    <m:r>
                      <a:rPr lang="en-US" altLang="en-US" sz="2000" b="1" i="1" dirty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en-US" sz="2000" b="0" i="1" dirty="0" smtClean="0">
                        <a:latin typeface="Cambria Math"/>
                        <a:sym typeface="Symbol" pitchFamily="18" charset="2"/>
                      </a:rPr>
                      <m:t>c</m:t>
                    </m:r>
                    <m:r>
                      <m:rPr>
                        <m:nor/>
                      </m:rPr>
                      <a:rPr lang="en-US" altLang="en-US" sz="2000" b="1" dirty="0"/>
                      <m:t> </m:t>
                    </m:r>
                    <m:r>
                      <a:rPr lang="en-US" altLang="en-US" sz="2000" b="1" i="1" dirty="0">
                        <a:latin typeface="Cambria Math"/>
                      </a:rPr>
                      <m:t>𝒙</m:t>
                    </m:r>
                    <m:r>
                      <a:rPr lang="en-US" altLang="en-US" sz="2000" b="1" i="1" dirty="0">
                        <a:latin typeface="Cambria Math"/>
                      </a:rPr>
                      <m:t>+</m:t>
                    </m:r>
                    <m:r>
                      <a:rPr lang="en-US" altLang="en-US" sz="2000" b="0" i="1" dirty="0" smtClean="0">
                        <a:latin typeface="Cambria Math"/>
                      </a:rPr>
                      <m:t>𝑑</m:t>
                    </m:r>
                    <m:r>
                      <a:rPr lang="en-US" altLang="en-US" sz="2000" b="1" i="1" dirty="0">
                        <a:latin typeface="Cambria Math"/>
                      </a:rPr>
                      <m:t> </m:t>
                    </m:r>
                    <m:r>
                      <a:rPr lang="en-US" altLang="en-US" sz="2000" b="1" i="1" dirty="0">
                        <a:latin typeface="Cambria Math"/>
                      </a:rPr>
                      <m:t>𝒚</m:t>
                    </m:r>
                  </m:oMath>
                </a14:m>
                <a:endParaRPr lang="en-US" altLang="en-US" sz="2000" i="1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𝑎𝑑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−</m:t>
                    </m:r>
                    <m:r>
                      <a:rPr lang="en-US" altLang="en-US" sz="2000" b="0" i="1" dirty="0" smtClean="0">
                        <a:latin typeface="Cambria Math"/>
                        <a:sym typeface="Symbol" pitchFamily="18" charset="2"/>
                      </a:rPr>
                      <m:t>𝑏𝑐</m:t>
                    </m:r>
                    <m:r>
                      <a:rPr lang="en-US" altLang="en-US" sz="2000" i="1" dirty="0" smtClean="0">
                        <a:latin typeface="Cambria Math"/>
                        <a:ea typeface="Cambria Math"/>
                        <a:sym typeface="Symbol" pitchFamily="18" charset="2"/>
                      </a:rPr>
                      <m:t>≠</m:t>
                    </m:r>
                    <m:r>
                      <a:rPr lang="en-US" altLang="en-US" sz="2000" b="0" i="1" dirty="0" smtClean="0">
                        <a:latin typeface="Cambria Math"/>
                        <a:ea typeface="Cambria Math"/>
                        <a:sym typeface="Symbol" pitchFamily="18" charset="2"/>
                      </a:rPr>
                      <m:t>0</m:t>
                    </m:r>
                    <m:r>
                      <a:rPr lang="en-US" altLang="en-US" sz="2000" i="1" dirty="0" smtClean="0">
                        <a:latin typeface="Cambria Math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then the system </a:t>
                </a:r>
                <a:r>
                  <a:rPr lang="en-US" altLang="en-US" sz="2000" i="1" dirty="0">
                    <a:latin typeface="Cambria Math"/>
                    <a:sym typeface="Symbol" pitchFamily="18" charset="2"/>
                  </a:rPr>
                  <a:t>a</a:t>
                </a:r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b="0" i="1" dirty="0">
                        <a:latin typeface="Cambria Math"/>
                      </a:rPr>
                      <m:t>𝑥</m:t>
                    </m:r>
                    <m:r>
                      <a:rPr lang="en-US" altLang="en-US" sz="2000" b="0" i="1" dirty="0">
                        <a:latin typeface="Cambria Math"/>
                      </a:rPr>
                      <m:t>+</m:t>
                    </m:r>
                    <m:r>
                      <a:rPr lang="en-US" altLang="en-US" sz="2000" b="0" i="1" dirty="0">
                        <a:latin typeface="Cambria Math"/>
                      </a:rPr>
                      <m:t>𝑏</m:t>
                    </m:r>
                    <m:r>
                      <a:rPr lang="en-US" altLang="en-US" sz="2000" b="0" i="1" dirty="0">
                        <a:latin typeface="Cambria Math"/>
                      </a:rPr>
                      <m:t> </m:t>
                    </m:r>
                    <m:r>
                      <a:rPr lang="en-US" altLang="en-US" sz="2000" b="0" i="1" dirty="0">
                        <a:latin typeface="Cambria Math"/>
                      </a:rPr>
                      <m:t>𝑦</m:t>
                    </m:r>
                    <m:r>
                      <a:rPr lang="en-US" altLang="en-US" sz="2000" b="0" i="1" dirty="0" smtClean="0">
                        <a:latin typeface="Cambria Math"/>
                      </a:rPr>
                      <m:t>=</m:t>
                    </m:r>
                    <m:r>
                      <a:rPr lang="en-US" altLang="en-US" sz="2000" b="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altLang="en-US" sz="2000" i="1" dirty="0">
                    <a:latin typeface="Cambria Math"/>
                    <a:sym typeface="Symbol" pitchFamily="18" charset="2"/>
                  </a:rPr>
                  <a:t> </a:t>
                </a: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and </a:t>
                </a:r>
                <a:r>
                  <a:rPr lang="en-US" altLang="en-US" sz="2000" i="1" dirty="0" smtClean="0">
                    <a:latin typeface="Cambria Math"/>
                    <a:sym typeface="Symbol" pitchFamily="18" charset="2"/>
                  </a:rPr>
                  <a:t>c</a:t>
                </a:r>
                <a:r>
                  <a:rPr lang="en-US" alt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/>
                      </a:rPr>
                      <m:t>𝑥</m:t>
                    </m:r>
                    <m:r>
                      <a:rPr lang="en-US" altLang="en-US" sz="2000" i="1" dirty="0">
                        <a:latin typeface="Cambria Math"/>
                      </a:rPr>
                      <m:t>+</m:t>
                    </m:r>
                    <m:r>
                      <a:rPr lang="en-US" altLang="en-US" sz="2000" b="0" i="1" dirty="0" smtClean="0">
                        <a:latin typeface="Cambria Math"/>
                      </a:rPr>
                      <m:t>𝑑</m:t>
                    </m:r>
                    <m:r>
                      <a:rPr lang="en-US" altLang="en-US" sz="2000" i="1" dirty="0">
                        <a:latin typeface="Cambria Math"/>
                      </a:rPr>
                      <m:t> </m:t>
                    </m:r>
                    <m:r>
                      <a:rPr lang="en-US" altLang="en-US" sz="2000" i="1" dirty="0">
                        <a:latin typeface="Cambria Math"/>
                      </a:rPr>
                      <m:t>𝑦</m:t>
                    </m:r>
                    <m:r>
                      <a:rPr lang="en-US" altLang="en-US" sz="2000" i="1" dirty="0">
                        <a:latin typeface="Cambria Math"/>
                      </a:rPr>
                      <m:t>=</m:t>
                    </m:r>
                    <m:r>
                      <a:rPr lang="en-US" altLang="en-US" sz="2000" b="0" i="1" dirty="0" smtClean="0">
                        <a:latin typeface="Cambria Math"/>
                      </a:rPr>
                      <m:t>𝑤</m:t>
                    </m:r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has one and only one solution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𝑥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𝐴𝑧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+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𝐵𝑤</m:t>
                    </m:r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en-US" sz="2000" b="0" i="1" dirty="0" smtClean="0">
                        <a:latin typeface="Cambria Math"/>
                        <a:sym typeface="Symbol" pitchFamily="18" charset="2"/>
                      </a:rPr>
                      <m:t>𝑦</m:t>
                    </m:r>
                    <m:r>
                      <a:rPr lang="en-US" altLang="en-US" sz="2000" b="0" i="1" dirty="0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b="0" i="1" dirty="0" smtClean="0">
                        <a:latin typeface="Cambria Math"/>
                        <a:sym typeface="Symbol" pitchFamily="18" charset="2"/>
                      </a:rPr>
                      <m:t>𝐶𝑥</m:t>
                    </m:r>
                    <m:r>
                      <a:rPr lang="en-US" altLang="en-US" sz="2000" b="0" i="1" dirty="0" smtClean="0">
                        <a:latin typeface="Cambria Math"/>
                        <a:sym typeface="Symbol" pitchFamily="18" charset="2"/>
                      </a:rPr>
                      <m:t>+</m:t>
                    </m:r>
                    <m:r>
                      <a:rPr lang="en-US" altLang="en-US" sz="2000" b="0" i="1" dirty="0" smtClean="0">
                        <a:latin typeface="Cambria Math"/>
                        <a:sym typeface="Symbol" pitchFamily="18" charset="2"/>
                      </a:rPr>
                      <m:t>𝐷𝑤</m:t>
                    </m:r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/>
                        <a:sym typeface="Symbol" pitchFamily="18" charset="2"/>
                      </a:rPr>
                      <m:t>𝐽</m:t>
                    </m:r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</m:d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i="1" dirty="0">
                        <a:latin typeface="Cambria Math"/>
                        <a:sym typeface="Symbol" pitchFamily="18" charset="2"/>
                      </a:rPr>
                      <m:t>𝑎𝑑</m:t>
                    </m:r>
                    <m:r>
                      <a:rPr lang="en-US" altLang="en-US" sz="2000" i="1" dirty="0">
                        <a:latin typeface="Cambria Math"/>
                        <a:sym typeface="Symbol" pitchFamily="18" charset="2"/>
                      </a:rPr>
                      <m:t>−</m:t>
                    </m:r>
                    <m:r>
                      <a:rPr lang="en-US" altLang="en-US" sz="2000" i="1" dirty="0">
                        <a:latin typeface="Cambria Math"/>
                        <a:sym typeface="Symbol" pitchFamily="18" charset="2"/>
                      </a:rPr>
                      <m:t>𝑏𝑐</m:t>
                    </m:r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𝒛𝒘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𝑧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𝑤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altLang="en-US" sz="2000" i="1">
                                          <a:latin typeface="Cambria Math"/>
                                          <a:sym typeface="Symbol" pitchFamily="18" charset="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en-US" sz="2000" i="1">
                                          <a:latin typeface="Cambria Math"/>
                                          <a:sym typeface="Symbol" pitchFamily="18" charset="2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000" i="1">
                                              <a:latin typeface="Cambria Math"/>
                                              <a:sym typeface="Symbol" pitchFamily="18" charset="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𝑎𝑑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−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𝑏𝑐</m:t>
                          </m:r>
                        </m:den>
                      </m:f>
                      <m:sSub>
                        <m:sSub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>
                              <a:latin typeface="Cambria Math"/>
                              <a:sym typeface="Symbol" pitchFamily="18" charset="2"/>
                            </a:rPr>
                            <m:t>𝒙𝒚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𝐴𝑧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+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𝐵𝑤</m:t>
                          </m:r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i="1" dirty="0">
                              <a:latin typeface="Cambria Math"/>
                              <a:sym typeface="Symbol" pitchFamily="18" charset="2"/>
                            </a:rPr>
                            <m:t>𝐶𝑥</m:t>
                          </m:r>
                          <m:r>
                            <a:rPr lang="en-US" altLang="en-US" sz="2000" i="1" dirty="0">
                              <a:latin typeface="Cambria Math"/>
                              <a:sym typeface="Symbol" pitchFamily="18" charset="2"/>
                            </a:rPr>
                            <m:t>+</m:t>
                          </m:r>
                          <m:r>
                            <a:rPr lang="en-US" altLang="en-US" sz="2000" i="1" dirty="0">
                              <a:latin typeface="Cambria Math"/>
                              <a:sym typeface="Symbol" pitchFamily="18" charset="2"/>
                            </a:rPr>
                            <m:t>𝐷𝑤</m:t>
                          </m:r>
                        </m:e>
                      </m:d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2578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68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198438"/>
                <a:ext cx="8229600" cy="1401762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3200" b="1" dirty="0" smtClean="0">
                    <a:solidFill>
                      <a:srgbClr val="FF0000"/>
                    </a:solidFill>
                  </a:rPr>
                  <a:t>Example-2: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Suppose</a:t>
                </a:r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and</a:t>
                </a:r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are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zero-mean normal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independent random variable with common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 smtClean="0">
                    <a:solidFill>
                      <a:srgbClr val="FF0000"/>
                    </a:solidFill>
                  </a:rPr>
                  <a:t>. Given two derived RV as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𝒓</m:t>
                    </m:r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en-US" sz="2000" dirty="0" smtClean="0">
                    <a:solidFill>
                      <a:srgbClr val="FF0000"/>
                    </a:solidFill>
                  </a:rPr>
                  <a:t> and 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</m:t>
                    </m:r>
                    <m:func>
                      <m:func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en-US" sz="2000" b="0" i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𝒚</m:t>
                                </m:r>
                              </m:num>
                              <m:den>
                                <m:r>
                                  <a:rPr lang="en-US" alt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𝒙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d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.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Determine their joint and individual density functions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 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198438"/>
                <a:ext cx="8229600" cy="1401762"/>
              </a:xfrm>
              <a:blipFill rotWithShape="1">
                <a:blip r:embed="rId2"/>
                <a:stretch>
                  <a:fillRect t="-1130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05000"/>
                <a:ext cx="8229600" cy="44196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en-US" sz="2000" b="1" i="1" smtClean="0">
                              <a:latin typeface="Cambria Math"/>
                              <a:sym typeface="Symbol" pitchFamily="18" charset="2"/>
                            </a:rPr>
                            <m:t>𝒙𝒚</m:t>
                          </m:r>
                        </m:sub>
                      </m:sSub>
                      <m:d>
                        <m:d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𝑥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𝑦</m:t>
                          </m:r>
                        </m:e>
                      </m:d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2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/>
                              <a:sym typeface="Symbol" pitchFamily="18" charset="2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/>
                                          <a:sym typeface="Symbol" pitchFamily="18" charset="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en-US" sz="2000" b="0" i="1" smtClean="0">
                                  <a:latin typeface="Cambria Math"/>
                                  <a:sym typeface="Symbol" pitchFamily="18" charset="2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/>
                                      <a:sym typeface="Symbol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en-US" sz="2000" b="0" dirty="0" smtClean="0">
                    <a:sym typeface="Symbol" pitchFamily="18" charset="2"/>
                  </a:rPr>
                  <a:t>Since       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𝑟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𝑔</m:t>
                    </m:r>
                    <m:d>
                      <m:dPr>
                        <m:ctrlPr>
                          <a:rPr lang="en-US" alt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en-US" alt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</m:d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en-US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ea typeface="Cambria Math"/>
                        <a:sym typeface="Symbol" pitchFamily="18" charset="2"/>
                      </a:rPr>
                      <m:t>𝜃</m:t>
                    </m:r>
                    <m:r>
                      <a:rPr lang="en-US" altLang="en-US" sz="2000" b="0" i="1" dirty="0" smtClean="0">
                        <a:latin typeface="Cambria Math"/>
                        <a:ea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h</m:t>
                    </m:r>
                    <m:d>
                      <m:dPr>
                        <m:ctrlPr>
                          <a:rPr lang="en-US" altLang="en-US" sz="2000" i="1" smtClean="0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</m:d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func>
                      <m:func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en-US" sz="200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altLang="en-US" sz="2000" b="1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en-US" sz="20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0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𝒚</m:t>
                                </m:r>
                              </m:num>
                              <m:den>
                                <m:r>
                                  <a:rPr lang="en-US" altLang="en-US" sz="20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𝒙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/>
                        <a:ea typeface="Cambria Math"/>
                        <a:sym typeface="Symbol" pitchFamily="18" charset="2"/>
                      </a:rPr>
                      <m:t>𝜃</m:t>
                    </m:r>
                    <m:r>
                      <a:rPr lang="en-US" altLang="en-US" sz="2000" i="1" dirty="0" smtClean="0">
                        <a:latin typeface="Cambria Math"/>
                        <a:ea typeface="Cambria Math"/>
                        <a:sym typeface="Symbol" pitchFamily="18" charset="2"/>
                      </a:rPr>
                      <m:t>∈</m:t>
                    </m:r>
                    <m:d>
                      <m:dPr>
                        <m:ctrlPr>
                          <a:rPr lang="en-US" altLang="en-US" sz="2000" i="1" dirty="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dirty="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−</m:t>
                        </m:r>
                        <m:r>
                          <a:rPr lang="en-US" altLang="en-US" sz="2000" b="0" i="1" dirty="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𝜋</m:t>
                        </m:r>
                        <m:r>
                          <a:rPr lang="en-US" altLang="en-US" sz="2000" b="0" i="1" dirty="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dirty="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. </a:t>
                </a:r>
                <a:r>
                  <a:rPr lang="en-US" altLang="en-US" sz="2000" i="1" dirty="0" smtClean="0">
                    <a:solidFill>
                      <a:srgbClr val="FF0000"/>
                    </a:solidFill>
                    <a:latin typeface="Cambria Math"/>
                    <a:sym typeface="Symbol" pitchFamily="18" charset="2"/>
                  </a:rPr>
                  <a:t>Only one solution-pair will exist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𝑟</m:t>
                    </m:r>
                    <m:func>
                      <m:func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000" b="0" i="0" smtClean="0">
                            <a:latin typeface="Cambria Math"/>
                            <a:sym typeface="Symbol" pitchFamily="18" charset="2"/>
                          </a:rPr>
                          <m:t>cos</m:t>
                        </m:r>
                      </m:fName>
                      <m:e>
                        <m:r>
                          <a:rPr lang="en-US" altLang="en-US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          and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𝑟</m:t>
                    </m:r>
                    <m:func>
                      <m:func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000" b="0" i="0" smtClean="0">
                            <a:latin typeface="Cambria Math"/>
                            <a:sym typeface="Symbol" pitchFamily="18" charset="2"/>
                          </a:rPr>
                          <m:t>sin</m:t>
                        </m:r>
                      </m:fName>
                      <m:e>
                        <m:r>
                          <a:rPr lang="en-US" altLang="en-US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𝜃</m:t>
                        </m:r>
                      </m:e>
                    </m:func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buNone/>
                </a:pPr>
                <a:r>
                  <a:rPr lang="en-US" sz="1900" dirty="0" smtClean="0"/>
                  <a:t>So Jacobian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/>
                        <a:sym typeface="Symbol" pitchFamily="18" charset="2"/>
                      </a:rPr>
                      <m:t>𝐽</m:t>
                    </m:r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𝑟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𝜃</m:t>
                        </m:r>
                      </m:e>
                    </m:d>
                  </m:oMath>
                </a14:m>
                <a:endParaRPr lang="en-US" sz="19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𝐽</m:t>
                      </m:r>
                      <m:d>
                        <m:dPr>
                          <m:ctrlP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1800" b="0" i="1" smtClean="0">
                              <a:latin typeface="Cambria Math"/>
                              <a:sym typeface="Symbol" pitchFamily="18" charset="2"/>
                            </a:rPr>
                            <m:t>𝑟</m:t>
                          </m:r>
                          <m:r>
                            <a:rPr lang="en-US" altLang="en-US" sz="1800" i="1">
                              <a:latin typeface="Cambria Math"/>
                              <a:sym typeface="Symbol" pitchFamily="18" charset="2"/>
                            </a:rPr>
                            <m:t>,</m:t>
                          </m:r>
                          <m:r>
                            <a:rPr lang="en-US" altLang="en-US" sz="180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𝜃</m:t>
                          </m:r>
                        </m:e>
                      </m:d>
                      <m:r>
                        <a:rPr lang="en-US" altLang="en-US" sz="1800" i="1">
                          <a:latin typeface="Cambria Math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18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1800" i="1" dirty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1800" b="0" i="1" dirty="0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1800" b="0" i="1" dirty="0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180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1800" b="0" i="1" dirty="0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1800" b="0" i="1" dirty="0" smtClean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en-US" sz="1800" i="1" dirty="0">
                                            <a:latin typeface="Cambria Math"/>
                                            <a:ea typeface="Cambria Math"/>
                                            <a:sym typeface="Symbol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en-US" sz="1800" i="1" dirty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𝛿</m:t>
                                    </m:r>
                                    <m:r>
                                      <a:rPr lang="en-US" altLang="en-US" sz="180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18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1800" b="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en-US" sz="1800" b="0" i="0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en-US" sz="1800" b="0" i="0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en-US" sz="1800" b="0" i="1" dirty="0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−</m:t>
                                </m:r>
                                <m:r>
                                  <a:rPr lang="en-US" altLang="en-US" sz="1800" b="0" i="1" dirty="0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en-US" sz="1800" b="0" i="0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en-US" sz="1800" b="0" i="0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en-US" sz="1800" b="0" i="1" dirty="0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en-US" sz="1800" b="0" i="0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en-US" sz="1800" b="0" i="1" dirty="0" smtClean="0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</m:t>
                      </m:r>
                      <m:r>
                        <a:rPr lang="en-US" altLang="en-US" sz="1800" b="0" i="1" dirty="0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𝑟</m:t>
                      </m:r>
                    </m:oMath>
                  </m:oMathPara>
                </a14:m>
                <a:endParaRPr lang="en-US" sz="1900" dirty="0" smtClean="0"/>
              </a:p>
              <a:p>
                <a:pPr marL="0" indent="0">
                  <a:buNone/>
                </a:pPr>
                <a:r>
                  <a:rPr lang="en-US" sz="1900" dirty="0" smtClean="0"/>
                  <a:t>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𝐽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𝑟</m:t>
                            </m:r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,</m:t>
                            </m:r>
                            <m:r>
                              <a:rPr lang="en-US" altLang="en-US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𝑟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endParaRPr lang="en-US" sz="19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05000"/>
                <a:ext cx="8229600" cy="4419600"/>
              </a:xfrm>
              <a:blipFill rotWithShape="1">
                <a:blip r:embed="rId3"/>
                <a:stretch>
                  <a:fillRect l="-741" r="-148" b="-2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4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198438"/>
                <a:ext cx="8229600" cy="1401762"/>
              </a:xfrm>
            </p:spPr>
            <p:txBody>
              <a:bodyPr>
                <a:noAutofit/>
              </a:bodyPr>
              <a:lstStyle/>
              <a:p>
                <a:r>
                  <a:rPr lang="en-US" altLang="en-US" sz="3200" b="1" dirty="0" smtClean="0">
                    <a:solidFill>
                      <a:srgbClr val="FF0000"/>
                    </a:solidFill>
                  </a:rPr>
                  <a:t>Example-2: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Suppose</a:t>
                </a:r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and</a:t>
                </a:r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altLang="en-US" sz="20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en-US" sz="2000" dirty="0" smtClean="0">
                    <a:solidFill>
                      <a:srgbClr val="FF0000"/>
                    </a:solidFill>
                  </a:rPr>
                  <a:t>are zero-mean independent random variable with common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 smtClean="0">
                    <a:solidFill>
                      <a:srgbClr val="FF0000"/>
                    </a:solidFill>
                  </a:rPr>
                  <a:t>. Given two derived RV as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𝒓</m:t>
                    </m:r>
                    <m:r>
                      <a:rPr lang="en-US" alt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en-US" sz="2000" dirty="0" smtClean="0">
                    <a:solidFill>
                      <a:srgbClr val="FF0000"/>
                    </a:solidFill>
                  </a:rPr>
                  <a:t> and  </a:t>
                </a:r>
                <a14:m>
                  <m:oMath xmlns:m="http://schemas.openxmlformats.org/officeDocument/2006/math">
                    <m:r>
                      <a:rPr lang="en-US" altLang="en-US" sz="2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altLang="en-US" sz="20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</m:t>
                    </m:r>
                    <m:func>
                      <m:funcPr>
                        <m:ctrlP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en-US" sz="2000" b="0" i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alt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alt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𝒚</m:t>
                                </m:r>
                              </m:num>
                              <m:den>
                                <m:r>
                                  <a:rPr lang="en-US" alt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𝒙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d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.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 Determine their joint and individual density functions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 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198438"/>
                <a:ext cx="8229600" cy="1401762"/>
              </a:xfrm>
              <a:blipFill rotWithShape="1">
                <a:blip r:embed="rId2"/>
                <a:stretch>
                  <a:fillRect t="-11304" b="-3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05000"/>
                <a:ext cx="8229600" cy="46482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 smtClean="0">
                            <a:latin typeface="Cambria Math"/>
                            <a:sym typeface="Symbol" pitchFamily="18" charset="2"/>
                          </a:rPr>
                          <m:t>𝒓</m:t>
                        </m:r>
                        <m:r>
                          <a:rPr lang="en-US" altLang="en-US" sz="2000" b="1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𝑟</m:t>
                        </m:r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𝜃</m:t>
                        </m:r>
                      </m:e>
                    </m:d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𝐽</m:t>
                        </m:r>
                        <m:d>
                          <m:d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𝑟</m:t>
                            </m:r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,</m:t>
                            </m:r>
                            <m:r>
                              <a:rPr lang="en-US" altLang="en-US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𝜃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  <a:sym typeface="Symbol" pitchFamily="18" charset="2"/>
                          </a:rPr>
                          <m:t>𝒙𝒚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000" b="0" i="1" smtClean="0">
                                <a:latin typeface="Cambria Math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𝑟</m:t>
                    </m:r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  <a:sym typeface="Symbol" pitchFamily="18" charset="2"/>
                          </a:rPr>
                          <m:t>𝒙𝒚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en-US" sz="2000" i="1">
                                <a:latin typeface="Cambria Math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=</m:t>
                    </m:r>
                    <m:f>
                      <m:f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𝑟</m:t>
                        </m:r>
                      </m:num>
                      <m:den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2</m:t>
                        </m:r>
                        <m:r>
                          <a:rPr lang="en-US" altLang="en-US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𝜋</m:t>
                        </m:r>
                        <m:sSup>
                          <m:sSupPr>
                            <m:ctrlPr>
                              <a:rPr lang="en-US" altLang="en-US" sz="2000" b="0" i="1" smtClean="0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/>
                            <a:sym typeface="Symbol" pitchFamily="18" charset="2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altLang="en-US" sz="2000" b="0" i="1" smtClean="0">
                                <a:latin typeface="Cambria Math"/>
                                <a:sym typeface="Symbol" pitchFamily="18" charset="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en-US" sz="2000" b="0" i="1" smtClean="0">
                                    <a:latin typeface="Cambria Math"/>
                                    <a:sym typeface="Symbol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b="0" i="1" smtClean="0">
                                    <a:latin typeface="Cambria Math"/>
                                    <a:sym typeface="Symbol" pitchFamily="18" charset="2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en-US" sz="2000" b="0" i="1" smtClean="0">
                                    <a:latin typeface="Cambria Math"/>
                                    <a:sym typeface="Symbol" pitchFamily="18" charset="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en-US" sz="2000" b="0" i="1" smtClean="0">
                                <a:latin typeface="Cambria Math"/>
                                <a:sym typeface="Symbol" pitchFamily="18" charset="2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en-US" sz="2000" b="0" i="1" smtClean="0">
                                    <a:latin typeface="Cambria Math"/>
                                    <a:sym typeface="Symbol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b="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en-US" sz="2000" b="0" i="1" smtClean="0">
                                    <a:latin typeface="Cambria Math"/>
                                    <a:sym typeface="Symbol" pitchFamily="18" charset="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altLang="en-US" sz="2000" dirty="0" smtClean="0">
                    <a:latin typeface="Cambria Math"/>
                    <a:sym typeface="Symbol" pitchFamily="18" charset="2"/>
                  </a:rPr>
                  <a:t>;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en-US" sz="2000" i="1" dirty="0" smtClean="0">
                            <a:latin typeface="Cambria Math"/>
                            <a:sym typeface="Symbol" pitchFamily="18" charset="2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en-US" sz="2000" b="0" i="1" dirty="0" smtClean="0">
                              <a:latin typeface="Cambria Math"/>
                              <a:sym typeface="Symbol" pitchFamily="18" charset="2"/>
                            </a:rPr>
                            <m:t>0</m:t>
                          </m:r>
                          <m:r>
                            <a:rPr lang="en-US" altLang="en-US" sz="20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𝑟</m:t>
                          </m:r>
                          <m:r>
                            <a:rPr lang="en-US" altLang="en-US" sz="2000" b="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&lt;∞</m:t>
                          </m:r>
                        </m:e>
                      </m:mr>
                      <m:m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sz="2000" i="1" dirty="0" smtClean="0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 dirty="0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en-US" sz="200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&lt;</m:t>
                          </m:r>
                          <m:r>
                            <a:rPr lang="en-US" altLang="en-US" sz="2000" i="1" dirty="0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𝜋</m:t>
                          </m:r>
                        </m:e>
                      </m:mr>
                    </m:m>
                  </m:oMath>
                </a14:m>
                <a:endParaRPr lang="en-US" altLang="en-US" sz="2000" dirty="0" smtClean="0">
                  <a:latin typeface="Cambria Math"/>
                  <a:sym typeface="Symbol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900" dirty="0" smtClean="0"/>
                  <a:t>Thus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𝒓</m:t>
                              </m:r>
                              <m:r>
                                <a:rPr lang="en-US" altLang="en-US" sz="2000" b="1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𝑟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𝑑</m:t>
                          </m:r>
                          <m:r>
                            <a:rPr lang="en-US" altLang="en-US" sz="20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𝜃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fPr>
                        <m:num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000" i="1">
                              <a:latin typeface="Cambria Math"/>
                              <a:sym typeface="Symbol" pitchFamily="18" charset="2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/>
                                      <a:sym typeface="Symbol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altLang="en-US" sz="2000" b="0" i="0" smtClean="0">
                          <a:latin typeface="Cambria Math"/>
                          <a:sym typeface="Symbol" pitchFamily="18" charset="2"/>
                        </a:rPr>
                        <m:t>;</m:t>
                      </m:r>
                      <m:r>
                        <a:rPr lang="en-US" altLang="en-US" sz="2000" b="0" i="1" smtClean="0">
                          <a:latin typeface="Cambria Math"/>
                          <a:sym typeface="Symbol" pitchFamily="18" charset="2"/>
                        </a:rPr>
                        <m:t>             </m:t>
                      </m:r>
                      <m:r>
                        <m:rPr>
                          <m:brk m:alnAt="7"/>
                        </m:rPr>
                        <a:rPr lang="en-US" altLang="en-US" sz="2000" i="1" dirty="0">
                          <a:latin typeface="Cambria Math"/>
                          <a:sym typeface="Symbol" pitchFamily="18" charset="2"/>
                        </a:rPr>
                        <m:t>0</m:t>
                      </m:r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&lt;</m:t>
                      </m:r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𝑟</m:t>
                      </m:r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&lt;∞</m:t>
                      </m:r>
                    </m:oMath>
                  </m:oMathPara>
                </a14:m>
                <a:endParaRPr lang="en-US" sz="20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en-US" sz="2000" b="1" i="1">
                                  <a:latin typeface="Cambria Math"/>
                                  <a:sym typeface="Symbol" pitchFamily="18" charset="2"/>
                                </a:rPr>
                                <m:t>𝒓</m:t>
                              </m:r>
                              <m:r>
                                <a:rPr lang="en-US" altLang="en-US" sz="2000" b="1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𝑟</m:t>
                              </m:r>
                              <m:r>
                                <a:rPr lang="en-US" altLang="en-US" sz="2000" i="1">
                                  <a:latin typeface="Cambria Math"/>
                                  <a:sym typeface="Symbol" pitchFamily="18" charset="2"/>
                                </a:rPr>
                                <m:t>,</m:t>
                              </m:r>
                              <m:r>
                                <a:rPr lang="en-US" altLang="en-US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 </m:t>
                          </m:r>
                          <m:r>
                            <a:rPr lang="en-US" altLang="en-US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𝑑𝑟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 ;           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000" i="1" dirty="0">
                              <a:latin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 dirty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𝜃</m:t>
                          </m:r>
                        </m:e>
                      </m:d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&lt;</m:t>
                      </m:r>
                      <m:r>
                        <a:rPr lang="en-US" altLang="en-US" sz="2000" i="1" dirty="0">
                          <a:latin typeface="Cambria Math"/>
                          <a:ea typeface="Cambria Math"/>
                          <a:sym typeface="Symbol" pitchFamily="18" charset="2"/>
                        </a:rPr>
                        <m:t>𝜋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altLang="en-US" sz="2000" dirty="0" smtClean="0">
                    <a:sym typeface="Symbol" pitchFamily="18" charset="2"/>
                  </a:rPr>
                  <a:t>i.e. RV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𝑟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b="0" i="0" smtClean="0">
                        <a:latin typeface="Cambria Math"/>
                        <a:sym typeface="Symbol" pitchFamily="18" charset="2"/>
                      </a:rPr>
                      <m:t>and</m:t>
                    </m:r>
                    <m:r>
                      <a:rPr lang="en-US" altLang="en-US" sz="2000" b="0" i="1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a:rPr lang="en-US" altLang="en-US" sz="2000" b="0" i="1" smtClean="0">
                        <a:latin typeface="Cambria Math"/>
                        <a:ea typeface="Cambria Math"/>
                        <a:sym typeface="Symbol" pitchFamily="18" charset="2"/>
                      </a:rPr>
                      <m:t>𝜃</m:t>
                    </m:r>
                  </m:oMath>
                </a14:m>
                <a:r>
                  <a:rPr lang="en-US" altLang="en-US" sz="2000" dirty="0" smtClean="0">
                    <a:sym typeface="Symbol" pitchFamily="18" charset="2"/>
                  </a:rPr>
                  <a:t> are independent RVs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altLang="en-US" sz="2000" b="1" i="1">
                            <a:latin typeface="Cambria Math"/>
                            <a:sym typeface="Symbol" pitchFamily="18" charset="2"/>
                          </a:rPr>
                          <m:t>𝒓</m:t>
                        </m:r>
                        <m:r>
                          <a:rPr lang="en-US" altLang="en-US" sz="2000" b="1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𝑟</m:t>
                        </m:r>
                        <m:r>
                          <a:rPr lang="en-US" altLang="en-US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en-US" altLang="en-US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𝜃</m:t>
                        </m:r>
                      </m:e>
                    </m:d>
                    <m:r>
                      <a:rPr lang="en-US" altLang="en-US" sz="2000" b="0" i="1" smtClean="0">
                        <a:latin typeface="Cambria Math"/>
                        <a:ea typeface="Cambria Math"/>
                        <a:sym typeface="Symbol" pitchFamily="18" charset="2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𝒓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𝑟</m:t>
                        </m:r>
                      </m:e>
                    </m:d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d>
                  </m:oMath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05000"/>
                <a:ext cx="8229600" cy="4648200"/>
              </a:xfrm>
              <a:blipFill rotWithShape="1"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53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</p:txBody>
      </p:sp>
    </p:spTree>
    <p:extLst>
      <p:ext uri="{BB962C8B-B14F-4D97-AF65-F5344CB8AC3E}">
        <p14:creationId xmlns:p14="http://schemas.microsoft.com/office/powerpoint/2010/main" val="3457955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Lecture-8  Function of Two Random Variables 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Joint Distribution&amp;quot;&quot;/&gt;&lt;property id=&quot;20307&quot; value=&quot;283&quot;/&gt;&lt;/object&gt;&lt;object type=&quot;3&quot; unique_id=&quot;10005&quot;&gt;&lt;property id=&quot;20148&quot; value=&quot;5&quot;/&gt;&lt;property id=&quot;20300&quot; value=&quot;Slide 3 - &amp;quot;Joint Density&amp;quot;&quot;/&gt;&lt;property id=&quot;20307&quot; value=&quot;284&quot;/&gt;&lt;/object&gt;&lt;object type=&quot;3&quot; unique_id=&quot;10006&quot;&gt;&lt;property id=&quot;20148&quot; value=&quot;5&quot;/&gt;&lt;property id=&quot;20300&quot; value=&quot;Slide 4 - &amp;quot;One Function of Two Random Variables&amp;quot;&quot;/&gt;&lt;property id=&quot;20307&quot; value=&quot;272&quot;/&gt;&lt;/object&gt;&lt;object type=&quot;3&quot; unique_id=&quot;10007&quot;&gt;&lt;property id=&quot;20148&quot; value=&quot;5&quot;/&gt;&lt;property id=&quot;20300&quot; value=&quot;Slide 5 - &amp;quot;One Function of Two Random Variables&amp;quot;&quot;/&gt;&lt;property id=&quot;20307&quot; value=&quot;285&quot;/&gt;&lt;/object&gt;&lt;object type=&quot;3&quot; unique_id=&quot;10008&quot;&gt;&lt;property id=&quot;20148&quot; value=&quot;5&quot;/&gt;&lt;property id=&quot;20300&quot; value=&quot;Slide 6 - &amp;quot;Two Functions of Two Random Variables&amp;quot;&quot;/&gt;&lt;property id=&quot;20307&quot; value=&quot;286&quot;/&gt;&lt;/object&gt;&lt;object type=&quot;3&quot; unique_id=&quot;10009&quot;&gt;&lt;property id=&quot;20148&quot; value=&quot;5&quot;/&gt;&lt;property id=&quot;20300&quot; value=&quot;Slide 7 - &amp;quot;Joint Density&amp;quot;&quot;/&gt;&lt;property id=&quot;20307&quot; value=&quot;287&quot;/&gt;&lt;/object&gt;&lt;object type=&quot;3&quot; unique_id=&quot;10010&quot;&gt;&lt;property id=&quot;20148&quot; value=&quot;5&quot;/&gt;&lt;property id=&quot;20300&quot; value=&quot;Slide 8 - &amp;quot;Joint Density&amp;quot;&quot;/&gt;&lt;property id=&quot;20307&quot; value=&quot;288&quot;/&gt;&lt;/object&gt;&lt;object type=&quot;3&quot; unique_id=&quot;10011&quot;&gt;&lt;property id=&quot;20148&quot; value=&quot;5&quot;/&gt;&lt;property id=&quot;20300&quot; value=&quot;Slide 9 - &amp;quot;Joint Density&amp;quot;&quot;/&gt;&lt;property id=&quot;20307&quot; value=&quot;289&quot;/&gt;&lt;/object&gt;&lt;object type=&quot;3&quot; unique_id=&quot;10012&quot;&gt;&lt;property id=&quot;20148&quot; value=&quot;5&quot;/&gt;&lt;property id=&quot;20300&quot; value=&quot;Slide 10 - &amp;quot;Joint Density&amp;quot;&quot;/&gt;&lt;property id=&quot;20307&quot; value=&quot;290&quot;/&gt;&lt;/object&gt;&lt;object type=&quot;3&quot; unique_id=&quot;10013&quot;&gt;&lt;property id=&quot;20148&quot; value=&quot;5&quot;/&gt;&lt;property id=&quot;20300&quot; value=&quot;Slide 11 - &amp;quot;Joint Density&amp;quot;&quot;/&gt;&lt;property id=&quot;20307&quot; value=&quot;291&quot;/&gt;&lt;/object&gt;&lt;object type=&quot;3&quot; unique_id=&quot;10014&quot;&gt;&lt;property id=&quot;20148&quot; value=&quot;5&quot;/&gt;&lt;property id=&quot;20300&quot; value=&quot;Slide 12 - &amp;quot;Example-1: Linear Transformation&amp;quot;&quot;/&gt;&lt;property id=&quot;20307&quot; value=&quot;292&quot;/&gt;&lt;/object&gt;&lt;object type=&quot;3&quot; unique_id=&quot;10015&quot;&gt;&lt;property id=&quot;20148&quot; value=&quot;5&quot;/&gt;&lt;property id=&quot;20300&quot; value=&quot;Slide 13 - &amp;quot;Example-2: Suppose 𝒙 and 𝒚 are zero-mean normal independent random variable with common variance  𝜎 2 . Given t&quot;/&gt;&lt;property id=&quot;20307&quot; value=&quot;293&quot;/&gt;&lt;/object&gt;&lt;object type=&quot;3&quot; unique_id=&quot;10016&quot;&gt;&lt;property id=&quot;20148&quot; value=&quot;5&quot;/&gt;&lt;property id=&quot;20300&quot; value=&quot;Slide 14 - &amp;quot;Example-2: Suppose 𝒙 and 𝒚 are zero-mean independent random variable with common variance  𝜎 2 . Given two deri&quot;/&gt;&lt;property id=&quot;20307&quot; value=&quot;294&quot;/&gt;&lt;/object&gt;&lt;object type=&quot;3&quot; unique_id=&quot;10017&quot;&gt;&lt;property id=&quot;20148&quot; value=&quot;5&quot;/&gt;&lt;property id=&quot;20300&quot; value=&quot;Slide 15 - &amp;quot;Reference&amp;quot;&quot;/&gt;&lt;property id=&quot;20307&quot; value=&quot;295&quot;/&gt;&lt;/object&gt;&lt;/object&gt;&lt;object type=&quot;8&quot; unique_id=&quot;1003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2458</Words>
  <Application>Microsoft Office PowerPoint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Equation</vt:lpstr>
      <vt:lpstr>Lecture-8  Function of Two Random Variables </vt:lpstr>
      <vt:lpstr>Joint Distribution</vt:lpstr>
      <vt:lpstr>Joint Density</vt:lpstr>
      <vt:lpstr>One Function of Two Random Variables</vt:lpstr>
      <vt:lpstr>One Function of Two Random Variables</vt:lpstr>
      <vt:lpstr>Two Functions of Two Random Variables</vt:lpstr>
      <vt:lpstr>Joint Density</vt:lpstr>
      <vt:lpstr>Joint Density</vt:lpstr>
      <vt:lpstr>Joint Density</vt:lpstr>
      <vt:lpstr>Joint Density</vt:lpstr>
      <vt:lpstr>Joint Density</vt:lpstr>
      <vt:lpstr>Example-1: Linear Transformation</vt:lpstr>
      <vt:lpstr>Example-2: Suppose x and y are zero-mean normal independent random variable with common variance σ^2. Given two derived RV as r=√(x^2+y^2 ) and  θ=tan^(-1)⁡(y∕x), where |θ|&lt;π. Determine their joint and individual density functions </vt:lpstr>
      <vt:lpstr>Example-2: Suppose x and y are zero-mean independent random variable with common variance σ^2. Given two derived RV as r=√(x^2+y^2 ) and  θ=tan^(-1)⁡(y∕x), where |θ|&lt;π. Determine their joint and individual density functions 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ashutosh</cp:lastModifiedBy>
  <cp:revision>103</cp:revision>
  <dcterms:created xsi:type="dcterms:W3CDTF">2020-06-13T16:57:58Z</dcterms:created>
  <dcterms:modified xsi:type="dcterms:W3CDTF">2020-07-07T06:48:33Z</dcterms:modified>
</cp:coreProperties>
</file>