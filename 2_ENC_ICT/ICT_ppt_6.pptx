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1"/>
  </p:notesMasterIdLst>
  <p:sldIdLst>
    <p:sldId id="343" r:id="rId2"/>
    <p:sldId id="335" r:id="rId3"/>
    <p:sldId id="336" r:id="rId4"/>
    <p:sldId id="337" r:id="rId5"/>
    <p:sldId id="338" r:id="rId6"/>
    <p:sldId id="339" r:id="rId7"/>
    <p:sldId id="340" r:id="rId8"/>
    <p:sldId id="341" r:id="rId9"/>
    <p:sldId id="342" r:id="rId10"/>
  </p:sldIdLst>
  <p:sldSz cx="9144000" cy="6858000" type="screen4x3"/>
  <p:notesSz cx="6858000" cy="8991600"/>
  <p:custDataLst>
    <p:tags r:id="rId12"/>
  </p:custDataLst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FF"/>
    <a:srgbClr val="FFFF99"/>
    <a:srgbClr val="0000FF"/>
    <a:srgbClr val="808080"/>
    <a:srgbClr val="00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19" autoAdjust="0"/>
    <p:restoredTop sz="90328" autoAdjust="0"/>
  </p:normalViewPr>
  <p:slideViewPr>
    <p:cSldViewPr snapToGrid="0">
      <p:cViewPr>
        <p:scale>
          <a:sx n="50" d="100"/>
          <a:sy n="50" d="100"/>
        </p:scale>
        <p:origin x="-1195" y="-24"/>
      </p:cViewPr>
      <p:guideLst>
        <p:guide orient="horz" pos="3547"/>
        <p:guide pos="5479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-1498" y="-77"/>
      </p:cViewPr>
      <p:guideLst>
        <p:guide orient="horz" pos="2832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aseline="-25000"/>
            </a:lvl1pPr>
          </a:lstStyle>
          <a:p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aseline="-25000"/>
            </a:lvl1pPr>
          </a:lstStyle>
          <a:p>
            <a:endParaRPr lang="en-US" alt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74688"/>
            <a:ext cx="4495800" cy="33718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270375"/>
            <a:ext cx="5029200" cy="404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542338"/>
            <a:ext cx="2971800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aseline="-25000"/>
            </a:lvl1pPr>
          </a:lstStyle>
          <a:p>
            <a:endParaRPr lang="en-US" altLang="en-US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542338"/>
            <a:ext cx="2971800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aseline="-25000"/>
            </a:lvl1pPr>
          </a:lstStyle>
          <a:p>
            <a:fld id="{AD11067B-4546-4980-B216-62CF41D3E8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88200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DB1A61-F1D2-4ED4-8A79-5D74105990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7284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0C4F0C-A317-43F2-AE17-A72D72CA89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8433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F96F27-44D7-47D1-B5F1-B8FA46CDB5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325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882FC-3736-4DA5-8004-06A1C08FC8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9202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74E282-441A-4227-927E-8D8032A623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942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4DAB9F-075E-4F3C-B208-7134BD7655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369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9A9DC4-470C-4E99-B4ED-77DF4C90F4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3049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E6F2A2-379E-41B2-9648-70B7807B12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084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97D3EB-3B79-405D-B32F-CCEC1E9994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38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E33C53-C585-40D8-B97F-B335A48A46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252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7B57B1-CDF9-474E-889C-1CAE4E769C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2466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/>
            </a:lvl1pPr>
          </a:lstStyle>
          <a:p>
            <a:fld id="{CD8ABB37-6828-42B8-B60B-AD7B6E1AD7C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0" i="0" u="none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44880" y="740569"/>
            <a:ext cx="749808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/>
              <a:t>Lecture-4</a:t>
            </a:r>
            <a:r>
              <a:rPr lang="en-US" b="1" dirty="0" smtClean="0"/>
              <a:t>    </a:t>
            </a:r>
            <a:r>
              <a:rPr lang="en-US" b="1" dirty="0"/>
              <a:t>(</a:t>
            </a:r>
            <a:r>
              <a:rPr lang="en-US" b="1" i="1" dirty="0"/>
              <a:t>Module-1</a:t>
            </a:r>
            <a:r>
              <a:rPr lang="en-US" b="1" dirty="0"/>
              <a:t>)</a:t>
            </a:r>
          </a:p>
          <a:p>
            <a:endParaRPr lang="en-US" b="1" u="sng" dirty="0"/>
          </a:p>
          <a:p>
            <a:pPr algn="ctr"/>
            <a:r>
              <a:rPr lang="en-US" altLang="en-US" sz="3600" b="1" i="1" dirty="0">
                <a:solidFill>
                  <a:srgbClr val="0070C0"/>
                </a:solidFill>
              </a:rPr>
              <a:t>Conditional Distribution and Bayes' theorem</a:t>
            </a:r>
            <a:r>
              <a:rPr lang="en-US" altLang="en-US" b="1" dirty="0" smtClean="0"/>
              <a:t> </a:t>
            </a:r>
            <a:endParaRPr lang="en-US" alt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i="1" dirty="0"/>
              <a:t>Conditional Distribution </a:t>
            </a:r>
            <a:endParaRPr lang="en-US" altLang="en-US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i="1" dirty="0"/>
              <a:t>Bayes' </a:t>
            </a:r>
            <a:r>
              <a:rPr lang="en-US" altLang="en-US" i="1" dirty="0"/>
              <a:t>theorem</a:t>
            </a:r>
            <a:endParaRPr lang="en-US" altLang="en-US" i="1" dirty="0"/>
          </a:p>
        </p:txBody>
      </p:sp>
    </p:spTree>
    <p:extLst>
      <p:ext uri="{BB962C8B-B14F-4D97-AF65-F5344CB8AC3E}">
        <p14:creationId xmlns:p14="http://schemas.microsoft.com/office/powerpoint/2010/main" val="3652162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026"/>
          <p:cNvSpPr txBox="1">
            <a:spLocks noChangeArrowheads="1"/>
          </p:cNvSpPr>
          <p:nvPr/>
        </p:nvSpPr>
        <p:spPr bwMode="auto">
          <a:xfrm>
            <a:off x="533400" y="819150"/>
            <a:ext cx="822960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p:sp>
        <p:nvSpPr>
          <p:cNvPr id="17412" name="Text Box 1028"/>
          <p:cNvSpPr txBox="1">
            <a:spLocks noChangeArrowheads="1"/>
          </p:cNvSpPr>
          <p:nvPr/>
        </p:nvSpPr>
        <p:spPr bwMode="auto">
          <a:xfrm>
            <a:off x="476250" y="800100"/>
            <a:ext cx="794385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p:sp>
        <p:nvSpPr>
          <p:cNvPr id="17417" name="Text Box 1033"/>
          <p:cNvSpPr txBox="1">
            <a:spLocks noChangeArrowheads="1"/>
          </p:cNvSpPr>
          <p:nvPr/>
        </p:nvSpPr>
        <p:spPr bwMode="auto">
          <a:xfrm>
            <a:off x="533400" y="7620"/>
            <a:ext cx="7886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b="1" dirty="0" smtClean="0"/>
              <a:t>CONDITIONAL DISTRIBUTION</a:t>
            </a:r>
            <a:endParaRPr lang="en-US" altLang="en-US" b="1" dirty="0"/>
          </a:p>
        </p:txBody>
      </p:sp>
      <p:sp>
        <p:nvSpPr>
          <p:cNvPr id="17464" name="Text Box 1080"/>
          <p:cNvSpPr txBox="1">
            <a:spLocks noChangeArrowheads="1"/>
          </p:cNvSpPr>
          <p:nvPr/>
        </p:nvSpPr>
        <p:spPr bwMode="auto">
          <a:xfrm>
            <a:off x="5813425" y="64008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43840" y="511810"/>
                <a:ext cx="8763000" cy="6065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 smtClean="0">
                    <a:latin typeface="Cambria Math"/>
                  </a:rPr>
                  <a:t>Conditional Probability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  <m:r>
                        <a:rPr lang="en-US" sz="1800" b="0" i="1" smtClean="0">
                          <a:latin typeface="Cambria Math"/>
                        </a:rPr>
                        <m:t>      </m:t>
                      </m:r>
                      <m:r>
                        <a:rPr lang="en-US" sz="1800" b="0" i="1" smtClean="0">
                          <a:latin typeface="Cambria Math"/>
                        </a:rPr>
                        <m:t>𝑤h𝑒𝑟𝑒</m:t>
                      </m:r>
                      <m:r>
                        <a:rPr lang="en-US" sz="1800" b="0" i="1" smtClean="0">
                          <a:latin typeface="Cambria Math"/>
                        </a:rPr>
                        <m:t>       </m:t>
                      </m:r>
                      <m:r>
                        <a:rPr lang="en-US" sz="18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𝑀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  <a:ea typeface="Cambria Math"/>
                        </a:rPr>
                        <m:t>≠0</m:t>
                      </m:r>
                    </m:oMath>
                  </m:oMathPara>
                </a14:m>
                <a:endParaRPr lang="en-US" sz="1800" i="1" dirty="0" smtClean="0"/>
              </a:p>
              <a:p>
                <a:r>
                  <a:rPr lang="en-US" sz="1800" b="1" i="1" u="sng" dirty="0" smtClean="0">
                    <a:latin typeface="Cambria Math"/>
                  </a:rPr>
                  <a:t>Conditional distribution: </a:t>
                </a:r>
                <a:r>
                  <a:rPr lang="en-US" sz="1800" dirty="0">
                    <a:latin typeface="Cambria Math"/>
                  </a:rPr>
                  <a:t> </a:t>
                </a:r>
                <a:r>
                  <a:rPr lang="en-US" sz="1800" dirty="0" smtClean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/>
                              </a:rPr>
                              <m:t>𝑀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800" dirty="0" smtClean="0">
                    <a:latin typeface="Cambria Math"/>
                  </a:rPr>
                  <a:t> of a random variable </a:t>
                </a:r>
                <a:r>
                  <a:rPr lang="en-US" sz="1800" b="1" dirty="0" smtClean="0">
                    <a:latin typeface="Cambria Math"/>
                  </a:rPr>
                  <a:t>x </a:t>
                </a:r>
                <a:r>
                  <a:rPr lang="en-US" sz="1800" dirty="0" smtClean="0">
                    <a:latin typeface="Cambria Math"/>
                  </a:rPr>
                  <a:t>is defined as</a:t>
                </a:r>
                <a:endParaRPr lang="en-US" sz="1800" b="1" i="1" u="sng" dirty="0" smtClean="0">
                  <a:latin typeface="Cambria Math"/>
                </a:endParaRPr>
              </a:p>
              <a:p>
                <a:endParaRPr lang="en-US" sz="1800" b="1" i="1" u="sng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r>
                        <a:rPr lang="en-US" sz="18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18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/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𝑀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1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, 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800" dirty="0" smtClean="0"/>
              </a:p>
              <a:p>
                <a:r>
                  <a:rPr lang="en-US" sz="1800" dirty="0" smtClean="0"/>
                  <a:t>Here,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1800" dirty="0" smtClean="0"/>
                  <a:t> is the intersection of the events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 smtClean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1800" dirty="0" smtClean="0"/>
                  <a:t> i.e. the event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1800" dirty="0" smtClean="0"/>
                  <a:t> is consisting of all outcomes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800" dirty="0"/>
                      <m:t>ξ</m:t>
                    </m:r>
                  </m:oMath>
                </a14:m>
                <a:r>
                  <a:rPr lang="en-US" sz="1800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𝒙</m:t>
                    </m:r>
                    <m:d>
                      <m:dPr>
                        <m:ctrlPr>
                          <a:rPr lang="en-US" sz="18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sz="1800" dirty="0"/>
                          <m:t>ξ</m:t>
                        </m:r>
                      </m:e>
                    </m:d>
                    <m:r>
                      <a:rPr lang="en-US" sz="18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𝑥</m:t>
                    </m:r>
                  </m:oMath>
                </a14:m>
                <a:r>
                  <a:rPr lang="en-US" sz="1800" dirty="0" smtClean="0"/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800" dirty="0"/>
                      <m:t>ξ</m:t>
                    </m:r>
                    <m:r>
                      <a:rPr lang="el-GR" sz="180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800" b="0" i="1" dirty="0" smtClean="0">
                        <a:latin typeface="Cambria Math"/>
                        <a:ea typeface="Cambria Math"/>
                      </a:rPr>
                      <m:t>𝑀</m:t>
                    </m:r>
                  </m:oMath>
                </a14:m>
                <a:r>
                  <a:rPr lang="en-US" sz="1800" dirty="0" smtClean="0"/>
                  <a:t>.</a:t>
                </a:r>
              </a:p>
              <a:p>
                <a:r>
                  <a:rPr lang="en-US" sz="1800" b="1" i="1" u="sng" dirty="0" smtClean="0">
                    <a:latin typeface="Cambria Math"/>
                  </a:rPr>
                  <a:t>Properties of </a:t>
                </a:r>
                <a14:m>
                  <m:oMath xmlns:m="http://schemas.openxmlformats.org/officeDocument/2006/math">
                    <m:r>
                      <a:rPr lang="en-US" sz="1800" b="1" i="1" u="sng" smtClean="0">
                        <a:latin typeface="Cambria Math"/>
                      </a:rPr>
                      <m:t>  </m:t>
                    </m:r>
                    <m:r>
                      <a:rPr lang="en-US" sz="1800" b="1" i="1" u="sng">
                        <a:latin typeface="Cambria Math"/>
                      </a:rPr>
                      <m:t>𝑭</m:t>
                    </m:r>
                    <m:d>
                      <m:dPr>
                        <m:ctrlPr>
                          <a:rPr lang="en-US" sz="1800" b="1" i="1" u="sng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b="1" i="1" u="sng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b="1" i="1" u="sng">
                                <a:latin typeface="Cambria Math"/>
                              </a:rPr>
                              <m:t>𝒙</m:t>
                            </m:r>
                          </m:num>
                          <m:den>
                            <m:r>
                              <a:rPr lang="en-US" sz="1800" b="1" i="1" u="sng">
                                <a:latin typeface="Cambria Math"/>
                              </a:rPr>
                              <m:t>𝑴</m:t>
                            </m:r>
                          </m:den>
                        </m:f>
                      </m:e>
                    </m:d>
                  </m:oMath>
                </a14:m>
                <a:endParaRPr lang="en-US" sz="1800" b="1" i="1" u="sng" dirty="0" smtClean="0">
                  <a:latin typeface="Cambria Math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1800" i="1">
                          <a:latin typeface="Cambria Math"/>
                        </a:rPr>
                        <m:t>=1     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/>
                        </a:rPr>
                        <m:t>and</m:t>
                      </m:r>
                      <m:r>
                        <a:rPr lang="en-US" sz="1800" i="1">
                          <a:latin typeface="Cambria Math"/>
                        </a:rPr>
                        <m:t>         </m:t>
                      </m:r>
                      <m:r>
                        <a:rPr lang="en-US" sz="1800" i="1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18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1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1" i="1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sz="1800" b="1" i="1">
                              <a:latin typeface="Cambria Math"/>
                              <a:ea typeface="Cambria Math"/>
                            </a:rPr>
                            <m:t>𝒙</m:t>
                          </m:r>
                          <m:r>
                            <a:rPr lang="en-US" sz="1800" b="1" i="1">
                              <a:latin typeface="Cambria Math"/>
                              <a:ea typeface="Cambria Math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/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𝑀</m:t>
                          </m:r>
                        </m:e>
                      </m:d>
                      <m:r>
                        <a:rPr lang="en-US" sz="1800" b="0" i="1">
                          <a:latin typeface="Cambria Math"/>
                        </a:rPr>
                        <m:t>=</m:t>
                      </m:r>
                      <m:r>
                        <a:rPr lang="en-US" sz="1800" i="1">
                          <a:latin typeface="Cambria Math"/>
                          <a:ea typeface="Cambria Math"/>
                        </a:rPr>
                        <m:t>𝐹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/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𝑀</m:t>
                          </m:r>
                        </m:e>
                      </m:d>
                      <m:r>
                        <a:rPr lang="en-US" sz="1800" b="1" i="1">
                          <a:latin typeface="Cambria Math"/>
                          <a:ea typeface="Cambria Math"/>
                        </a:rPr>
                        <m:t> −</m:t>
                      </m:r>
                      <m:r>
                        <a:rPr lang="en-US" sz="1800" i="1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800" b="0" i="1" smtClean="0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1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𝒙</m:t>
                              </m:r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, 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800" b="1" i="1" u="sng" dirty="0" smtClean="0">
                  <a:latin typeface="Cambria Math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1800" b="1" i="1" u="sng" dirty="0" smtClean="0">
                    <a:latin typeface="Cambria Math"/>
                  </a:rPr>
                  <a:t>Conditional Density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/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𝑀</m:t>
                          </m:r>
                        </m:e>
                      </m:d>
                      <m:r>
                        <a:rPr lang="en-US" sz="16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/>
                            </a:rPr>
                            <m:t>𝑑</m:t>
                          </m:r>
                          <m:r>
                            <a:rPr lang="en-US" sz="1600" i="1">
                              <a:latin typeface="Cambria Math"/>
                            </a:rPr>
                            <m:t> </m:t>
                          </m:r>
                          <m:r>
                            <a:rPr lang="en-US" sz="1600" i="1">
                              <a:latin typeface="Cambria Math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/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1600" i="1">
                              <a:latin typeface="Cambria Math"/>
                            </a:rPr>
                            <m:t>𝑑𝑥</m:t>
                          </m:r>
                        </m:den>
                      </m:f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18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𝑃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b="1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1800" b="1" i="1">
                                      <a:latin typeface="Cambria Math"/>
                                      <a:ea typeface="Cambria Math"/>
                                    </a:rPr>
                                    <m:t>&lt;</m:t>
                                  </m:r>
                                  <m:r>
                                    <a:rPr lang="en-US" sz="1800" b="1" i="1">
                                      <a:latin typeface="Cambria Math"/>
                                      <a:ea typeface="Cambria Math"/>
                                    </a:rPr>
                                    <m:t>𝒙</m:t>
                                  </m:r>
                                  <m:r>
                                    <a:rPr lang="en-US" sz="1800" b="1" i="1">
                                      <a:latin typeface="Cambria Math"/>
                                      <a:ea typeface="Cambria Math"/>
                                    </a:rPr>
                                    <m:t>≤</m:t>
                                  </m:r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+∆</m:t>
                                  </m:r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  <m:r>
                                    <a:rPr lang="en-US" sz="1800" b="0" i="1" smtClean="0">
                                      <a:latin typeface="Cambria Math"/>
                                      <a:ea typeface="Cambria Math"/>
                                    </a:rPr>
                                    <m:t>/</m:t>
                                  </m:r>
                                  <m:r>
                                    <a:rPr lang="en-US" sz="1800" b="0" i="1" smtClean="0">
                                      <a:latin typeface="Cambria Math"/>
                                      <a:ea typeface="Cambria Math"/>
                                    </a:rPr>
                                    <m:t>𝑀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1800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511810"/>
                <a:ext cx="8763000" cy="6065443"/>
              </a:xfrm>
              <a:prstGeom prst="rect">
                <a:avLst/>
              </a:prstGeom>
              <a:blipFill rotWithShape="1">
                <a:blip r:embed="rId2"/>
                <a:stretch>
                  <a:fillRect l="-556" t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6675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026"/>
          <p:cNvSpPr txBox="1">
            <a:spLocks noChangeArrowheads="1"/>
          </p:cNvSpPr>
          <p:nvPr/>
        </p:nvSpPr>
        <p:spPr bwMode="auto">
          <a:xfrm>
            <a:off x="533400" y="819150"/>
            <a:ext cx="822960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p:sp>
        <p:nvSpPr>
          <p:cNvPr id="17412" name="Text Box 1028"/>
          <p:cNvSpPr txBox="1">
            <a:spLocks noChangeArrowheads="1"/>
          </p:cNvSpPr>
          <p:nvPr/>
        </p:nvSpPr>
        <p:spPr bwMode="auto">
          <a:xfrm>
            <a:off x="476250" y="800100"/>
            <a:ext cx="794385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p:sp>
        <p:nvSpPr>
          <p:cNvPr id="17417" name="Text Box 1033"/>
          <p:cNvSpPr txBox="1">
            <a:spLocks noChangeArrowheads="1"/>
          </p:cNvSpPr>
          <p:nvPr/>
        </p:nvSpPr>
        <p:spPr bwMode="auto">
          <a:xfrm>
            <a:off x="533400" y="7620"/>
            <a:ext cx="7886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b="1" dirty="0" smtClean="0"/>
              <a:t>EXAMPLE - Fair Die</a:t>
            </a:r>
            <a:endParaRPr lang="en-US" altLang="en-US" b="1" dirty="0"/>
          </a:p>
        </p:txBody>
      </p:sp>
      <p:sp>
        <p:nvSpPr>
          <p:cNvPr id="17464" name="Text Box 1080"/>
          <p:cNvSpPr txBox="1">
            <a:spLocks noChangeArrowheads="1"/>
          </p:cNvSpPr>
          <p:nvPr/>
        </p:nvSpPr>
        <p:spPr bwMode="auto">
          <a:xfrm>
            <a:off x="5813425" y="64008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43840" y="511810"/>
                <a:ext cx="8763000" cy="4781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800" dirty="0" smtClean="0"/>
                  <a:t>Let </a:t>
                </a:r>
                <a:r>
                  <a:rPr lang="en-US" sz="1800" dirty="0"/>
                  <a:t>the six outcomes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𝑓</m:t>
                    </m:r>
                    <m:r>
                      <a:rPr lang="en-US" sz="1800" i="1" baseline="-25000" dirty="0">
                        <a:latin typeface="Cambria Math"/>
                      </a:rPr>
                      <m:t>𝑖</m:t>
                    </m:r>
                  </m:oMath>
                </a14:m>
                <a:r>
                  <a:rPr lang="en-US" sz="1800" dirty="0"/>
                  <a:t> has assigned the numbers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=10</m:t>
                    </m:r>
                    <m:r>
                      <a:rPr lang="en-US" sz="1800" i="1">
                        <a:latin typeface="Cambria Math"/>
                      </a:rPr>
                      <m:t>𝑖</m:t>
                    </m:r>
                  </m:oMath>
                </a14:m>
                <a:r>
                  <a:rPr lang="en-US" sz="1800" dirty="0"/>
                  <a:t>. i.e.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=10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=20</m:t>
                    </m:r>
                  </m:oMath>
                </a14:m>
                <a:r>
                  <a:rPr lang="en-US" sz="1800" dirty="0"/>
                  <a:t>,…,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=60</m:t>
                    </m:r>
                  </m:oMath>
                </a14:m>
                <a:endParaRPr lang="en-US" sz="1800" dirty="0"/>
              </a:p>
              <a:p>
                <a:r>
                  <a:rPr lang="en-US" sz="1800" dirty="0" smtClean="0">
                    <a:latin typeface="Cambria Math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sz="1800" dirty="0" smtClean="0">
                    <a:latin typeface="Cambria Math"/>
                  </a:rPr>
                  <a:t> is the event ‘even’ given as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𝑀</m:t>
                    </m:r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/>
                              </a:rPr>
                              <m:t>4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 smtClean="0">
                    <a:latin typeface="Cambria Math"/>
                  </a:rPr>
                  <a:t>. Find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𝑀</m:t>
                            </m:r>
                          </m:den>
                        </m:f>
                      </m:e>
                    </m:d>
                  </m:oMath>
                </a14:m>
                <a:endParaRPr lang="en-US" sz="1800" dirty="0" smtClean="0">
                  <a:latin typeface="Cambria Math"/>
                </a:endParaRPr>
              </a:p>
              <a:p>
                <a:r>
                  <a:rPr lang="en-US" sz="1800" b="1" i="1" u="sng" dirty="0" smtClean="0">
                    <a:latin typeface="Cambria Math"/>
                  </a:rPr>
                  <a:t>Solution: </a:t>
                </a:r>
                <a:r>
                  <a:rPr lang="en-US" sz="1800" dirty="0" smtClean="0">
                    <a:latin typeface="Cambria Math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/>
                              </a:rPr>
                              <m:t>𝑀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800" dirty="0" smtClean="0">
                    <a:latin typeface="Cambria Math"/>
                  </a:rPr>
                  <a:t> of a random variable </a:t>
                </a:r>
                <a:r>
                  <a:rPr lang="en-US" sz="1800" b="1" dirty="0" smtClean="0">
                    <a:latin typeface="Cambria Math"/>
                  </a:rPr>
                  <a:t>x </a:t>
                </a:r>
                <a:r>
                  <a:rPr lang="en-US" sz="1800" dirty="0" smtClean="0">
                    <a:latin typeface="Cambria Math"/>
                  </a:rPr>
                  <a:t>is defined as</a:t>
                </a:r>
                <a:endParaRPr lang="en-US" sz="1800" b="1" i="1" u="sng" dirty="0" smtClean="0">
                  <a:latin typeface="Cambria Math"/>
                </a:endParaRPr>
              </a:p>
              <a:p>
                <a:endParaRPr lang="en-US" sz="1800" b="1" i="1" u="sng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r>
                        <a:rPr lang="en-US" sz="18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18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/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𝑀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1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, 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800" dirty="0" smtClean="0"/>
              </a:p>
              <a:p>
                <a:r>
                  <a:rPr lang="en-US" sz="1800" dirty="0" smtClean="0"/>
                  <a:t>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𝑥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≥60</m:t>
                    </m:r>
                  </m:oMath>
                </a14:m>
                <a:r>
                  <a:rPr lang="en-US" sz="1800" dirty="0" smtClean="0"/>
                  <a:t>, then event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 smtClean="0"/>
                  <a:t> is the certain event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</m:d>
                    <m:r>
                      <a:rPr lang="en-US" sz="1800" b="1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1800" dirty="0" smtClean="0"/>
                  <a:t> so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𝑀</m:t>
                            </m:r>
                          </m:den>
                        </m:f>
                      </m:e>
                    </m:d>
                    <m:r>
                      <a:rPr lang="en-US" sz="1800" b="0" i="1" smtClean="0">
                        <a:latin typeface="Cambria Math"/>
                      </a:rPr>
                      <m:t>=1</m:t>
                    </m:r>
                  </m:oMath>
                </a14:m>
                <a:endParaRPr lang="en-US" sz="1800" dirty="0" smtClean="0"/>
              </a:p>
              <a:p>
                <a:r>
                  <a:rPr lang="en-US" sz="1800" dirty="0" smtClean="0"/>
                  <a:t>For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/>
                      </a:rPr>
                      <m:t>40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800" i="1">
                        <a:latin typeface="Cambria Math"/>
                      </a:rPr>
                      <m:t>𝑥</m:t>
                    </m:r>
                    <m:r>
                      <a:rPr lang="en-US" sz="180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60</m:t>
                    </m:r>
                  </m:oMath>
                </a14:m>
                <a:r>
                  <a:rPr lang="en-US" sz="1800" dirty="0" smtClean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</m:d>
                    <m:r>
                      <a:rPr lang="en-US" sz="1800" b="1" i="1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 smtClean="0"/>
                  <a:t>. Hence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𝑀</m:t>
                            </m:r>
                          </m:den>
                        </m:f>
                      </m:e>
                    </m:d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800" b="1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1800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𝑀</m:t>
                            </m:r>
                          </m:e>
                        </m:d>
                        <m:r>
                          <a:rPr lang="en-US" sz="1800" b="0" i="1" smtClean="0">
                            <a:latin typeface="Cambria Math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/>
                          </a:rPr>
                          <m:t>2/6</m:t>
                        </m:r>
                      </m:num>
                      <m:den>
                        <m:r>
                          <a:rPr lang="en-US" sz="1800" b="0" i="1" smtClean="0">
                            <a:latin typeface="Cambria Math"/>
                          </a:rPr>
                          <m:t>3/6</m:t>
                        </m:r>
                      </m:den>
                    </m:f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US" sz="1800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US" sz="1800" dirty="0" smtClean="0"/>
              </a:p>
              <a:p>
                <a:r>
                  <a:rPr lang="en-US" sz="1800" dirty="0"/>
                  <a:t>For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/>
                      </a:rPr>
                      <m:t>2</m:t>
                    </m:r>
                    <m:r>
                      <a:rPr lang="en-US" sz="1800">
                        <a:latin typeface="Cambria Math"/>
                      </a:rPr>
                      <m:t>0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800" i="1">
                        <a:latin typeface="Cambria Math"/>
                      </a:rPr>
                      <m:t>𝑥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4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</m:d>
                    <m:r>
                      <a:rPr lang="en-US" sz="1800" b="1" i="1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. Hence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𝑀</m:t>
                            </m:r>
                          </m:den>
                        </m:f>
                      </m:e>
                    </m:d>
                    <m:r>
                      <a:rPr lang="en-US" sz="18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800" b="1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1800" i="1">
                            <a:latin typeface="Cambria Math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𝑀</m:t>
                            </m:r>
                          </m:e>
                        </m:d>
                        <m:r>
                          <a:rPr lang="en-US" sz="1800" i="1">
                            <a:latin typeface="Cambria Math"/>
                          </a:rPr>
                          <m:t>=</m:t>
                        </m:r>
                        <m:r>
                          <a:rPr lang="en-US" sz="1800" i="1">
                            <a:latin typeface="Cambria Math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18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/>
                          </a:rPr>
                          <m:t>1</m:t>
                        </m:r>
                        <m:r>
                          <a:rPr lang="en-US" sz="1800" i="1">
                            <a:latin typeface="Cambria Math"/>
                          </a:rPr>
                          <m:t>/6</m:t>
                        </m:r>
                      </m:num>
                      <m:den>
                        <m:r>
                          <a:rPr lang="en-US" sz="1800" i="1">
                            <a:latin typeface="Cambria Math"/>
                          </a:rPr>
                          <m:t>3/6</m:t>
                        </m:r>
                      </m:den>
                    </m:f>
                    <m:r>
                      <a:rPr lang="en-US" sz="18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US" sz="1800" dirty="0" smtClean="0"/>
              </a:p>
              <a:p>
                <a:r>
                  <a:rPr lang="en-US" sz="1800" dirty="0"/>
                  <a:t>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𝑥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</m:d>
                    <m:r>
                      <a:rPr lang="en-US" sz="1800" b="1" i="1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/>
                            <a:ea typeface="Cambria Math"/>
                          </a:rPr>
                          <m:t>∅</m:t>
                        </m:r>
                      </m:e>
                    </m:d>
                  </m:oMath>
                </a14:m>
                <a:r>
                  <a:rPr lang="en-US" sz="1800" dirty="0"/>
                  <a:t>. Hence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𝑀</m:t>
                            </m:r>
                          </m:den>
                        </m:f>
                      </m:e>
                    </m:d>
                    <m:r>
                      <a:rPr lang="en-US" sz="1800" i="1">
                        <a:latin typeface="Cambria Math"/>
                      </a:rPr>
                      <m:t>=</m:t>
                    </m:r>
                    <m:r>
                      <a:rPr lang="en-US" sz="1800" i="1" smtClean="0">
                        <a:latin typeface="Cambria Math"/>
                      </a:rPr>
                      <m:t>0</m:t>
                    </m:r>
                  </m:oMath>
                </a14:m>
                <a:endParaRPr lang="en-US" sz="1800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511810"/>
                <a:ext cx="8763000" cy="4781822"/>
              </a:xfrm>
              <a:prstGeom prst="rect">
                <a:avLst/>
              </a:prstGeom>
              <a:blipFill rotWithShape="1">
                <a:blip r:embed="rId2"/>
                <a:stretch>
                  <a:fillRect l="-556" t="-638" b="-13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7615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026"/>
          <p:cNvSpPr txBox="1">
            <a:spLocks noChangeArrowheads="1"/>
          </p:cNvSpPr>
          <p:nvPr/>
        </p:nvSpPr>
        <p:spPr bwMode="auto">
          <a:xfrm>
            <a:off x="533400" y="819150"/>
            <a:ext cx="822960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p:sp>
        <p:nvSpPr>
          <p:cNvPr id="17412" name="Text Box 1028"/>
          <p:cNvSpPr txBox="1">
            <a:spLocks noChangeArrowheads="1"/>
          </p:cNvSpPr>
          <p:nvPr/>
        </p:nvSpPr>
        <p:spPr bwMode="auto">
          <a:xfrm>
            <a:off x="476250" y="800100"/>
            <a:ext cx="794385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17" name="Text Box 1033"/>
              <p:cNvSpPr txBox="1">
                <a:spLocks noChangeArrowheads="1"/>
              </p:cNvSpPr>
              <p:nvPr/>
            </p:nvSpPr>
            <p:spPr bwMode="auto">
              <a:xfrm>
                <a:off x="533400" y="220980"/>
                <a:ext cx="7886700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en-US" sz="2000" b="1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altLang="en-US" sz="2000" b="1" dirty="0" smtClean="0"/>
                  <a:t> is an event that can be expressed in terms of random variable </a:t>
                </a:r>
                <a:r>
                  <a:rPr lang="en-US" altLang="en-US" sz="2000" b="1" i="1" dirty="0" smtClean="0"/>
                  <a:t>x</a:t>
                </a:r>
                <a:r>
                  <a:rPr lang="en-US" altLang="en-US" sz="2000" b="1" dirty="0" smtClean="0"/>
                  <a:t> </a:t>
                </a:r>
                <a:endParaRPr lang="en-US" altLang="en-US" sz="2000" b="1" dirty="0"/>
              </a:p>
            </p:txBody>
          </p:sp>
        </mc:Choice>
        <mc:Fallback>
          <p:sp>
            <p:nvSpPr>
              <p:cNvPr id="17417" name="Text Box 10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220980"/>
                <a:ext cx="7886700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851" t="-7576" b="-257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64" name="Text Box 1080"/>
          <p:cNvSpPr txBox="1">
            <a:spLocks noChangeArrowheads="1"/>
          </p:cNvSpPr>
          <p:nvPr/>
        </p:nvSpPr>
        <p:spPr bwMode="auto">
          <a:xfrm>
            <a:off x="5813425" y="64008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43840" y="984250"/>
                <a:ext cx="8763000" cy="4450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800" b="1" i="1" u="sng" dirty="0" smtClean="0"/>
                  <a:t>Case-1: </a:t>
                </a:r>
                <a:r>
                  <a:rPr lang="en-US" sz="1800" dirty="0" smtClean="0"/>
                  <a:t>Find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𝑀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800" dirty="0" smtClean="0">
                    <a:latin typeface="Cambria Math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𝑀</m:t>
                    </m:r>
                    <m:r>
                      <a:rPr lang="en-US" sz="1800" b="1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/>
                          </a:rPr>
                          <m:t>𝒙</m:t>
                        </m:r>
                        <m:r>
                          <a:rPr lang="en-US" sz="1800" b="1" i="1" smtClean="0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1800" dirty="0" smtClean="0">
                    <a:latin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0" dirty="0" smtClean="0">
                        <a:latin typeface="Cambria Math"/>
                      </a:rPr>
                      <m:t>′</m:t>
                    </m:r>
                    <m:r>
                      <a:rPr lang="en-US" sz="1800" i="1" dirty="0" smtClean="0">
                        <a:latin typeface="Cambria Math"/>
                      </a:rPr>
                      <m:t>𝑎</m:t>
                    </m:r>
                    <m:r>
                      <a:rPr lang="en-US" sz="18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 smtClean="0">
                    <a:latin typeface="Cambria Math"/>
                  </a:rPr>
                  <a:t> is a number such that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US" sz="1800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en-US" sz="1800" dirty="0" smtClean="0">
                    <a:latin typeface="Cambria Math"/>
                  </a:rPr>
                  <a:t> </a:t>
                </a:r>
                <a:endParaRPr lang="en-US" sz="1800" b="1" i="1" u="sng" dirty="0" smtClean="0">
                  <a:latin typeface="Cambria Math"/>
                </a:endParaRPr>
              </a:p>
              <a:p>
                <a:endParaRPr lang="en-US" sz="1800" b="1" i="1" u="sng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r>
                        <a:rPr lang="en-US" sz="1800" i="1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r>
                        <a:rPr lang="en-US" sz="18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18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/</m:t>
                          </m:r>
                          <m:r>
                            <a:rPr lang="en-US" sz="1800" b="1" i="1">
                              <a:latin typeface="Cambria Math"/>
                            </a:rPr>
                            <m:t>𝒙</m:t>
                          </m:r>
                          <m:r>
                            <a:rPr lang="en-US" sz="1800" b="1" i="1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1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800" dirty="0" smtClean="0"/>
              </a:p>
              <a:p>
                <a:r>
                  <a:rPr lang="en-US" sz="1800" dirty="0" smtClean="0"/>
                  <a:t>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𝑥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sz="1800" dirty="0" smtClean="0"/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b="1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</m:d>
                    <m:r>
                      <a:rPr lang="en-US" sz="1800" b="1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b="1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1800" dirty="0" smtClean="0"/>
                  <a:t> so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sz="1800" b="1" i="1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sz="1800" b="1" i="1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en-US" sz="1800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sz="1800" b="1" i="1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</m:d>
                      </m:den>
                    </m:f>
                    <m:r>
                      <a:rPr lang="en-US" sz="1800" b="0" i="1" smtClean="0">
                        <a:latin typeface="Cambria Math"/>
                      </a:rPr>
                      <m:t>=1</m:t>
                    </m:r>
                  </m:oMath>
                </a14:m>
                <a:endParaRPr lang="en-US" sz="1800" dirty="0" smtClean="0"/>
              </a:p>
              <a:p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𝑥</m:t>
                    </m:r>
                    <m:r>
                      <a:rPr lang="en-US" sz="180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sz="1800" dirty="0"/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b="1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</m:d>
                    <m:r>
                      <a:rPr lang="en-US" sz="1800" b="1" i="1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b="1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/>
                  <a:t> so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sz="1800" b="1" i="1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en-US" sz="18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sz="1800" b="1" i="1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18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1800" i="1">
                            <a:latin typeface="Cambria Math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sz="1800" b="1" i="1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</m:d>
                      </m:den>
                    </m:f>
                    <m:r>
                      <a:rPr lang="en-US" sz="18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/>
                          </a:rPr>
                          <m:t>𝐹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1800" b="0" i="1" smtClean="0">
                            <a:latin typeface="Cambria Math"/>
                          </a:rPr>
                          <m:t>𝐹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𝑎</m:t>
                            </m:r>
                          </m:e>
                        </m:d>
                      </m:den>
                    </m:f>
                  </m:oMath>
                </a14:m>
                <a:endParaRPr lang="en-US" sz="1800" dirty="0" smtClean="0"/>
              </a:p>
              <a:p>
                <a:r>
                  <a:rPr lang="en-US" sz="1800" dirty="0" smtClean="0"/>
                  <a:t>And PDF will be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𝐹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n-US" sz="1800" i="1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nary>
                                      <m:naryPr>
                                        <m:limLoc m:val="undOvr"/>
                                        <m:ctrlPr>
                                          <a:rPr lang="en-US" sz="1800" i="1">
                                            <a:latin typeface="Cambria Math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4"/>
                                          </m:rPr>
                                          <a:rPr lang="en-US" sz="1800" i="1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sz="1800" i="1">
                                            <a:latin typeface="Cambria Math"/>
                                            <a:ea typeface="Cambria Math"/>
                                          </a:rPr>
                                          <m:t>∞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sup>
                                      <m:e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𝑓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 </m:t>
                                        </m:r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𝑑𝑥</m:t>
                                        </m:r>
                                      </m:e>
                                    </m:nary>
                                  </m:den>
                                </m:f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 ;      </m:t>
                                </m:r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800" b="0" i="1" smtClean="0">
                                    <a:latin typeface="Cambria Math"/>
                                    <a:ea typeface="Cambria Math"/>
                                  </a:rPr>
                                  <m:t>&lt;</m:t>
                                </m:r>
                                <m:r>
                                  <a:rPr lang="en-US" sz="1800" b="0" i="1" smtClean="0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                    0                   ;       </m:t>
                                </m:r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800" b="0" i="1" smtClean="0">
                                    <a:latin typeface="Cambria Math"/>
                                    <a:ea typeface="Cambria Math"/>
                                  </a:rPr>
                                  <m:t>≥</m:t>
                                </m:r>
                                <m:r>
                                  <a:rPr lang="en-US" sz="1800" b="0" i="1" smtClean="0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  <a:p>
                <a:endParaRPr lang="en-US" sz="1800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984250"/>
                <a:ext cx="8763000" cy="4450001"/>
              </a:xfrm>
              <a:prstGeom prst="rect">
                <a:avLst/>
              </a:prstGeom>
              <a:blipFill rotWithShape="1">
                <a:blip r:embed="rId3"/>
                <a:stretch>
                  <a:fillRect l="-556" t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713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026"/>
          <p:cNvSpPr txBox="1">
            <a:spLocks noChangeArrowheads="1"/>
          </p:cNvSpPr>
          <p:nvPr/>
        </p:nvSpPr>
        <p:spPr bwMode="auto">
          <a:xfrm>
            <a:off x="533400" y="819150"/>
            <a:ext cx="822960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p:sp>
        <p:nvSpPr>
          <p:cNvPr id="17412" name="Text Box 1028"/>
          <p:cNvSpPr txBox="1">
            <a:spLocks noChangeArrowheads="1"/>
          </p:cNvSpPr>
          <p:nvPr/>
        </p:nvSpPr>
        <p:spPr bwMode="auto">
          <a:xfrm>
            <a:off x="476250" y="800100"/>
            <a:ext cx="794385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17" name="Text Box 1033"/>
              <p:cNvSpPr txBox="1">
                <a:spLocks noChangeArrowheads="1"/>
              </p:cNvSpPr>
              <p:nvPr/>
            </p:nvSpPr>
            <p:spPr bwMode="auto">
              <a:xfrm>
                <a:off x="533400" y="281940"/>
                <a:ext cx="7886700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en-US" sz="2000" b="1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altLang="en-US" sz="2000" b="1" dirty="0" smtClean="0"/>
                  <a:t> is an event that can be expressed in terms of random variable </a:t>
                </a:r>
                <a:r>
                  <a:rPr lang="en-US" altLang="en-US" sz="2000" b="1" i="1" dirty="0" smtClean="0"/>
                  <a:t>x</a:t>
                </a:r>
                <a:endParaRPr lang="en-US" altLang="en-US" sz="2000" b="1" dirty="0"/>
              </a:p>
            </p:txBody>
          </p:sp>
        </mc:Choice>
        <mc:Fallback>
          <p:sp>
            <p:nvSpPr>
              <p:cNvPr id="17417" name="Text Box 10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281940"/>
                <a:ext cx="7886700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851" t="-7576" b="-257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64" name="Text Box 1080"/>
          <p:cNvSpPr txBox="1">
            <a:spLocks noChangeArrowheads="1"/>
          </p:cNvSpPr>
          <p:nvPr/>
        </p:nvSpPr>
        <p:spPr bwMode="auto">
          <a:xfrm>
            <a:off x="5813425" y="64008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43840" y="984250"/>
                <a:ext cx="8763000" cy="5279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800" b="1" i="1" u="sng" dirty="0" smtClean="0"/>
                  <a:t>Case-2: </a:t>
                </a:r>
                <a:r>
                  <a:rPr lang="en-US" sz="1800" dirty="0" smtClean="0"/>
                  <a:t>Find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𝑀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800" dirty="0" smtClean="0">
                    <a:latin typeface="Cambria Math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𝑀</m:t>
                    </m:r>
                    <m:r>
                      <a:rPr lang="en-US" sz="1800" b="1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𝑏</m:t>
                        </m:r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a:rPr lang="en-US" sz="1800" b="1" i="1" smtClean="0">
                            <a:latin typeface="Cambria Math"/>
                          </a:rPr>
                          <m:t>𝒙</m:t>
                        </m:r>
                        <m:r>
                          <a:rPr lang="en-US" sz="1800" b="1" i="1" smtClean="0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1800" dirty="0" smtClean="0">
                    <a:latin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0" dirty="0" smtClean="0">
                        <a:latin typeface="Cambria Math"/>
                      </a:rPr>
                      <m:t>′</m:t>
                    </m:r>
                    <m:r>
                      <a:rPr lang="en-US" sz="1800" i="1" dirty="0" smtClean="0">
                        <a:latin typeface="Cambria Math"/>
                      </a:rPr>
                      <m:t>𝑎</m:t>
                    </m:r>
                    <m:r>
                      <a:rPr lang="en-US" sz="18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 smtClean="0">
                    <a:latin typeface="Cambria Math"/>
                  </a:rPr>
                  <a:t> is a number such that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US" sz="1800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en-US" sz="1800" dirty="0" smtClean="0">
                    <a:latin typeface="Cambria Math"/>
                  </a:rPr>
                  <a:t> </a:t>
                </a:r>
                <a:endParaRPr lang="en-US" sz="1800" b="1" i="1" u="sng" dirty="0" smtClean="0">
                  <a:latin typeface="Cambria Math"/>
                </a:endParaRPr>
              </a:p>
              <a:p>
                <a:endParaRPr lang="en-US" sz="1800" b="1" i="1" u="sng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r>
                        <a:rPr lang="en-US" sz="1800" i="1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r>
                        <a:rPr lang="en-US" sz="18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180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/</m:t>
                          </m:r>
                          <m:r>
                            <a:rPr lang="en-US" sz="1800" i="1">
                              <a:latin typeface="Cambria Math"/>
                            </a:rPr>
                            <m:t>𝑏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sz="1800" b="1" i="1">
                              <a:latin typeface="Cambria Math"/>
                            </a:rPr>
                            <m:t>𝒙</m:t>
                          </m:r>
                          <m:r>
                            <a:rPr lang="en-US" sz="1800" b="1" i="1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1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800" dirty="0" smtClean="0"/>
              </a:p>
              <a:p>
                <a:r>
                  <a:rPr lang="en-US" sz="1800" dirty="0" smtClean="0"/>
                  <a:t>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𝑥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sz="1800" dirty="0" smtClean="0"/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800" i="1">
                            <a:latin typeface="Cambria Math"/>
                          </a:rPr>
                          <m:t>𝑏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b="1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</m:d>
                    <m:r>
                      <a:rPr lang="en-US" sz="1800" b="1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𝑏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b="1" i="1" smtClean="0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1800" dirty="0" smtClean="0"/>
                  <a:t> so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𝑏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&lt;</m:t>
                            </m:r>
                            <m:r>
                              <a:rPr lang="en-US" sz="1800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sz="1800" b="1" i="1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𝑏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&lt;</m:t>
                            </m:r>
                            <m:r>
                              <a:rPr lang="en-US" sz="1800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sz="1800" b="1" i="1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en-US" sz="1800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𝑏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&lt;</m:t>
                            </m:r>
                            <m:r>
                              <a:rPr lang="en-US" sz="1800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sz="1800" b="1" i="1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</m:d>
                      </m:den>
                    </m:f>
                    <m:r>
                      <a:rPr lang="en-US" sz="1800" b="0" i="1" smtClean="0">
                        <a:latin typeface="Cambria Math"/>
                      </a:rPr>
                      <m:t>=1</m:t>
                    </m:r>
                  </m:oMath>
                </a14:m>
                <a:endParaRPr lang="en-US" sz="1800" dirty="0" smtClean="0"/>
              </a:p>
              <a:p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b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800" i="1">
                        <a:latin typeface="Cambria Math"/>
                      </a:rPr>
                      <m:t>𝑥</m:t>
                    </m:r>
                    <m:r>
                      <a:rPr lang="en-US" sz="180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sz="1800" dirty="0"/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800" i="1">
                            <a:latin typeface="Cambria Math"/>
                          </a:rPr>
                          <m:t>𝑏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b="1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</m:d>
                    <m:r>
                      <a:rPr lang="en-US" sz="1800" b="1" i="1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𝑏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b="1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/>
                  <a:t> so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𝑏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&lt;</m:t>
                            </m:r>
                            <m:r>
                              <a:rPr lang="en-US" sz="1800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sz="1800" b="1" i="1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en-US" sz="18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/>
                          </a:rPr>
                          <m:t>𝐹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sz="1800" b="0" i="1" smtClean="0">
                            <a:latin typeface="Cambria Math"/>
                          </a:rPr>
                          <m:t>−</m:t>
                        </m:r>
                        <m:r>
                          <a:rPr lang="en-US" sz="1800" i="1">
                            <a:latin typeface="Cambria Math"/>
                          </a:rPr>
                          <m:t>𝐹</m:t>
                        </m:r>
                        <m:d>
                          <m:d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𝑏</m:t>
                            </m:r>
                          </m:e>
                        </m:d>
                      </m:num>
                      <m:den>
                        <m:r>
                          <a:rPr lang="en-US" sz="1800" b="0" i="1" smtClean="0">
                            <a:latin typeface="Cambria Math"/>
                          </a:rPr>
                          <m:t>𝐹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𝑎</m:t>
                            </m:r>
                          </m:e>
                        </m:d>
                        <m:r>
                          <a:rPr lang="en-US" sz="1800" b="0" i="1" smtClean="0">
                            <a:latin typeface="Cambria Math"/>
                          </a:rPr>
                          <m:t>−</m:t>
                        </m:r>
                        <m:r>
                          <a:rPr lang="en-US" sz="1800" i="1">
                            <a:latin typeface="Cambria Math"/>
                          </a:rPr>
                          <m:t>𝐹</m:t>
                        </m:r>
                        <m:d>
                          <m:d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𝑏</m:t>
                            </m:r>
                          </m:e>
                        </m:d>
                      </m:den>
                    </m:f>
                  </m:oMath>
                </a14:m>
                <a:endParaRPr lang="en-US" sz="1800" dirty="0" smtClean="0"/>
              </a:p>
              <a:p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𝑥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18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US" sz="1800" dirty="0"/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800" i="1">
                            <a:latin typeface="Cambria Math"/>
                          </a:rPr>
                          <m:t>𝑏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b="1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</m:d>
                    <m:r>
                      <a:rPr lang="en-US" sz="1800" b="1" i="1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/>
                            <a:ea typeface="Cambria Math"/>
                          </a:rPr>
                          <m:t>∅</m:t>
                        </m:r>
                      </m:e>
                    </m:d>
                  </m:oMath>
                </a14:m>
                <a:r>
                  <a:rPr lang="en-US" sz="1800" dirty="0"/>
                  <a:t> so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𝑏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&lt;</m:t>
                            </m:r>
                            <m:r>
                              <a:rPr lang="en-US" sz="1800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sz="1800" b="1" i="1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en-US" sz="1800" i="1">
                        <a:latin typeface="Cambria Math"/>
                      </a:rPr>
                      <m:t>=</m:t>
                    </m:r>
                    <m:r>
                      <a:rPr lang="en-US" sz="1800" b="0" i="1" smtClean="0">
                        <a:latin typeface="Cambria Math"/>
                      </a:rPr>
                      <m:t>0</m:t>
                    </m:r>
                  </m:oMath>
                </a14:m>
                <a:endParaRPr lang="en-US" sz="1800" dirty="0"/>
              </a:p>
              <a:p>
                <a:endParaRPr lang="en-US" sz="1800" dirty="0" smtClean="0"/>
              </a:p>
              <a:p>
                <a:r>
                  <a:rPr lang="en-US" sz="1800" dirty="0" smtClean="0"/>
                  <a:t>And PDF will be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𝐹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𝐹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n-US" sz="1800" i="1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nary>
                                      <m:naryPr>
                                        <m:limLoc m:val="undOvr"/>
                                        <m:ctrlPr>
                                          <a:rPr lang="en-US" sz="1800" i="1">
                                            <a:latin typeface="Cambria Math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sup>
                                      <m:e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𝑓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 </m:t>
                                        </m:r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𝑑𝑥</m:t>
                                        </m:r>
                                      </m:e>
                                    </m:nary>
                                  </m:den>
                                </m:f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 ;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/>
                                  </a:rPr>
                                  <m:t>b</m:t>
                                </m:r>
                                <m:r>
                                  <a:rPr lang="en-US" sz="1800" i="1">
                                    <a:latin typeface="Cambria Math"/>
                                    <a:ea typeface="Cambria Math"/>
                                  </a:rPr>
                                  <m:t>≤</m:t>
                                </m:r>
                                <m:r>
                                  <a:rPr lang="en-US" sz="1800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800" i="1">
                                    <a:latin typeface="Cambria Math"/>
                                    <a:ea typeface="Cambria Math"/>
                                  </a:rPr>
                                  <m:t>&lt;</m:t>
                                </m:r>
                                <m:r>
                                  <a:rPr lang="en-US" sz="1800" i="1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                    0                             ;       </m:t>
                                </m:r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800" b="0" i="1" smtClean="0">
                                    <a:latin typeface="Cambria Math"/>
                                    <a:ea typeface="Cambria Math"/>
                                  </a:rPr>
                                  <m:t>≥</m:t>
                                </m:r>
                                <m:r>
                                  <a:rPr lang="en-US" sz="1800" b="0" i="1" smtClean="0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  <a:p>
                <a:endParaRPr lang="en-US" sz="1800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984250"/>
                <a:ext cx="8763000" cy="5279779"/>
              </a:xfrm>
              <a:prstGeom prst="rect">
                <a:avLst/>
              </a:prstGeom>
              <a:blipFill rotWithShape="1">
                <a:blip r:embed="rId3"/>
                <a:stretch>
                  <a:fillRect l="-556" t="-8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806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026"/>
          <p:cNvSpPr txBox="1">
            <a:spLocks noChangeArrowheads="1"/>
          </p:cNvSpPr>
          <p:nvPr/>
        </p:nvSpPr>
        <p:spPr bwMode="auto">
          <a:xfrm>
            <a:off x="533400" y="819150"/>
            <a:ext cx="822960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p:sp>
        <p:nvSpPr>
          <p:cNvPr id="17412" name="Text Box 1028"/>
          <p:cNvSpPr txBox="1">
            <a:spLocks noChangeArrowheads="1"/>
          </p:cNvSpPr>
          <p:nvPr/>
        </p:nvSpPr>
        <p:spPr bwMode="auto">
          <a:xfrm>
            <a:off x="476250" y="800100"/>
            <a:ext cx="794385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p:sp>
        <p:nvSpPr>
          <p:cNvPr id="17417" name="Text Box 1033"/>
          <p:cNvSpPr txBox="1">
            <a:spLocks noChangeArrowheads="1"/>
          </p:cNvSpPr>
          <p:nvPr/>
        </p:nvSpPr>
        <p:spPr bwMode="auto">
          <a:xfrm>
            <a:off x="533400" y="7620"/>
            <a:ext cx="78867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000" b="1" dirty="0" smtClean="0"/>
              <a:t>IMPORTANT RELATIONS</a:t>
            </a:r>
            <a:endParaRPr lang="en-US" altLang="en-US" sz="2000" b="1" dirty="0"/>
          </a:p>
        </p:txBody>
      </p:sp>
      <p:sp>
        <p:nvSpPr>
          <p:cNvPr id="17464" name="Text Box 1080"/>
          <p:cNvSpPr txBox="1">
            <a:spLocks noChangeArrowheads="1"/>
          </p:cNvSpPr>
          <p:nvPr/>
        </p:nvSpPr>
        <p:spPr bwMode="auto">
          <a:xfrm>
            <a:off x="5813425" y="64008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43840" y="694690"/>
                <a:ext cx="8763000" cy="595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800" b="1" i="1" dirty="0" smtClean="0">
                    <a:latin typeface="Cambria Math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800" i="1" smtClean="0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sz="1800" b="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𝐵</m:t>
                        </m:r>
                        <m:r>
                          <a:rPr lang="en-US" sz="1800" b="0" i="1" smtClean="0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/>
                      </a:rPr>
                      <m:t> </m:t>
                    </m:r>
                    <m:r>
                      <a:rPr lang="en-US" sz="1800" b="0" i="1" smtClean="0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/>
                      </a:rPr>
                      <m:t>+</m:t>
                    </m:r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𝐵</m:t>
                        </m:r>
                        <m:r>
                          <a:rPr lang="en-US" sz="1800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 </m:t>
                    </m:r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 smtClean="0"/>
                  <a:t>+…+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𝐵</m:t>
                        </m:r>
                        <m:r>
                          <a:rPr lang="en-US" sz="1800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 </m:t>
                    </m:r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 smtClean="0"/>
              </a:p>
              <a:p>
                <a:pPr>
                  <a:lnSpc>
                    <a:spcPct val="150000"/>
                  </a:lnSpc>
                </a:pPr>
                <a:r>
                  <a:rPr lang="en-US" sz="1800" dirty="0" smtClean="0"/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𝐵</m:t>
                    </m:r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sz="1800" b="1" i="1" dirty="0" smtClean="0">
                  <a:latin typeface="Cambria Math"/>
                  <a:ea typeface="Cambria Math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sz="18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 </m:t>
                    </m:r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+</m:t>
                    </m:r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 </m:t>
                    </m:r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+…+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 </m:t>
                    </m:r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 smtClean="0"/>
              </a:p>
              <a:p>
                <a:pPr>
                  <a:lnSpc>
                    <a:spcPct val="150000"/>
                  </a:lnSpc>
                </a:pPr>
                <a:r>
                  <a:rPr lang="en-US" sz="1800" dirty="0" smtClean="0"/>
                  <a:t>Thus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18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800" b="0" i="1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 </m:t>
                    </m:r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+</m:t>
                    </m:r>
                    <m:r>
                      <a:rPr lang="en-US" sz="1800" b="0" i="1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 </m:t>
                    </m:r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+…+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 </m:t>
                    </m:r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18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8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 </m:t>
                    </m:r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+</m:t>
                    </m:r>
                    <m:r>
                      <a:rPr lang="en-US" sz="18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+…+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800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en-US" sz="1800" b="1" dirty="0" smtClean="0"/>
                  <a:t> </a:t>
                </a:r>
                <a:endParaRPr lang="en-US" sz="1800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/>
                                </a:rPr>
                                <m:t>𝐵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  <m:r>
                            <a:rPr lang="en-US" sz="18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800" dirty="0" smtClean="0"/>
              </a:p>
              <a:p>
                <a:pPr>
                  <a:lnSpc>
                    <a:spcPct val="150000"/>
                  </a:lnSpc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𝐵</m:t>
                    </m:r>
                    <m:r>
                      <a:rPr lang="en-US" sz="1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sz="1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n-US" sz="1800" b="1" i="1" smtClean="0">
                              <a:latin typeface="Cambria Math"/>
                            </a:rPr>
                            <m:t>/</m:t>
                          </m:r>
                          <m:r>
                            <a:rPr lang="en-US" sz="1800" b="1" i="1">
                              <a:latin typeface="Cambria Math"/>
                            </a:rPr>
                            <m:t>𝒙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≤</m:t>
                                  </m:r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 </m:t>
                          </m:r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 </m:t>
                          </m:r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atin typeface="Cambria Math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800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694690"/>
                <a:ext cx="8763000" cy="5954835"/>
              </a:xfrm>
              <a:prstGeom prst="rect">
                <a:avLst/>
              </a:prstGeom>
              <a:blipFill rotWithShape="1">
                <a:blip r:embed="rId2"/>
                <a:stretch>
                  <a:fillRect l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784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026"/>
          <p:cNvSpPr txBox="1">
            <a:spLocks noChangeArrowheads="1"/>
          </p:cNvSpPr>
          <p:nvPr/>
        </p:nvSpPr>
        <p:spPr bwMode="auto">
          <a:xfrm>
            <a:off x="533400" y="819150"/>
            <a:ext cx="822960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p:sp>
        <p:nvSpPr>
          <p:cNvPr id="17412" name="Text Box 1028"/>
          <p:cNvSpPr txBox="1">
            <a:spLocks noChangeArrowheads="1"/>
          </p:cNvSpPr>
          <p:nvPr/>
        </p:nvSpPr>
        <p:spPr bwMode="auto">
          <a:xfrm>
            <a:off x="476250" y="800100"/>
            <a:ext cx="794385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p:sp>
        <p:nvSpPr>
          <p:cNvPr id="17417" name="Text Box 1033"/>
          <p:cNvSpPr txBox="1">
            <a:spLocks noChangeArrowheads="1"/>
          </p:cNvSpPr>
          <p:nvPr/>
        </p:nvSpPr>
        <p:spPr bwMode="auto">
          <a:xfrm>
            <a:off x="533400" y="7620"/>
            <a:ext cx="78867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000" b="1" dirty="0" smtClean="0"/>
              <a:t>IMPORTANT RELATIONS</a:t>
            </a:r>
            <a:endParaRPr lang="en-US" altLang="en-US" sz="2000" b="1" dirty="0"/>
          </a:p>
        </p:txBody>
      </p:sp>
      <p:sp>
        <p:nvSpPr>
          <p:cNvPr id="17464" name="Text Box 1080"/>
          <p:cNvSpPr txBox="1">
            <a:spLocks noChangeArrowheads="1"/>
          </p:cNvSpPr>
          <p:nvPr/>
        </p:nvSpPr>
        <p:spPr bwMode="auto">
          <a:xfrm>
            <a:off x="5813425" y="64008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43840" y="694690"/>
                <a:ext cx="8763000" cy="3976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+mj-lt"/>
                  <a:buAutoNum type="arabicPeriod" startAt="3"/>
                </a:pPr>
                <a:r>
                  <a:rPr lang="en-US" sz="1800" b="1" i="1" dirty="0" smtClean="0">
                    <a:latin typeface="Cambria Math"/>
                  </a:rPr>
                  <a:t> </a:t>
                </a: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𝐵</m:t>
                    </m:r>
                    <m:r>
                      <a:rPr lang="en-US" sz="16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800" b="1" i="1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a:rPr lang="en-US" sz="1800" b="1" i="1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sz="1800" b="1" i="1">
                            <a:latin typeface="Cambria Math"/>
                            <a:ea typeface="Cambria Math"/>
                          </a:rPr>
                          <m:t>≤</m:t>
                        </m:r>
                        <m:sSub>
                          <m:sSubPr>
                            <m:ctrlPr>
                              <a:rPr lang="en-US" sz="1800" b="1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1800" b="1" i="1" dirty="0">
                  <a:latin typeface="Cambria Math"/>
                  <a:ea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𝐴</m:t>
                          </m:r>
                          <m:r>
                            <a:rPr lang="en-US" sz="1800" b="1" i="1">
                              <a:latin typeface="Cambria Math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1" i="1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sz="1800" b="1" i="1">
                              <a:latin typeface="Cambria Math"/>
                              <a:ea typeface="Cambria Math"/>
                            </a:rPr>
                            <m:t>𝒙</m:t>
                          </m:r>
                          <m:r>
                            <a:rPr lang="en-US" sz="1800" b="1" i="1">
                              <a:latin typeface="Cambria Math"/>
                              <a:ea typeface="Cambria Math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800" b="1" i="1">
                                      <a:latin typeface="Cambria Math"/>
                                      <a:ea typeface="Cambria Math"/>
                                    </a:rPr>
                                    <m:t>&lt;</m:t>
                                  </m:r>
                                  <m:r>
                                    <a:rPr lang="en-US" sz="1800" b="1" i="1">
                                      <a:latin typeface="Cambria Math"/>
                                      <a:ea typeface="Cambria Math"/>
                                    </a:rPr>
                                    <m:t>𝒙</m:t>
                                  </m:r>
                                  <m:r>
                                    <a:rPr lang="en-US" sz="1800" b="1" i="1">
                                      <a:latin typeface="Cambria Math"/>
                                      <a:ea typeface="Cambria Math"/>
                                    </a:rPr>
                                    <m:t>≤</m:t>
                                  </m:r>
                                  <m:sSub>
                                    <m:sSubPr>
                                      <m:ctrlPr>
                                        <a:rPr lang="en-US" sz="1800" b="1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 </m:t>
                          </m:r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𝒙</m:t>
                              </m:r>
                              <m:r>
                                <a:rPr lang="en-US" sz="18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1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80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800" i="1">
                              <a:latin typeface="Cambria Math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18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sz="1800" i="1">
                              <a:latin typeface="Cambria Math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 −</m:t>
                          </m:r>
                          <m:r>
                            <a:rPr lang="en-US" sz="1800" i="1">
                              <a:latin typeface="Cambria Math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180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1800" b="1" dirty="0"/>
              </a:p>
              <a:p>
                <a:pPr algn="ctr"/>
                <a:endParaRPr lang="en-US" sz="1800" dirty="0" smtClean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 startAt="4"/>
                </a:pPr>
                <a:r>
                  <a:rPr lang="en-US" sz="1800" b="1" dirty="0" smtClean="0"/>
                  <a:t> </a:t>
                </a:r>
                <a:r>
                  <a:rPr lang="en-US" sz="1800" dirty="0" smtClean="0"/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𝐵</m:t>
                    </m:r>
                    <m:r>
                      <a:rPr lang="en-US" sz="1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/>
                          </a:rPr>
                          <m:t>𝒙</m:t>
                        </m:r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=</m:t>
                        </m:r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sz="1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US" sz="1800" b="1" i="1" smtClean="0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1800" b="0" i="1">
                          <a:latin typeface="Cambria Math"/>
                          <a:ea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18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1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b="1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1800" b="1" i="1">
                                      <a:latin typeface="Cambria Math"/>
                                      <a:ea typeface="Cambria Math"/>
                                    </a:rPr>
                                    <m:t>&lt;</m:t>
                                  </m:r>
                                  <m:r>
                                    <a:rPr lang="en-US" sz="1800" b="1" i="1">
                                      <a:latin typeface="Cambria Math"/>
                                      <a:ea typeface="Cambria Math"/>
                                    </a:rPr>
                                    <m:t>𝒙</m:t>
                                  </m:r>
                                  <m:r>
                                    <a:rPr lang="en-US" sz="1800" b="1" i="1">
                                      <a:latin typeface="Cambria Math"/>
                                      <a:ea typeface="Cambria Math"/>
                                    </a:rPr>
                                    <m:t>≤</m:t>
                                  </m:r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+∆</m:t>
                                  </m:r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800" dirty="0" smtClean="0"/>
              </a:p>
              <a:p>
                <a:pPr>
                  <a:lnSpc>
                    <a:spcPct val="150000"/>
                  </a:lnSpc>
                </a:pPr>
                <a:r>
                  <a:rPr lang="en-US" sz="1800" dirty="0"/>
                  <a:t> </a:t>
                </a:r>
                <a:r>
                  <a:rPr lang="en-US" sz="1800" dirty="0" smtClean="0"/>
                  <a:t>    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18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+∆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𝑥</m:t>
                    </m:r>
                  </m:oMath>
                </a14:m>
                <a:r>
                  <a:rPr lang="en-US" sz="1800" dirty="0" smtClean="0"/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r>
                      <a:rPr lang="en-US" sz="18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1800" dirty="0" smtClean="0"/>
                  <a:t> in third relation</a:t>
                </a:r>
                <a:endParaRPr lang="en-US" dirty="0" smtClean="0"/>
              </a:p>
              <a:p>
                <a:endParaRPr lang="en-US" sz="1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18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1800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+∆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𝐴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1800" i="1">
                                  <a:latin typeface="Cambria Math"/>
                                </a:rPr>
                                <m:t> −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180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𝐴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+∆</m:t>
                                  </m:r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800" i="1">
                                  <a:latin typeface="Cambria Math"/>
                                </a:rPr>
                                <m:t> −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US" sz="1800" b="1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 </m:t>
                          </m:r>
                        </m:num>
                        <m:den>
                          <m:r>
                            <a:rPr lang="en-US" sz="1800" i="1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 </m:t>
                          </m:r>
                        </m:den>
                      </m:f>
                      <m:r>
                        <a:rPr lang="en-US" sz="180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1800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694690"/>
                <a:ext cx="8763000" cy="3976666"/>
              </a:xfrm>
              <a:prstGeom prst="rect">
                <a:avLst/>
              </a:prstGeom>
              <a:blipFill rotWithShape="1">
                <a:blip r:embed="rId2"/>
                <a:stretch>
                  <a:fillRect l="-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65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026"/>
          <p:cNvSpPr txBox="1">
            <a:spLocks noChangeArrowheads="1"/>
          </p:cNvSpPr>
          <p:nvPr/>
        </p:nvSpPr>
        <p:spPr bwMode="auto">
          <a:xfrm>
            <a:off x="533400" y="819150"/>
            <a:ext cx="822960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p:sp>
        <p:nvSpPr>
          <p:cNvPr id="17412" name="Text Box 1028"/>
          <p:cNvSpPr txBox="1">
            <a:spLocks noChangeArrowheads="1"/>
          </p:cNvSpPr>
          <p:nvPr/>
        </p:nvSpPr>
        <p:spPr bwMode="auto">
          <a:xfrm>
            <a:off x="476250" y="800100"/>
            <a:ext cx="794385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3200" baseline="-25000"/>
          </a:p>
        </p:txBody>
      </p:sp>
      <p:sp>
        <p:nvSpPr>
          <p:cNvPr id="17417" name="Text Box 1033"/>
          <p:cNvSpPr txBox="1">
            <a:spLocks noChangeArrowheads="1"/>
          </p:cNvSpPr>
          <p:nvPr/>
        </p:nvSpPr>
        <p:spPr bwMode="auto">
          <a:xfrm>
            <a:off x="533400" y="7620"/>
            <a:ext cx="78867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000" b="1" dirty="0" smtClean="0"/>
              <a:t>TOTAL PROBABILITY THEOREM</a:t>
            </a:r>
            <a:endParaRPr lang="en-US" altLang="en-US" sz="2000" b="1" dirty="0"/>
          </a:p>
        </p:txBody>
      </p:sp>
      <p:sp>
        <p:nvSpPr>
          <p:cNvPr id="17464" name="Text Box 1080"/>
          <p:cNvSpPr txBox="1">
            <a:spLocks noChangeArrowheads="1"/>
          </p:cNvSpPr>
          <p:nvPr/>
        </p:nvSpPr>
        <p:spPr bwMode="auto">
          <a:xfrm>
            <a:off x="5813425" y="64008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43840" y="694690"/>
                <a:ext cx="8763000" cy="5113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 smtClean="0">
                    <a:latin typeface="Cambria Math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+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∞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/>
                              </a:rPr>
                              <m:t>𝐴</m:t>
                            </m:r>
                          </m:den>
                        </m:f>
                      </m:e>
                    </m:d>
                    <m:r>
                      <a:rPr lang="en-US" sz="1800" i="1">
                        <a:latin typeface="Cambria Math"/>
                      </a:rPr>
                      <m:t>=1 </m:t>
                    </m:r>
                  </m:oMath>
                </a14:m>
                <a:r>
                  <a:rPr lang="en-US" sz="1800" dirty="0" smtClean="0">
                    <a:latin typeface="Cambria Math"/>
                  </a:rPr>
                  <a:t>     i.e.      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+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∞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/>
                              </a:rPr>
                              <m:t>𝐴</m:t>
                            </m:r>
                          </m:den>
                        </m:f>
                      </m:e>
                    </m:d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18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1800" b="0" i="1" smtClean="0">
                            <a:latin typeface="Cambria Math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  <m:sup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r>
                          <a:rPr lang="en-US" sz="1800" b="0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1800" b="0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𝐴</m:t>
                                </m:r>
                              </m:den>
                            </m:f>
                          </m:e>
                        </m:d>
                        <m:r>
                          <a:rPr lang="en-US" sz="1800" b="0" i="1" smtClean="0">
                            <a:latin typeface="Cambria Math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/>
                          </a:rPr>
                          <m:t>𝑑𝑥</m:t>
                        </m:r>
                      </m:e>
                    </m:nary>
                    <m:r>
                      <a:rPr lang="en-US" sz="1800" i="1">
                        <a:latin typeface="Cambria Math"/>
                      </a:rPr>
                      <m:t>=1 </m:t>
                    </m:r>
                  </m:oMath>
                </a14:m>
                <a:r>
                  <a:rPr lang="en-US" sz="1800" dirty="0" smtClean="0">
                    <a:latin typeface="Cambria Math"/>
                  </a:rPr>
                  <a:t>  and using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US" sz="18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 </m:t>
                          </m:r>
                        </m:num>
                        <m:den>
                          <m:r>
                            <a:rPr lang="en-US" sz="1800" i="1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 </m:t>
                          </m:r>
                        </m:den>
                      </m:f>
                      <m:r>
                        <a:rPr lang="en-US" sz="180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1800" dirty="0" smtClean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dirty="0" smtClean="0">
                    <a:latin typeface="Cambria Math"/>
                  </a:rPr>
                  <a:t>Multiplying it by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 smtClean="0">
                    <a:latin typeface="Cambria Math"/>
                  </a:rPr>
                  <a:t>  and integrating</a:t>
                </a:r>
                <a:endParaRPr lang="en-US" sz="1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180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8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18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US" sz="1800" b="1" i="1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8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800" i="1">
                              <a:latin typeface="Cambria Math"/>
                            </a:rPr>
                            <m:t>−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1800" i="1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  <m:r>
                            <a:rPr lang="en-US" sz="1800" b="0" i="1" smtClean="0">
                              <a:latin typeface="Cambria Math"/>
                            </a:rPr>
                            <m:t>  </m:t>
                          </m:r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 </m:t>
                          </m:r>
                          <m:r>
                            <a:rPr lang="en-US" sz="1800" i="1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r>
                        <a:rPr lang="en-US" sz="180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𝐴</m:t>
                          </m:r>
                        </m:e>
                      </m:d>
                      <m:nary>
                        <m:naryPr>
                          <m:limLoc m:val="undOvr"/>
                          <m:ctrlPr>
                            <a:rPr lang="en-US" sz="18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800" i="1">
                              <a:latin typeface="Cambria Math"/>
                            </a:rPr>
                            <m:t>−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1800" i="1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 </m:t>
                          </m:r>
                          <m:r>
                            <a:rPr lang="en-US" sz="1800" i="1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r>
                        <a:rPr lang="en-US" sz="180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1800" dirty="0" smtClean="0"/>
              </a:p>
              <a:p>
                <a:pPr algn="ctr"/>
                <a:endParaRPr lang="en-US" sz="1800" dirty="0"/>
              </a:p>
              <a:p>
                <a:r>
                  <a:rPr lang="en-US" sz="1800" b="1" i="1" u="sng" dirty="0" smtClean="0"/>
                  <a:t>Bayes’ Theorem for Conditional Distribution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𝐴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US" sz="1800" b="1" i="1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r>
                        <a:rPr lang="en-US" sz="1800" b="0" i="1" smtClean="0">
                          <a:latin typeface="Cambria Math"/>
                        </a:rPr>
                        <m:t> </m:t>
                      </m:r>
                      <m:r>
                        <a:rPr lang="en-US" sz="18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US" sz="1800" b="1" i="1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limLoc m:val="undOvr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1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𝑃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1800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US" sz="1800" b="1" i="1">
                                          <a:latin typeface="Cambria Math"/>
                                        </a:rPr>
                                        <m:t>𝒙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=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1800" i="1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8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𝑑𝑥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1800" b="1" i="1" dirty="0" smtClean="0"/>
              </a:p>
              <a:p>
                <a:endParaRPr lang="en-US" sz="1800" b="1" i="1" u="sng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694690"/>
                <a:ext cx="8763000" cy="5113131"/>
              </a:xfrm>
              <a:prstGeom prst="rect">
                <a:avLst/>
              </a:prstGeom>
              <a:blipFill rotWithShape="1">
                <a:blip r:embed="rId2"/>
                <a:stretch>
                  <a:fillRect l="-556" t="-7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730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Athanasios Papoulis, “Probability, Random Variables, and Stochastic Processes,”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edition, McGraw Hill Publication.</a:t>
            </a:r>
          </a:p>
        </p:txBody>
      </p:sp>
    </p:spTree>
    <p:extLst>
      <p:ext uri="{BB962C8B-B14F-4D97-AF65-F5344CB8AC3E}">
        <p14:creationId xmlns:p14="http://schemas.microsoft.com/office/powerpoint/2010/main" val="8664214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2&quot;/&gt;&lt;property id=&quot;20307&quot; value=&quot;335&quot;/&gt;&lt;/object&gt;&lt;object type=&quot;3&quot; unique_id=&quot;10004&quot;&gt;&lt;property id=&quot;20148&quot; value=&quot;5&quot;/&gt;&lt;property id=&quot;20300&quot; value=&quot;Slide 3&quot;/&gt;&lt;property id=&quot;20307&quot; value=&quot;336&quot;/&gt;&lt;/object&gt;&lt;object type=&quot;3&quot; unique_id=&quot;10005&quot;&gt;&lt;property id=&quot;20148&quot; value=&quot;5&quot;/&gt;&lt;property id=&quot;20300&quot; value=&quot;Slide 4&quot;/&gt;&lt;property id=&quot;20307&quot; value=&quot;337&quot;/&gt;&lt;/object&gt;&lt;object type=&quot;3&quot; unique_id=&quot;10006&quot;&gt;&lt;property id=&quot;20148&quot; value=&quot;5&quot;/&gt;&lt;property id=&quot;20300&quot; value=&quot;Slide 5&quot;/&gt;&lt;property id=&quot;20307&quot; value=&quot;338&quot;/&gt;&lt;/object&gt;&lt;object type=&quot;3&quot; unique_id=&quot;10007&quot;&gt;&lt;property id=&quot;20148&quot; value=&quot;5&quot;/&gt;&lt;property id=&quot;20300&quot; value=&quot;Slide 6&quot;/&gt;&lt;property id=&quot;20307&quot; value=&quot;339&quot;/&gt;&lt;/object&gt;&lt;object type=&quot;3&quot; unique_id=&quot;10008&quot;&gt;&lt;property id=&quot;20148&quot; value=&quot;5&quot;/&gt;&lt;property id=&quot;20300&quot; value=&quot;Slide 7&quot;/&gt;&lt;property id=&quot;20307&quot; value=&quot;340&quot;/&gt;&lt;/object&gt;&lt;object type=&quot;3&quot; unique_id=&quot;10009&quot;&gt;&lt;property id=&quot;20148&quot; value=&quot;5&quot;/&gt;&lt;property id=&quot;20300&quot; value=&quot;Slide 8&quot;/&gt;&lt;property id=&quot;20307&quot; value=&quot;341&quot;/&gt;&lt;/object&gt;&lt;object type=&quot;3&quot; unique_id=&quot;10010&quot;&gt;&lt;property id=&quot;20148&quot; value=&quot;5&quot;/&gt;&lt;property id=&quot;20300&quot; value=&quot;Slide 9 - &amp;quot;Reference&amp;quot;&quot;/&gt;&lt;property id=&quot;20307&quot; value=&quot;342&quot;/&gt;&lt;/object&gt;&lt;object type=&quot;3&quot; unique_id=&quot;11977&quot;&gt;&lt;property id=&quot;20148&quot; value=&quot;5&quot;/&gt;&lt;property id=&quot;20300&quot; value=&quot;Slide 1&quot;/&gt;&lt;property id=&quot;20307&quot; value=&quot;343&quot;/&gt;&lt;/object&gt;&lt;/object&gt;&lt;object type=&quot;8&quot; unique_id=&quot;1002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Designs\Contemporary Portrait.pot</Template>
  <TotalTime>11743</TotalTime>
  <Words>1749</Words>
  <Application>Microsoft Office PowerPoint</Application>
  <PresentationFormat>On-screen Show (4:3)</PresentationFormat>
  <Paragraphs>78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</vt:lpstr>
    </vt:vector>
  </TitlesOfParts>
  <Company>Poly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Outline</dc:title>
  <dc:creator>S. U. Pillai</dc:creator>
  <cp:lastModifiedBy>ashutosh</cp:lastModifiedBy>
  <cp:revision>227</cp:revision>
  <cp:lastPrinted>1999-09-09T23:13:46Z</cp:lastPrinted>
  <dcterms:created xsi:type="dcterms:W3CDTF">1998-11-04T21:12:22Z</dcterms:created>
  <dcterms:modified xsi:type="dcterms:W3CDTF">2020-06-30T11:12:48Z</dcterms:modified>
</cp:coreProperties>
</file>